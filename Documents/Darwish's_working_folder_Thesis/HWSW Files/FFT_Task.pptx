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1"/>
    <p:sldMasterId id="2147483712" r:id="rId2"/>
  </p:sldMasterIdLst>
  <p:notesMasterIdLst>
    <p:notesMasterId r:id="rId122"/>
  </p:notesMasterIdLst>
  <p:sldIdLst>
    <p:sldId id="258" r:id="rId3"/>
    <p:sldId id="568" r:id="rId4"/>
    <p:sldId id="334" r:id="rId5"/>
    <p:sldId id="400" r:id="rId6"/>
    <p:sldId id="407" r:id="rId7"/>
    <p:sldId id="401" r:id="rId8"/>
    <p:sldId id="409" r:id="rId9"/>
    <p:sldId id="410" r:id="rId10"/>
    <p:sldId id="412" r:id="rId11"/>
    <p:sldId id="413" r:id="rId12"/>
    <p:sldId id="567" r:id="rId13"/>
    <p:sldId id="414" r:id="rId14"/>
    <p:sldId id="415" r:id="rId15"/>
    <p:sldId id="416" r:id="rId16"/>
    <p:sldId id="417" r:id="rId17"/>
    <p:sldId id="418" r:id="rId18"/>
    <p:sldId id="420" r:id="rId19"/>
    <p:sldId id="523" r:id="rId20"/>
    <p:sldId id="522" r:id="rId21"/>
    <p:sldId id="524" r:id="rId22"/>
    <p:sldId id="525" r:id="rId23"/>
    <p:sldId id="526" r:id="rId24"/>
    <p:sldId id="423" r:id="rId25"/>
    <p:sldId id="429" r:id="rId26"/>
    <p:sldId id="426" r:id="rId27"/>
    <p:sldId id="427" r:id="rId28"/>
    <p:sldId id="428" r:id="rId29"/>
    <p:sldId id="431" r:id="rId30"/>
    <p:sldId id="432" r:id="rId31"/>
    <p:sldId id="402" r:id="rId32"/>
    <p:sldId id="333" r:id="rId33"/>
    <p:sldId id="442" r:id="rId34"/>
    <p:sldId id="381" r:id="rId35"/>
    <p:sldId id="437" r:id="rId36"/>
    <p:sldId id="392" r:id="rId37"/>
    <p:sldId id="531" r:id="rId38"/>
    <p:sldId id="397" r:id="rId39"/>
    <p:sldId id="530" r:id="rId40"/>
    <p:sldId id="372" r:id="rId41"/>
    <p:sldId id="380" r:id="rId42"/>
    <p:sldId id="444" r:id="rId43"/>
    <p:sldId id="543" r:id="rId44"/>
    <p:sldId id="467" r:id="rId45"/>
    <p:sldId id="532" r:id="rId46"/>
    <p:sldId id="533" r:id="rId47"/>
    <p:sldId id="534" r:id="rId48"/>
    <p:sldId id="535" r:id="rId49"/>
    <p:sldId id="536" r:id="rId50"/>
    <p:sldId id="537" r:id="rId51"/>
    <p:sldId id="538" r:id="rId52"/>
    <p:sldId id="544" r:id="rId53"/>
    <p:sldId id="528" r:id="rId54"/>
    <p:sldId id="446" r:id="rId55"/>
    <p:sldId id="382" r:id="rId56"/>
    <p:sldId id="447" r:id="rId57"/>
    <p:sldId id="448" r:id="rId58"/>
    <p:sldId id="546" r:id="rId59"/>
    <p:sldId id="547" r:id="rId60"/>
    <p:sldId id="548" r:id="rId61"/>
    <p:sldId id="549" r:id="rId62"/>
    <p:sldId id="457" r:id="rId63"/>
    <p:sldId id="458" r:id="rId64"/>
    <p:sldId id="459" r:id="rId65"/>
    <p:sldId id="461" r:id="rId66"/>
    <p:sldId id="513" r:id="rId67"/>
    <p:sldId id="527" r:id="rId68"/>
    <p:sldId id="460" r:id="rId69"/>
    <p:sldId id="462" r:id="rId70"/>
    <p:sldId id="466" r:id="rId71"/>
    <p:sldId id="559" r:id="rId72"/>
    <p:sldId id="578" r:id="rId73"/>
    <p:sldId id="580" r:id="rId74"/>
    <p:sldId id="586" r:id="rId75"/>
    <p:sldId id="581" r:id="rId76"/>
    <p:sldId id="582" r:id="rId77"/>
    <p:sldId id="583" r:id="rId78"/>
    <p:sldId id="584" r:id="rId79"/>
    <p:sldId id="585" r:id="rId80"/>
    <p:sldId id="464" r:id="rId81"/>
    <p:sldId id="550" r:id="rId82"/>
    <p:sldId id="551" r:id="rId83"/>
    <p:sldId id="553" r:id="rId84"/>
    <p:sldId id="557" r:id="rId85"/>
    <p:sldId id="554" r:id="rId86"/>
    <p:sldId id="556" r:id="rId87"/>
    <p:sldId id="558" r:id="rId88"/>
    <p:sldId id="552" r:id="rId89"/>
    <p:sldId id="565" r:id="rId90"/>
    <p:sldId id="470" r:id="rId91"/>
    <p:sldId id="487" r:id="rId92"/>
    <p:sldId id="488" r:id="rId93"/>
    <p:sldId id="516" r:id="rId94"/>
    <p:sldId id="491" r:id="rId95"/>
    <p:sldId id="493" r:id="rId96"/>
    <p:sldId id="495" r:id="rId97"/>
    <p:sldId id="497" r:id="rId98"/>
    <p:sldId id="489" r:id="rId99"/>
    <p:sldId id="518" r:id="rId100"/>
    <p:sldId id="519" r:id="rId101"/>
    <p:sldId id="560" r:id="rId102"/>
    <p:sldId id="505" r:id="rId103"/>
    <p:sldId id="521" r:id="rId104"/>
    <p:sldId id="561" r:id="rId105"/>
    <p:sldId id="571" r:id="rId106"/>
    <p:sldId id="563" r:id="rId107"/>
    <p:sldId id="573" r:id="rId108"/>
    <p:sldId id="564" r:id="rId109"/>
    <p:sldId id="577" r:id="rId110"/>
    <p:sldId id="572" r:id="rId111"/>
    <p:sldId id="574" r:id="rId112"/>
    <p:sldId id="566" r:id="rId113"/>
    <p:sldId id="520" r:id="rId114"/>
    <p:sldId id="575" r:id="rId115"/>
    <p:sldId id="576" r:id="rId116"/>
    <p:sldId id="569" r:id="rId117"/>
    <p:sldId id="570" r:id="rId118"/>
    <p:sldId id="484" r:id="rId119"/>
    <p:sldId id="485" r:id="rId120"/>
    <p:sldId id="284"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654"/>
    <a:srgbClr val="00C3E6"/>
    <a:srgbClr val="B7B6B6"/>
    <a:srgbClr val="3D8D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43" autoAdjust="0"/>
    <p:restoredTop sz="92950" autoAdjust="0"/>
  </p:normalViewPr>
  <p:slideViewPr>
    <p:cSldViewPr snapToGrid="0">
      <p:cViewPr>
        <p:scale>
          <a:sx n="75" d="100"/>
          <a:sy n="75" d="100"/>
        </p:scale>
        <p:origin x="79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viewProps" Target="view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en-US" sz="1862" b="1" i="0" u="none" strike="noStrike" kern="1200" cap="none" baseline="0" dirty="0">
                <a:solidFill>
                  <a:srgbClr val="FFFFFF">
                    <a:lumMod val="85000"/>
                  </a:srgbClr>
                </a:solidFill>
              </a:rPr>
              <a:t>Fixed Point Analysis</a:t>
            </a:r>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Expected truncation</c:v>
                </c:pt>
              </c:strCache>
            </c:strRef>
          </c:tx>
          <c:spPr>
            <a:ln w="22225" cap="rnd">
              <a:solidFill>
                <a:schemeClr val="accent1"/>
              </a:solidFill>
            </a:ln>
            <a:effectLst>
              <a:glow rad="139700">
                <a:schemeClr val="accent1">
                  <a:satMod val="175000"/>
                  <a:alpha val="14000"/>
                </a:schemeClr>
              </a:glo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numRef>
              <c:f>Sheet1!$A$2:$A$14</c:f>
              <c:numCache>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Cache>
            </c:numRef>
          </c:cat>
          <c:val>
            <c:numRef>
              <c:f>Sheet1!$B$2:$B$14</c:f>
              <c:numCache>
                <c:formatCode>General</c:formatCode>
                <c:ptCount val="13"/>
                <c:pt idx="0">
                  <c:v>11</c:v>
                </c:pt>
                <c:pt idx="1">
                  <c:v>10</c:v>
                </c:pt>
                <c:pt idx="2">
                  <c:v>9</c:v>
                </c:pt>
                <c:pt idx="3">
                  <c:v>8</c:v>
                </c:pt>
                <c:pt idx="4">
                  <c:v>7</c:v>
                </c:pt>
                <c:pt idx="5">
                  <c:v>6</c:v>
                </c:pt>
                <c:pt idx="6">
                  <c:v>5</c:v>
                </c:pt>
                <c:pt idx="7">
                  <c:v>4</c:v>
                </c:pt>
                <c:pt idx="8">
                  <c:v>3</c:v>
                </c:pt>
                <c:pt idx="9">
                  <c:v>2</c:v>
                </c:pt>
                <c:pt idx="10">
                  <c:v>1</c:v>
                </c:pt>
                <c:pt idx="11">
                  <c:v>0</c:v>
                </c:pt>
                <c:pt idx="12">
                  <c:v>-1</c:v>
                </c:pt>
              </c:numCache>
            </c:numRef>
          </c:val>
          <c:smooth val="0"/>
          <c:extLst>
            <c:ext xmlns:c16="http://schemas.microsoft.com/office/drawing/2014/chart" uri="{C3380CC4-5D6E-409C-BE32-E72D297353CC}">
              <c16:uniqueId val="{00000000-4356-4352-B2FE-47D6C531AF48}"/>
            </c:ext>
          </c:extLst>
        </c:ser>
        <c:ser>
          <c:idx val="1"/>
          <c:order val="1"/>
          <c:tx>
            <c:strRef>
              <c:f>Sheet1!$C$1</c:f>
              <c:strCache>
                <c:ptCount val="1"/>
                <c:pt idx="0">
                  <c:v>MATLAB FxPt</c:v>
                </c:pt>
              </c:strCache>
            </c:strRef>
          </c:tx>
          <c:spPr>
            <a:ln w="22225" cap="rnd">
              <a:solidFill>
                <a:schemeClr val="accent2"/>
              </a:solidFill>
            </a:ln>
            <a:effectLst>
              <a:glow rad="139700">
                <a:schemeClr val="accent2">
                  <a:satMod val="175000"/>
                  <a:alpha val="14000"/>
                </a:schemeClr>
              </a:glo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numRef>
              <c:f>Sheet1!$A$2:$A$14</c:f>
              <c:numCache>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Cache>
            </c:numRef>
          </c:cat>
          <c:val>
            <c:numRef>
              <c:f>Sheet1!$C$2:$C$14</c:f>
              <c:numCache>
                <c:formatCode>General</c:formatCode>
                <c:ptCount val="13"/>
                <c:pt idx="0">
                  <c:v>11</c:v>
                </c:pt>
                <c:pt idx="1">
                  <c:v>9</c:v>
                </c:pt>
                <c:pt idx="2">
                  <c:v>8</c:v>
                </c:pt>
                <c:pt idx="3">
                  <c:v>8</c:v>
                </c:pt>
                <c:pt idx="4">
                  <c:v>7</c:v>
                </c:pt>
                <c:pt idx="5">
                  <c:v>6</c:v>
                </c:pt>
                <c:pt idx="6">
                  <c:v>6</c:v>
                </c:pt>
                <c:pt idx="7">
                  <c:v>5</c:v>
                </c:pt>
                <c:pt idx="8">
                  <c:v>5</c:v>
                </c:pt>
                <c:pt idx="9">
                  <c:v>4</c:v>
                </c:pt>
                <c:pt idx="10">
                  <c:v>4</c:v>
                </c:pt>
                <c:pt idx="11">
                  <c:v>3</c:v>
                </c:pt>
                <c:pt idx="12">
                  <c:v>3</c:v>
                </c:pt>
              </c:numCache>
            </c:numRef>
          </c:val>
          <c:smooth val="0"/>
          <c:extLst>
            <c:ext xmlns:c16="http://schemas.microsoft.com/office/drawing/2014/chart" uri="{C3380CC4-5D6E-409C-BE32-E72D297353CC}">
              <c16:uniqueId val="{00000001-4356-4352-B2FE-47D6C531AF48}"/>
            </c:ext>
          </c:extLst>
        </c:ser>
        <c:dLbls>
          <c:dLblPos val="ctr"/>
          <c:showLegendKey val="0"/>
          <c:showVal val="1"/>
          <c:showCatName val="0"/>
          <c:showSerName val="0"/>
          <c:showPercent val="0"/>
          <c:showBubbleSize val="0"/>
        </c:dLbls>
        <c:smooth val="0"/>
        <c:axId val="2084558287"/>
        <c:axId val="2084558767"/>
      </c:lineChart>
      <c:catAx>
        <c:axId val="2084558287"/>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en-US" dirty="0"/>
                  <a:t>Stage</a:t>
                </a:r>
                <a:r>
                  <a:rPr lang="en-US" baseline="0" dirty="0"/>
                  <a:t> Number</a:t>
                </a:r>
                <a:endParaRPr lang="en-US" dirty="0"/>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2084558767"/>
        <c:crosses val="autoZero"/>
        <c:auto val="1"/>
        <c:lblAlgn val="ctr"/>
        <c:lblOffset val="100"/>
        <c:noMultiLvlLbl val="0"/>
      </c:catAx>
      <c:valAx>
        <c:axId val="2084558767"/>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en-US" dirty="0"/>
                  <a:t>Number</a:t>
                </a:r>
                <a:r>
                  <a:rPr lang="en-US" baseline="0" dirty="0"/>
                  <a:t> of fractional bits</a:t>
                </a:r>
                <a:endParaRPr lang="en-US" dirty="0"/>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208455828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dgm:t>
        <a:bodyPr/>
        <a:lstStyle/>
        <a:p>
          <a:r>
            <a:rPr lang="en-US" sz="2000" b="1" dirty="0"/>
            <a:t>Time domain signal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dgm:t>
        <a:bodyPr/>
        <a:lstStyle/>
        <a:p>
          <a:r>
            <a:rPr lang="en-US" sz="2000" b="1" dirty="0"/>
            <a:t>DFT</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2000" b="1" dirty="0"/>
            <a:t>Frequency domain signal </a:t>
          </a:r>
        </a:p>
      </dgm:t>
    </dgm:pt>
    <dgm:pt modelId="{1C356978-7054-41A9-A7C6-D3F2848AAF3D}" type="parTrans" cxnId="{994DDAFE-C53C-48DC-825E-6B753AA9CC43}">
      <dgm:prSet/>
      <dgm:spPr>
        <a:ln>
          <a:headEnd type="none" w="med" len="med"/>
          <a:tailEnd type="arrow"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1"/>
      <dgm:spPr/>
    </dgm:pt>
    <dgm:pt modelId="{881A9ED0-E02A-48B6-AEE4-159BF33FDDB6}" type="pres">
      <dgm:prSet presAssocID="{491C4631-7884-4BE9-89A7-B531829A1BA5}" presName="connTx" presStyleLbl="parChTrans1D2" presStyleIdx="0" presStyleCnt="1"/>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1">
        <dgm:presLayoutVars>
          <dgm:chPref val="3"/>
        </dgm:presLayoutVars>
      </dgm:prSet>
      <dgm:spPr/>
    </dgm:pt>
    <dgm:pt modelId="{2B97FB7A-8C50-4C81-92A1-BA037C94BBA4}" type="pres">
      <dgm:prSet presAssocID="{EA56EBE7-8CEE-492D-85E8-FA3ADE5E0753}" presName="level3hierChild" presStyleCnt="0"/>
      <dgm:spPr/>
    </dgm:pt>
    <dgm:pt modelId="{AEB5973E-509A-4C0D-8086-C404B400E335}" type="pres">
      <dgm:prSet presAssocID="{1C356978-7054-41A9-A7C6-D3F2848AAF3D}" presName="conn2-1" presStyleLbl="parChTrans1D3" presStyleIdx="0" presStyleCnt="1"/>
      <dgm:spPr/>
    </dgm:pt>
    <dgm:pt modelId="{1D7F3620-0500-46EC-ABB9-64808E7787EA}" type="pres">
      <dgm:prSet presAssocID="{1C356978-7054-41A9-A7C6-D3F2848AAF3D}" presName="connTx" presStyleLbl="parChTrans1D3"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3"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40D4F712-EFD7-4368-84F6-B47CF5394660}" srcId="{C26BCC30-092A-479C-8256-94385042C15E}" destId="{B698BBC9-0ECC-4472-9558-1701C7F94816}" srcOrd="0" destOrd="0" parTransId="{8D12F804-CE05-494B-B50C-27A8D9BC3E99}" sibTransId="{ED561637-92D6-4ED4-AC68-329D69BC710C}"/>
    <dgm:cxn modelId="{7BBDA422-87B2-42CE-8C65-53D915C5D175}" type="presOf" srcId="{1C356978-7054-41A9-A7C6-D3F2848AAF3D}" destId="{1D7F3620-0500-46EC-ABB9-64808E7787EA}" srcOrd="1" destOrd="0" presId="urn:microsoft.com/office/officeart/2005/8/layout/hierarchy2"/>
    <dgm:cxn modelId="{1985E661-60FA-466E-81CB-2B37BEC72B74}" type="presOf" srcId="{491C4631-7884-4BE9-89A7-B531829A1BA5}" destId="{7CA91D8C-C6AD-4C91-8FF6-3C936AD64A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9463476B-4116-4A6F-82CC-247E1B4B67D2}" type="presOf" srcId="{42C8155F-F275-41B9-9C88-410B17198023}" destId="{BD6B7A61-6E99-499B-9BF9-2FB88F770B01}" srcOrd="0" destOrd="0" presId="urn:microsoft.com/office/officeart/2005/8/layout/hierarchy2"/>
    <dgm:cxn modelId="{23F54855-82DC-430C-8C4D-7D36832C9CFE}" type="presOf" srcId="{491C4631-7884-4BE9-89A7-B531829A1BA5}" destId="{881A9ED0-E02A-48B6-AEE4-159BF33FDDB6}" srcOrd="1" destOrd="0" presId="urn:microsoft.com/office/officeart/2005/8/layout/hierarchy2"/>
    <dgm:cxn modelId="{C648CEAB-C223-4743-B275-040F59B29061}" type="presOf" srcId="{EA56EBE7-8CEE-492D-85E8-FA3ADE5E0753}" destId="{926591DF-8F70-4098-BE52-63364D7B83D7}"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F2BB96C8-51FE-402A-961C-F7BB61D8393A}" type="presOf" srcId="{1C356978-7054-41A9-A7C6-D3F2848AAF3D}" destId="{AEB5973E-509A-4C0D-8086-C404B400E335}" srcOrd="0" destOrd="0" presId="urn:microsoft.com/office/officeart/2005/8/layout/hierarchy2"/>
    <dgm:cxn modelId="{6888A0E2-40CC-4EA3-97FB-6CD269ED0E4F}" type="presOf" srcId="{B698BBC9-0ECC-4472-9558-1701C7F94816}" destId="{BCCEBEEC-0CD2-4CF8-8D37-28C1C1CCA5C7}"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8C8B59EA-F27A-4098-86F1-F06688912989}" type="presParOf" srcId="{B3310997-2F0B-443D-9345-5A8C05AD9F1A}" destId="{A1A95D88-EE03-4A14-B4CD-73B4531623D5}" srcOrd="0" destOrd="0" presId="urn:microsoft.com/office/officeart/2005/8/layout/hierarchy2"/>
    <dgm:cxn modelId="{032C2188-299C-4193-B911-4AD945259D0E}" type="presParOf" srcId="{A1A95D88-EE03-4A14-B4CD-73B4531623D5}" destId="{BCCEBEEC-0CD2-4CF8-8D37-28C1C1CCA5C7}" srcOrd="0" destOrd="0" presId="urn:microsoft.com/office/officeart/2005/8/layout/hierarchy2"/>
    <dgm:cxn modelId="{6A9D9BDB-AC79-4F33-AC74-DA0FAC0623D3}" type="presParOf" srcId="{A1A95D88-EE03-4A14-B4CD-73B4531623D5}" destId="{A7AB5A99-A0CE-4698-AF2B-ED8723048A03}" srcOrd="1" destOrd="0" presId="urn:microsoft.com/office/officeart/2005/8/layout/hierarchy2"/>
    <dgm:cxn modelId="{D1BDA1D0-08CD-47EC-B1B8-8797D1307725}" type="presParOf" srcId="{A7AB5A99-A0CE-4698-AF2B-ED8723048A03}" destId="{7CA91D8C-C6AD-4C91-8FF6-3C936AD64AD6}" srcOrd="0" destOrd="0" presId="urn:microsoft.com/office/officeart/2005/8/layout/hierarchy2"/>
    <dgm:cxn modelId="{11D7BE69-D755-412E-A5E8-60799CEC8D21}" type="presParOf" srcId="{7CA91D8C-C6AD-4C91-8FF6-3C936AD64AD6}" destId="{881A9ED0-E02A-48B6-AEE4-159BF33FDDB6}" srcOrd="0" destOrd="0" presId="urn:microsoft.com/office/officeart/2005/8/layout/hierarchy2"/>
    <dgm:cxn modelId="{D4C5FE2D-94D0-42FE-AAFB-10DC0F2D0C5D}" type="presParOf" srcId="{A7AB5A99-A0CE-4698-AF2B-ED8723048A03}" destId="{431DA51A-0D7B-4BEE-AAA4-C30179B5B04D}" srcOrd="1" destOrd="0" presId="urn:microsoft.com/office/officeart/2005/8/layout/hierarchy2"/>
    <dgm:cxn modelId="{4C482405-810E-4CBE-B038-B3A5ECB842B3}" type="presParOf" srcId="{431DA51A-0D7B-4BEE-AAA4-C30179B5B04D}" destId="{926591DF-8F70-4098-BE52-63364D7B83D7}" srcOrd="0" destOrd="0" presId="urn:microsoft.com/office/officeart/2005/8/layout/hierarchy2"/>
    <dgm:cxn modelId="{4C663769-904E-4C30-B209-12A2A72F0214}" type="presParOf" srcId="{431DA51A-0D7B-4BEE-AAA4-C30179B5B04D}" destId="{2B97FB7A-8C50-4C81-92A1-BA037C94BBA4}" srcOrd="1" destOrd="0" presId="urn:microsoft.com/office/officeart/2005/8/layout/hierarchy2"/>
    <dgm:cxn modelId="{0CF63691-2F05-447E-AF43-D59934FA5F9C}" type="presParOf" srcId="{2B97FB7A-8C50-4C81-92A1-BA037C94BBA4}" destId="{AEB5973E-509A-4C0D-8086-C404B400E335}" srcOrd="0" destOrd="0" presId="urn:microsoft.com/office/officeart/2005/8/layout/hierarchy2"/>
    <dgm:cxn modelId="{9BAB3597-CA00-4639-82DA-CF55612D7700}" type="presParOf" srcId="{AEB5973E-509A-4C0D-8086-C404B400E335}" destId="{1D7F3620-0500-46EC-ABB9-64808E7787EA}" srcOrd="0" destOrd="0" presId="urn:microsoft.com/office/officeart/2005/8/layout/hierarchy2"/>
    <dgm:cxn modelId="{49BA80CE-8079-4623-8281-2BFD8D782242}" type="presParOf" srcId="{2B97FB7A-8C50-4C81-92A1-BA037C94BBA4}" destId="{6EE977EB-F012-4A92-9BD5-9C97C635A873}" srcOrd="1" destOrd="0" presId="urn:microsoft.com/office/officeart/2005/8/layout/hierarchy2"/>
    <dgm:cxn modelId="{55D8D93B-DAEC-4A31-9B8B-68582E185291}" type="presParOf" srcId="{6EE977EB-F012-4A92-9BD5-9C97C635A873}" destId="{BD6B7A61-6E99-499B-9BF9-2FB88F770B01}" srcOrd="0" destOrd="0" presId="urn:microsoft.com/office/officeart/2005/8/layout/hierarchy2"/>
    <dgm:cxn modelId="{25D362B3-263C-4192-B29A-00C970C2FEF5}"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alpha val="20000"/>
                </a:schemeClr>
              </a:solidFill>
            </a:rPr>
            <a:t>FFT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alpha val="20000"/>
                </a:schemeClr>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CF4D5178-4D9A-4658-A3A6-F1F983C1AE76}"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B1D3DE3-797A-4486-B82C-59047B674944}" type="presOf" srcId="{FBE5B373-E8C9-4A80-8A40-C50E77815EA6}" destId="{F269AF7E-7540-4BB7-8DCD-8A64531EB7A7}" srcOrd="1" destOrd="0" presId="urn:microsoft.com/office/officeart/2005/8/layout/hierarchy2"/>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EBB7FE73-751B-44B2-9DE7-56AE66E44E94}"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5B7920FE-0840-4EA3-8103-C976F2336E6C}" type="presParOf" srcId="{444293F5-B3CF-4974-A8CA-A7A02491E9C7}" destId="{79214E38-A01B-4C3A-9E1F-D30FFA4B6466}" srcOrd="0" destOrd="0" presId="urn:microsoft.com/office/officeart/2005/8/layout/hierarchy2"/>
    <dgm:cxn modelId="{C18BE848-11F3-4E14-8C1F-0AB3DA2E4978}"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alpha val="20000"/>
                </a:schemeClr>
              </a:solidFill>
            </a:rPr>
            <a:t>FFT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alpha val="20000"/>
                </a:schemeClr>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EC0F5B43-83E8-400A-BDA5-CD5109F94970}" type="presOf" srcId="{FBE5B373-E8C9-4A80-8A40-C50E77815EA6}" destId="{F269AF7E-7540-4BB7-8DCD-8A64531EB7A7}" srcOrd="1"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47597796-1E5E-42F0-8DA8-5E7C50044302}"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85604CD0-8F2E-4D1C-AEE5-87C657C71D4E}"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98A1BF9E-659A-4F5D-9558-0BAE50FA26FA}" type="presParOf" srcId="{444293F5-B3CF-4974-A8CA-A7A02491E9C7}" destId="{79214E38-A01B-4C3A-9E1F-D30FFA4B6466}" srcOrd="0" destOrd="0" presId="urn:microsoft.com/office/officeart/2005/8/layout/hierarchy2"/>
    <dgm:cxn modelId="{A584A330-D224-4C74-9874-831F4B9FD04D}"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alpha val="20000"/>
                </a:schemeClr>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solidFill>
            </a:rPr>
            <a:t>FFT</a:t>
          </a:r>
          <a:r>
            <a:rPr lang="en-US" sz="2000" b="1" dirty="0">
              <a:solidFill>
                <a:schemeClr val="tx1">
                  <a:alpha val="20000"/>
                </a:schemeClr>
              </a:solidFill>
            </a:rPr>
            <a: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alpha val="20000"/>
                </a:schemeClr>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alpha val="20000"/>
                </a:schemeClr>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EC0F5B43-83E8-400A-BDA5-CD5109F94970}" type="presOf" srcId="{FBE5B373-E8C9-4A80-8A40-C50E77815EA6}" destId="{F269AF7E-7540-4BB7-8DCD-8A64531EB7A7}" srcOrd="1"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47597796-1E5E-42F0-8DA8-5E7C50044302}"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85604CD0-8F2E-4D1C-AEE5-87C657C71D4E}"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98A1BF9E-659A-4F5D-9558-0BAE50FA26FA}" type="presParOf" srcId="{444293F5-B3CF-4974-A8CA-A7A02491E9C7}" destId="{79214E38-A01B-4C3A-9E1F-D30FFA4B6466}" srcOrd="0" destOrd="0" presId="urn:microsoft.com/office/officeart/2005/8/layout/hierarchy2"/>
    <dgm:cxn modelId="{A584A330-D224-4C74-9874-831F4B9FD04D}"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8D5B40E-6D43-4893-8230-3D97D25CCDF6}" type="doc">
      <dgm:prSet loTypeId="urn:microsoft.com/office/officeart/2005/8/layout/hierarchy6" loCatId="hierarchy" qsTypeId="urn:microsoft.com/office/officeart/2005/8/quickstyle/simple2" qsCatId="simple" csTypeId="urn:microsoft.com/office/officeart/2005/8/colors/accent2_2" csCatId="accent2" phldr="1"/>
      <dgm:spPr/>
      <dgm:t>
        <a:bodyPr/>
        <a:lstStyle/>
        <a:p>
          <a:endParaRPr lang="en-US"/>
        </a:p>
      </dgm:t>
    </dgm:pt>
    <dgm:pt modelId="{10F74450-A13D-4102-878A-DEB7E7F05EC2}">
      <dgm:prSet phldrT="[Text]" custT="1"/>
      <dgm:spPr/>
      <dgm:t>
        <a:bodyPr/>
        <a:lstStyle/>
        <a:p>
          <a:pPr>
            <a:buClr>
              <a:srgbClr val="1E4056"/>
            </a:buClr>
            <a:buSzPct val="75000"/>
          </a:pPr>
          <a:r>
            <a:rPr lang="en-US" sz="1600" b="1"/>
            <a:t>Cooley-Tukey algorithm</a:t>
          </a:r>
          <a:endParaRPr lang="en-US" sz="1600" b="1" dirty="0"/>
        </a:p>
      </dgm:t>
    </dgm:pt>
    <dgm:pt modelId="{FEDD80C8-9E9A-4928-9E3D-489420923BF1}" type="parTrans" cxnId="{AE65C393-A923-4C40-8E3C-DC6D278FE954}">
      <dgm:prSet/>
      <dgm:spPr/>
      <dgm:t>
        <a:bodyPr/>
        <a:lstStyle/>
        <a:p>
          <a:endParaRPr lang="en-US"/>
        </a:p>
      </dgm:t>
    </dgm:pt>
    <dgm:pt modelId="{0A4E9BAC-79AD-43BC-BC49-3F3CE144D372}" type="sibTrans" cxnId="{AE65C393-A923-4C40-8E3C-DC6D278FE954}">
      <dgm:prSet/>
      <dgm:spPr/>
      <dgm:t>
        <a:bodyPr/>
        <a:lstStyle/>
        <a:p>
          <a:endParaRPr lang="en-US"/>
        </a:p>
      </dgm:t>
    </dgm:pt>
    <dgm:pt modelId="{55ECDAAC-0C89-4667-88F8-F6B0946630C2}">
      <dgm:prSet phldrT="[Text]" phldr="0" custT="1"/>
      <dgm:spPr>
        <a:solidFill>
          <a:schemeClr val="accent2">
            <a:hueOff val="0"/>
            <a:satOff val="0"/>
            <a:lumOff val="0"/>
            <a:alpha val="30000"/>
          </a:schemeClr>
        </a:solidFill>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-2</a:t>
          </a:r>
        </a:p>
      </dgm:t>
    </dgm:pt>
    <dgm:pt modelId="{F76B7393-BE85-4342-BB77-EA56A424D711}" type="parTrans" cxnId="{2C94BF41-25AF-44ED-9B83-94C5629386AB}">
      <dgm:prSet/>
      <dgm:spPr/>
      <dgm:t>
        <a:bodyPr/>
        <a:lstStyle/>
        <a:p>
          <a:endParaRPr lang="en-US"/>
        </a:p>
      </dgm:t>
    </dgm:pt>
    <dgm:pt modelId="{FB08165B-2AA7-4A58-B523-AC83F1152E2D}" type="sibTrans" cxnId="{2C94BF41-25AF-44ED-9B83-94C5629386AB}">
      <dgm:prSet/>
      <dgm:spPr/>
      <dgm:t>
        <a:bodyPr/>
        <a:lstStyle/>
        <a:p>
          <a:endParaRPr lang="en-US"/>
        </a:p>
      </dgm:t>
    </dgm:pt>
    <dgm:pt modelId="{695D9FC6-95EF-4BAA-BF6A-D8BB5E371C70}">
      <dgm:prSet phldrT="[Text]" phldr="0" custT="1"/>
      <dgm:spPr>
        <a:solidFill>
          <a:schemeClr val="accent2">
            <a:hueOff val="0"/>
            <a:satOff val="0"/>
            <a:lumOff val="0"/>
            <a:alpha val="30000"/>
          </a:schemeClr>
        </a:solidFill>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-4</a:t>
          </a:r>
        </a:p>
      </dgm:t>
    </dgm:pt>
    <dgm:pt modelId="{DD85B3C1-594B-4C1A-83B0-5BA747113388}" type="parTrans" cxnId="{F6BF7441-7370-41CD-9CAC-BEBB4890E720}">
      <dgm:prSet/>
      <dgm:spPr/>
      <dgm:t>
        <a:bodyPr/>
        <a:lstStyle/>
        <a:p>
          <a:endParaRPr lang="en-US"/>
        </a:p>
      </dgm:t>
    </dgm:pt>
    <dgm:pt modelId="{10D8DFAC-7090-4788-8BB5-710D5B39A4F1}" type="sibTrans" cxnId="{F6BF7441-7370-41CD-9CAC-BEBB4890E720}">
      <dgm:prSet/>
      <dgm:spPr/>
      <dgm:t>
        <a:bodyPr/>
        <a:lstStyle/>
        <a:p>
          <a:endParaRPr lang="en-US"/>
        </a:p>
      </dgm:t>
    </dgm:pt>
    <dgm:pt modelId="{DB6CE09C-1CE5-48F9-89BE-C8FB5CC759E0}">
      <dgm:prSet phldrT="[Text]" phldr="0" custT="1"/>
      <dgm:spPr/>
      <dgm:t>
        <a:bodyPr/>
        <a:lstStyle/>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Decimation          in frequency (DIF) </a:t>
          </a:r>
        </a:p>
      </dgm:t>
    </dgm:pt>
    <dgm:pt modelId="{B2160168-0965-472A-BD8E-65DFE864346F}" type="parTrans" cxnId="{3288D674-24E9-42F8-B972-AB74DEF9A004}">
      <dgm:prSet/>
      <dgm:spPr/>
      <dgm:t>
        <a:bodyPr/>
        <a:lstStyle/>
        <a:p>
          <a:endParaRPr lang="en-US"/>
        </a:p>
      </dgm:t>
    </dgm:pt>
    <dgm:pt modelId="{9FD893E9-7B35-411A-AC9C-8DCAEBCA18AD}" type="sibTrans" cxnId="{3288D674-24E9-42F8-B972-AB74DEF9A004}">
      <dgm:prSet/>
      <dgm:spPr/>
      <dgm:t>
        <a:bodyPr/>
        <a:lstStyle/>
        <a:p>
          <a:endParaRPr lang="en-US"/>
        </a:p>
      </dgm:t>
    </dgm:pt>
    <dgm:pt modelId="{C03BAB53-93F8-43DF-AE3B-496485DB4D47}">
      <dgm:prSet phldrT="[Text]" phldr="0" custT="1"/>
      <dgm:spPr>
        <a:solidFill>
          <a:schemeClr val="accent2">
            <a:hueOff val="0"/>
            <a:satOff val="0"/>
            <a:lumOff val="0"/>
            <a:alpha val="30000"/>
          </a:schemeClr>
        </a:solidFill>
        <a:ln>
          <a:solidFill>
            <a:schemeClr val="lt1">
              <a:hueOff val="0"/>
              <a:satOff val="0"/>
              <a:lumOff val="0"/>
            </a:schemeClr>
          </a:solidFill>
        </a:ln>
      </dgm:spPr>
      <dgm: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Decimation          in time</a:t>
          </a:r>
        </a:p>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 (DIT) </a:t>
          </a:r>
        </a:p>
      </dgm:t>
    </dgm:pt>
    <dgm:pt modelId="{621EEB1B-271F-4942-97CB-F4B9CB6BB917}" type="parTrans" cxnId="{1B4F1DE6-9564-4C57-A461-B944AB04AE24}">
      <dgm:prSet/>
      <dgm:spPr/>
      <dgm:t>
        <a:bodyPr/>
        <a:lstStyle/>
        <a:p>
          <a:endParaRPr lang="en-US"/>
        </a:p>
      </dgm:t>
    </dgm:pt>
    <dgm:pt modelId="{7377C925-22AF-4825-B533-483C79EF8F60}" type="sibTrans" cxnId="{1B4F1DE6-9564-4C57-A461-B944AB04AE24}">
      <dgm:prSet/>
      <dgm:spPr/>
      <dgm:t>
        <a:bodyPr/>
        <a:lstStyle/>
        <a:p>
          <a:endParaRPr lang="en-US"/>
        </a:p>
      </dgm:t>
    </dgm:pt>
    <dgm:pt modelId="{EEDBD511-EB6B-4F77-91D7-CA7FE529EA6B}">
      <dgm:prSet phldrT="[Text]" phldr="0" custT="1"/>
      <dgm:spPr/>
      <dgm:t>
        <a:bodyPr/>
        <a:lstStyle/>
        <a:p>
          <a:r>
            <a:rPr lang="en-US" sz="1600" b="1">
              <a:latin typeface="Barlow"/>
              <a:ea typeface="+mn-ea"/>
              <a:cs typeface="+mn-cs"/>
            </a:rPr>
            <a:t>Radix -2</a:t>
          </a:r>
          <a:endParaRPr lang="en-US" sz="1600" dirty="0"/>
        </a:p>
      </dgm:t>
    </dgm:pt>
    <dgm:pt modelId="{EA465853-8EAB-44A3-8971-14A984DEC1EC}" type="parTrans" cxnId="{AC0A258C-BF54-4BB8-8A32-51E45597DDA2}">
      <dgm:prSet/>
      <dgm:spPr/>
      <dgm:t>
        <a:bodyPr/>
        <a:lstStyle/>
        <a:p>
          <a:endParaRPr lang="en-US"/>
        </a:p>
      </dgm:t>
    </dgm:pt>
    <dgm:pt modelId="{379F56CD-39C2-4813-AD4C-1B3C43D49167}" type="sibTrans" cxnId="{AC0A258C-BF54-4BB8-8A32-51E45597DDA2}">
      <dgm:prSet/>
      <dgm:spPr/>
      <dgm:t>
        <a:bodyPr/>
        <a:lstStyle/>
        <a:p>
          <a:endParaRPr lang="en-US"/>
        </a:p>
      </dgm:t>
    </dgm:pt>
    <dgm:pt modelId="{753A70F1-A805-4840-A5F8-76BE709B23C5}">
      <dgm:prSet phldrT="[Text]" phldr="0" custT="1"/>
      <dgm:spPr>
        <a:solidFill>
          <a:schemeClr val="accent2">
            <a:hueOff val="0"/>
            <a:satOff val="0"/>
            <a:lumOff val="0"/>
            <a:alpha val="30000"/>
          </a:schemeClr>
        </a:solidFill>
      </dgm:spPr>
      <dgm:t>
        <a:bodyPr/>
        <a:lstStyle/>
        <a:p>
          <a:r>
            <a:rPr lang="en-US" sz="1600" b="1" dirty="0">
              <a:solidFill>
                <a:schemeClr val="lt1">
                  <a:alpha val="30000"/>
                </a:schemeClr>
              </a:solidFill>
              <a:latin typeface="Barlow"/>
              <a:ea typeface="+mn-ea"/>
              <a:cs typeface="+mn-cs"/>
            </a:rPr>
            <a:t>Radix -4</a:t>
          </a:r>
          <a:endParaRPr lang="en-US" sz="1600" dirty="0">
            <a:solidFill>
              <a:schemeClr val="lt1">
                <a:alpha val="30000"/>
              </a:schemeClr>
            </a:solidFill>
          </a:endParaRPr>
        </a:p>
      </dgm:t>
    </dgm:pt>
    <dgm:pt modelId="{BB58EB3E-29CE-42BB-9DDF-581ABEFA4682}" type="parTrans" cxnId="{B2F8175D-C63A-4798-BA6C-37E13FBF857F}">
      <dgm:prSet/>
      <dgm:spPr/>
      <dgm:t>
        <a:bodyPr/>
        <a:lstStyle/>
        <a:p>
          <a:endParaRPr lang="en-US"/>
        </a:p>
      </dgm:t>
    </dgm:pt>
    <dgm:pt modelId="{AAC029D7-5617-475E-A51D-41D6642AE0F7}" type="sibTrans" cxnId="{B2F8175D-C63A-4798-BA6C-37E13FBF857F}">
      <dgm:prSet/>
      <dgm:spPr/>
      <dgm:t>
        <a:bodyPr/>
        <a:lstStyle/>
        <a:p>
          <a:endParaRPr lang="en-US"/>
        </a:p>
      </dgm:t>
    </dgm:pt>
    <dgm:pt modelId="{F5D31456-443A-4D73-83D9-B3F7CC79216C}" type="pres">
      <dgm:prSet presAssocID="{88D5B40E-6D43-4893-8230-3D97D25CCDF6}" presName="mainComposite" presStyleCnt="0">
        <dgm:presLayoutVars>
          <dgm:chPref val="1"/>
          <dgm:dir/>
          <dgm:animOne val="branch"/>
          <dgm:animLvl val="lvl"/>
          <dgm:resizeHandles val="exact"/>
        </dgm:presLayoutVars>
      </dgm:prSet>
      <dgm:spPr/>
    </dgm:pt>
    <dgm:pt modelId="{9CE7EDFE-E268-4EE4-A624-F79C25548CD5}" type="pres">
      <dgm:prSet presAssocID="{88D5B40E-6D43-4893-8230-3D97D25CCDF6}" presName="hierFlow" presStyleCnt="0"/>
      <dgm:spPr/>
    </dgm:pt>
    <dgm:pt modelId="{9A3D2A1C-B97A-4BF5-9CD3-6CFBA4ED533C}" type="pres">
      <dgm:prSet presAssocID="{88D5B40E-6D43-4893-8230-3D97D25CCDF6}" presName="hierChild1" presStyleCnt="0">
        <dgm:presLayoutVars>
          <dgm:chPref val="1"/>
          <dgm:animOne val="branch"/>
          <dgm:animLvl val="lvl"/>
        </dgm:presLayoutVars>
      </dgm:prSet>
      <dgm:spPr/>
    </dgm:pt>
    <dgm:pt modelId="{61D275E8-AA85-43BE-B178-9107788ACDD3}" type="pres">
      <dgm:prSet presAssocID="{10F74450-A13D-4102-878A-DEB7E7F05EC2}" presName="Name14" presStyleCnt="0"/>
      <dgm:spPr/>
    </dgm:pt>
    <dgm:pt modelId="{C24A1A1B-AB7B-4E64-BC1E-E495F12E8290}" type="pres">
      <dgm:prSet presAssocID="{10F74450-A13D-4102-878A-DEB7E7F05EC2}" presName="level1Shape" presStyleLbl="node0" presStyleIdx="0" presStyleCnt="1" custScaleX="168566" custLinFactNeighborX="0" custLinFactNeighborY="-1274">
        <dgm:presLayoutVars>
          <dgm:chPref val="3"/>
        </dgm:presLayoutVars>
      </dgm:prSet>
      <dgm:spPr>
        <a:prstGeom prst="rect">
          <a:avLst/>
        </a:prstGeom>
      </dgm:spPr>
    </dgm:pt>
    <dgm:pt modelId="{BBF86B3F-08A5-4D25-9046-D4878E3FFB7D}" type="pres">
      <dgm:prSet presAssocID="{10F74450-A13D-4102-878A-DEB7E7F05EC2}" presName="hierChild2" presStyleCnt="0"/>
      <dgm:spPr/>
    </dgm:pt>
    <dgm:pt modelId="{DD173704-FFEC-4A7A-A18F-7BB4B172E5FB}" type="pres">
      <dgm:prSet presAssocID="{621EEB1B-271F-4942-97CB-F4B9CB6BB917}" presName="Name19" presStyleLbl="parChTrans1D2" presStyleIdx="0" presStyleCnt="2"/>
      <dgm:spPr/>
    </dgm:pt>
    <dgm:pt modelId="{ED1D5894-531A-4037-95DD-52F531761373}" type="pres">
      <dgm:prSet presAssocID="{C03BAB53-93F8-43DF-AE3B-496485DB4D47}" presName="Name21" presStyleCnt="0"/>
      <dgm:spPr/>
    </dgm:pt>
    <dgm:pt modelId="{6921A564-192A-4019-B99F-BF44D3A76F86}" type="pres">
      <dgm:prSet presAssocID="{C03BAB53-93F8-43DF-AE3B-496485DB4D47}" presName="level2Shape" presStyleLbl="node2" presStyleIdx="0" presStyleCnt="2" custScaleX="124451"/>
      <dgm:spPr>
        <a:prstGeom prst="rect">
          <a:avLst/>
        </a:prstGeom>
      </dgm:spPr>
    </dgm:pt>
    <dgm:pt modelId="{CE0A838B-36D0-4FA0-B231-BF4364C59E0D}" type="pres">
      <dgm:prSet presAssocID="{C03BAB53-93F8-43DF-AE3B-496485DB4D47}" presName="hierChild3" presStyleCnt="0"/>
      <dgm:spPr/>
    </dgm:pt>
    <dgm:pt modelId="{018B893F-3C9D-4A88-8FBA-D2EE0088170C}" type="pres">
      <dgm:prSet presAssocID="{F76B7393-BE85-4342-BB77-EA56A424D711}" presName="Name19" presStyleLbl="parChTrans1D3" presStyleIdx="0" presStyleCnt="4"/>
      <dgm:spPr/>
    </dgm:pt>
    <dgm:pt modelId="{1FD1AAFE-6D61-444A-B9E3-4626775FB3FE}" type="pres">
      <dgm:prSet presAssocID="{55ECDAAC-0C89-4667-88F8-F6B0946630C2}" presName="Name21" presStyleCnt="0"/>
      <dgm:spPr/>
    </dgm:pt>
    <dgm:pt modelId="{92BABF8C-5FA1-41B7-AA0D-1CF0EE03DADE}" type="pres">
      <dgm:prSet presAssocID="{55ECDAAC-0C89-4667-88F8-F6B0946630C2}" presName="level2Shape" presStyleLbl="node3" presStyleIdx="0" presStyleCnt="4"/>
      <dgm:spPr>
        <a:xfrm>
          <a:off x="3563" y="2564413"/>
          <a:ext cx="1322542" cy="881695"/>
        </a:xfrm>
        <a:prstGeom prst="rect">
          <a:avLst/>
        </a:prstGeom>
      </dgm:spPr>
    </dgm:pt>
    <dgm:pt modelId="{17233B86-81CB-4FC9-9C02-9D9E33FE36DF}" type="pres">
      <dgm:prSet presAssocID="{55ECDAAC-0C89-4667-88F8-F6B0946630C2}" presName="hierChild3" presStyleCnt="0"/>
      <dgm:spPr/>
    </dgm:pt>
    <dgm:pt modelId="{C495FEB2-4F14-4F4F-AEE8-E2E53DF68543}" type="pres">
      <dgm:prSet presAssocID="{DD85B3C1-594B-4C1A-83B0-5BA747113388}" presName="Name19" presStyleLbl="parChTrans1D3" presStyleIdx="1" presStyleCnt="4"/>
      <dgm:spPr/>
    </dgm:pt>
    <dgm:pt modelId="{D3407EC2-1DED-46BF-BD42-83696EB1F6DC}" type="pres">
      <dgm:prSet presAssocID="{695D9FC6-95EF-4BAA-BF6A-D8BB5E371C70}" presName="Name21" presStyleCnt="0"/>
      <dgm:spPr/>
    </dgm:pt>
    <dgm:pt modelId="{9D0713E2-64C0-4F20-B773-4886D63637E1}" type="pres">
      <dgm:prSet presAssocID="{695D9FC6-95EF-4BAA-BF6A-D8BB5E371C70}" presName="level2Shape" presStyleLbl="node3" presStyleIdx="1" presStyleCnt="4"/>
      <dgm:spPr>
        <a:xfrm>
          <a:off x="1722869" y="2564413"/>
          <a:ext cx="1322542" cy="881695"/>
        </a:xfrm>
        <a:prstGeom prst="rect">
          <a:avLst/>
        </a:prstGeom>
      </dgm:spPr>
    </dgm:pt>
    <dgm:pt modelId="{F280D392-2B92-4DFB-BF43-ED1E6683D463}" type="pres">
      <dgm:prSet presAssocID="{695D9FC6-95EF-4BAA-BF6A-D8BB5E371C70}" presName="hierChild3" presStyleCnt="0"/>
      <dgm:spPr/>
    </dgm:pt>
    <dgm:pt modelId="{7A0BEA37-3CA3-4C74-8E3D-C30BDA4604B5}" type="pres">
      <dgm:prSet presAssocID="{B2160168-0965-472A-BD8E-65DFE864346F}" presName="Name19" presStyleLbl="parChTrans1D2" presStyleIdx="1" presStyleCnt="2"/>
      <dgm:spPr/>
    </dgm:pt>
    <dgm:pt modelId="{49E30405-AB81-46C3-8657-7FDF391C8418}" type="pres">
      <dgm:prSet presAssocID="{DB6CE09C-1CE5-48F9-89BE-C8FB5CC759E0}" presName="Name21" presStyleCnt="0"/>
      <dgm:spPr/>
    </dgm:pt>
    <dgm:pt modelId="{95C7820C-9D63-40ED-8EF1-886F76A29314}" type="pres">
      <dgm:prSet presAssocID="{DB6CE09C-1CE5-48F9-89BE-C8FB5CC759E0}" presName="level2Shape" presStyleLbl="node2" presStyleIdx="1" presStyleCnt="2" custScaleX="124451"/>
      <dgm:spPr>
        <a:prstGeom prst="rect">
          <a:avLst/>
        </a:prstGeom>
      </dgm:spPr>
    </dgm:pt>
    <dgm:pt modelId="{275F2872-A40C-4CEB-9883-1F9D6BDEE9AE}" type="pres">
      <dgm:prSet presAssocID="{DB6CE09C-1CE5-48F9-89BE-C8FB5CC759E0}" presName="hierChild3" presStyleCnt="0"/>
      <dgm:spPr/>
    </dgm:pt>
    <dgm:pt modelId="{5A555029-C8AA-49BE-8755-68B647574B6F}" type="pres">
      <dgm:prSet presAssocID="{EA465853-8EAB-44A3-8971-14A984DEC1EC}" presName="Name19" presStyleLbl="parChTrans1D3" presStyleIdx="2" presStyleCnt="4"/>
      <dgm:spPr/>
    </dgm:pt>
    <dgm:pt modelId="{AC4BAC9F-CB43-4EFA-B012-5DEA2FA5031D}" type="pres">
      <dgm:prSet presAssocID="{EEDBD511-EB6B-4F77-91D7-CA7FE529EA6B}" presName="Name21" presStyleCnt="0"/>
      <dgm:spPr/>
    </dgm:pt>
    <dgm:pt modelId="{175F8124-6214-4F63-B946-D0DA531BBCA8}" type="pres">
      <dgm:prSet presAssocID="{EEDBD511-EB6B-4F77-91D7-CA7FE529EA6B}" presName="level2Shape" presStyleLbl="node3" presStyleIdx="2" presStyleCnt="4"/>
      <dgm:spPr>
        <a:prstGeom prst="rect">
          <a:avLst/>
        </a:prstGeom>
      </dgm:spPr>
    </dgm:pt>
    <dgm:pt modelId="{D89611D5-BDDC-49B0-A23B-537E7C738291}" type="pres">
      <dgm:prSet presAssocID="{EEDBD511-EB6B-4F77-91D7-CA7FE529EA6B}" presName="hierChild3" presStyleCnt="0"/>
      <dgm:spPr/>
    </dgm:pt>
    <dgm:pt modelId="{C4F97668-22FE-468A-98AA-3C552B7B09E3}" type="pres">
      <dgm:prSet presAssocID="{BB58EB3E-29CE-42BB-9DDF-581ABEFA4682}" presName="Name19" presStyleLbl="parChTrans1D3" presStyleIdx="3" presStyleCnt="4"/>
      <dgm:spPr/>
    </dgm:pt>
    <dgm:pt modelId="{55686D8F-0EC4-48D3-A000-C5C8600C1D3E}" type="pres">
      <dgm:prSet presAssocID="{753A70F1-A805-4840-A5F8-76BE709B23C5}" presName="Name21" presStyleCnt="0"/>
      <dgm:spPr/>
    </dgm:pt>
    <dgm:pt modelId="{7886B4B7-A74C-43CF-A80C-F6885910D2EA}" type="pres">
      <dgm:prSet presAssocID="{753A70F1-A805-4840-A5F8-76BE709B23C5}" presName="level2Shape" presStyleLbl="node3" presStyleIdx="3" presStyleCnt="4"/>
      <dgm:spPr>
        <a:prstGeom prst="rect">
          <a:avLst/>
        </a:prstGeom>
      </dgm:spPr>
    </dgm:pt>
    <dgm:pt modelId="{AEA8C075-37FB-42B7-87AD-1991748DF3F7}" type="pres">
      <dgm:prSet presAssocID="{753A70F1-A805-4840-A5F8-76BE709B23C5}" presName="hierChild3" presStyleCnt="0"/>
      <dgm:spPr/>
    </dgm:pt>
    <dgm:pt modelId="{45016C9E-43B9-439A-901D-FFE77E85A7F4}" type="pres">
      <dgm:prSet presAssocID="{88D5B40E-6D43-4893-8230-3D97D25CCDF6}" presName="bgShapesFlow" presStyleCnt="0"/>
      <dgm:spPr/>
    </dgm:pt>
  </dgm:ptLst>
  <dgm:cxnLst>
    <dgm:cxn modelId="{8A990100-F032-4BF3-A8C1-A5CEB38BB1BD}" type="presOf" srcId="{695D9FC6-95EF-4BAA-BF6A-D8BB5E371C70}" destId="{9D0713E2-64C0-4F20-B773-4886D63637E1}" srcOrd="0" destOrd="0" presId="urn:microsoft.com/office/officeart/2005/8/layout/hierarchy6"/>
    <dgm:cxn modelId="{D8BF9801-C7FB-4947-AA6A-F72EF7CB2779}" type="presOf" srcId="{621EEB1B-271F-4942-97CB-F4B9CB6BB917}" destId="{DD173704-FFEC-4A7A-A18F-7BB4B172E5FB}" srcOrd="0" destOrd="0" presId="urn:microsoft.com/office/officeart/2005/8/layout/hierarchy6"/>
    <dgm:cxn modelId="{1A9CCC22-07A2-4940-8181-73430F51C2D3}" type="presOf" srcId="{BB58EB3E-29CE-42BB-9DDF-581ABEFA4682}" destId="{C4F97668-22FE-468A-98AA-3C552B7B09E3}" srcOrd="0" destOrd="0" presId="urn:microsoft.com/office/officeart/2005/8/layout/hierarchy6"/>
    <dgm:cxn modelId="{B2F8175D-C63A-4798-BA6C-37E13FBF857F}" srcId="{DB6CE09C-1CE5-48F9-89BE-C8FB5CC759E0}" destId="{753A70F1-A805-4840-A5F8-76BE709B23C5}" srcOrd="1" destOrd="0" parTransId="{BB58EB3E-29CE-42BB-9DDF-581ABEFA4682}" sibTransId="{AAC029D7-5617-475E-A51D-41D6642AE0F7}"/>
    <dgm:cxn modelId="{F6BF7441-7370-41CD-9CAC-BEBB4890E720}" srcId="{C03BAB53-93F8-43DF-AE3B-496485DB4D47}" destId="{695D9FC6-95EF-4BAA-BF6A-D8BB5E371C70}" srcOrd="1" destOrd="0" parTransId="{DD85B3C1-594B-4C1A-83B0-5BA747113388}" sibTransId="{10D8DFAC-7090-4788-8BB5-710D5B39A4F1}"/>
    <dgm:cxn modelId="{2C94BF41-25AF-44ED-9B83-94C5629386AB}" srcId="{C03BAB53-93F8-43DF-AE3B-496485DB4D47}" destId="{55ECDAAC-0C89-4667-88F8-F6B0946630C2}" srcOrd="0" destOrd="0" parTransId="{F76B7393-BE85-4342-BB77-EA56A424D711}" sibTransId="{FB08165B-2AA7-4A58-B523-AC83F1152E2D}"/>
    <dgm:cxn modelId="{0C80E064-E588-41CB-B7A6-905C981F5DE8}" type="presOf" srcId="{F76B7393-BE85-4342-BB77-EA56A424D711}" destId="{018B893F-3C9D-4A88-8FBA-D2EE0088170C}" srcOrd="0" destOrd="0" presId="urn:microsoft.com/office/officeart/2005/8/layout/hierarchy6"/>
    <dgm:cxn modelId="{5776A54A-F06A-4885-AADB-F0F91FE86200}" type="presOf" srcId="{753A70F1-A805-4840-A5F8-76BE709B23C5}" destId="{7886B4B7-A74C-43CF-A80C-F6885910D2EA}" srcOrd="0" destOrd="0" presId="urn:microsoft.com/office/officeart/2005/8/layout/hierarchy6"/>
    <dgm:cxn modelId="{2FC6084D-A99D-47E6-873A-1321B660697D}" type="presOf" srcId="{DD85B3C1-594B-4C1A-83B0-5BA747113388}" destId="{C495FEB2-4F14-4F4F-AEE8-E2E53DF68543}" srcOrd="0" destOrd="0" presId="urn:microsoft.com/office/officeart/2005/8/layout/hierarchy6"/>
    <dgm:cxn modelId="{3288D674-24E9-42F8-B972-AB74DEF9A004}" srcId="{10F74450-A13D-4102-878A-DEB7E7F05EC2}" destId="{DB6CE09C-1CE5-48F9-89BE-C8FB5CC759E0}" srcOrd="1" destOrd="0" parTransId="{B2160168-0965-472A-BD8E-65DFE864346F}" sibTransId="{9FD893E9-7B35-411A-AC9C-8DCAEBCA18AD}"/>
    <dgm:cxn modelId="{EBF18257-14AE-4DE7-BE06-4694CF47D539}" type="presOf" srcId="{C03BAB53-93F8-43DF-AE3B-496485DB4D47}" destId="{6921A564-192A-4019-B99F-BF44D3A76F86}" srcOrd="0" destOrd="0" presId="urn:microsoft.com/office/officeart/2005/8/layout/hierarchy6"/>
    <dgm:cxn modelId="{E98E0F86-D54A-4FE9-B525-22DA4E134305}" type="presOf" srcId="{EA465853-8EAB-44A3-8971-14A984DEC1EC}" destId="{5A555029-C8AA-49BE-8755-68B647574B6F}" srcOrd="0" destOrd="0" presId="urn:microsoft.com/office/officeart/2005/8/layout/hierarchy6"/>
    <dgm:cxn modelId="{AC0A258C-BF54-4BB8-8A32-51E45597DDA2}" srcId="{DB6CE09C-1CE5-48F9-89BE-C8FB5CC759E0}" destId="{EEDBD511-EB6B-4F77-91D7-CA7FE529EA6B}" srcOrd="0" destOrd="0" parTransId="{EA465853-8EAB-44A3-8971-14A984DEC1EC}" sibTransId="{379F56CD-39C2-4813-AD4C-1B3C43D49167}"/>
    <dgm:cxn modelId="{139B7A90-A1CA-4960-B745-E0F2F04D8EF4}" type="presOf" srcId="{10F74450-A13D-4102-878A-DEB7E7F05EC2}" destId="{C24A1A1B-AB7B-4E64-BC1E-E495F12E8290}" srcOrd="0" destOrd="0" presId="urn:microsoft.com/office/officeart/2005/8/layout/hierarchy6"/>
    <dgm:cxn modelId="{AE65C393-A923-4C40-8E3C-DC6D278FE954}" srcId="{88D5B40E-6D43-4893-8230-3D97D25CCDF6}" destId="{10F74450-A13D-4102-878A-DEB7E7F05EC2}" srcOrd="0" destOrd="0" parTransId="{FEDD80C8-9E9A-4928-9E3D-489420923BF1}" sibTransId="{0A4E9BAC-79AD-43BC-BC49-3F3CE144D372}"/>
    <dgm:cxn modelId="{59C2C294-1C73-4720-9E27-627659EEAB79}" type="presOf" srcId="{55ECDAAC-0C89-4667-88F8-F6B0946630C2}" destId="{92BABF8C-5FA1-41B7-AA0D-1CF0EE03DADE}" srcOrd="0" destOrd="0" presId="urn:microsoft.com/office/officeart/2005/8/layout/hierarchy6"/>
    <dgm:cxn modelId="{60F0EBAC-9D30-4093-99ED-0EB637ADA377}" type="presOf" srcId="{88D5B40E-6D43-4893-8230-3D97D25CCDF6}" destId="{F5D31456-443A-4D73-83D9-B3F7CC79216C}" srcOrd="0" destOrd="0" presId="urn:microsoft.com/office/officeart/2005/8/layout/hierarchy6"/>
    <dgm:cxn modelId="{1BCBE8AD-7202-493F-944F-2E2C91C12B03}" type="presOf" srcId="{DB6CE09C-1CE5-48F9-89BE-C8FB5CC759E0}" destId="{95C7820C-9D63-40ED-8EF1-886F76A29314}" srcOrd="0" destOrd="0" presId="urn:microsoft.com/office/officeart/2005/8/layout/hierarchy6"/>
    <dgm:cxn modelId="{54EF7EBF-149D-4DEC-A949-22B64ECE66FC}" type="presOf" srcId="{EEDBD511-EB6B-4F77-91D7-CA7FE529EA6B}" destId="{175F8124-6214-4F63-B946-D0DA531BBCA8}" srcOrd="0" destOrd="0" presId="urn:microsoft.com/office/officeart/2005/8/layout/hierarchy6"/>
    <dgm:cxn modelId="{6457CCD6-4483-482C-A4F0-570A4071FAC8}" type="presOf" srcId="{B2160168-0965-472A-BD8E-65DFE864346F}" destId="{7A0BEA37-3CA3-4C74-8E3D-C30BDA4604B5}" srcOrd="0" destOrd="0" presId="urn:microsoft.com/office/officeart/2005/8/layout/hierarchy6"/>
    <dgm:cxn modelId="{1B4F1DE6-9564-4C57-A461-B944AB04AE24}" srcId="{10F74450-A13D-4102-878A-DEB7E7F05EC2}" destId="{C03BAB53-93F8-43DF-AE3B-496485DB4D47}" srcOrd="0" destOrd="0" parTransId="{621EEB1B-271F-4942-97CB-F4B9CB6BB917}" sibTransId="{7377C925-22AF-4825-B533-483C79EF8F60}"/>
    <dgm:cxn modelId="{5363CAEE-F105-49A7-B043-A7BC3CD796FF}" type="presParOf" srcId="{F5D31456-443A-4D73-83D9-B3F7CC79216C}" destId="{9CE7EDFE-E268-4EE4-A624-F79C25548CD5}" srcOrd="0" destOrd="0" presId="urn:microsoft.com/office/officeart/2005/8/layout/hierarchy6"/>
    <dgm:cxn modelId="{6A203C8D-0385-4E86-BB36-30C08F83CFFD}" type="presParOf" srcId="{9CE7EDFE-E268-4EE4-A624-F79C25548CD5}" destId="{9A3D2A1C-B97A-4BF5-9CD3-6CFBA4ED533C}" srcOrd="0" destOrd="0" presId="urn:microsoft.com/office/officeart/2005/8/layout/hierarchy6"/>
    <dgm:cxn modelId="{D53A2331-F7DF-4DC3-9C1B-B6D52CD7486A}" type="presParOf" srcId="{9A3D2A1C-B97A-4BF5-9CD3-6CFBA4ED533C}" destId="{61D275E8-AA85-43BE-B178-9107788ACDD3}" srcOrd="0" destOrd="0" presId="urn:microsoft.com/office/officeart/2005/8/layout/hierarchy6"/>
    <dgm:cxn modelId="{A7EFA9EE-F184-497A-8E78-2D7A71831DF3}" type="presParOf" srcId="{61D275E8-AA85-43BE-B178-9107788ACDD3}" destId="{C24A1A1B-AB7B-4E64-BC1E-E495F12E8290}" srcOrd="0" destOrd="0" presId="urn:microsoft.com/office/officeart/2005/8/layout/hierarchy6"/>
    <dgm:cxn modelId="{4EAD2192-FD5F-4F1D-8B3C-C6082C9ABD7D}" type="presParOf" srcId="{61D275E8-AA85-43BE-B178-9107788ACDD3}" destId="{BBF86B3F-08A5-4D25-9046-D4878E3FFB7D}" srcOrd="1" destOrd="0" presId="urn:microsoft.com/office/officeart/2005/8/layout/hierarchy6"/>
    <dgm:cxn modelId="{84981F5E-EF2A-466B-BCAD-04F2BE35689E}" type="presParOf" srcId="{BBF86B3F-08A5-4D25-9046-D4878E3FFB7D}" destId="{DD173704-FFEC-4A7A-A18F-7BB4B172E5FB}" srcOrd="0" destOrd="0" presId="urn:microsoft.com/office/officeart/2005/8/layout/hierarchy6"/>
    <dgm:cxn modelId="{C7FE1B95-C82D-4766-A763-BEBCDBCA99FF}" type="presParOf" srcId="{BBF86B3F-08A5-4D25-9046-D4878E3FFB7D}" destId="{ED1D5894-531A-4037-95DD-52F531761373}" srcOrd="1" destOrd="0" presId="urn:microsoft.com/office/officeart/2005/8/layout/hierarchy6"/>
    <dgm:cxn modelId="{A0C2F6FA-8373-48ED-AE03-5F91DB739566}" type="presParOf" srcId="{ED1D5894-531A-4037-95DD-52F531761373}" destId="{6921A564-192A-4019-B99F-BF44D3A76F86}" srcOrd="0" destOrd="0" presId="urn:microsoft.com/office/officeart/2005/8/layout/hierarchy6"/>
    <dgm:cxn modelId="{0598779C-44D2-43C4-8269-C884A9285D42}" type="presParOf" srcId="{ED1D5894-531A-4037-95DD-52F531761373}" destId="{CE0A838B-36D0-4FA0-B231-BF4364C59E0D}" srcOrd="1" destOrd="0" presId="urn:microsoft.com/office/officeart/2005/8/layout/hierarchy6"/>
    <dgm:cxn modelId="{C4C23779-6C1C-4AD7-8662-2E0A8994D7FB}" type="presParOf" srcId="{CE0A838B-36D0-4FA0-B231-BF4364C59E0D}" destId="{018B893F-3C9D-4A88-8FBA-D2EE0088170C}" srcOrd="0" destOrd="0" presId="urn:microsoft.com/office/officeart/2005/8/layout/hierarchy6"/>
    <dgm:cxn modelId="{E3CB2223-045B-424E-AF83-1C24F435A36E}" type="presParOf" srcId="{CE0A838B-36D0-4FA0-B231-BF4364C59E0D}" destId="{1FD1AAFE-6D61-444A-B9E3-4626775FB3FE}" srcOrd="1" destOrd="0" presId="urn:microsoft.com/office/officeart/2005/8/layout/hierarchy6"/>
    <dgm:cxn modelId="{15CF19DB-5167-4C91-B928-340E5EEC017F}" type="presParOf" srcId="{1FD1AAFE-6D61-444A-B9E3-4626775FB3FE}" destId="{92BABF8C-5FA1-41B7-AA0D-1CF0EE03DADE}" srcOrd="0" destOrd="0" presId="urn:microsoft.com/office/officeart/2005/8/layout/hierarchy6"/>
    <dgm:cxn modelId="{B6DEFAD9-3347-4496-9F47-D3FF883653C8}" type="presParOf" srcId="{1FD1AAFE-6D61-444A-B9E3-4626775FB3FE}" destId="{17233B86-81CB-4FC9-9C02-9D9E33FE36DF}" srcOrd="1" destOrd="0" presId="urn:microsoft.com/office/officeart/2005/8/layout/hierarchy6"/>
    <dgm:cxn modelId="{4D328943-AF10-4114-9AE7-573CA7CC33DF}" type="presParOf" srcId="{CE0A838B-36D0-4FA0-B231-BF4364C59E0D}" destId="{C495FEB2-4F14-4F4F-AEE8-E2E53DF68543}" srcOrd="2" destOrd="0" presId="urn:microsoft.com/office/officeart/2005/8/layout/hierarchy6"/>
    <dgm:cxn modelId="{A8D8559B-FA84-4EA7-A066-326310054822}" type="presParOf" srcId="{CE0A838B-36D0-4FA0-B231-BF4364C59E0D}" destId="{D3407EC2-1DED-46BF-BD42-83696EB1F6DC}" srcOrd="3" destOrd="0" presId="urn:microsoft.com/office/officeart/2005/8/layout/hierarchy6"/>
    <dgm:cxn modelId="{21C491CB-C0AC-4FA3-9DD4-E8D457212AE1}" type="presParOf" srcId="{D3407EC2-1DED-46BF-BD42-83696EB1F6DC}" destId="{9D0713E2-64C0-4F20-B773-4886D63637E1}" srcOrd="0" destOrd="0" presId="urn:microsoft.com/office/officeart/2005/8/layout/hierarchy6"/>
    <dgm:cxn modelId="{FA330E88-E736-42FE-AA98-5AE0035EDC9C}" type="presParOf" srcId="{D3407EC2-1DED-46BF-BD42-83696EB1F6DC}" destId="{F280D392-2B92-4DFB-BF43-ED1E6683D463}" srcOrd="1" destOrd="0" presId="urn:microsoft.com/office/officeart/2005/8/layout/hierarchy6"/>
    <dgm:cxn modelId="{8361F931-89FC-4AA3-BA7D-98ED071A0044}" type="presParOf" srcId="{BBF86B3F-08A5-4D25-9046-D4878E3FFB7D}" destId="{7A0BEA37-3CA3-4C74-8E3D-C30BDA4604B5}" srcOrd="2" destOrd="0" presId="urn:microsoft.com/office/officeart/2005/8/layout/hierarchy6"/>
    <dgm:cxn modelId="{C8702E69-D871-4B6E-BBBF-3951E476AE25}" type="presParOf" srcId="{BBF86B3F-08A5-4D25-9046-D4878E3FFB7D}" destId="{49E30405-AB81-46C3-8657-7FDF391C8418}" srcOrd="3" destOrd="0" presId="urn:microsoft.com/office/officeart/2005/8/layout/hierarchy6"/>
    <dgm:cxn modelId="{8E5C1C9A-A94E-4083-ABDE-E2FDD3B70B79}" type="presParOf" srcId="{49E30405-AB81-46C3-8657-7FDF391C8418}" destId="{95C7820C-9D63-40ED-8EF1-886F76A29314}" srcOrd="0" destOrd="0" presId="urn:microsoft.com/office/officeart/2005/8/layout/hierarchy6"/>
    <dgm:cxn modelId="{41C122D2-B637-4D51-AC57-08ADF593CE99}" type="presParOf" srcId="{49E30405-AB81-46C3-8657-7FDF391C8418}" destId="{275F2872-A40C-4CEB-9883-1F9D6BDEE9AE}" srcOrd="1" destOrd="0" presId="urn:microsoft.com/office/officeart/2005/8/layout/hierarchy6"/>
    <dgm:cxn modelId="{434A15AA-61AC-4A42-AD73-C4D0C146FA21}" type="presParOf" srcId="{275F2872-A40C-4CEB-9883-1F9D6BDEE9AE}" destId="{5A555029-C8AA-49BE-8755-68B647574B6F}" srcOrd="0" destOrd="0" presId="urn:microsoft.com/office/officeart/2005/8/layout/hierarchy6"/>
    <dgm:cxn modelId="{9CD03B7F-07E2-472E-BF33-3D2DD176288E}" type="presParOf" srcId="{275F2872-A40C-4CEB-9883-1F9D6BDEE9AE}" destId="{AC4BAC9F-CB43-4EFA-B012-5DEA2FA5031D}" srcOrd="1" destOrd="0" presId="urn:microsoft.com/office/officeart/2005/8/layout/hierarchy6"/>
    <dgm:cxn modelId="{83740958-B7D8-4849-BD08-707ACFA8FB06}" type="presParOf" srcId="{AC4BAC9F-CB43-4EFA-B012-5DEA2FA5031D}" destId="{175F8124-6214-4F63-B946-D0DA531BBCA8}" srcOrd="0" destOrd="0" presId="urn:microsoft.com/office/officeart/2005/8/layout/hierarchy6"/>
    <dgm:cxn modelId="{2E610653-6A19-4F16-A085-D1C80990EA75}" type="presParOf" srcId="{AC4BAC9F-CB43-4EFA-B012-5DEA2FA5031D}" destId="{D89611D5-BDDC-49B0-A23B-537E7C738291}" srcOrd="1" destOrd="0" presId="urn:microsoft.com/office/officeart/2005/8/layout/hierarchy6"/>
    <dgm:cxn modelId="{277DC70F-2388-4AE3-8966-0AD5CF57469B}" type="presParOf" srcId="{275F2872-A40C-4CEB-9883-1F9D6BDEE9AE}" destId="{C4F97668-22FE-468A-98AA-3C552B7B09E3}" srcOrd="2" destOrd="0" presId="urn:microsoft.com/office/officeart/2005/8/layout/hierarchy6"/>
    <dgm:cxn modelId="{9F87EFC0-FDD7-488C-9904-33F71741123A}" type="presParOf" srcId="{275F2872-A40C-4CEB-9883-1F9D6BDEE9AE}" destId="{55686D8F-0EC4-48D3-A000-C5C8600C1D3E}" srcOrd="3" destOrd="0" presId="urn:microsoft.com/office/officeart/2005/8/layout/hierarchy6"/>
    <dgm:cxn modelId="{9492198F-78EC-4946-A79C-6FB2689D3949}" type="presParOf" srcId="{55686D8F-0EC4-48D3-A000-C5C8600C1D3E}" destId="{7886B4B7-A74C-43CF-A80C-F6885910D2EA}" srcOrd="0" destOrd="0" presId="urn:microsoft.com/office/officeart/2005/8/layout/hierarchy6"/>
    <dgm:cxn modelId="{A911F02C-E407-4EAD-B697-FED7FD77DAC4}" type="presParOf" srcId="{55686D8F-0EC4-48D3-A000-C5C8600C1D3E}" destId="{AEA8C075-37FB-42B7-87AD-1991748DF3F7}" srcOrd="1" destOrd="0" presId="urn:microsoft.com/office/officeart/2005/8/layout/hierarchy6"/>
    <dgm:cxn modelId="{03F5DBC1-B366-4817-BDE1-1EBC66033E92}" type="presParOf" srcId="{F5D31456-443A-4D73-83D9-B3F7CC79216C}" destId="{45016C9E-43B9-439A-901D-FFE77E85A7F4}" srcOrd="1" destOrd="0" presId="urn:microsoft.com/office/officeart/2005/8/layout/hierarchy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Lst>
  <dgm:cxnLst>
    <dgm:cxn modelId="{0AB9F281-46C6-44C0-9CDA-4923C98DBD66}" type="presOf" srcId="{8B3A31E1-BB89-4813-A7F0-56190DCF8736}" destId="{35730206-2A8B-45C9-AC3A-0F295DD817DA}" srcOrd="0"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dgm:spPr/>
      <dgm:t>
        <a:bodyPr/>
        <a:lstStyle/>
        <a:p>
          <a:r>
            <a:rPr lang="en-US" b="1" dirty="0"/>
            <a:t>Mapper</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dgm:spPr/>
      <dgm:t>
        <a:bodyPr/>
        <a:lstStyle/>
        <a:p>
          <a:r>
            <a:rPr lang="en-US" b="1" dirty="0"/>
            <a:t>N-point IFFT</a:t>
          </a:r>
        </a:p>
      </dgm:t>
    </dgm:pt>
    <dgm:pt modelId="{491C4631-7884-4BE9-89A7-B531829A1BA5}" type="parTrans" cxnId="{C4094ABD-CBC4-4828-A17E-37CFDF63AD68}">
      <dgm:prSet/>
      <dgm:spPr>
        <a:ln>
          <a:headEnd type="none" w="med" len="med"/>
          <a:tailEnd type="arrow" w="med" len="med"/>
        </a:ln>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dgm:t>
        <a:bodyPr/>
        <a:lstStyle/>
        <a:p>
          <a:r>
            <a:rPr lang="en-US" b="1" dirty="0"/>
            <a:t>Adding cyclic extension</a:t>
          </a:r>
        </a:p>
      </dgm:t>
    </dgm:pt>
    <dgm:pt modelId="{1C356978-7054-41A9-A7C6-D3F2848AAF3D}" type="parTrans" cxnId="{994DDAFE-C53C-48DC-825E-6B753AA9CC43}">
      <dgm:prSet/>
      <dgm:spPr>
        <a:ln>
          <a:headEnd type="none" w="med" len="med"/>
          <a:tailEnd type="arrow"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1"/>
      <dgm:spPr/>
    </dgm:pt>
    <dgm:pt modelId="{881A9ED0-E02A-48B6-AEE4-159BF33FDDB6}" type="pres">
      <dgm:prSet presAssocID="{491C4631-7884-4BE9-89A7-B531829A1BA5}" presName="connTx" presStyleLbl="parChTrans1D2" presStyleIdx="0" presStyleCnt="1"/>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1">
        <dgm:presLayoutVars>
          <dgm:chPref val="3"/>
        </dgm:presLayoutVars>
      </dgm:prSet>
      <dgm:spPr/>
    </dgm:pt>
    <dgm:pt modelId="{2B97FB7A-8C50-4C81-92A1-BA037C94BBA4}" type="pres">
      <dgm:prSet presAssocID="{EA56EBE7-8CEE-492D-85E8-FA3ADE5E0753}" presName="level3hierChild" presStyleCnt="0"/>
      <dgm:spPr/>
    </dgm:pt>
    <dgm:pt modelId="{AEB5973E-509A-4C0D-8086-C404B400E335}" type="pres">
      <dgm:prSet presAssocID="{1C356978-7054-41A9-A7C6-D3F2848AAF3D}" presName="conn2-1" presStyleLbl="parChTrans1D3" presStyleIdx="0" presStyleCnt="1"/>
      <dgm:spPr/>
    </dgm:pt>
    <dgm:pt modelId="{1D7F3620-0500-46EC-ABB9-64808E7787EA}" type="pres">
      <dgm:prSet presAssocID="{1C356978-7054-41A9-A7C6-D3F2848AAF3D}" presName="connTx" presStyleLbl="parChTrans1D3"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3"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40D4F712-EFD7-4368-84F6-B47CF5394660}" srcId="{C26BCC30-092A-479C-8256-94385042C15E}" destId="{B698BBC9-0ECC-4472-9558-1701C7F94816}" srcOrd="0" destOrd="0" parTransId="{8D12F804-CE05-494B-B50C-27A8D9BC3E99}" sibTransId="{ED561637-92D6-4ED4-AC68-329D69BC710C}"/>
    <dgm:cxn modelId="{7BBDA422-87B2-42CE-8C65-53D915C5D175}" type="presOf" srcId="{1C356978-7054-41A9-A7C6-D3F2848AAF3D}" destId="{1D7F3620-0500-46EC-ABB9-64808E7787EA}" srcOrd="1" destOrd="0" presId="urn:microsoft.com/office/officeart/2005/8/layout/hierarchy2"/>
    <dgm:cxn modelId="{1985E661-60FA-466E-81CB-2B37BEC72B74}" type="presOf" srcId="{491C4631-7884-4BE9-89A7-B531829A1BA5}" destId="{7CA91D8C-C6AD-4C91-8FF6-3C936AD64A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9463476B-4116-4A6F-82CC-247E1B4B67D2}" type="presOf" srcId="{42C8155F-F275-41B9-9C88-410B17198023}" destId="{BD6B7A61-6E99-499B-9BF9-2FB88F770B01}" srcOrd="0" destOrd="0" presId="urn:microsoft.com/office/officeart/2005/8/layout/hierarchy2"/>
    <dgm:cxn modelId="{23F54855-82DC-430C-8C4D-7D36832C9CFE}" type="presOf" srcId="{491C4631-7884-4BE9-89A7-B531829A1BA5}" destId="{881A9ED0-E02A-48B6-AEE4-159BF33FDDB6}" srcOrd="1" destOrd="0" presId="urn:microsoft.com/office/officeart/2005/8/layout/hierarchy2"/>
    <dgm:cxn modelId="{C648CEAB-C223-4743-B275-040F59B29061}" type="presOf" srcId="{EA56EBE7-8CEE-492D-85E8-FA3ADE5E0753}" destId="{926591DF-8F70-4098-BE52-63364D7B83D7}"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F2BB96C8-51FE-402A-961C-F7BB61D8393A}" type="presOf" srcId="{1C356978-7054-41A9-A7C6-D3F2848AAF3D}" destId="{AEB5973E-509A-4C0D-8086-C404B400E335}" srcOrd="0" destOrd="0" presId="urn:microsoft.com/office/officeart/2005/8/layout/hierarchy2"/>
    <dgm:cxn modelId="{6888A0E2-40CC-4EA3-97FB-6CD269ED0E4F}" type="presOf" srcId="{B698BBC9-0ECC-4472-9558-1701C7F94816}" destId="{BCCEBEEC-0CD2-4CF8-8D37-28C1C1CCA5C7}"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8C8B59EA-F27A-4098-86F1-F06688912989}" type="presParOf" srcId="{B3310997-2F0B-443D-9345-5A8C05AD9F1A}" destId="{A1A95D88-EE03-4A14-B4CD-73B4531623D5}" srcOrd="0" destOrd="0" presId="urn:microsoft.com/office/officeart/2005/8/layout/hierarchy2"/>
    <dgm:cxn modelId="{032C2188-299C-4193-B911-4AD945259D0E}" type="presParOf" srcId="{A1A95D88-EE03-4A14-B4CD-73B4531623D5}" destId="{BCCEBEEC-0CD2-4CF8-8D37-28C1C1CCA5C7}" srcOrd="0" destOrd="0" presId="urn:microsoft.com/office/officeart/2005/8/layout/hierarchy2"/>
    <dgm:cxn modelId="{6A9D9BDB-AC79-4F33-AC74-DA0FAC0623D3}" type="presParOf" srcId="{A1A95D88-EE03-4A14-B4CD-73B4531623D5}" destId="{A7AB5A99-A0CE-4698-AF2B-ED8723048A03}" srcOrd="1" destOrd="0" presId="urn:microsoft.com/office/officeart/2005/8/layout/hierarchy2"/>
    <dgm:cxn modelId="{D1BDA1D0-08CD-47EC-B1B8-8797D1307725}" type="presParOf" srcId="{A7AB5A99-A0CE-4698-AF2B-ED8723048A03}" destId="{7CA91D8C-C6AD-4C91-8FF6-3C936AD64AD6}" srcOrd="0" destOrd="0" presId="urn:microsoft.com/office/officeart/2005/8/layout/hierarchy2"/>
    <dgm:cxn modelId="{11D7BE69-D755-412E-A5E8-60799CEC8D21}" type="presParOf" srcId="{7CA91D8C-C6AD-4C91-8FF6-3C936AD64AD6}" destId="{881A9ED0-E02A-48B6-AEE4-159BF33FDDB6}" srcOrd="0" destOrd="0" presId="urn:microsoft.com/office/officeart/2005/8/layout/hierarchy2"/>
    <dgm:cxn modelId="{D4C5FE2D-94D0-42FE-AAFB-10DC0F2D0C5D}" type="presParOf" srcId="{A7AB5A99-A0CE-4698-AF2B-ED8723048A03}" destId="{431DA51A-0D7B-4BEE-AAA4-C30179B5B04D}" srcOrd="1" destOrd="0" presId="urn:microsoft.com/office/officeart/2005/8/layout/hierarchy2"/>
    <dgm:cxn modelId="{4C482405-810E-4CBE-B038-B3A5ECB842B3}" type="presParOf" srcId="{431DA51A-0D7B-4BEE-AAA4-C30179B5B04D}" destId="{926591DF-8F70-4098-BE52-63364D7B83D7}" srcOrd="0" destOrd="0" presId="urn:microsoft.com/office/officeart/2005/8/layout/hierarchy2"/>
    <dgm:cxn modelId="{4C663769-904E-4C30-B209-12A2A72F0214}" type="presParOf" srcId="{431DA51A-0D7B-4BEE-AAA4-C30179B5B04D}" destId="{2B97FB7A-8C50-4C81-92A1-BA037C94BBA4}" srcOrd="1" destOrd="0" presId="urn:microsoft.com/office/officeart/2005/8/layout/hierarchy2"/>
    <dgm:cxn modelId="{0CF63691-2F05-447E-AF43-D59934FA5F9C}" type="presParOf" srcId="{2B97FB7A-8C50-4C81-92A1-BA037C94BBA4}" destId="{AEB5973E-509A-4C0D-8086-C404B400E335}" srcOrd="0" destOrd="0" presId="urn:microsoft.com/office/officeart/2005/8/layout/hierarchy2"/>
    <dgm:cxn modelId="{9BAB3597-CA00-4639-82DA-CF55612D7700}" type="presParOf" srcId="{AEB5973E-509A-4C0D-8086-C404B400E335}" destId="{1D7F3620-0500-46EC-ABB9-64808E7787EA}" srcOrd="0" destOrd="0" presId="urn:microsoft.com/office/officeart/2005/8/layout/hierarchy2"/>
    <dgm:cxn modelId="{49BA80CE-8079-4623-8281-2BFD8D782242}" type="presParOf" srcId="{2B97FB7A-8C50-4C81-92A1-BA037C94BBA4}" destId="{6EE977EB-F012-4A92-9BD5-9C97C635A873}" srcOrd="1" destOrd="0" presId="urn:microsoft.com/office/officeart/2005/8/layout/hierarchy2"/>
    <dgm:cxn modelId="{55D8D93B-DAEC-4A31-9B8B-68582E185291}" type="presParOf" srcId="{6EE977EB-F012-4A92-9BD5-9C97C635A873}" destId="{BD6B7A61-6E99-499B-9BF9-2FB88F770B01}" srcOrd="0" destOrd="0" presId="urn:microsoft.com/office/officeart/2005/8/layout/hierarchy2"/>
    <dgm:cxn modelId="{25D362B3-263C-4192-B29A-00C970C2FEF5}"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800"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800"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custT="1"/>
      <dgm:spPr>
        <a:solidFill>
          <a:schemeClr val="accent2">
            <a:hueOff val="0"/>
            <a:satOff val="0"/>
            <a:lumOff val="0"/>
            <a:alpha val="20000"/>
          </a:schemeClr>
        </a:solidFill>
      </dgm:spPr>
      <dgm:t>
        <a:bodyPr/>
        <a:lstStyle/>
        <a:p>
          <a:r>
            <a:rPr lang="en-US" sz="800"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custT="1"/>
      <dgm:spPr>
        <a:solidFill>
          <a:schemeClr val="accent2">
            <a:hueOff val="0"/>
            <a:satOff val="0"/>
            <a:lumOff val="0"/>
            <a:alpha val="20000"/>
          </a:schemeClr>
        </a:solidFill>
      </dgm:spPr>
      <dgm:t>
        <a:bodyPr/>
        <a:lstStyle/>
        <a:p>
          <a:r>
            <a:rPr lang="en-US" sz="800"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2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2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303"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Time domain signal </a:t>
          </a:r>
        </a:p>
      </dsp:txBody>
      <dsp:txXfrm>
        <a:off x="27856" y="565085"/>
        <a:ext cx="1760081" cy="853487"/>
      </dsp:txXfrm>
    </dsp:sp>
    <dsp:sp modelId="{7CA91D8C-C6AD-4C91-8FF6-3C936AD64AD6}">
      <dsp:nvSpPr>
        <dsp:cNvPr id="0" name=""/>
        <dsp:cNvSpPr/>
      </dsp:nvSpPr>
      <dsp:spPr>
        <a:xfrm>
          <a:off x="1814491" y="950696"/>
          <a:ext cx="725274" cy="82265"/>
        </a:xfrm>
        <a:custGeom>
          <a:avLst/>
          <a:gdLst/>
          <a:ahLst/>
          <a:cxnLst/>
          <a:rect l="0" t="0" r="0" b="0"/>
          <a:pathLst>
            <a:path>
              <a:moveTo>
                <a:pt x="0" y="41132"/>
              </a:moveTo>
              <a:lnTo>
                <a:pt x="725274" y="41132"/>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158996" y="973697"/>
        <a:ext cx="36263" cy="36263"/>
      </dsp:txXfrm>
    </dsp:sp>
    <dsp:sp modelId="{926591DF-8F70-4098-BE52-63364D7B83D7}">
      <dsp:nvSpPr>
        <dsp:cNvPr id="0" name=""/>
        <dsp:cNvSpPr/>
      </dsp:nvSpPr>
      <dsp:spPr>
        <a:xfrm>
          <a:off x="2539766"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DFT</a:t>
          </a:r>
        </a:p>
      </dsp:txBody>
      <dsp:txXfrm>
        <a:off x="2566319" y="565085"/>
        <a:ext cx="1760081" cy="853487"/>
      </dsp:txXfrm>
    </dsp:sp>
    <dsp:sp modelId="{AEB5973E-509A-4C0D-8086-C404B400E335}">
      <dsp:nvSpPr>
        <dsp:cNvPr id="0" name=""/>
        <dsp:cNvSpPr/>
      </dsp:nvSpPr>
      <dsp:spPr>
        <a:xfrm>
          <a:off x="4352953" y="950696"/>
          <a:ext cx="725274" cy="82265"/>
        </a:xfrm>
        <a:custGeom>
          <a:avLst/>
          <a:gdLst/>
          <a:ahLst/>
          <a:cxnLst/>
          <a:rect l="0" t="0" r="0" b="0"/>
          <a:pathLst>
            <a:path>
              <a:moveTo>
                <a:pt x="0" y="41132"/>
              </a:moveTo>
              <a:lnTo>
                <a:pt x="725274" y="41132"/>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697459" y="973697"/>
        <a:ext cx="36263" cy="36263"/>
      </dsp:txXfrm>
    </dsp:sp>
    <dsp:sp modelId="{BD6B7A61-6E99-499B-9BF9-2FB88F770B01}">
      <dsp:nvSpPr>
        <dsp:cNvPr id="0" name=""/>
        <dsp:cNvSpPr/>
      </dsp:nvSpPr>
      <dsp:spPr>
        <a:xfrm>
          <a:off x="5078228"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Frequency domain signal </a:t>
          </a:r>
        </a:p>
      </dsp:txBody>
      <dsp:txXfrm>
        <a:off x="5104781" y="565085"/>
        <a:ext cx="1760081" cy="8534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FFT </a:t>
          </a:r>
        </a:p>
      </dsp:txBody>
      <dsp:txXfrm>
        <a:off x="1474943" y="691891"/>
        <a:ext cx="764673" cy="370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FFT </a:t>
          </a:r>
        </a:p>
      </dsp:txBody>
      <dsp:txXfrm>
        <a:off x="1474943" y="691891"/>
        <a:ext cx="764673" cy="3708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FFT</a:t>
          </a:r>
          <a:r>
            <a:rPr lang="en-US" sz="2000" b="1" kern="1200" dirty="0">
              <a:solidFill>
                <a:schemeClr val="tx1">
                  <a:alpha val="20000"/>
                </a:schemeClr>
              </a:solidFill>
            </a:rPr>
            <a:t> </a:t>
          </a:r>
        </a:p>
      </dsp:txBody>
      <dsp:txXfrm>
        <a:off x="1474943" y="691891"/>
        <a:ext cx="764673" cy="3708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4A1A1B-AB7B-4E64-BC1E-E495F12E8290}">
      <dsp:nvSpPr>
        <dsp:cNvPr id="0" name=""/>
        <dsp:cNvSpPr/>
      </dsp:nvSpPr>
      <dsp:spPr>
        <a:xfrm>
          <a:off x="2130450" y="0"/>
          <a:ext cx="2226687"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a:t>Cooley-Tukey algorithm</a:t>
          </a:r>
          <a:endParaRPr lang="en-US" sz="1600" b="1" kern="1200" dirty="0"/>
        </a:p>
      </dsp:txBody>
      <dsp:txXfrm>
        <a:off x="2130450" y="0"/>
        <a:ext cx="2226687" cy="880639"/>
      </dsp:txXfrm>
    </dsp:sp>
    <dsp:sp modelId="{DD173704-FFEC-4A7A-A18F-7BB4B172E5FB}">
      <dsp:nvSpPr>
        <dsp:cNvPr id="0" name=""/>
        <dsp:cNvSpPr/>
      </dsp:nvSpPr>
      <dsp:spPr>
        <a:xfrm>
          <a:off x="1526547" y="880639"/>
          <a:ext cx="1717246" cy="352665"/>
        </a:xfrm>
        <a:custGeom>
          <a:avLst/>
          <a:gdLst/>
          <a:ahLst/>
          <a:cxnLst/>
          <a:rect l="0" t="0" r="0" b="0"/>
          <a:pathLst>
            <a:path>
              <a:moveTo>
                <a:pt x="1717246" y="0"/>
              </a:moveTo>
              <a:lnTo>
                <a:pt x="1717246" y="176332"/>
              </a:lnTo>
              <a:lnTo>
                <a:pt x="0" y="176332"/>
              </a:lnTo>
              <a:lnTo>
                <a:pt x="0" y="352665"/>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21A564-192A-4019-B99F-BF44D3A76F86}">
      <dsp:nvSpPr>
        <dsp:cNvPr id="0" name=""/>
        <dsp:cNvSpPr/>
      </dsp:nvSpPr>
      <dsp:spPr>
        <a:xfrm>
          <a:off x="704573" y="1233304"/>
          <a:ext cx="1643946" cy="880639"/>
        </a:xfrm>
        <a:prstGeom prst="rect">
          <a:avLst/>
        </a:prstGeom>
        <a:solidFill>
          <a:schemeClr val="accent2">
            <a:hueOff val="0"/>
            <a:satOff val="0"/>
            <a:lumOff val="0"/>
            <a:alpha val="30000"/>
          </a:schemeClr>
        </a:solidFill>
        <a:ln w="38100" cap="flat" cmpd="sng" algn="ctr">
          <a:solidFill>
            <a:schemeClr val="lt1">
              <a:hueOff val="0"/>
              <a:satOff val="0"/>
              <a:lum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Decimation          in time</a:t>
          </a:r>
        </a:p>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 (DIT) </a:t>
          </a:r>
        </a:p>
      </dsp:txBody>
      <dsp:txXfrm>
        <a:off x="704573" y="1233304"/>
        <a:ext cx="1643946" cy="880639"/>
      </dsp:txXfrm>
    </dsp:sp>
    <dsp:sp modelId="{018B893F-3C9D-4A88-8FBA-D2EE0088170C}">
      <dsp:nvSpPr>
        <dsp:cNvPr id="0" name=""/>
        <dsp:cNvSpPr/>
      </dsp:nvSpPr>
      <dsp:spPr>
        <a:xfrm>
          <a:off x="667923" y="2113944"/>
          <a:ext cx="858623" cy="352255"/>
        </a:xfrm>
        <a:custGeom>
          <a:avLst/>
          <a:gdLst/>
          <a:ahLst/>
          <a:cxnLst/>
          <a:rect l="0" t="0" r="0" b="0"/>
          <a:pathLst>
            <a:path>
              <a:moveTo>
                <a:pt x="858623" y="0"/>
              </a:moveTo>
              <a:lnTo>
                <a:pt x="858623" y="176127"/>
              </a:lnTo>
              <a:lnTo>
                <a:pt x="0" y="176127"/>
              </a:lnTo>
              <a:lnTo>
                <a:pt x="0"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BABF8C-5FA1-41B7-AA0D-1CF0EE03DADE}">
      <dsp:nvSpPr>
        <dsp:cNvPr id="0" name=""/>
        <dsp:cNvSpPr/>
      </dsp:nvSpPr>
      <dsp:spPr>
        <a:xfrm>
          <a:off x="7444"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-2</a:t>
          </a:r>
        </a:p>
      </dsp:txBody>
      <dsp:txXfrm>
        <a:off x="7444" y="2466199"/>
        <a:ext cx="1320959" cy="880639"/>
      </dsp:txXfrm>
    </dsp:sp>
    <dsp:sp modelId="{C495FEB2-4F14-4F4F-AEE8-E2E53DF68543}">
      <dsp:nvSpPr>
        <dsp:cNvPr id="0" name=""/>
        <dsp:cNvSpPr/>
      </dsp:nvSpPr>
      <dsp:spPr>
        <a:xfrm>
          <a:off x="1526547" y="2113944"/>
          <a:ext cx="858623" cy="352255"/>
        </a:xfrm>
        <a:custGeom>
          <a:avLst/>
          <a:gdLst/>
          <a:ahLst/>
          <a:cxnLst/>
          <a:rect l="0" t="0" r="0" b="0"/>
          <a:pathLst>
            <a:path>
              <a:moveTo>
                <a:pt x="0" y="0"/>
              </a:moveTo>
              <a:lnTo>
                <a:pt x="0" y="176127"/>
              </a:lnTo>
              <a:lnTo>
                <a:pt x="858623" y="176127"/>
              </a:lnTo>
              <a:lnTo>
                <a:pt x="858623"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0713E2-64C0-4F20-B773-4886D63637E1}">
      <dsp:nvSpPr>
        <dsp:cNvPr id="0" name=""/>
        <dsp:cNvSpPr/>
      </dsp:nvSpPr>
      <dsp:spPr>
        <a:xfrm>
          <a:off x="1724691"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-4</a:t>
          </a:r>
        </a:p>
      </dsp:txBody>
      <dsp:txXfrm>
        <a:off x="1724691" y="2466199"/>
        <a:ext cx="1320959" cy="880639"/>
      </dsp:txXfrm>
    </dsp:sp>
    <dsp:sp modelId="{7A0BEA37-3CA3-4C74-8E3D-C30BDA4604B5}">
      <dsp:nvSpPr>
        <dsp:cNvPr id="0" name=""/>
        <dsp:cNvSpPr/>
      </dsp:nvSpPr>
      <dsp:spPr>
        <a:xfrm>
          <a:off x="3243794" y="880639"/>
          <a:ext cx="1717246" cy="352665"/>
        </a:xfrm>
        <a:custGeom>
          <a:avLst/>
          <a:gdLst/>
          <a:ahLst/>
          <a:cxnLst/>
          <a:rect l="0" t="0" r="0" b="0"/>
          <a:pathLst>
            <a:path>
              <a:moveTo>
                <a:pt x="0" y="0"/>
              </a:moveTo>
              <a:lnTo>
                <a:pt x="0" y="176332"/>
              </a:lnTo>
              <a:lnTo>
                <a:pt x="1717246" y="176332"/>
              </a:lnTo>
              <a:lnTo>
                <a:pt x="1717246" y="352665"/>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5C7820C-9D63-40ED-8EF1-886F76A29314}">
      <dsp:nvSpPr>
        <dsp:cNvPr id="0" name=""/>
        <dsp:cNvSpPr/>
      </dsp:nvSpPr>
      <dsp:spPr>
        <a:xfrm>
          <a:off x="4139067" y="1233304"/>
          <a:ext cx="1643946"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Decimation          in frequency (DIF) </a:t>
          </a:r>
        </a:p>
      </dsp:txBody>
      <dsp:txXfrm>
        <a:off x="4139067" y="1233304"/>
        <a:ext cx="1643946" cy="880639"/>
      </dsp:txXfrm>
    </dsp:sp>
    <dsp:sp modelId="{5A555029-C8AA-49BE-8755-68B647574B6F}">
      <dsp:nvSpPr>
        <dsp:cNvPr id="0" name=""/>
        <dsp:cNvSpPr/>
      </dsp:nvSpPr>
      <dsp:spPr>
        <a:xfrm>
          <a:off x="4102417" y="2113944"/>
          <a:ext cx="858623" cy="352255"/>
        </a:xfrm>
        <a:custGeom>
          <a:avLst/>
          <a:gdLst/>
          <a:ahLst/>
          <a:cxnLst/>
          <a:rect l="0" t="0" r="0" b="0"/>
          <a:pathLst>
            <a:path>
              <a:moveTo>
                <a:pt x="858623" y="0"/>
              </a:moveTo>
              <a:lnTo>
                <a:pt x="858623" y="176127"/>
              </a:lnTo>
              <a:lnTo>
                <a:pt x="0" y="176127"/>
              </a:lnTo>
              <a:lnTo>
                <a:pt x="0"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5F8124-6214-4F63-B946-D0DA531BBCA8}">
      <dsp:nvSpPr>
        <dsp:cNvPr id="0" name=""/>
        <dsp:cNvSpPr/>
      </dsp:nvSpPr>
      <dsp:spPr>
        <a:xfrm>
          <a:off x="3441937" y="2466199"/>
          <a:ext cx="1320959"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Barlow"/>
              <a:ea typeface="+mn-ea"/>
              <a:cs typeface="+mn-cs"/>
            </a:rPr>
            <a:t>Radix -2</a:t>
          </a:r>
          <a:endParaRPr lang="en-US" sz="1600" kern="1200" dirty="0"/>
        </a:p>
      </dsp:txBody>
      <dsp:txXfrm>
        <a:off x="3441937" y="2466199"/>
        <a:ext cx="1320959" cy="880639"/>
      </dsp:txXfrm>
    </dsp:sp>
    <dsp:sp modelId="{C4F97668-22FE-468A-98AA-3C552B7B09E3}">
      <dsp:nvSpPr>
        <dsp:cNvPr id="0" name=""/>
        <dsp:cNvSpPr/>
      </dsp:nvSpPr>
      <dsp:spPr>
        <a:xfrm>
          <a:off x="4961040" y="2113944"/>
          <a:ext cx="858623" cy="352255"/>
        </a:xfrm>
        <a:custGeom>
          <a:avLst/>
          <a:gdLst/>
          <a:ahLst/>
          <a:cxnLst/>
          <a:rect l="0" t="0" r="0" b="0"/>
          <a:pathLst>
            <a:path>
              <a:moveTo>
                <a:pt x="0" y="0"/>
              </a:moveTo>
              <a:lnTo>
                <a:pt x="0" y="176127"/>
              </a:lnTo>
              <a:lnTo>
                <a:pt x="858623" y="176127"/>
              </a:lnTo>
              <a:lnTo>
                <a:pt x="858623"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86B4B7-A74C-43CF-A80C-F6885910D2EA}">
      <dsp:nvSpPr>
        <dsp:cNvPr id="0" name=""/>
        <dsp:cNvSpPr/>
      </dsp:nvSpPr>
      <dsp:spPr>
        <a:xfrm>
          <a:off x="5159184"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lt1">
                  <a:alpha val="30000"/>
                </a:schemeClr>
              </a:solidFill>
              <a:latin typeface="Barlow"/>
              <a:ea typeface="+mn-ea"/>
              <a:cs typeface="+mn-cs"/>
            </a:rPr>
            <a:t>Radix -4</a:t>
          </a:r>
          <a:endParaRPr lang="en-US" sz="1600" kern="1200" dirty="0">
            <a:solidFill>
              <a:schemeClr val="lt1">
                <a:alpha val="30000"/>
              </a:schemeClr>
            </a:solidFill>
          </a:endParaRPr>
        </a:p>
      </dsp:txBody>
      <dsp:txXfrm>
        <a:off x="5159184" y="2466199"/>
        <a:ext cx="1320959" cy="8806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25671"/>
          <a:ext cx="2742248" cy="3500191"/>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Splitter</a:t>
          </a:r>
        </a:p>
      </dsp:txBody>
      <dsp:txXfrm>
        <a:off x="0" y="25671"/>
        <a:ext cx="2742248" cy="3500191"/>
      </dsp:txXfrm>
    </dsp:sp>
    <dsp:sp modelId="{0C62B4CD-22A9-4C39-91B3-16603B37F171}">
      <dsp:nvSpPr>
        <dsp:cNvPr id="0" name=""/>
        <dsp:cNvSpPr/>
      </dsp:nvSpPr>
      <dsp:spPr>
        <a:xfrm>
          <a:off x="3204991" y="267"/>
          <a:ext cx="2742248" cy="1597059"/>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2 points</a:t>
          </a:r>
        </a:p>
      </dsp:txBody>
      <dsp:txXfrm>
        <a:off x="3204991" y="267"/>
        <a:ext cx="2742248" cy="1597059"/>
      </dsp:txXfrm>
    </dsp:sp>
    <dsp:sp modelId="{164CA893-D0F5-4272-B2FA-619A73B07536}">
      <dsp:nvSpPr>
        <dsp:cNvPr id="0" name=""/>
        <dsp:cNvSpPr/>
      </dsp:nvSpPr>
      <dsp:spPr>
        <a:xfrm>
          <a:off x="3206330" y="1928535"/>
          <a:ext cx="2739570" cy="1597059"/>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2 points</a:t>
          </a:r>
        </a:p>
      </dsp:txBody>
      <dsp:txXfrm>
        <a:off x="3206330" y="1928535"/>
        <a:ext cx="2739570" cy="159705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291"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Mapper</a:t>
          </a:r>
        </a:p>
      </dsp:txBody>
      <dsp:txXfrm>
        <a:off x="15171" y="274139"/>
        <a:ext cx="920052" cy="446146"/>
      </dsp:txXfrm>
    </dsp:sp>
    <dsp:sp modelId="{7CA91D8C-C6AD-4C91-8FF6-3C936AD64AD6}">
      <dsp:nvSpPr>
        <dsp:cNvPr id="0" name=""/>
        <dsp:cNvSpPr/>
      </dsp:nvSpPr>
      <dsp:spPr>
        <a:xfrm>
          <a:off x="949103" y="454322"/>
          <a:ext cx="379124" cy="85781"/>
        </a:xfrm>
        <a:custGeom>
          <a:avLst/>
          <a:gdLst/>
          <a:ahLst/>
          <a:cxnLst/>
          <a:rect l="0" t="0" r="0" b="0"/>
          <a:pathLst>
            <a:path>
              <a:moveTo>
                <a:pt x="0" y="42890"/>
              </a:moveTo>
              <a:lnTo>
                <a:pt x="379124" y="4289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29187" y="487734"/>
        <a:ext cx="18956" cy="18956"/>
      </dsp:txXfrm>
    </dsp:sp>
    <dsp:sp modelId="{926591DF-8F70-4098-BE52-63364D7B83D7}">
      <dsp:nvSpPr>
        <dsp:cNvPr id="0" name=""/>
        <dsp:cNvSpPr/>
      </dsp:nvSpPr>
      <dsp:spPr>
        <a:xfrm>
          <a:off x="1328228"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IFFT</a:t>
          </a:r>
        </a:p>
      </dsp:txBody>
      <dsp:txXfrm>
        <a:off x="1342108" y="274139"/>
        <a:ext cx="920052" cy="446146"/>
      </dsp:txXfrm>
    </dsp:sp>
    <dsp:sp modelId="{AEB5973E-509A-4C0D-8086-C404B400E335}">
      <dsp:nvSpPr>
        <dsp:cNvPr id="0" name=""/>
        <dsp:cNvSpPr/>
      </dsp:nvSpPr>
      <dsp:spPr>
        <a:xfrm>
          <a:off x="2276040" y="454322"/>
          <a:ext cx="379124" cy="85781"/>
        </a:xfrm>
        <a:custGeom>
          <a:avLst/>
          <a:gdLst/>
          <a:ahLst/>
          <a:cxnLst/>
          <a:rect l="0" t="0" r="0" b="0"/>
          <a:pathLst>
            <a:path>
              <a:moveTo>
                <a:pt x="0" y="42890"/>
              </a:moveTo>
              <a:lnTo>
                <a:pt x="379124" y="4289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56124" y="487734"/>
        <a:ext cx="18956" cy="18956"/>
      </dsp:txXfrm>
    </dsp:sp>
    <dsp:sp modelId="{BD6B7A61-6E99-499B-9BF9-2FB88F770B01}">
      <dsp:nvSpPr>
        <dsp:cNvPr id="0" name=""/>
        <dsp:cNvSpPr/>
      </dsp:nvSpPr>
      <dsp:spPr>
        <a:xfrm>
          <a:off x="2655165"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Adding cyclic extension</a:t>
          </a:r>
        </a:p>
      </dsp:txBody>
      <dsp:txXfrm>
        <a:off x="2669045" y="274139"/>
        <a:ext cx="920052" cy="44614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661689"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FFT</a:t>
          </a:r>
        </a:p>
      </dsp:txBody>
      <dsp:txXfrm>
        <a:off x="674405" y="12716"/>
        <a:ext cx="842892" cy="408730"/>
      </dsp:txXfrm>
    </dsp:sp>
    <dsp:sp modelId="{AEB5973E-509A-4C0D-8086-C404B400E335}">
      <dsp:nvSpPr>
        <dsp:cNvPr id="0" name=""/>
        <dsp:cNvSpPr/>
      </dsp:nvSpPr>
      <dsp:spPr>
        <a:xfrm>
          <a:off x="1530013" y="127081"/>
          <a:ext cx="347329" cy="180000"/>
        </a:xfrm>
        <a:custGeom>
          <a:avLst/>
          <a:gdLst/>
          <a:ahLst/>
          <a:cxnLst/>
          <a:rect l="0" t="0" r="0" b="0"/>
          <a:pathLst>
            <a:path>
              <a:moveTo>
                <a:pt x="0" y="90000"/>
              </a:moveTo>
              <a:lnTo>
                <a:pt x="347329"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4994" y="208397"/>
        <a:ext cx="17366" cy="17366"/>
      </dsp:txXfrm>
    </dsp:sp>
    <dsp:sp modelId="{BD6B7A61-6E99-499B-9BF9-2FB88F770B01}">
      <dsp:nvSpPr>
        <dsp:cNvPr id="0" name=""/>
        <dsp:cNvSpPr/>
      </dsp:nvSpPr>
      <dsp:spPr>
        <a:xfrm>
          <a:off x="1877342"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Removing cyclic extension</a:t>
          </a:r>
        </a:p>
      </dsp:txBody>
      <dsp:txXfrm>
        <a:off x="1890058" y="12716"/>
        <a:ext cx="842892" cy="40873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661689"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FFT</a:t>
          </a:r>
        </a:p>
      </dsp:txBody>
      <dsp:txXfrm>
        <a:off x="674405" y="12716"/>
        <a:ext cx="842892" cy="408730"/>
      </dsp:txXfrm>
    </dsp:sp>
    <dsp:sp modelId="{AEB5973E-509A-4C0D-8086-C404B400E335}">
      <dsp:nvSpPr>
        <dsp:cNvPr id="0" name=""/>
        <dsp:cNvSpPr/>
      </dsp:nvSpPr>
      <dsp:spPr>
        <a:xfrm>
          <a:off x="1530013" y="127081"/>
          <a:ext cx="347329" cy="180000"/>
        </a:xfrm>
        <a:custGeom>
          <a:avLst/>
          <a:gdLst/>
          <a:ahLst/>
          <a:cxnLst/>
          <a:rect l="0" t="0" r="0" b="0"/>
          <a:pathLst>
            <a:path>
              <a:moveTo>
                <a:pt x="0" y="90000"/>
              </a:moveTo>
              <a:lnTo>
                <a:pt x="347329"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4994" y="208397"/>
        <a:ext cx="17366" cy="17366"/>
      </dsp:txXfrm>
    </dsp:sp>
    <dsp:sp modelId="{BD6B7A61-6E99-499B-9BF9-2FB88F770B01}">
      <dsp:nvSpPr>
        <dsp:cNvPr id="0" name=""/>
        <dsp:cNvSpPr/>
      </dsp:nvSpPr>
      <dsp:spPr>
        <a:xfrm>
          <a:off x="1877342"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Removing cyclic extension</a:t>
          </a:r>
        </a:p>
      </dsp:txBody>
      <dsp:txXfrm>
        <a:off x="1890058" y="12716"/>
        <a:ext cx="842892" cy="40873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276696" y="0"/>
          <a:ext cx="923965" cy="4121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De-mapper</a:t>
          </a:r>
        </a:p>
      </dsp:txBody>
      <dsp:txXfrm>
        <a:off x="1288768" y="12072"/>
        <a:ext cx="899821" cy="38802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276696" y="0"/>
          <a:ext cx="923965" cy="4121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De-mapper</a:t>
          </a:r>
        </a:p>
      </dsp:txBody>
      <dsp:txXfrm>
        <a:off x="1288768" y="12072"/>
        <a:ext cx="899821" cy="38802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661689"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FFT</a:t>
          </a:r>
        </a:p>
      </dsp:txBody>
      <dsp:txXfrm>
        <a:off x="674405" y="12716"/>
        <a:ext cx="842892" cy="408730"/>
      </dsp:txXfrm>
    </dsp:sp>
    <dsp:sp modelId="{AEB5973E-509A-4C0D-8086-C404B400E335}">
      <dsp:nvSpPr>
        <dsp:cNvPr id="0" name=""/>
        <dsp:cNvSpPr/>
      </dsp:nvSpPr>
      <dsp:spPr>
        <a:xfrm>
          <a:off x="1530013" y="127081"/>
          <a:ext cx="347329" cy="180000"/>
        </a:xfrm>
        <a:custGeom>
          <a:avLst/>
          <a:gdLst/>
          <a:ahLst/>
          <a:cxnLst/>
          <a:rect l="0" t="0" r="0" b="0"/>
          <a:pathLst>
            <a:path>
              <a:moveTo>
                <a:pt x="0" y="90000"/>
              </a:moveTo>
              <a:lnTo>
                <a:pt x="347329"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4994" y="208397"/>
        <a:ext cx="17366" cy="17366"/>
      </dsp:txXfrm>
    </dsp:sp>
    <dsp:sp modelId="{BD6B7A61-6E99-499B-9BF9-2FB88F770B01}">
      <dsp:nvSpPr>
        <dsp:cNvPr id="0" name=""/>
        <dsp:cNvSpPr/>
      </dsp:nvSpPr>
      <dsp:spPr>
        <a:xfrm>
          <a:off x="1877342" y="0"/>
          <a:ext cx="868324" cy="434162"/>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Removing cyclic extension</a:t>
          </a:r>
        </a:p>
      </dsp:txBody>
      <dsp:txXfrm>
        <a:off x="1890058" y="12716"/>
        <a:ext cx="842892" cy="40873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661689"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FFT</a:t>
          </a:r>
        </a:p>
      </dsp:txBody>
      <dsp:txXfrm>
        <a:off x="674405" y="12716"/>
        <a:ext cx="842892" cy="408730"/>
      </dsp:txXfrm>
    </dsp:sp>
    <dsp:sp modelId="{AEB5973E-509A-4C0D-8086-C404B400E335}">
      <dsp:nvSpPr>
        <dsp:cNvPr id="0" name=""/>
        <dsp:cNvSpPr/>
      </dsp:nvSpPr>
      <dsp:spPr>
        <a:xfrm>
          <a:off x="1530013" y="127081"/>
          <a:ext cx="347329" cy="180000"/>
        </a:xfrm>
        <a:custGeom>
          <a:avLst/>
          <a:gdLst/>
          <a:ahLst/>
          <a:cxnLst/>
          <a:rect l="0" t="0" r="0" b="0"/>
          <a:pathLst>
            <a:path>
              <a:moveTo>
                <a:pt x="0" y="90000"/>
              </a:moveTo>
              <a:lnTo>
                <a:pt x="347329"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4994" y="208397"/>
        <a:ext cx="17366" cy="17366"/>
      </dsp:txXfrm>
    </dsp:sp>
    <dsp:sp modelId="{BD6B7A61-6E99-499B-9BF9-2FB88F770B01}">
      <dsp:nvSpPr>
        <dsp:cNvPr id="0" name=""/>
        <dsp:cNvSpPr/>
      </dsp:nvSpPr>
      <dsp:spPr>
        <a:xfrm>
          <a:off x="1877342" y="0"/>
          <a:ext cx="868324" cy="434162"/>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Removing cyclic extension</a:t>
          </a:r>
        </a:p>
      </dsp:txBody>
      <dsp:txXfrm>
        <a:off x="1890058" y="12716"/>
        <a:ext cx="842892" cy="40873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276696" y="0"/>
          <a:ext cx="923965" cy="412168"/>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De-mapper</a:t>
          </a:r>
        </a:p>
      </dsp:txBody>
      <dsp:txXfrm>
        <a:off x="1288768" y="12072"/>
        <a:ext cx="899821" cy="388024"/>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276696" y="0"/>
          <a:ext cx="923965" cy="412168"/>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De-mapper</a:t>
          </a:r>
        </a:p>
      </dsp:txBody>
      <dsp:txXfrm>
        <a:off x="1288768" y="12072"/>
        <a:ext cx="899821" cy="38802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10DFEC-236B-4E00-A191-28A6917551AB}" type="datetimeFigureOut">
              <a:rPr lang="en-US" smtClean="0"/>
              <a:t>3/19/2026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CD3274-4BB5-47FF-AF7A-830095D6391A}" type="slidenum">
              <a:rPr lang="en-US" smtClean="0"/>
              <a:t>‹#›</a:t>
            </a:fld>
            <a:endParaRPr lang="en-US" dirty="0"/>
          </a:p>
        </p:txBody>
      </p:sp>
    </p:spTree>
    <p:extLst>
      <p:ext uri="{BB962C8B-B14F-4D97-AF65-F5344CB8AC3E}">
        <p14:creationId xmlns:p14="http://schemas.microsoft.com/office/powerpoint/2010/main" val="786111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B163F-04EE-D371-217D-52A2E98E0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D8F1F5-BBD9-776F-01AA-066ED73F6AF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8B58507-3489-154D-D086-05AFC0F4AF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CBBEAD-98DD-6AB6-D43C-774323D686FE}"/>
              </a:ext>
            </a:extLst>
          </p:cNvPr>
          <p:cNvSpPr>
            <a:spLocks noGrp="1"/>
          </p:cNvSpPr>
          <p:nvPr>
            <p:ph type="sldNum" sz="quarter" idx="5"/>
          </p:nvPr>
        </p:nvSpPr>
        <p:spPr/>
        <p:txBody>
          <a:bodyPr/>
          <a:lstStyle/>
          <a:p>
            <a:fld id="{BFCD3274-4BB5-47FF-AF7A-830095D6391A}" type="slidenum">
              <a:rPr lang="en-US" smtClean="0"/>
              <a:t>2</a:t>
            </a:fld>
            <a:endParaRPr lang="en-US" dirty="0"/>
          </a:p>
        </p:txBody>
      </p:sp>
    </p:spTree>
    <p:extLst>
      <p:ext uri="{BB962C8B-B14F-4D97-AF65-F5344CB8AC3E}">
        <p14:creationId xmlns:p14="http://schemas.microsoft.com/office/powerpoint/2010/main" val="1935968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3</a:t>
            </a:fld>
            <a:endParaRPr lang="en-US" dirty="0"/>
          </a:p>
        </p:txBody>
      </p:sp>
    </p:spTree>
    <p:extLst>
      <p:ext uri="{BB962C8B-B14F-4D97-AF65-F5344CB8AC3E}">
        <p14:creationId xmlns:p14="http://schemas.microsoft.com/office/powerpoint/2010/main" val="312626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6</a:t>
            </a:fld>
            <a:endParaRPr lang="en-US" dirty="0"/>
          </a:p>
        </p:txBody>
      </p:sp>
    </p:spTree>
    <p:extLst>
      <p:ext uri="{BB962C8B-B14F-4D97-AF65-F5344CB8AC3E}">
        <p14:creationId xmlns:p14="http://schemas.microsoft.com/office/powerpoint/2010/main" val="2001641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29</a:t>
            </a:fld>
            <a:endParaRPr lang="en-US" dirty="0"/>
          </a:p>
        </p:txBody>
      </p:sp>
    </p:spTree>
    <p:extLst>
      <p:ext uri="{BB962C8B-B14F-4D97-AF65-F5344CB8AC3E}">
        <p14:creationId xmlns:p14="http://schemas.microsoft.com/office/powerpoint/2010/main" val="3750271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49</a:t>
            </a:fld>
            <a:endParaRPr lang="en-US" dirty="0"/>
          </a:p>
        </p:txBody>
      </p:sp>
    </p:spTree>
    <p:extLst>
      <p:ext uri="{BB962C8B-B14F-4D97-AF65-F5344CB8AC3E}">
        <p14:creationId xmlns:p14="http://schemas.microsoft.com/office/powerpoint/2010/main" val="1378621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60</a:t>
            </a:fld>
            <a:endParaRPr lang="en-US" dirty="0"/>
          </a:p>
        </p:txBody>
      </p:sp>
    </p:spTree>
    <p:extLst>
      <p:ext uri="{BB962C8B-B14F-4D97-AF65-F5344CB8AC3E}">
        <p14:creationId xmlns:p14="http://schemas.microsoft.com/office/powerpoint/2010/main" val="3442341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83</a:t>
            </a:fld>
            <a:endParaRPr lang="en-US" dirty="0"/>
          </a:p>
        </p:txBody>
      </p:sp>
    </p:spTree>
    <p:extLst>
      <p:ext uri="{BB962C8B-B14F-4D97-AF65-F5344CB8AC3E}">
        <p14:creationId xmlns:p14="http://schemas.microsoft.com/office/powerpoint/2010/main" val="1454313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90</a:t>
            </a:fld>
            <a:endParaRPr lang="en-US" dirty="0"/>
          </a:p>
        </p:txBody>
      </p:sp>
    </p:spTree>
    <p:extLst>
      <p:ext uri="{BB962C8B-B14F-4D97-AF65-F5344CB8AC3E}">
        <p14:creationId xmlns:p14="http://schemas.microsoft.com/office/powerpoint/2010/main" val="2769447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95</a:t>
            </a:fld>
            <a:endParaRPr lang="en-US" dirty="0"/>
          </a:p>
        </p:txBody>
      </p:sp>
    </p:spTree>
    <p:extLst>
      <p:ext uri="{BB962C8B-B14F-4D97-AF65-F5344CB8AC3E}">
        <p14:creationId xmlns:p14="http://schemas.microsoft.com/office/powerpoint/2010/main" val="1567962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96</a:t>
            </a:fld>
            <a:endParaRPr lang="en-US" dirty="0"/>
          </a:p>
        </p:txBody>
      </p:sp>
    </p:spTree>
    <p:extLst>
      <p:ext uri="{BB962C8B-B14F-4D97-AF65-F5344CB8AC3E}">
        <p14:creationId xmlns:p14="http://schemas.microsoft.com/office/powerpoint/2010/main" val="2990689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97</a:t>
            </a:fld>
            <a:endParaRPr lang="en-US" dirty="0"/>
          </a:p>
        </p:txBody>
      </p:sp>
    </p:spTree>
    <p:extLst>
      <p:ext uri="{BB962C8B-B14F-4D97-AF65-F5344CB8AC3E}">
        <p14:creationId xmlns:p14="http://schemas.microsoft.com/office/powerpoint/2010/main" val="3331000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98</a:t>
            </a:fld>
            <a:endParaRPr lang="en-US" dirty="0"/>
          </a:p>
        </p:txBody>
      </p:sp>
    </p:spTree>
    <p:extLst>
      <p:ext uri="{BB962C8B-B14F-4D97-AF65-F5344CB8AC3E}">
        <p14:creationId xmlns:p14="http://schemas.microsoft.com/office/powerpoint/2010/main" val="368973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102</a:t>
            </a:fld>
            <a:endParaRPr lang="en-US" dirty="0"/>
          </a:p>
        </p:txBody>
      </p:sp>
    </p:spTree>
    <p:extLst>
      <p:ext uri="{BB962C8B-B14F-4D97-AF65-F5344CB8AC3E}">
        <p14:creationId xmlns:p14="http://schemas.microsoft.com/office/powerpoint/2010/main" val="1896135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103</a:t>
            </a:fld>
            <a:endParaRPr lang="en-US" dirty="0"/>
          </a:p>
        </p:txBody>
      </p:sp>
    </p:spTree>
    <p:extLst>
      <p:ext uri="{BB962C8B-B14F-4D97-AF65-F5344CB8AC3E}">
        <p14:creationId xmlns:p14="http://schemas.microsoft.com/office/powerpoint/2010/main" val="1504465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109</a:t>
            </a:fld>
            <a:endParaRPr lang="en-US" dirty="0"/>
          </a:p>
        </p:txBody>
      </p:sp>
    </p:spTree>
    <p:extLst>
      <p:ext uri="{BB962C8B-B14F-4D97-AF65-F5344CB8AC3E}">
        <p14:creationId xmlns:p14="http://schemas.microsoft.com/office/powerpoint/2010/main" val="815240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111</a:t>
            </a:fld>
            <a:endParaRPr lang="en-US" dirty="0"/>
          </a:p>
        </p:txBody>
      </p:sp>
    </p:spTree>
    <p:extLst>
      <p:ext uri="{BB962C8B-B14F-4D97-AF65-F5344CB8AC3E}">
        <p14:creationId xmlns:p14="http://schemas.microsoft.com/office/powerpoint/2010/main" val="15059432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dirty="0"/>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dirty="0"/>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FE7A9806-8D44-470F-A42A-B0BB34D8E567}" type="datetime3">
              <a:rPr lang="en-US" smtClean="0"/>
              <a:t>19 March 2026</a:t>
            </a:fld>
            <a:endParaRPr lang="en-US" dirty="0"/>
          </a:p>
        </p:txBody>
      </p:sp>
    </p:spTree>
    <p:extLst>
      <p:ext uri="{BB962C8B-B14F-4D97-AF65-F5344CB8AC3E}">
        <p14:creationId xmlns:p14="http://schemas.microsoft.com/office/powerpoint/2010/main" val="1944391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1" y="219456"/>
            <a:ext cx="10287001"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241027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198212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352612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1" y="219456"/>
            <a:ext cx="10287001"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185473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2.emf"/><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19 March 2026</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805" r:id="rId1"/>
    <p:sldLayoutId id="2147483808" r:id="rId2"/>
    <p:sldLayoutId id="2147483809"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919679"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1" y="6606770"/>
            <a:ext cx="10629900"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19 March 2026</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807" r:id="rId1"/>
    <p:sldLayoutId id="2147483741"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3.xml"/><Relationship Id="rId7" Type="http://schemas.openxmlformats.org/officeDocument/2006/relationships/image" Target="../media/image14.png"/><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0.png"/><Relationship Id="rId1" Type="http://schemas.openxmlformats.org/officeDocument/2006/relationships/slideLayout" Target="../slideLayouts/slideLayout5.xml"/><Relationship Id="rId4" Type="http://schemas.openxmlformats.org/officeDocument/2006/relationships/image" Target="../media/image220.png"/></Relationships>
</file>

<file path=ppt/slides/_rels/slide17.xml.rels><?xml version="1.0" encoding="UTF-8" standalone="yes"?>
<Relationships xmlns="http://schemas.openxmlformats.org/package/2006/relationships"><Relationship Id="rId7" Type="http://schemas.openxmlformats.org/officeDocument/2006/relationships/image" Target="../media/image23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4.png"/><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image" Target="../media/image26.png"/><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 Id="rId14" Type="http://schemas.openxmlformats.org/officeDocument/2006/relationships/image" Target="../media/image27.png"/></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10.xml"/><Relationship Id="rId13" Type="http://schemas.openxmlformats.org/officeDocument/2006/relationships/image" Target="../media/image26.png"/><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5" Type="http://schemas.openxmlformats.org/officeDocument/2006/relationships/image" Target="../media/image28.png"/><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 Id="rId1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37.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diagramData" Target="../diagrams/data13.xml"/><Relationship Id="rId13" Type="http://schemas.openxmlformats.org/officeDocument/2006/relationships/diagramData" Target="../diagrams/data14.xml"/><Relationship Id="rId18" Type="http://schemas.openxmlformats.org/officeDocument/2006/relationships/diagramData" Target="../diagrams/data15.xml"/><Relationship Id="rId26" Type="http://schemas.openxmlformats.org/officeDocument/2006/relationships/diagramColors" Target="../diagrams/colors16.xml"/><Relationship Id="rId3" Type="http://schemas.openxmlformats.org/officeDocument/2006/relationships/diagramLayout" Target="../diagrams/layout12.xml"/><Relationship Id="rId21" Type="http://schemas.openxmlformats.org/officeDocument/2006/relationships/diagramColors" Target="../diagrams/colors15.xml"/><Relationship Id="rId7" Type="http://schemas.openxmlformats.org/officeDocument/2006/relationships/image" Target="../media/image38.png"/><Relationship Id="rId12" Type="http://schemas.microsoft.com/office/2007/relationships/diagramDrawing" Target="../diagrams/drawing13.xml"/><Relationship Id="rId17" Type="http://schemas.microsoft.com/office/2007/relationships/diagramDrawing" Target="../diagrams/drawing14.xml"/><Relationship Id="rId25" Type="http://schemas.openxmlformats.org/officeDocument/2006/relationships/diagramQuickStyle" Target="../diagrams/quickStyle16.xml"/><Relationship Id="rId2" Type="http://schemas.openxmlformats.org/officeDocument/2006/relationships/diagramData" Target="../diagrams/data12.xml"/><Relationship Id="rId16" Type="http://schemas.openxmlformats.org/officeDocument/2006/relationships/diagramColors" Target="../diagrams/colors14.xml"/><Relationship Id="rId20" Type="http://schemas.openxmlformats.org/officeDocument/2006/relationships/diagramQuickStyle" Target="../diagrams/quickStyle15.xml"/><Relationship Id="rId1" Type="http://schemas.openxmlformats.org/officeDocument/2006/relationships/slideLayout" Target="../slideLayouts/slideLayout2.xml"/><Relationship Id="rId6" Type="http://schemas.microsoft.com/office/2007/relationships/diagramDrawing" Target="../diagrams/drawing12.xml"/><Relationship Id="rId11" Type="http://schemas.openxmlformats.org/officeDocument/2006/relationships/diagramColors" Target="../diagrams/colors13.xml"/><Relationship Id="rId24" Type="http://schemas.openxmlformats.org/officeDocument/2006/relationships/diagramLayout" Target="../diagrams/layout16.xml"/><Relationship Id="rId5" Type="http://schemas.openxmlformats.org/officeDocument/2006/relationships/diagramColors" Target="../diagrams/colors12.xml"/><Relationship Id="rId15" Type="http://schemas.openxmlformats.org/officeDocument/2006/relationships/diagramQuickStyle" Target="../diagrams/quickStyle14.xml"/><Relationship Id="rId23" Type="http://schemas.openxmlformats.org/officeDocument/2006/relationships/diagramData" Target="../diagrams/data16.xml"/><Relationship Id="rId10" Type="http://schemas.openxmlformats.org/officeDocument/2006/relationships/diagramQuickStyle" Target="../diagrams/quickStyle13.xml"/><Relationship Id="rId19" Type="http://schemas.openxmlformats.org/officeDocument/2006/relationships/diagramLayout" Target="../diagrams/layout15.xml"/><Relationship Id="rId4" Type="http://schemas.openxmlformats.org/officeDocument/2006/relationships/diagramQuickStyle" Target="../diagrams/quickStyle12.xml"/><Relationship Id="rId9" Type="http://schemas.openxmlformats.org/officeDocument/2006/relationships/diagramLayout" Target="../diagrams/layout13.xml"/><Relationship Id="rId14" Type="http://schemas.openxmlformats.org/officeDocument/2006/relationships/diagramLayout" Target="../diagrams/layout14.xml"/><Relationship Id="rId22" Type="http://schemas.microsoft.com/office/2007/relationships/diagramDrawing" Target="../diagrams/drawing15.xml"/><Relationship Id="rId27" Type="http://schemas.microsoft.com/office/2007/relationships/diagramDrawing" Target="../diagrams/drawing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8" Type="http://schemas.openxmlformats.org/officeDocument/2006/relationships/diagramData" Target="../diagrams/data18.xml"/><Relationship Id="rId13" Type="http://schemas.openxmlformats.org/officeDocument/2006/relationships/diagramData" Target="../diagrams/data19.xml"/><Relationship Id="rId18" Type="http://schemas.openxmlformats.org/officeDocument/2006/relationships/diagramData" Target="../diagrams/data20.xml"/><Relationship Id="rId26" Type="http://schemas.openxmlformats.org/officeDocument/2006/relationships/diagramColors" Target="../diagrams/colors21.xml"/><Relationship Id="rId3" Type="http://schemas.openxmlformats.org/officeDocument/2006/relationships/diagramLayout" Target="../diagrams/layout17.xml"/><Relationship Id="rId21" Type="http://schemas.openxmlformats.org/officeDocument/2006/relationships/diagramColors" Target="../diagrams/colors20.xml"/><Relationship Id="rId7" Type="http://schemas.openxmlformats.org/officeDocument/2006/relationships/image" Target="../media/image38.png"/><Relationship Id="rId12" Type="http://schemas.microsoft.com/office/2007/relationships/diagramDrawing" Target="../diagrams/drawing18.xml"/><Relationship Id="rId17" Type="http://schemas.microsoft.com/office/2007/relationships/diagramDrawing" Target="../diagrams/drawing19.xml"/><Relationship Id="rId25" Type="http://schemas.openxmlformats.org/officeDocument/2006/relationships/diagramQuickStyle" Target="../diagrams/quickStyle21.xml"/><Relationship Id="rId2" Type="http://schemas.openxmlformats.org/officeDocument/2006/relationships/diagramData" Target="../diagrams/data17.xml"/><Relationship Id="rId16" Type="http://schemas.openxmlformats.org/officeDocument/2006/relationships/diagramColors" Target="../diagrams/colors19.xml"/><Relationship Id="rId20" Type="http://schemas.openxmlformats.org/officeDocument/2006/relationships/diagramQuickStyle" Target="../diagrams/quickStyle20.xml"/><Relationship Id="rId29" Type="http://schemas.openxmlformats.org/officeDocument/2006/relationships/diagramLayout" Target="../diagrams/layout22.xml"/><Relationship Id="rId1" Type="http://schemas.openxmlformats.org/officeDocument/2006/relationships/slideLayout" Target="../slideLayouts/slideLayout5.xml"/><Relationship Id="rId6" Type="http://schemas.microsoft.com/office/2007/relationships/diagramDrawing" Target="../diagrams/drawing17.xml"/><Relationship Id="rId11" Type="http://schemas.openxmlformats.org/officeDocument/2006/relationships/diagramColors" Target="../diagrams/colors18.xml"/><Relationship Id="rId24" Type="http://schemas.openxmlformats.org/officeDocument/2006/relationships/diagramLayout" Target="../diagrams/layout21.xml"/><Relationship Id="rId32" Type="http://schemas.microsoft.com/office/2007/relationships/diagramDrawing" Target="../diagrams/drawing22.xml"/><Relationship Id="rId5" Type="http://schemas.openxmlformats.org/officeDocument/2006/relationships/diagramColors" Target="../diagrams/colors17.xml"/><Relationship Id="rId15" Type="http://schemas.openxmlformats.org/officeDocument/2006/relationships/diagramQuickStyle" Target="../diagrams/quickStyle19.xml"/><Relationship Id="rId23" Type="http://schemas.openxmlformats.org/officeDocument/2006/relationships/diagramData" Target="../diagrams/data21.xml"/><Relationship Id="rId28" Type="http://schemas.openxmlformats.org/officeDocument/2006/relationships/diagramData" Target="../diagrams/data22.xml"/><Relationship Id="rId10" Type="http://schemas.openxmlformats.org/officeDocument/2006/relationships/diagramQuickStyle" Target="../diagrams/quickStyle18.xml"/><Relationship Id="rId19" Type="http://schemas.openxmlformats.org/officeDocument/2006/relationships/diagramLayout" Target="../diagrams/layout20.xml"/><Relationship Id="rId31" Type="http://schemas.openxmlformats.org/officeDocument/2006/relationships/diagramColors" Target="../diagrams/colors22.xml"/><Relationship Id="rId4" Type="http://schemas.openxmlformats.org/officeDocument/2006/relationships/diagramQuickStyle" Target="../diagrams/quickStyle17.xml"/><Relationship Id="rId9" Type="http://schemas.openxmlformats.org/officeDocument/2006/relationships/diagramLayout" Target="../diagrams/layout18.xml"/><Relationship Id="rId14" Type="http://schemas.openxmlformats.org/officeDocument/2006/relationships/diagramLayout" Target="../diagrams/layout19.xml"/><Relationship Id="rId22" Type="http://schemas.microsoft.com/office/2007/relationships/diagramDrawing" Target="../diagrams/drawing20.xml"/><Relationship Id="rId27" Type="http://schemas.microsoft.com/office/2007/relationships/diagramDrawing" Target="../diagrams/drawing21.xml"/><Relationship Id="rId30" Type="http://schemas.openxmlformats.org/officeDocument/2006/relationships/diagramQuickStyle" Target="../diagrams/quickStyl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8" Type="http://schemas.openxmlformats.org/officeDocument/2006/relationships/slide" Target="slide118.xml"/><Relationship Id="rId7" Type="http://schemas.openxmlformats.org/officeDocument/2006/relationships/image" Target="../media/image151.png"/><Relationship Id="rId1" Type="http://schemas.openxmlformats.org/officeDocument/2006/relationships/slideLayout" Target="../slideLayouts/slideLayout5.xml"/><Relationship Id="rId6" Type="http://schemas.openxmlformats.org/officeDocument/2006/relationships/image" Target="../media/image140.png"/><Relationship Id="rId5" Type="http://schemas.openxmlformats.org/officeDocument/2006/relationships/image" Target="../media/image130.png"/><Relationship Id="rId9" Type="http://schemas.openxmlformats.org/officeDocument/2006/relationships/image" Target="../media/image38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9.png"/><Relationship Id="rId1" Type="http://schemas.openxmlformats.org/officeDocument/2006/relationships/slideLayout" Target="../slideLayouts/slideLayout5.xml"/><Relationship Id="rId4" Type="http://schemas.openxmlformats.org/officeDocument/2006/relationships/chart" Target="../charts/char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0.png"/><Relationship Id="rId7" Type="http://schemas.openxmlformats.org/officeDocument/2006/relationships/image" Target="../media/image56.png"/><Relationship Id="rId2" Type="http://schemas.openxmlformats.org/officeDocument/2006/relationships/image" Target="../media/image370.png"/><Relationship Id="rId1" Type="http://schemas.openxmlformats.org/officeDocument/2006/relationships/slideLayout" Target="../slideLayouts/slideLayout5.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390.png"/></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5.xml"/><Relationship Id="rId5" Type="http://schemas.openxmlformats.org/officeDocument/2006/relationships/image" Target="../media/image61.png"/><Relationship Id="rId4" Type="http://schemas.openxmlformats.org/officeDocument/2006/relationships/image" Target="../media/image6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image" Target="../media/image61.gif"/><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8" Type="http://schemas.openxmlformats.org/officeDocument/2006/relationships/diagramData" Target="../diagrams/data24.xml"/><Relationship Id="rId13" Type="http://schemas.openxmlformats.org/officeDocument/2006/relationships/diagramData" Target="../diagrams/data25.xml"/><Relationship Id="rId18" Type="http://schemas.openxmlformats.org/officeDocument/2006/relationships/diagramData" Target="../diagrams/data26.xml"/><Relationship Id="rId3" Type="http://schemas.openxmlformats.org/officeDocument/2006/relationships/diagramLayout" Target="../diagrams/layout23.xml"/><Relationship Id="rId21" Type="http://schemas.openxmlformats.org/officeDocument/2006/relationships/diagramColors" Target="../diagrams/colors26.xml"/><Relationship Id="rId7" Type="http://schemas.openxmlformats.org/officeDocument/2006/relationships/image" Target="../media/image38.png"/><Relationship Id="rId12" Type="http://schemas.microsoft.com/office/2007/relationships/diagramDrawing" Target="../diagrams/drawing24.xml"/><Relationship Id="rId17" Type="http://schemas.microsoft.com/office/2007/relationships/diagramDrawing" Target="../diagrams/drawing25.xml"/><Relationship Id="rId2" Type="http://schemas.openxmlformats.org/officeDocument/2006/relationships/diagramData" Target="../diagrams/data23.xml"/><Relationship Id="rId16" Type="http://schemas.openxmlformats.org/officeDocument/2006/relationships/diagramColors" Target="../diagrams/colors25.xml"/><Relationship Id="rId20" Type="http://schemas.openxmlformats.org/officeDocument/2006/relationships/diagramQuickStyle" Target="../diagrams/quickStyle26.xml"/><Relationship Id="rId1" Type="http://schemas.openxmlformats.org/officeDocument/2006/relationships/slideLayout" Target="../slideLayouts/slideLayout5.xml"/><Relationship Id="rId6" Type="http://schemas.microsoft.com/office/2007/relationships/diagramDrawing" Target="../diagrams/drawing23.xml"/><Relationship Id="rId11" Type="http://schemas.openxmlformats.org/officeDocument/2006/relationships/diagramColors" Target="../diagrams/colors24.xml"/><Relationship Id="rId5" Type="http://schemas.openxmlformats.org/officeDocument/2006/relationships/diagramColors" Target="../diagrams/colors23.xml"/><Relationship Id="rId15" Type="http://schemas.openxmlformats.org/officeDocument/2006/relationships/diagramQuickStyle" Target="../diagrams/quickStyle25.xml"/><Relationship Id="rId10" Type="http://schemas.openxmlformats.org/officeDocument/2006/relationships/diagramQuickStyle" Target="../diagrams/quickStyle24.xml"/><Relationship Id="rId19" Type="http://schemas.openxmlformats.org/officeDocument/2006/relationships/diagramLayout" Target="../diagrams/layout26.xml"/><Relationship Id="rId4" Type="http://schemas.openxmlformats.org/officeDocument/2006/relationships/diagramQuickStyle" Target="../diagrams/quickStyle23.xml"/><Relationship Id="rId9" Type="http://schemas.openxmlformats.org/officeDocument/2006/relationships/diagramLayout" Target="../diagrams/layout24.xml"/><Relationship Id="rId14" Type="http://schemas.openxmlformats.org/officeDocument/2006/relationships/diagramLayout" Target="../diagrams/layout25.xml"/><Relationship Id="rId22" Type="http://schemas.microsoft.com/office/2007/relationships/diagramDrawing" Target="../diagrams/drawing2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7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hyperlink" Target="https://github.com/Mostafa-Yossry/ADI-CU-GP-2025-2026/tree/main/RTL/FFT_SDF" TargetMode="External"/><Relationship Id="rId2" Type="http://schemas.openxmlformats.org/officeDocument/2006/relationships/hyperlink" Target="https://github.com/Mostafa-Yossry/ADI-CU-GP-2025-2026/tree/main/System-Modelling/SDF-Radix2-FFT" TargetMode="External"/><Relationship Id="rId1" Type="http://schemas.openxmlformats.org/officeDocument/2006/relationships/slideLayout" Target="../slideLayouts/slideLayout2.xml"/><Relationship Id="rId5" Type="http://schemas.openxmlformats.org/officeDocument/2006/relationships/hyperlink" Target="https://github.com/Mostafa-Yossry/ADI-CU-GP-2025-2026/tree/main/RTL/simple_butterfly/simple_butterfly" TargetMode="External"/><Relationship Id="rId4" Type="http://schemas.openxmlformats.org/officeDocument/2006/relationships/hyperlink" Target="https://github.com/Mostafa-Yossry/ADI-CU-GP-2025-2026/tree/main/Firmware/Radix2-FFT" TargetMode="External"/></Relationships>
</file>

<file path=ppt/slides/_rels/slide11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hyperlink" Target="https://pulp-platform.org/docs/publications/08715500.pdf" TargetMode="External"/><Relationship Id="rId1" Type="http://schemas.openxmlformats.org/officeDocument/2006/relationships/slideLayout" Target="../slideLayouts/slideLayout2.xml"/><Relationship Id="rId6" Type="http://schemas.openxmlformats.org/officeDocument/2006/relationships/hyperlink" Target="https://github.com/Mostafa-Yossry/ADI-CU-GP-2025-2026/tree/main/Firmware/Radix2-FFT" TargetMode="External"/><Relationship Id="rId5" Type="http://schemas.openxmlformats.org/officeDocument/2006/relationships/hyperlink" Target="https://d1.amobbs.com/bbs_upload782111/files_18/ourdev_480582.pdf" TargetMode="External"/><Relationship Id="rId4" Type="http://schemas.openxmlformats.org/officeDocument/2006/relationships/hyperlink" Target="https://danylastchild07.wordpress.com/wp-content/uploads/2016/05/fft_algorithms-and-applications.pdf"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4CFE7F-71AB-C7B8-4F0D-C02B109BC86A}"/>
              </a:ext>
            </a:extLst>
          </p:cNvPr>
          <p:cNvSpPr>
            <a:spLocks noGrp="1"/>
          </p:cNvSpPr>
          <p:nvPr>
            <p:ph type="body" idx="1"/>
          </p:nvPr>
        </p:nvSpPr>
        <p:spPr>
          <a:xfrm>
            <a:off x="0" y="5188930"/>
            <a:ext cx="2512706" cy="336799"/>
          </a:xfrm>
        </p:spPr>
        <p:txBody>
          <a:bodyPr/>
          <a:lstStyle/>
          <a:p>
            <a:pPr algn="ctr"/>
            <a:r>
              <a:rPr lang="en-US" dirty="0"/>
              <a:t>Front end team …..</a:t>
            </a:r>
          </a:p>
        </p:txBody>
      </p:sp>
      <p:sp>
        <p:nvSpPr>
          <p:cNvPr id="3" name="Text Placeholder 2">
            <a:extLst>
              <a:ext uri="{FF2B5EF4-FFF2-40B4-BE49-F238E27FC236}">
                <a16:creationId xmlns:a16="http://schemas.microsoft.com/office/drawing/2014/main" id="{0036071B-E7CD-BA6C-9A1F-BA42E01BC15E}"/>
              </a:ext>
            </a:extLst>
          </p:cNvPr>
          <p:cNvSpPr>
            <a:spLocks noGrp="1"/>
          </p:cNvSpPr>
          <p:nvPr>
            <p:ph type="body" sz="quarter" idx="12"/>
          </p:nvPr>
        </p:nvSpPr>
        <p:spPr>
          <a:xfrm>
            <a:off x="2617469" y="2252268"/>
            <a:ext cx="8237343" cy="2353465"/>
          </a:xfrm>
        </p:spPr>
        <p:txBody>
          <a:bodyPr/>
          <a:lstStyle/>
          <a:p>
            <a:pPr algn="ctr"/>
            <a:r>
              <a:rPr lang="en-US" b="1" dirty="0"/>
              <a:t>ADI/CU GP 2025/2026</a:t>
            </a:r>
            <a:endParaRPr lang="en-GB" b="1" dirty="0"/>
          </a:p>
          <a:p>
            <a:pPr algn="ctr"/>
            <a:r>
              <a:rPr lang="en-US" b="1" dirty="0"/>
              <a:t>Progress Update Meeting</a:t>
            </a:r>
            <a:r>
              <a:rPr lang="ar-EG" b="1" dirty="0"/>
              <a:t> </a:t>
            </a:r>
            <a:r>
              <a:rPr lang="en-US" b="1" dirty="0"/>
              <a:t>(1)</a:t>
            </a:r>
          </a:p>
          <a:p>
            <a:pPr algn="ctr"/>
            <a:r>
              <a:rPr lang="en-US" b="1" dirty="0"/>
              <a:t>Part (1) : FFT task </a:t>
            </a:r>
          </a:p>
        </p:txBody>
      </p:sp>
      <p:sp>
        <p:nvSpPr>
          <p:cNvPr id="4" name="Footer Placeholder 3">
            <a:extLst>
              <a:ext uri="{FF2B5EF4-FFF2-40B4-BE49-F238E27FC236}">
                <a16:creationId xmlns:a16="http://schemas.microsoft.com/office/drawing/2014/main" id="{75CFE339-32F2-C276-B25D-9BBF398EDD6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560D9B2-B5E2-C39D-3836-3C61A84431AF}"/>
              </a:ext>
            </a:extLst>
          </p:cNvPr>
          <p:cNvSpPr>
            <a:spLocks noGrp="1"/>
          </p:cNvSpPr>
          <p:nvPr>
            <p:ph type="sldNum" sz="quarter" idx="4"/>
          </p:nvPr>
        </p:nvSpPr>
        <p:spPr/>
        <p:txBody>
          <a:bodyPr/>
          <a:lstStyle/>
          <a:p>
            <a:pPr>
              <a:defRPr/>
            </a:pPr>
            <a:fld id="{A9CE67A1-BA7F-A74E-B5D7-615746DEEC2B}" type="slidenum">
              <a:rPr lang="en-US" smtClean="0"/>
              <a:pPr>
                <a:defRPr/>
              </a:pPr>
              <a:t>1</a:t>
            </a:fld>
            <a:endParaRPr lang="en-US" baseline="-11000" dirty="0"/>
          </a:p>
        </p:txBody>
      </p:sp>
      <p:sp>
        <p:nvSpPr>
          <p:cNvPr id="6" name="Date Placeholder 5">
            <a:extLst>
              <a:ext uri="{FF2B5EF4-FFF2-40B4-BE49-F238E27FC236}">
                <a16:creationId xmlns:a16="http://schemas.microsoft.com/office/drawing/2014/main" id="{51F2EBC2-3256-7DF7-ADE7-9F8E9455008C}"/>
              </a:ext>
            </a:extLst>
          </p:cNvPr>
          <p:cNvSpPr>
            <a:spLocks noGrp="1"/>
          </p:cNvSpPr>
          <p:nvPr>
            <p:ph type="dt" sz="half" idx="2"/>
          </p:nvPr>
        </p:nvSpPr>
        <p:spPr/>
        <p:txBody>
          <a:bodyPr/>
          <a:lstStyle/>
          <a:p>
            <a:fld id="{FE7A9806-8D44-470F-A42A-B0BB34D8E567}" type="datetime3">
              <a:rPr lang="en-US" smtClean="0"/>
              <a:t>19 March 2026</a:t>
            </a:fld>
            <a:endParaRPr lang="en-US" dirty="0"/>
          </a:p>
        </p:txBody>
      </p:sp>
    </p:spTree>
    <p:extLst>
      <p:ext uri="{BB962C8B-B14F-4D97-AF65-F5344CB8AC3E}">
        <p14:creationId xmlns:p14="http://schemas.microsoft.com/office/powerpoint/2010/main" val="1844282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D4374-8CE4-3B69-F2DE-017C8A0FD7F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2A61C5-CFB8-CA06-755C-F90BEF678295}"/>
              </a:ext>
            </a:extLst>
          </p:cNvPr>
          <p:cNvSpPr>
            <a:spLocks noGrp="1"/>
          </p:cNvSpPr>
          <p:nvPr>
            <p:ph type="title"/>
          </p:nvPr>
        </p:nvSpPr>
        <p:spPr/>
        <p:txBody>
          <a:bodyPr/>
          <a:lstStyle/>
          <a:p>
            <a:r>
              <a:rPr lang="en-US" dirty="0"/>
              <a:t>Meeting Timeline</a:t>
            </a:r>
          </a:p>
        </p:txBody>
      </p:sp>
      <p:sp>
        <p:nvSpPr>
          <p:cNvPr id="4" name="Footer Placeholder 3">
            <a:extLst>
              <a:ext uri="{FF2B5EF4-FFF2-40B4-BE49-F238E27FC236}">
                <a16:creationId xmlns:a16="http://schemas.microsoft.com/office/drawing/2014/main" id="{F98F970E-40C3-BE5A-5CAE-5B6FA5B8B9F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46CABBC5-1D23-511D-F76C-00803AB591C5}"/>
              </a:ext>
            </a:extLst>
          </p:cNvPr>
          <p:cNvSpPr>
            <a:spLocks noGrp="1"/>
          </p:cNvSpPr>
          <p:nvPr>
            <p:ph type="sldNum" sz="quarter" idx="4"/>
          </p:nvPr>
        </p:nvSpPr>
        <p:spPr/>
        <p:txBody>
          <a:bodyPr/>
          <a:lstStyle/>
          <a:p>
            <a:pPr>
              <a:defRPr/>
            </a:pPr>
            <a:fld id="{A9CE67A1-BA7F-A74E-B5D7-615746DEEC2B}" type="slidenum">
              <a:rPr lang="en-US" smtClean="0"/>
              <a:pPr>
                <a:defRPr/>
              </a:pPr>
              <a:t>2</a:t>
            </a:fld>
            <a:endParaRPr lang="en-US" baseline="-11000" dirty="0"/>
          </a:p>
        </p:txBody>
      </p:sp>
      <p:sp>
        <p:nvSpPr>
          <p:cNvPr id="6" name="Date Placeholder 5">
            <a:extLst>
              <a:ext uri="{FF2B5EF4-FFF2-40B4-BE49-F238E27FC236}">
                <a16:creationId xmlns:a16="http://schemas.microsoft.com/office/drawing/2014/main" id="{AB5DBACB-58A6-E2E7-629A-0CAFDE99A48E}"/>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9" name="Freeform: Shape 8">
            <a:extLst>
              <a:ext uri="{FF2B5EF4-FFF2-40B4-BE49-F238E27FC236}">
                <a16:creationId xmlns:a16="http://schemas.microsoft.com/office/drawing/2014/main" id="{C706C2C1-A924-90D0-C8A4-6EDD61840B7E}"/>
              </a:ext>
            </a:extLst>
          </p:cNvPr>
          <p:cNvSpPr/>
          <p:nvPr/>
        </p:nvSpPr>
        <p:spPr>
          <a:xfrm flipH="1">
            <a:off x="9534402" y="1946692"/>
            <a:ext cx="1994194" cy="1666381"/>
          </a:xfrm>
          <a:custGeom>
            <a:avLst/>
            <a:gdLst>
              <a:gd name="connsiteX0" fmla="*/ 1783847 w 1994193"/>
              <a:gd name="connsiteY0" fmla="*/ 1685503 h 1666380"/>
              <a:gd name="connsiteX1" fmla="*/ 218542 w 1994193"/>
              <a:gd name="connsiteY1" fmla="*/ 1685503 h 1666380"/>
              <a:gd name="connsiteX2" fmla="*/ 0 w 1994193"/>
              <a:gd name="connsiteY2" fmla="*/ 1466962 h 1666380"/>
              <a:gd name="connsiteX3" fmla="*/ 0 w 1994193"/>
              <a:gd name="connsiteY3" fmla="*/ 218542 h 1666380"/>
              <a:gd name="connsiteX4" fmla="*/ 218542 w 1994193"/>
              <a:gd name="connsiteY4" fmla="*/ 0 h 1666380"/>
              <a:gd name="connsiteX5" fmla="*/ 1784120 w 1994193"/>
              <a:gd name="connsiteY5" fmla="*/ 0 h 1666380"/>
              <a:gd name="connsiteX6" fmla="*/ 2002662 w 1994193"/>
              <a:gd name="connsiteY6" fmla="*/ 218542 h 1666380"/>
              <a:gd name="connsiteX7" fmla="*/ 2002662 w 1994193"/>
              <a:gd name="connsiteY7" fmla="*/ 1466962 h 1666380"/>
              <a:gd name="connsiteX8" fmla="*/ 1783847 w 1994193"/>
              <a:gd name="connsiteY8" fmla="*/ 1685503 h 1666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4193" h="1666380">
                <a:moveTo>
                  <a:pt x="1783847" y="1685503"/>
                </a:moveTo>
                <a:lnTo>
                  <a:pt x="218542" y="1685503"/>
                </a:lnTo>
                <a:cubicBezTo>
                  <a:pt x="98344" y="1685503"/>
                  <a:pt x="0" y="1587160"/>
                  <a:pt x="0" y="1466962"/>
                </a:cubicBezTo>
                <a:lnTo>
                  <a:pt x="0" y="218542"/>
                </a:lnTo>
                <a:cubicBezTo>
                  <a:pt x="0" y="98344"/>
                  <a:pt x="98344" y="0"/>
                  <a:pt x="218542" y="0"/>
                </a:cubicBezTo>
                <a:lnTo>
                  <a:pt x="1784120" y="0"/>
                </a:lnTo>
                <a:cubicBezTo>
                  <a:pt x="1904318" y="0"/>
                  <a:pt x="2002662" y="98344"/>
                  <a:pt x="2002662" y="218542"/>
                </a:cubicBezTo>
                <a:lnTo>
                  <a:pt x="2002662" y="1466962"/>
                </a:lnTo>
                <a:cubicBezTo>
                  <a:pt x="2002389" y="1587160"/>
                  <a:pt x="1904045" y="1685503"/>
                  <a:pt x="1783847" y="1685503"/>
                </a:cubicBezTo>
                <a:close/>
              </a:path>
            </a:pathLst>
          </a:custGeom>
          <a:solidFill>
            <a:srgbClr val="FFFFFF"/>
          </a:solidFill>
          <a:ln w="27303" cap="flat">
            <a:noFill/>
            <a:prstDash val="solid"/>
            <a:miter/>
          </a:ln>
          <a:effectLst>
            <a:outerShdw blurRad="63500" sx="102000" sy="102000" algn="ctr" rotWithShape="0">
              <a:prstClr val="black">
                <a:alpha val="40000"/>
              </a:prstClr>
            </a:outerShdw>
          </a:effectLst>
        </p:spPr>
        <p:txBody>
          <a:bodyPr rtlCol="0" anchor="ctr"/>
          <a:lstStyle/>
          <a:p>
            <a:endParaRPr lang="en-US"/>
          </a:p>
        </p:txBody>
      </p:sp>
      <p:sp>
        <p:nvSpPr>
          <p:cNvPr id="10" name="Freeform: Shape 9">
            <a:extLst>
              <a:ext uri="{FF2B5EF4-FFF2-40B4-BE49-F238E27FC236}">
                <a16:creationId xmlns:a16="http://schemas.microsoft.com/office/drawing/2014/main" id="{773B4A3F-0145-D332-AA36-7C0D71413814}"/>
              </a:ext>
            </a:extLst>
          </p:cNvPr>
          <p:cNvSpPr/>
          <p:nvPr/>
        </p:nvSpPr>
        <p:spPr>
          <a:xfrm flipH="1">
            <a:off x="9494052" y="2676542"/>
            <a:ext cx="1010756" cy="1010756"/>
          </a:xfrm>
          <a:custGeom>
            <a:avLst/>
            <a:gdLst>
              <a:gd name="connsiteX0" fmla="*/ 916590 w 1010755"/>
              <a:gd name="connsiteY0" fmla="*/ 1026953 h 1010755"/>
              <a:gd name="connsiteX1" fmla="*/ 110717 w 1010755"/>
              <a:gd name="connsiteY1" fmla="*/ 1026953 h 1010755"/>
              <a:gd name="connsiteX2" fmla="*/ 32588 w 1010755"/>
              <a:gd name="connsiteY2" fmla="*/ 838461 h 1010755"/>
              <a:gd name="connsiteX3" fmla="*/ 838461 w 1010755"/>
              <a:gd name="connsiteY3" fmla="*/ 32588 h 1010755"/>
              <a:gd name="connsiteX4" fmla="*/ 1026953 w 1010755"/>
              <a:gd name="connsiteY4" fmla="*/ 110717 h 1010755"/>
              <a:gd name="connsiteX5" fmla="*/ 1026953 w 1010755"/>
              <a:gd name="connsiteY5" fmla="*/ 916590 h 1010755"/>
              <a:gd name="connsiteX6" fmla="*/ 916590 w 1010755"/>
              <a:gd name="connsiteY6" fmla="*/ 1026953 h 10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0755" h="1010755">
                <a:moveTo>
                  <a:pt x="916590" y="1026953"/>
                </a:moveTo>
                <a:lnTo>
                  <a:pt x="110717" y="1026953"/>
                </a:lnTo>
                <a:cubicBezTo>
                  <a:pt x="12373" y="1026953"/>
                  <a:pt x="-37072" y="907848"/>
                  <a:pt x="32588" y="838461"/>
                </a:cubicBezTo>
                <a:lnTo>
                  <a:pt x="838461" y="32588"/>
                </a:lnTo>
                <a:cubicBezTo>
                  <a:pt x="908121" y="-37072"/>
                  <a:pt x="1026953" y="12373"/>
                  <a:pt x="1026953" y="110717"/>
                </a:cubicBezTo>
                <a:lnTo>
                  <a:pt x="1026953" y="916590"/>
                </a:lnTo>
                <a:cubicBezTo>
                  <a:pt x="1026953" y="977508"/>
                  <a:pt x="977508" y="1026953"/>
                  <a:pt x="916590" y="1026953"/>
                </a:cubicBezTo>
                <a:close/>
              </a:path>
            </a:pathLst>
          </a:custGeom>
          <a:solidFill>
            <a:srgbClr val="FF3654"/>
          </a:solidFill>
          <a:ln w="27303" cap="flat">
            <a:noFill/>
            <a:prstDash val="solid"/>
            <a:miter/>
          </a:ln>
          <a:effectLst>
            <a:outerShdw blurRad="50800" dist="38100" dir="2700000" algn="tl" rotWithShape="0">
              <a:prstClr val="black">
                <a:alpha val="40000"/>
              </a:prstClr>
            </a:outerShdw>
          </a:effectLst>
        </p:spPr>
        <p:txBody>
          <a:bodyPr rtlCol="0" anchor="ctr"/>
          <a:lstStyle/>
          <a:p>
            <a:endParaRPr lang="en-US"/>
          </a:p>
        </p:txBody>
      </p:sp>
      <p:sp>
        <p:nvSpPr>
          <p:cNvPr id="11" name="Freeform: Shape 10">
            <a:extLst>
              <a:ext uri="{FF2B5EF4-FFF2-40B4-BE49-F238E27FC236}">
                <a16:creationId xmlns:a16="http://schemas.microsoft.com/office/drawing/2014/main" id="{942D68B7-BAF8-DDFC-003A-33CD18EA9A0D}"/>
              </a:ext>
            </a:extLst>
          </p:cNvPr>
          <p:cNvSpPr/>
          <p:nvPr/>
        </p:nvSpPr>
        <p:spPr>
          <a:xfrm flipH="1">
            <a:off x="6839111" y="1946692"/>
            <a:ext cx="1994194" cy="1666381"/>
          </a:xfrm>
          <a:custGeom>
            <a:avLst/>
            <a:gdLst>
              <a:gd name="connsiteX0" fmla="*/ 1784121 w 1994193"/>
              <a:gd name="connsiteY0" fmla="*/ 1685503 h 1666380"/>
              <a:gd name="connsiteX1" fmla="*/ 218542 w 1994193"/>
              <a:gd name="connsiteY1" fmla="*/ 1685503 h 1666380"/>
              <a:gd name="connsiteX2" fmla="*/ 0 w 1994193"/>
              <a:gd name="connsiteY2" fmla="*/ 1466962 h 1666380"/>
              <a:gd name="connsiteX3" fmla="*/ 0 w 1994193"/>
              <a:gd name="connsiteY3" fmla="*/ 218542 h 1666380"/>
              <a:gd name="connsiteX4" fmla="*/ 218542 w 1994193"/>
              <a:gd name="connsiteY4" fmla="*/ 0 h 1666380"/>
              <a:gd name="connsiteX5" fmla="*/ 1784121 w 1994193"/>
              <a:gd name="connsiteY5" fmla="*/ 0 h 1666380"/>
              <a:gd name="connsiteX6" fmla="*/ 2002662 w 1994193"/>
              <a:gd name="connsiteY6" fmla="*/ 218542 h 1666380"/>
              <a:gd name="connsiteX7" fmla="*/ 2002662 w 1994193"/>
              <a:gd name="connsiteY7" fmla="*/ 1466962 h 1666380"/>
              <a:gd name="connsiteX8" fmla="*/ 1784121 w 1994193"/>
              <a:gd name="connsiteY8" fmla="*/ 1685503 h 1666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4193" h="1666380">
                <a:moveTo>
                  <a:pt x="1784121" y="1685503"/>
                </a:moveTo>
                <a:lnTo>
                  <a:pt x="218542" y="1685503"/>
                </a:lnTo>
                <a:cubicBezTo>
                  <a:pt x="98344" y="1685503"/>
                  <a:pt x="0" y="1587160"/>
                  <a:pt x="0" y="1466962"/>
                </a:cubicBezTo>
                <a:lnTo>
                  <a:pt x="0" y="218542"/>
                </a:lnTo>
                <a:cubicBezTo>
                  <a:pt x="0" y="98344"/>
                  <a:pt x="98344" y="0"/>
                  <a:pt x="218542" y="0"/>
                </a:cubicBezTo>
                <a:lnTo>
                  <a:pt x="1784121" y="0"/>
                </a:lnTo>
                <a:cubicBezTo>
                  <a:pt x="1904318" y="0"/>
                  <a:pt x="2002662" y="98344"/>
                  <a:pt x="2002662" y="218542"/>
                </a:cubicBezTo>
                <a:lnTo>
                  <a:pt x="2002662" y="1466962"/>
                </a:lnTo>
                <a:cubicBezTo>
                  <a:pt x="2002662" y="1587160"/>
                  <a:pt x="1904318" y="1685503"/>
                  <a:pt x="1784121" y="1685503"/>
                </a:cubicBezTo>
                <a:close/>
              </a:path>
            </a:pathLst>
          </a:custGeom>
          <a:solidFill>
            <a:srgbClr val="FFFFFF"/>
          </a:solidFill>
          <a:ln w="27303" cap="flat">
            <a:noFill/>
            <a:prstDash val="solid"/>
            <a:miter/>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Freeform: Shape 11">
            <a:extLst>
              <a:ext uri="{FF2B5EF4-FFF2-40B4-BE49-F238E27FC236}">
                <a16:creationId xmlns:a16="http://schemas.microsoft.com/office/drawing/2014/main" id="{8BAFAEBC-8D51-C3FA-2562-A0F257BA0EAA}"/>
              </a:ext>
            </a:extLst>
          </p:cNvPr>
          <p:cNvSpPr/>
          <p:nvPr/>
        </p:nvSpPr>
        <p:spPr>
          <a:xfrm flipH="1">
            <a:off x="6798761" y="2676542"/>
            <a:ext cx="1010756" cy="1010756"/>
          </a:xfrm>
          <a:custGeom>
            <a:avLst/>
            <a:gdLst>
              <a:gd name="connsiteX0" fmla="*/ 916590 w 1010755"/>
              <a:gd name="connsiteY0" fmla="*/ 1026953 h 1010755"/>
              <a:gd name="connsiteX1" fmla="*/ 110717 w 1010755"/>
              <a:gd name="connsiteY1" fmla="*/ 1026953 h 1010755"/>
              <a:gd name="connsiteX2" fmla="*/ 32588 w 1010755"/>
              <a:gd name="connsiteY2" fmla="*/ 838461 h 1010755"/>
              <a:gd name="connsiteX3" fmla="*/ 838461 w 1010755"/>
              <a:gd name="connsiteY3" fmla="*/ 32588 h 1010755"/>
              <a:gd name="connsiteX4" fmla="*/ 1026953 w 1010755"/>
              <a:gd name="connsiteY4" fmla="*/ 110717 h 1010755"/>
              <a:gd name="connsiteX5" fmla="*/ 1026953 w 1010755"/>
              <a:gd name="connsiteY5" fmla="*/ 916590 h 1010755"/>
              <a:gd name="connsiteX6" fmla="*/ 916590 w 1010755"/>
              <a:gd name="connsiteY6" fmla="*/ 1026953 h 10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0755" h="1010755">
                <a:moveTo>
                  <a:pt x="916590" y="1026953"/>
                </a:moveTo>
                <a:lnTo>
                  <a:pt x="110717" y="1026953"/>
                </a:lnTo>
                <a:cubicBezTo>
                  <a:pt x="12373" y="1026953"/>
                  <a:pt x="-37072" y="907848"/>
                  <a:pt x="32588" y="838461"/>
                </a:cubicBezTo>
                <a:lnTo>
                  <a:pt x="838461" y="32588"/>
                </a:lnTo>
                <a:cubicBezTo>
                  <a:pt x="908121" y="-37072"/>
                  <a:pt x="1026953" y="12373"/>
                  <a:pt x="1026953" y="110717"/>
                </a:cubicBezTo>
                <a:lnTo>
                  <a:pt x="1026953" y="916590"/>
                </a:lnTo>
                <a:cubicBezTo>
                  <a:pt x="1027226" y="977508"/>
                  <a:pt x="977781" y="1026953"/>
                  <a:pt x="916590" y="1026953"/>
                </a:cubicBezTo>
                <a:close/>
              </a:path>
            </a:pathLst>
          </a:custGeom>
          <a:solidFill>
            <a:srgbClr val="00C3E6"/>
          </a:solidFill>
          <a:ln w="27303" cap="flat">
            <a:noFill/>
            <a:prstDash val="solid"/>
            <a:miter/>
          </a:ln>
          <a:effectLst>
            <a:outerShdw blurRad="50800" dist="38100" dir="2700000" algn="tl" rotWithShape="0">
              <a:prstClr val="black">
                <a:alpha val="40000"/>
              </a:prstClr>
            </a:outerShdw>
          </a:effectLst>
        </p:spPr>
        <p:txBody>
          <a:bodyPr rtlCol="0" anchor="ctr"/>
          <a:lstStyle/>
          <a:p>
            <a:endParaRPr lang="en-US"/>
          </a:p>
        </p:txBody>
      </p:sp>
      <p:sp>
        <p:nvSpPr>
          <p:cNvPr id="13" name="Freeform: Shape 12">
            <a:extLst>
              <a:ext uri="{FF2B5EF4-FFF2-40B4-BE49-F238E27FC236}">
                <a16:creationId xmlns:a16="http://schemas.microsoft.com/office/drawing/2014/main" id="{E826E510-8AFE-3398-4DE3-0E2AD4689A52}"/>
              </a:ext>
            </a:extLst>
          </p:cNvPr>
          <p:cNvSpPr/>
          <p:nvPr/>
        </p:nvSpPr>
        <p:spPr>
          <a:xfrm flipH="1">
            <a:off x="4077598" y="1946692"/>
            <a:ext cx="1994194" cy="1666381"/>
          </a:xfrm>
          <a:custGeom>
            <a:avLst/>
            <a:gdLst>
              <a:gd name="connsiteX0" fmla="*/ 1784120 w 1994193"/>
              <a:gd name="connsiteY0" fmla="*/ 1685503 h 1666380"/>
              <a:gd name="connsiteX1" fmla="*/ 218542 w 1994193"/>
              <a:gd name="connsiteY1" fmla="*/ 1685503 h 1666380"/>
              <a:gd name="connsiteX2" fmla="*/ 0 w 1994193"/>
              <a:gd name="connsiteY2" fmla="*/ 1466962 h 1666380"/>
              <a:gd name="connsiteX3" fmla="*/ 0 w 1994193"/>
              <a:gd name="connsiteY3" fmla="*/ 218542 h 1666380"/>
              <a:gd name="connsiteX4" fmla="*/ 218542 w 1994193"/>
              <a:gd name="connsiteY4" fmla="*/ 0 h 1666380"/>
              <a:gd name="connsiteX5" fmla="*/ 1784120 w 1994193"/>
              <a:gd name="connsiteY5" fmla="*/ 0 h 1666380"/>
              <a:gd name="connsiteX6" fmla="*/ 2002662 w 1994193"/>
              <a:gd name="connsiteY6" fmla="*/ 218542 h 1666380"/>
              <a:gd name="connsiteX7" fmla="*/ 2002662 w 1994193"/>
              <a:gd name="connsiteY7" fmla="*/ 1466962 h 1666380"/>
              <a:gd name="connsiteX8" fmla="*/ 1784120 w 1994193"/>
              <a:gd name="connsiteY8" fmla="*/ 1685503 h 1666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4193" h="1666380">
                <a:moveTo>
                  <a:pt x="1784120" y="1685503"/>
                </a:moveTo>
                <a:lnTo>
                  <a:pt x="218542" y="1685503"/>
                </a:lnTo>
                <a:cubicBezTo>
                  <a:pt x="98344" y="1685503"/>
                  <a:pt x="0" y="1587160"/>
                  <a:pt x="0" y="1466962"/>
                </a:cubicBezTo>
                <a:lnTo>
                  <a:pt x="0" y="218542"/>
                </a:lnTo>
                <a:cubicBezTo>
                  <a:pt x="0" y="98344"/>
                  <a:pt x="98344" y="0"/>
                  <a:pt x="218542" y="0"/>
                </a:cubicBezTo>
                <a:lnTo>
                  <a:pt x="1784120" y="0"/>
                </a:lnTo>
                <a:cubicBezTo>
                  <a:pt x="1904318" y="0"/>
                  <a:pt x="2002662" y="98344"/>
                  <a:pt x="2002662" y="218542"/>
                </a:cubicBezTo>
                <a:lnTo>
                  <a:pt x="2002662" y="1466962"/>
                </a:lnTo>
                <a:cubicBezTo>
                  <a:pt x="2002662" y="1587160"/>
                  <a:pt x="1904318" y="1685503"/>
                  <a:pt x="1784120" y="1685503"/>
                </a:cubicBezTo>
                <a:close/>
              </a:path>
            </a:pathLst>
          </a:custGeom>
          <a:solidFill>
            <a:srgbClr val="FFFFFF"/>
          </a:solidFill>
          <a:ln w="27303" cap="flat">
            <a:noFill/>
            <a:prstDash val="solid"/>
            <a:miter/>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Freeform: Shape 13">
            <a:extLst>
              <a:ext uri="{FF2B5EF4-FFF2-40B4-BE49-F238E27FC236}">
                <a16:creationId xmlns:a16="http://schemas.microsoft.com/office/drawing/2014/main" id="{D3E70D17-23AF-7352-E78E-B56B94DC7705}"/>
              </a:ext>
            </a:extLst>
          </p:cNvPr>
          <p:cNvSpPr/>
          <p:nvPr/>
        </p:nvSpPr>
        <p:spPr>
          <a:xfrm flipH="1">
            <a:off x="4036975" y="2676542"/>
            <a:ext cx="1010756" cy="1010756"/>
          </a:xfrm>
          <a:custGeom>
            <a:avLst/>
            <a:gdLst>
              <a:gd name="connsiteX0" fmla="*/ 916590 w 1010755"/>
              <a:gd name="connsiteY0" fmla="*/ 1026953 h 1010755"/>
              <a:gd name="connsiteX1" fmla="*/ 110717 w 1010755"/>
              <a:gd name="connsiteY1" fmla="*/ 1026953 h 1010755"/>
              <a:gd name="connsiteX2" fmla="*/ 32588 w 1010755"/>
              <a:gd name="connsiteY2" fmla="*/ 838461 h 1010755"/>
              <a:gd name="connsiteX3" fmla="*/ 838461 w 1010755"/>
              <a:gd name="connsiteY3" fmla="*/ 32588 h 1010755"/>
              <a:gd name="connsiteX4" fmla="*/ 1026953 w 1010755"/>
              <a:gd name="connsiteY4" fmla="*/ 110717 h 1010755"/>
              <a:gd name="connsiteX5" fmla="*/ 1026953 w 1010755"/>
              <a:gd name="connsiteY5" fmla="*/ 916590 h 1010755"/>
              <a:gd name="connsiteX6" fmla="*/ 916590 w 1010755"/>
              <a:gd name="connsiteY6" fmla="*/ 1026953 h 10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0755" h="1010755">
                <a:moveTo>
                  <a:pt x="916590" y="1026953"/>
                </a:moveTo>
                <a:lnTo>
                  <a:pt x="110717" y="1026953"/>
                </a:lnTo>
                <a:cubicBezTo>
                  <a:pt x="12373" y="1026953"/>
                  <a:pt x="-37072" y="907848"/>
                  <a:pt x="32588" y="838461"/>
                </a:cubicBezTo>
                <a:lnTo>
                  <a:pt x="838461" y="32588"/>
                </a:lnTo>
                <a:cubicBezTo>
                  <a:pt x="908121" y="-37072"/>
                  <a:pt x="1026953" y="12373"/>
                  <a:pt x="1026953" y="110717"/>
                </a:cubicBezTo>
                <a:lnTo>
                  <a:pt x="1026953" y="916590"/>
                </a:lnTo>
                <a:cubicBezTo>
                  <a:pt x="1026953" y="977508"/>
                  <a:pt x="977508" y="1026953"/>
                  <a:pt x="916590" y="1026953"/>
                </a:cubicBezTo>
                <a:close/>
              </a:path>
            </a:pathLst>
          </a:custGeom>
          <a:solidFill>
            <a:srgbClr val="FFA300"/>
          </a:solidFill>
          <a:ln w="27303" cap="flat">
            <a:noFill/>
            <a:prstDash val="solid"/>
            <a:miter/>
          </a:ln>
          <a:effectLst>
            <a:outerShdw blurRad="50800" dist="38100" dir="2700000" algn="tl" rotWithShape="0">
              <a:prstClr val="black">
                <a:alpha val="40000"/>
              </a:prstClr>
            </a:outerShdw>
          </a:effectLst>
        </p:spPr>
        <p:txBody>
          <a:bodyPr rtlCol="0" anchor="ctr"/>
          <a:lstStyle/>
          <a:p>
            <a:endParaRPr lang="en-US"/>
          </a:p>
        </p:txBody>
      </p:sp>
      <p:sp>
        <p:nvSpPr>
          <p:cNvPr id="15" name="Freeform: Shape 14">
            <a:extLst>
              <a:ext uri="{FF2B5EF4-FFF2-40B4-BE49-F238E27FC236}">
                <a16:creationId xmlns:a16="http://schemas.microsoft.com/office/drawing/2014/main" id="{A49DAD90-3C7B-082C-2C4B-A27F2538266D}"/>
              </a:ext>
            </a:extLst>
          </p:cNvPr>
          <p:cNvSpPr/>
          <p:nvPr/>
        </p:nvSpPr>
        <p:spPr>
          <a:xfrm flipH="1">
            <a:off x="1140272" y="1946692"/>
            <a:ext cx="1994194" cy="1666381"/>
          </a:xfrm>
          <a:custGeom>
            <a:avLst/>
            <a:gdLst>
              <a:gd name="connsiteX0" fmla="*/ 1784121 w 1994193"/>
              <a:gd name="connsiteY0" fmla="*/ 1685503 h 1666380"/>
              <a:gd name="connsiteX1" fmla="*/ 218542 w 1994193"/>
              <a:gd name="connsiteY1" fmla="*/ 1685503 h 1666380"/>
              <a:gd name="connsiteX2" fmla="*/ 0 w 1994193"/>
              <a:gd name="connsiteY2" fmla="*/ 1466962 h 1666380"/>
              <a:gd name="connsiteX3" fmla="*/ 0 w 1994193"/>
              <a:gd name="connsiteY3" fmla="*/ 218542 h 1666380"/>
              <a:gd name="connsiteX4" fmla="*/ 218542 w 1994193"/>
              <a:gd name="connsiteY4" fmla="*/ 0 h 1666380"/>
              <a:gd name="connsiteX5" fmla="*/ 1784121 w 1994193"/>
              <a:gd name="connsiteY5" fmla="*/ 0 h 1666380"/>
              <a:gd name="connsiteX6" fmla="*/ 2002663 w 1994193"/>
              <a:gd name="connsiteY6" fmla="*/ 218542 h 1666380"/>
              <a:gd name="connsiteX7" fmla="*/ 2002663 w 1994193"/>
              <a:gd name="connsiteY7" fmla="*/ 1466962 h 1666380"/>
              <a:gd name="connsiteX8" fmla="*/ 1784121 w 1994193"/>
              <a:gd name="connsiteY8" fmla="*/ 1685503 h 1666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4193" h="1666380">
                <a:moveTo>
                  <a:pt x="1784121" y="1685503"/>
                </a:moveTo>
                <a:lnTo>
                  <a:pt x="218542" y="1685503"/>
                </a:lnTo>
                <a:cubicBezTo>
                  <a:pt x="98344" y="1685503"/>
                  <a:pt x="0" y="1587160"/>
                  <a:pt x="0" y="1466962"/>
                </a:cubicBezTo>
                <a:lnTo>
                  <a:pt x="0" y="218542"/>
                </a:lnTo>
                <a:cubicBezTo>
                  <a:pt x="0" y="98344"/>
                  <a:pt x="98344" y="0"/>
                  <a:pt x="218542" y="0"/>
                </a:cubicBezTo>
                <a:lnTo>
                  <a:pt x="1784121" y="0"/>
                </a:lnTo>
                <a:cubicBezTo>
                  <a:pt x="1904319" y="0"/>
                  <a:pt x="2002663" y="98344"/>
                  <a:pt x="2002663" y="218542"/>
                </a:cubicBezTo>
                <a:lnTo>
                  <a:pt x="2002663" y="1466962"/>
                </a:lnTo>
                <a:cubicBezTo>
                  <a:pt x="2002663" y="1587160"/>
                  <a:pt x="1904319" y="1685503"/>
                  <a:pt x="1784121" y="1685503"/>
                </a:cubicBezTo>
                <a:close/>
              </a:path>
            </a:pathLst>
          </a:custGeom>
          <a:solidFill>
            <a:srgbClr val="FFFFFF"/>
          </a:solidFill>
          <a:ln w="27303" cap="flat">
            <a:noFill/>
            <a:prstDash val="solid"/>
            <a:miter/>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Freeform: Shape 15">
            <a:extLst>
              <a:ext uri="{FF2B5EF4-FFF2-40B4-BE49-F238E27FC236}">
                <a16:creationId xmlns:a16="http://schemas.microsoft.com/office/drawing/2014/main" id="{210944AC-13CC-1B84-C755-A44D2991834B}"/>
              </a:ext>
            </a:extLst>
          </p:cNvPr>
          <p:cNvSpPr/>
          <p:nvPr/>
        </p:nvSpPr>
        <p:spPr>
          <a:xfrm flipH="1">
            <a:off x="1099921" y="2676542"/>
            <a:ext cx="1010756" cy="1010756"/>
          </a:xfrm>
          <a:custGeom>
            <a:avLst/>
            <a:gdLst>
              <a:gd name="connsiteX0" fmla="*/ 916590 w 1010755"/>
              <a:gd name="connsiteY0" fmla="*/ 1026953 h 1010755"/>
              <a:gd name="connsiteX1" fmla="*/ 110717 w 1010755"/>
              <a:gd name="connsiteY1" fmla="*/ 1026953 h 1010755"/>
              <a:gd name="connsiteX2" fmla="*/ 32588 w 1010755"/>
              <a:gd name="connsiteY2" fmla="*/ 838461 h 1010755"/>
              <a:gd name="connsiteX3" fmla="*/ 838461 w 1010755"/>
              <a:gd name="connsiteY3" fmla="*/ 32588 h 1010755"/>
              <a:gd name="connsiteX4" fmla="*/ 1026953 w 1010755"/>
              <a:gd name="connsiteY4" fmla="*/ 110717 h 1010755"/>
              <a:gd name="connsiteX5" fmla="*/ 1026953 w 1010755"/>
              <a:gd name="connsiteY5" fmla="*/ 916590 h 1010755"/>
              <a:gd name="connsiteX6" fmla="*/ 916590 w 1010755"/>
              <a:gd name="connsiteY6" fmla="*/ 1026953 h 101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0755" h="1010755">
                <a:moveTo>
                  <a:pt x="916590" y="1026953"/>
                </a:moveTo>
                <a:lnTo>
                  <a:pt x="110717" y="1026953"/>
                </a:lnTo>
                <a:cubicBezTo>
                  <a:pt x="12373" y="1026953"/>
                  <a:pt x="-37072" y="907848"/>
                  <a:pt x="32588" y="838461"/>
                </a:cubicBezTo>
                <a:lnTo>
                  <a:pt x="838461" y="32588"/>
                </a:lnTo>
                <a:cubicBezTo>
                  <a:pt x="908121" y="-37072"/>
                  <a:pt x="1026953" y="12373"/>
                  <a:pt x="1026953" y="110717"/>
                </a:cubicBezTo>
                <a:lnTo>
                  <a:pt x="1026953" y="916590"/>
                </a:lnTo>
                <a:cubicBezTo>
                  <a:pt x="1027226" y="977508"/>
                  <a:pt x="977781" y="1026953"/>
                  <a:pt x="916590" y="1026953"/>
                </a:cubicBezTo>
                <a:close/>
              </a:path>
            </a:pathLst>
          </a:custGeom>
          <a:solidFill>
            <a:srgbClr val="00B59A"/>
          </a:solidFill>
          <a:ln w="27303" cap="flat">
            <a:noFill/>
            <a:prstDash val="solid"/>
            <a:miter/>
          </a:ln>
          <a:effectLst>
            <a:outerShdw blurRad="50800" dist="38100" dir="2700000" algn="tl" rotWithShape="0">
              <a:prstClr val="black">
                <a:alpha val="40000"/>
              </a:prstClr>
            </a:outerShdw>
          </a:effectLst>
        </p:spPr>
        <p:txBody>
          <a:bodyPr rtlCol="0" anchor="ctr"/>
          <a:lstStyle/>
          <a:p>
            <a:endParaRPr lang="en-US"/>
          </a:p>
        </p:txBody>
      </p:sp>
      <p:grpSp>
        <p:nvGrpSpPr>
          <p:cNvPr id="17" name="Group 16">
            <a:extLst>
              <a:ext uri="{FF2B5EF4-FFF2-40B4-BE49-F238E27FC236}">
                <a16:creationId xmlns:a16="http://schemas.microsoft.com/office/drawing/2014/main" id="{96179D1A-748B-7A22-F407-898A5B1AA741}"/>
              </a:ext>
            </a:extLst>
          </p:cNvPr>
          <p:cNvGrpSpPr/>
          <p:nvPr/>
        </p:nvGrpSpPr>
        <p:grpSpPr>
          <a:xfrm>
            <a:off x="9765623" y="2181998"/>
            <a:ext cx="1674581" cy="907042"/>
            <a:chOff x="2405292" y="2113978"/>
            <a:chExt cx="1960170" cy="907042"/>
          </a:xfrm>
        </p:grpSpPr>
        <p:sp>
          <p:nvSpPr>
            <p:cNvPr id="18" name="Inhaltsplatzhalter 4">
              <a:extLst>
                <a:ext uri="{FF2B5EF4-FFF2-40B4-BE49-F238E27FC236}">
                  <a16:creationId xmlns:a16="http://schemas.microsoft.com/office/drawing/2014/main" id="{956A5C8A-EA24-96DC-D9A0-8F825C9D4684}"/>
                </a:ext>
              </a:extLst>
            </p:cNvPr>
            <p:cNvSpPr txBox="1">
              <a:spLocks/>
            </p:cNvSpPr>
            <p:nvPr/>
          </p:nvSpPr>
          <p:spPr>
            <a:xfrm>
              <a:off x="2535845" y="2113978"/>
              <a:ext cx="1699066" cy="49244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Parallelization Techniques </a:t>
              </a:r>
              <a:endParaRPr lang="ar-EG" sz="1600" b="1" dirty="0">
                <a:solidFill>
                  <a:srgbClr val="FF3654"/>
                </a:solidFill>
                <a:latin typeface="Roboto" pitchFamily="2" charset="0"/>
                <a:ea typeface="Roboto" pitchFamily="2" charset="0"/>
              </a:endParaRPr>
            </a:p>
          </p:txBody>
        </p:sp>
        <p:sp>
          <p:nvSpPr>
            <p:cNvPr id="19" name="Rectangle 18">
              <a:extLst>
                <a:ext uri="{FF2B5EF4-FFF2-40B4-BE49-F238E27FC236}">
                  <a16:creationId xmlns:a16="http://schemas.microsoft.com/office/drawing/2014/main" id="{8636802C-6947-4597-1230-7617BB1A4842}"/>
                </a:ext>
              </a:extLst>
            </p:cNvPr>
            <p:cNvSpPr/>
            <p:nvPr/>
          </p:nvSpPr>
          <p:spPr>
            <a:xfrm>
              <a:off x="2405292" y="2605522"/>
              <a:ext cx="1960170" cy="415498"/>
            </a:xfrm>
            <a:prstGeom prst="rect">
              <a:avLst/>
            </a:prstGeom>
          </p:spPr>
          <p:txBody>
            <a:bodyPr wrap="square">
              <a:spAutoFit/>
            </a:bodyPr>
            <a:lstStyle/>
            <a:p>
              <a:pPr algn="ctr"/>
              <a:r>
                <a:rPr lang="en-US" sz="1050" dirty="0">
                  <a:solidFill>
                    <a:schemeClr val="bg2">
                      <a:lumMod val="75000"/>
                    </a:schemeClr>
                  </a:solidFill>
                </a:rPr>
                <a:t>Sarah</a:t>
              </a:r>
            </a:p>
            <a:p>
              <a:pPr algn="ctr"/>
              <a:r>
                <a:rPr lang="en-US" sz="1050" dirty="0">
                  <a:solidFill>
                    <a:schemeClr val="bg2">
                      <a:lumMod val="75000"/>
                    </a:schemeClr>
                  </a:solidFill>
                </a:rPr>
                <a:t>Ali</a:t>
              </a:r>
            </a:p>
          </p:txBody>
        </p:sp>
      </p:grpSp>
      <p:grpSp>
        <p:nvGrpSpPr>
          <p:cNvPr id="20" name="Group 19">
            <a:extLst>
              <a:ext uri="{FF2B5EF4-FFF2-40B4-BE49-F238E27FC236}">
                <a16:creationId xmlns:a16="http://schemas.microsoft.com/office/drawing/2014/main" id="{76B49244-DFF1-E33C-CBF2-44E8410E21DD}"/>
              </a:ext>
            </a:extLst>
          </p:cNvPr>
          <p:cNvGrpSpPr/>
          <p:nvPr/>
        </p:nvGrpSpPr>
        <p:grpSpPr>
          <a:xfrm>
            <a:off x="6998917" y="2346781"/>
            <a:ext cx="1674581" cy="644281"/>
            <a:chOff x="2394027" y="2237088"/>
            <a:chExt cx="1960170" cy="644281"/>
          </a:xfrm>
        </p:grpSpPr>
        <p:sp>
          <p:nvSpPr>
            <p:cNvPr id="21" name="Inhaltsplatzhalter 4">
              <a:extLst>
                <a:ext uri="{FF2B5EF4-FFF2-40B4-BE49-F238E27FC236}">
                  <a16:creationId xmlns:a16="http://schemas.microsoft.com/office/drawing/2014/main" id="{417D8F32-8F09-C00F-F4A3-55A451ACF37A}"/>
                </a:ext>
              </a:extLst>
            </p:cNvPr>
            <p:cNvSpPr txBox="1">
              <a:spLocks/>
            </p:cNvSpPr>
            <p:nvPr/>
          </p:nvSpPr>
          <p:spPr>
            <a:xfrm>
              <a:off x="2535845" y="2237088"/>
              <a:ext cx="1699066"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3E6"/>
                  </a:solidFill>
                  <a:latin typeface="Roboto" pitchFamily="2" charset="0"/>
                  <a:ea typeface="Roboto" pitchFamily="2" charset="0"/>
                </a:rPr>
                <a:t>HWPE</a:t>
              </a:r>
              <a:endParaRPr lang="en-US" sz="1100" dirty="0">
                <a:solidFill>
                  <a:srgbClr val="00C3E6"/>
                </a:solidFill>
                <a:latin typeface="Roboto Light" panose="02000000000000000000" pitchFamily="2" charset="0"/>
                <a:ea typeface="Roboto Light" panose="02000000000000000000" pitchFamily="2" charset="0"/>
              </a:endParaRPr>
            </a:p>
          </p:txBody>
        </p:sp>
        <p:sp>
          <p:nvSpPr>
            <p:cNvPr id="22" name="Rectangle 21">
              <a:extLst>
                <a:ext uri="{FF2B5EF4-FFF2-40B4-BE49-F238E27FC236}">
                  <a16:creationId xmlns:a16="http://schemas.microsoft.com/office/drawing/2014/main" id="{E410AB2E-D2D8-5359-EB6F-13F7206147B0}"/>
                </a:ext>
              </a:extLst>
            </p:cNvPr>
            <p:cNvSpPr/>
            <p:nvPr/>
          </p:nvSpPr>
          <p:spPr>
            <a:xfrm>
              <a:off x="2394027" y="2450482"/>
              <a:ext cx="1960170" cy="430887"/>
            </a:xfrm>
            <a:prstGeom prst="rect">
              <a:avLst/>
            </a:prstGeom>
          </p:spPr>
          <p:txBody>
            <a:bodyPr wrap="square">
              <a:spAutoFit/>
            </a:bodyPr>
            <a:lstStyle/>
            <a:p>
              <a:pPr algn="ctr"/>
              <a:r>
                <a:rPr lang="en-US" sz="1050" dirty="0">
                  <a:solidFill>
                    <a:schemeClr val="bg2">
                      <a:lumMod val="75000"/>
                    </a:schemeClr>
                  </a:solidFill>
                  <a:latin typeface="Roboto Light" panose="02000000000000000000" pitchFamily="2" charset="0"/>
                  <a:ea typeface="Roboto Light" panose="02000000000000000000" pitchFamily="2" charset="0"/>
                </a:rPr>
                <a:t>Sama</a:t>
              </a:r>
            </a:p>
            <a:p>
              <a:pPr algn="ctr"/>
              <a:r>
                <a:rPr lang="en-US" sz="1050" dirty="0">
                  <a:solidFill>
                    <a:schemeClr val="bg2">
                      <a:lumMod val="75000"/>
                    </a:schemeClr>
                  </a:solidFill>
                  <a:latin typeface="Roboto Light" panose="02000000000000000000" pitchFamily="2" charset="0"/>
                  <a:ea typeface="Roboto Light" panose="02000000000000000000" pitchFamily="2" charset="0"/>
                </a:rPr>
                <a:t>Mohamed Abdel-hay</a:t>
              </a:r>
              <a:endParaRPr lang="en-US" sz="1050" dirty="0">
                <a:solidFill>
                  <a:schemeClr val="bg2">
                    <a:lumMod val="75000"/>
                  </a:schemeClr>
                </a:solidFill>
              </a:endParaRPr>
            </a:p>
          </p:txBody>
        </p:sp>
      </p:grpSp>
      <p:grpSp>
        <p:nvGrpSpPr>
          <p:cNvPr id="23" name="Group 22">
            <a:extLst>
              <a:ext uri="{FF2B5EF4-FFF2-40B4-BE49-F238E27FC236}">
                <a16:creationId xmlns:a16="http://schemas.microsoft.com/office/drawing/2014/main" id="{5159F564-894A-1122-FA1F-C7B705E1A988}"/>
              </a:ext>
            </a:extLst>
          </p:cNvPr>
          <p:cNvGrpSpPr/>
          <p:nvPr/>
        </p:nvGrpSpPr>
        <p:grpSpPr>
          <a:xfrm>
            <a:off x="4113282" y="2333115"/>
            <a:ext cx="1922825" cy="678539"/>
            <a:chOff x="2280298" y="2223422"/>
            <a:chExt cx="2250750" cy="678539"/>
          </a:xfrm>
        </p:grpSpPr>
        <p:sp>
          <p:nvSpPr>
            <p:cNvPr id="24" name="Inhaltsplatzhalter 4">
              <a:extLst>
                <a:ext uri="{FF2B5EF4-FFF2-40B4-BE49-F238E27FC236}">
                  <a16:creationId xmlns:a16="http://schemas.microsoft.com/office/drawing/2014/main" id="{45DEE80F-A3D6-270D-7ACC-D52FE696D361}"/>
                </a:ext>
              </a:extLst>
            </p:cNvPr>
            <p:cNvSpPr txBox="1">
              <a:spLocks/>
            </p:cNvSpPr>
            <p:nvPr/>
          </p:nvSpPr>
          <p:spPr>
            <a:xfrm>
              <a:off x="2280298" y="2223422"/>
              <a:ext cx="2250750"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A300"/>
                  </a:solidFill>
                  <a:latin typeface="Roboto" pitchFamily="2" charset="0"/>
                  <a:ea typeface="Roboto" pitchFamily="2" charset="0"/>
                </a:rPr>
                <a:t>HW/SW (Co-Design)</a:t>
              </a:r>
              <a:endParaRPr lang="en-US" sz="1100" dirty="0">
                <a:solidFill>
                  <a:srgbClr val="FFA300"/>
                </a:solidFill>
                <a:latin typeface="Roboto Light" panose="02000000000000000000" pitchFamily="2" charset="0"/>
                <a:ea typeface="Roboto Light" panose="02000000000000000000" pitchFamily="2" charset="0"/>
              </a:endParaRPr>
            </a:p>
          </p:txBody>
        </p:sp>
        <p:sp>
          <p:nvSpPr>
            <p:cNvPr id="25" name="Rectangle 24">
              <a:extLst>
                <a:ext uri="{FF2B5EF4-FFF2-40B4-BE49-F238E27FC236}">
                  <a16:creationId xmlns:a16="http://schemas.microsoft.com/office/drawing/2014/main" id="{DB4D2CA8-1EA2-9B6D-68AD-9F8FA8B2B655}"/>
                </a:ext>
              </a:extLst>
            </p:cNvPr>
            <p:cNvSpPr/>
            <p:nvPr/>
          </p:nvSpPr>
          <p:spPr>
            <a:xfrm>
              <a:off x="2425588" y="2486463"/>
              <a:ext cx="1960170" cy="415498"/>
            </a:xfrm>
            <a:prstGeom prst="rect">
              <a:avLst/>
            </a:prstGeom>
          </p:spPr>
          <p:txBody>
            <a:bodyPr wrap="square">
              <a:spAutoFit/>
            </a:bodyPr>
            <a:lstStyle/>
            <a:p>
              <a:pPr algn="ctr"/>
              <a:r>
                <a:rPr lang="en-US" sz="1050" dirty="0">
                  <a:solidFill>
                    <a:schemeClr val="bg2">
                      <a:lumMod val="75000"/>
                    </a:schemeClr>
                  </a:solidFill>
                  <a:latin typeface="Roboto Light" panose="02000000000000000000" pitchFamily="2" charset="0"/>
                  <a:ea typeface="Roboto Light" panose="02000000000000000000" pitchFamily="2" charset="0"/>
                </a:rPr>
                <a:t>Mostafa Ahmed</a:t>
              </a:r>
            </a:p>
            <a:p>
              <a:pPr algn="ctr"/>
              <a:r>
                <a:rPr lang="en-US" sz="1050" dirty="0">
                  <a:solidFill>
                    <a:schemeClr val="bg2">
                      <a:lumMod val="75000"/>
                    </a:schemeClr>
                  </a:solidFill>
                  <a:latin typeface="Roboto Light" panose="02000000000000000000" pitchFamily="2" charset="0"/>
                  <a:ea typeface="Roboto Light" panose="02000000000000000000" pitchFamily="2" charset="0"/>
                </a:rPr>
                <a:t>Mostafa Yousry </a:t>
              </a:r>
            </a:p>
          </p:txBody>
        </p:sp>
      </p:grpSp>
      <p:grpSp>
        <p:nvGrpSpPr>
          <p:cNvPr id="26" name="Group 25">
            <a:extLst>
              <a:ext uri="{FF2B5EF4-FFF2-40B4-BE49-F238E27FC236}">
                <a16:creationId xmlns:a16="http://schemas.microsoft.com/office/drawing/2014/main" id="{C46FF294-69BA-7DE8-97FA-C15AD38C616D}"/>
              </a:ext>
            </a:extLst>
          </p:cNvPr>
          <p:cNvGrpSpPr/>
          <p:nvPr/>
        </p:nvGrpSpPr>
        <p:grpSpPr>
          <a:xfrm>
            <a:off x="1300078" y="2346781"/>
            <a:ext cx="1674581" cy="665424"/>
            <a:chOff x="2427827" y="2237088"/>
            <a:chExt cx="1960170" cy="665424"/>
          </a:xfrm>
        </p:grpSpPr>
        <p:sp>
          <p:nvSpPr>
            <p:cNvPr id="27" name="Inhaltsplatzhalter 4">
              <a:extLst>
                <a:ext uri="{FF2B5EF4-FFF2-40B4-BE49-F238E27FC236}">
                  <a16:creationId xmlns:a16="http://schemas.microsoft.com/office/drawing/2014/main" id="{76E4B6C1-1AA8-C442-03F9-6627CA651B50}"/>
                </a:ext>
              </a:extLst>
            </p:cNvPr>
            <p:cNvSpPr txBox="1">
              <a:spLocks/>
            </p:cNvSpPr>
            <p:nvPr/>
          </p:nvSpPr>
          <p:spPr>
            <a:xfrm>
              <a:off x="2558379" y="2237088"/>
              <a:ext cx="1699066"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B59A"/>
                  </a:solidFill>
                  <a:latin typeface="+mj-lt"/>
                  <a:ea typeface="Roboto" pitchFamily="2" charset="0"/>
                </a:rPr>
                <a:t>FFT</a:t>
              </a:r>
              <a:endParaRPr lang="en-US" sz="1100" dirty="0">
                <a:solidFill>
                  <a:srgbClr val="00B59A"/>
                </a:solidFill>
                <a:latin typeface="+mj-lt"/>
                <a:ea typeface="Roboto Light" panose="02000000000000000000" pitchFamily="2" charset="0"/>
              </a:endParaRPr>
            </a:p>
          </p:txBody>
        </p:sp>
        <p:sp>
          <p:nvSpPr>
            <p:cNvPr id="28" name="Rectangle 27">
              <a:extLst>
                <a:ext uri="{FF2B5EF4-FFF2-40B4-BE49-F238E27FC236}">
                  <a16:creationId xmlns:a16="http://schemas.microsoft.com/office/drawing/2014/main" id="{6A2D4DCE-F0C5-CF95-D6E2-22339768291B}"/>
                </a:ext>
              </a:extLst>
            </p:cNvPr>
            <p:cNvSpPr/>
            <p:nvPr/>
          </p:nvSpPr>
          <p:spPr>
            <a:xfrm>
              <a:off x="2427827" y="2487014"/>
              <a:ext cx="1960170" cy="415498"/>
            </a:xfrm>
            <a:prstGeom prst="rect">
              <a:avLst/>
            </a:prstGeom>
          </p:spPr>
          <p:txBody>
            <a:bodyPr wrap="square">
              <a:spAutoFit/>
            </a:bodyPr>
            <a:lstStyle/>
            <a:p>
              <a:pPr algn="ctr"/>
              <a:r>
                <a:rPr lang="en-US" sz="1050" dirty="0">
                  <a:solidFill>
                    <a:schemeClr val="bg2">
                      <a:lumMod val="75000"/>
                    </a:schemeClr>
                  </a:solidFill>
                  <a:latin typeface="Roboto Light" panose="02000000000000000000" pitchFamily="2" charset="0"/>
                  <a:ea typeface="Roboto Light" panose="02000000000000000000" pitchFamily="2" charset="0"/>
                </a:rPr>
                <a:t>Marwan</a:t>
              </a:r>
            </a:p>
            <a:p>
              <a:pPr algn="ctr"/>
              <a:r>
                <a:rPr lang="en-US" sz="1050" dirty="0">
                  <a:solidFill>
                    <a:schemeClr val="bg2">
                      <a:lumMod val="75000"/>
                    </a:schemeClr>
                  </a:solidFill>
                  <a:latin typeface="Roboto Light" panose="02000000000000000000" pitchFamily="2" charset="0"/>
                  <a:ea typeface="Roboto Light" panose="02000000000000000000" pitchFamily="2" charset="0"/>
                </a:rPr>
                <a:t>Mostafa Fathy</a:t>
              </a:r>
            </a:p>
          </p:txBody>
        </p:sp>
      </p:grpSp>
      <p:sp>
        <p:nvSpPr>
          <p:cNvPr id="29" name="Inhaltsplatzhalter 4">
            <a:extLst>
              <a:ext uri="{FF2B5EF4-FFF2-40B4-BE49-F238E27FC236}">
                <a16:creationId xmlns:a16="http://schemas.microsoft.com/office/drawing/2014/main" id="{94456FEB-8038-56F5-0D78-F3D573AA2972}"/>
              </a:ext>
            </a:extLst>
          </p:cNvPr>
          <p:cNvSpPr txBox="1">
            <a:spLocks/>
          </p:cNvSpPr>
          <p:nvPr/>
        </p:nvSpPr>
        <p:spPr>
          <a:xfrm>
            <a:off x="675265" y="3181920"/>
            <a:ext cx="579096" cy="430887"/>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800" b="1" dirty="0">
                <a:latin typeface="Roboto" pitchFamily="2" charset="0"/>
                <a:ea typeface="Roboto" pitchFamily="2" charset="0"/>
              </a:rPr>
              <a:t>0</a:t>
            </a:r>
            <a:endParaRPr lang="en-US" sz="1800" dirty="0">
              <a:latin typeface="Roboto Light" panose="02000000000000000000" pitchFamily="2" charset="0"/>
              <a:ea typeface="Roboto Light" panose="02000000000000000000" pitchFamily="2" charset="0"/>
            </a:endParaRPr>
          </a:p>
        </p:txBody>
      </p:sp>
      <p:sp>
        <p:nvSpPr>
          <p:cNvPr id="30" name="Inhaltsplatzhalter 4">
            <a:extLst>
              <a:ext uri="{FF2B5EF4-FFF2-40B4-BE49-F238E27FC236}">
                <a16:creationId xmlns:a16="http://schemas.microsoft.com/office/drawing/2014/main" id="{FC042DC2-45A8-1912-BEDA-599F6665F6B7}"/>
              </a:ext>
            </a:extLst>
          </p:cNvPr>
          <p:cNvSpPr txBox="1">
            <a:spLocks/>
          </p:cNvSpPr>
          <p:nvPr/>
        </p:nvSpPr>
        <p:spPr>
          <a:xfrm>
            <a:off x="1143180" y="3181920"/>
            <a:ext cx="579096" cy="430887"/>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800" b="1" dirty="0">
                <a:latin typeface="Roboto" pitchFamily="2" charset="0"/>
                <a:ea typeface="Roboto" pitchFamily="2" charset="0"/>
              </a:rPr>
              <a:t>01</a:t>
            </a:r>
            <a:endParaRPr lang="en-US" sz="1800" dirty="0">
              <a:latin typeface="Roboto Light" panose="02000000000000000000" pitchFamily="2" charset="0"/>
              <a:ea typeface="Roboto Light" panose="02000000000000000000" pitchFamily="2" charset="0"/>
            </a:endParaRPr>
          </a:p>
        </p:txBody>
      </p:sp>
      <p:sp>
        <p:nvSpPr>
          <p:cNvPr id="31" name="Inhaltsplatzhalter 4">
            <a:extLst>
              <a:ext uri="{FF2B5EF4-FFF2-40B4-BE49-F238E27FC236}">
                <a16:creationId xmlns:a16="http://schemas.microsoft.com/office/drawing/2014/main" id="{63D516E5-DEA7-3E25-949A-9D03834A9ADF}"/>
              </a:ext>
            </a:extLst>
          </p:cNvPr>
          <p:cNvSpPr txBox="1">
            <a:spLocks/>
          </p:cNvSpPr>
          <p:nvPr/>
        </p:nvSpPr>
        <p:spPr>
          <a:xfrm>
            <a:off x="4075393" y="3181919"/>
            <a:ext cx="579096" cy="430887"/>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800" b="1" dirty="0">
                <a:latin typeface="Roboto" pitchFamily="2" charset="0"/>
                <a:ea typeface="Roboto" pitchFamily="2" charset="0"/>
              </a:rPr>
              <a:t>02</a:t>
            </a:r>
            <a:endParaRPr lang="en-US" sz="1800" dirty="0">
              <a:latin typeface="Roboto Light" panose="02000000000000000000" pitchFamily="2" charset="0"/>
              <a:ea typeface="Roboto Light" panose="02000000000000000000" pitchFamily="2" charset="0"/>
            </a:endParaRPr>
          </a:p>
        </p:txBody>
      </p:sp>
      <p:sp>
        <p:nvSpPr>
          <p:cNvPr id="32" name="Inhaltsplatzhalter 4">
            <a:extLst>
              <a:ext uri="{FF2B5EF4-FFF2-40B4-BE49-F238E27FC236}">
                <a16:creationId xmlns:a16="http://schemas.microsoft.com/office/drawing/2014/main" id="{D6315DDF-4385-BA27-5009-BCCD4EC7CC70}"/>
              </a:ext>
            </a:extLst>
          </p:cNvPr>
          <p:cNvSpPr txBox="1">
            <a:spLocks/>
          </p:cNvSpPr>
          <p:nvPr/>
        </p:nvSpPr>
        <p:spPr>
          <a:xfrm>
            <a:off x="6806032" y="3181919"/>
            <a:ext cx="579096" cy="430887"/>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800" b="1" dirty="0">
                <a:latin typeface="Roboto" pitchFamily="2" charset="0"/>
                <a:ea typeface="Roboto" pitchFamily="2" charset="0"/>
              </a:rPr>
              <a:t>03</a:t>
            </a:r>
            <a:endParaRPr lang="en-US" sz="1800" dirty="0">
              <a:latin typeface="Roboto Light" panose="02000000000000000000" pitchFamily="2" charset="0"/>
              <a:ea typeface="Roboto Light" panose="02000000000000000000" pitchFamily="2" charset="0"/>
            </a:endParaRPr>
          </a:p>
        </p:txBody>
      </p:sp>
      <p:sp>
        <p:nvSpPr>
          <p:cNvPr id="33" name="Inhaltsplatzhalter 4">
            <a:extLst>
              <a:ext uri="{FF2B5EF4-FFF2-40B4-BE49-F238E27FC236}">
                <a16:creationId xmlns:a16="http://schemas.microsoft.com/office/drawing/2014/main" id="{C957D2BD-3576-E163-263B-65E83ECAB843}"/>
              </a:ext>
            </a:extLst>
          </p:cNvPr>
          <p:cNvSpPr txBox="1">
            <a:spLocks/>
          </p:cNvSpPr>
          <p:nvPr/>
        </p:nvSpPr>
        <p:spPr>
          <a:xfrm>
            <a:off x="9494052" y="3181919"/>
            <a:ext cx="579096" cy="430887"/>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800" b="1" dirty="0">
                <a:latin typeface="Roboto" pitchFamily="2" charset="0"/>
                <a:ea typeface="Roboto" pitchFamily="2" charset="0"/>
              </a:rPr>
              <a:t>04</a:t>
            </a:r>
            <a:endParaRPr lang="en-US" sz="1800" dirty="0">
              <a:latin typeface="Roboto Light" panose="02000000000000000000" pitchFamily="2" charset="0"/>
              <a:ea typeface="Roboto Light" panose="02000000000000000000" pitchFamily="2" charset="0"/>
            </a:endParaRPr>
          </a:p>
        </p:txBody>
      </p:sp>
      <p:sp>
        <p:nvSpPr>
          <p:cNvPr id="35" name="Left Brace 34">
            <a:extLst>
              <a:ext uri="{FF2B5EF4-FFF2-40B4-BE49-F238E27FC236}">
                <a16:creationId xmlns:a16="http://schemas.microsoft.com/office/drawing/2014/main" id="{B1D797C2-803D-F5B1-5C95-64F077555CC4}"/>
              </a:ext>
            </a:extLst>
          </p:cNvPr>
          <p:cNvSpPr/>
          <p:nvPr/>
        </p:nvSpPr>
        <p:spPr>
          <a:xfrm rot="16200000">
            <a:off x="3315227" y="2045360"/>
            <a:ext cx="365760" cy="4114800"/>
          </a:xfrm>
          <a:prstGeom prst="leftBrac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8" name="Inhaltsplatzhalter 4">
            <a:extLst>
              <a:ext uri="{FF2B5EF4-FFF2-40B4-BE49-F238E27FC236}">
                <a16:creationId xmlns:a16="http://schemas.microsoft.com/office/drawing/2014/main" id="{826EC918-748E-34A6-5E67-D00E6B54D459}"/>
              </a:ext>
            </a:extLst>
          </p:cNvPr>
          <p:cNvSpPr txBox="1">
            <a:spLocks/>
          </p:cNvSpPr>
          <p:nvPr/>
        </p:nvSpPr>
        <p:spPr>
          <a:xfrm>
            <a:off x="1490979" y="4368292"/>
            <a:ext cx="4114801" cy="21544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400" b="1" dirty="0">
                <a:solidFill>
                  <a:srgbClr val="00B59A"/>
                </a:solidFill>
                <a:latin typeface="+mj-lt"/>
                <a:ea typeface="Roboto" pitchFamily="2" charset="0"/>
              </a:rPr>
              <a:t>Presentation part (1) : FFT task</a:t>
            </a:r>
            <a:endParaRPr lang="en-US" sz="1400" dirty="0">
              <a:solidFill>
                <a:srgbClr val="00B59A"/>
              </a:solidFill>
              <a:latin typeface="+mj-lt"/>
              <a:ea typeface="Roboto Light" panose="02000000000000000000" pitchFamily="2" charset="0"/>
            </a:endParaRPr>
          </a:p>
        </p:txBody>
      </p:sp>
      <p:cxnSp>
        <p:nvCxnSpPr>
          <p:cNvPr id="40" name="Straight Arrow Connector 39">
            <a:extLst>
              <a:ext uri="{FF2B5EF4-FFF2-40B4-BE49-F238E27FC236}">
                <a16:creationId xmlns:a16="http://schemas.microsoft.com/office/drawing/2014/main" id="{B4C0B3A1-08F4-8E70-321C-05762C2CD26F}"/>
              </a:ext>
            </a:extLst>
          </p:cNvPr>
          <p:cNvCxnSpPr>
            <a:cxnSpLocks/>
          </p:cNvCxnSpPr>
          <p:nvPr/>
        </p:nvCxnSpPr>
        <p:spPr>
          <a:xfrm>
            <a:off x="7955280" y="3662877"/>
            <a:ext cx="0" cy="1213923"/>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2B40BA7F-B200-3176-909B-AEBA83AF6884}"/>
              </a:ext>
            </a:extLst>
          </p:cNvPr>
          <p:cNvCxnSpPr>
            <a:cxnSpLocks/>
          </p:cNvCxnSpPr>
          <p:nvPr/>
        </p:nvCxnSpPr>
        <p:spPr>
          <a:xfrm>
            <a:off x="10701020" y="3683160"/>
            <a:ext cx="0" cy="154924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Inhaltsplatzhalter 4">
            <a:extLst>
              <a:ext uri="{FF2B5EF4-FFF2-40B4-BE49-F238E27FC236}">
                <a16:creationId xmlns:a16="http://schemas.microsoft.com/office/drawing/2014/main" id="{B4575769-2E0B-2D2C-889D-03075E4C6F0B}"/>
              </a:ext>
            </a:extLst>
          </p:cNvPr>
          <p:cNvSpPr txBox="1">
            <a:spLocks/>
          </p:cNvSpPr>
          <p:nvPr/>
        </p:nvSpPr>
        <p:spPr>
          <a:xfrm>
            <a:off x="6517136" y="4876800"/>
            <a:ext cx="3017266" cy="21544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400" b="1" dirty="0">
                <a:solidFill>
                  <a:srgbClr val="00C3E6"/>
                </a:solidFill>
                <a:latin typeface="+mj-lt"/>
                <a:ea typeface="Roboto" pitchFamily="2" charset="0"/>
              </a:rPr>
              <a:t>Presentation part (2) : HWPE</a:t>
            </a:r>
            <a:endParaRPr lang="en-US" sz="1400" dirty="0">
              <a:solidFill>
                <a:srgbClr val="00C3E6"/>
              </a:solidFill>
              <a:latin typeface="+mj-lt"/>
              <a:ea typeface="Roboto Light" panose="02000000000000000000" pitchFamily="2" charset="0"/>
            </a:endParaRPr>
          </a:p>
        </p:txBody>
      </p:sp>
      <p:sp>
        <p:nvSpPr>
          <p:cNvPr id="43" name="Inhaltsplatzhalter 4">
            <a:extLst>
              <a:ext uri="{FF2B5EF4-FFF2-40B4-BE49-F238E27FC236}">
                <a16:creationId xmlns:a16="http://schemas.microsoft.com/office/drawing/2014/main" id="{8D70AF20-88DC-D3E7-165C-B882548E1448}"/>
              </a:ext>
            </a:extLst>
          </p:cNvPr>
          <p:cNvSpPr txBox="1">
            <a:spLocks/>
          </p:cNvSpPr>
          <p:nvPr/>
        </p:nvSpPr>
        <p:spPr>
          <a:xfrm>
            <a:off x="8246608" y="5377503"/>
            <a:ext cx="3977175" cy="21544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400" b="1" dirty="0">
                <a:solidFill>
                  <a:srgbClr val="FF3654"/>
                </a:solidFill>
                <a:latin typeface="+mj-lt"/>
                <a:ea typeface="Roboto" pitchFamily="2" charset="0"/>
              </a:rPr>
              <a:t>Presentation part (3) : Parallelization Techniques</a:t>
            </a:r>
            <a:endParaRPr lang="en-US" sz="1400" dirty="0">
              <a:solidFill>
                <a:srgbClr val="FF3654"/>
              </a:solidFill>
              <a:latin typeface="+mj-lt"/>
              <a:ea typeface="Roboto Light" panose="02000000000000000000" pitchFamily="2" charset="0"/>
            </a:endParaRPr>
          </a:p>
        </p:txBody>
      </p:sp>
    </p:spTree>
    <p:extLst>
      <p:ext uri="{BB962C8B-B14F-4D97-AF65-F5344CB8AC3E}">
        <p14:creationId xmlns:p14="http://schemas.microsoft.com/office/powerpoint/2010/main" val="1535703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200" fill="hold"/>
                                        <p:tgtEl>
                                          <p:spTgt spid="15"/>
                                        </p:tgtEl>
                                        <p:attrNameLst>
                                          <p:attrName>ppt_w</p:attrName>
                                        </p:attrNameLst>
                                      </p:cBhvr>
                                      <p:tavLst>
                                        <p:tav tm="0">
                                          <p:val>
                                            <p:fltVal val="0"/>
                                          </p:val>
                                        </p:tav>
                                        <p:tav tm="100000">
                                          <p:val>
                                            <p:strVal val="#ppt_w"/>
                                          </p:val>
                                        </p:tav>
                                      </p:tavLst>
                                    </p:anim>
                                    <p:anim calcmode="lin" valueType="num">
                                      <p:cBhvr>
                                        <p:cTn id="8" dur="200" fill="hold"/>
                                        <p:tgtEl>
                                          <p:spTgt spid="15"/>
                                        </p:tgtEl>
                                        <p:attrNameLst>
                                          <p:attrName>ppt_h</p:attrName>
                                        </p:attrNameLst>
                                      </p:cBhvr>
                                      <p:tavLst>
                                        <p:tav tm="0">
                                          <p:val>
                                            <p:fltVal val="0"/>
                                          </p:val>
                                        </p:tav>
                                        <p:tav tm="100000">
                                          <p:val>
                                            <p:strVal val="#ppt_h"/>
                                          </p:val>
                                        </p:tav>
                                      </p:tavLst>
                                    </p:anim>
                                    <p:animEffect transition="in" filter="fade">
                                      <p:cBhvr>
                                        <p:cTn id="9" dur="200"/>
                                        <p:tgtEl>
                                          <p:spTgt spid="15"/>
                                        </p:tgtEl>
                                      </p:cBhvr>
                                    </p:animEffect>
                                  </p:childTnLst>
                                </p:cTn>
                              </p:par>
                            </p:childTnLst>
                          </p:cTn>
                        </p:par>
                        <p:par>
                          <p:cTn id="10" fill="hold">
                            <p:stCondLst>
                              <p:cond delay="200"/>
                            </p:stCondLst>
                            <p:childTnLst>
                              <p:par>
                                <p:cTn id="11" presetID="22" presetClass="entr" presetSubtype="4" fill="hold"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down)">
                                      <p:cBhvr>
                                        <p:cTn id="13" dur="200"/>
                                        <p:tgtEl>
                                          <p:spTgt spid="26"/>
                                        </p:tgtEl>
                                      </p:cBhvr>
                                    </p:animEffect>
                                  </p:childTnLst>
                                </p:cTn>
                              </p:par>
                            </p:childTnLst>
                          </p:cTn>
                        </p:par>
                        <p:par>
                          <p:cTn id="14" fill="hold">
                            <p:stCondLst>
                              <p:cond delay="400"/>
                            </p:stCondLst>
                            <p:childTnLst>
                              <p:par>
                                <p:cTn id="15" presetID="22" presetClass="entr" presetSubtype="4"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2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200" fill="hold"/>
                                        <p:tgtEl>
                                          <p:spTgt spid="13"/>
                                        </p:tgtEl>
                                        <p:attrNameLst>
                                          <p:attrName>ppt_w</p:attrName>
                                        </p:attrNameLst>
                                      </p:cBhvr>
                                      <p:tavLst>
                                        <p:tav tm="0">
                                          <p:val>
                                            <p:fltVal val="0"/>
                                          </p:val>
                                        </p:tav>
                                        <p:tav tm="100000">
                                          <p:val>
                                            <p:strVal val="#ppt_w"/>
                                          </p:val>
                                        </p:tav>
                                      </p:tavLst>
                                    </p:anim>
                                    <p:anim calcmode="lin" valueType="num">
                                      <p:cBhvr>
                                        <p:cTn id="23" dur="200" fill="hold"/>
                                        <p:tgtEl>
                                          <p:spTgt spid="13"/>
                                        </p:tgtEl>
                                        <p:attrNameLst>
                                          <p:attrName>ppt_h</p:attrName>
                                        </p:attrNameLst>
                                      </p:cBhvr>
                                      <p:tavLst>
                                        <p:tav tm="0">
                                          <p:val>
                                            <p:fltVal val="0"/>
                                          </p:val>
                                        </p:tav>
                                        <p:tav tm="100000">
                                          <p:val>
                                            <p:strVal val="#ppt_h"/>
                                          </p:val>
                                        </p:tav>
                                      </p:tavLst>
                                    </p:anim>
                                    <p:animEffect transition="in" filter="fade">
                                      <p:cBhvr>
                                        <p:cTn id="24" dur="200"/>
                                        <p:tgtEl>
                                          <p:spTgt spid="13"/>
                                        </p:tgtEl>
                                      </p:cBhvr>
                                    </p:animEffect>
                                  </p:childTnLst>
                                </p:cTn>
                              </p:par>
                            </p:childTnLst>
                          </p:cTn>
                        </p:par>
                        <p:par>
                          <p:cTn id="25" fill="hold">
                            <p:stCondLst>
                              <p:cond delay="200"/>
                            </p:stCondLst>
                            <p:childTnLst>
                              <p:par>
                                <p:cTn id="26" presetID="22" presetClass="entr" presetSubtype="4" fill="hold"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down)">
                                      <p:cBhvr>
                                        <p:cTn id="28" dur="200"/>
                                        <p:tgtEl>
                                          <p:spTgt spid="23"/>
                                        </p:tgtEl>
                                      </p:cBhvr>
                                    </p:animEffect>
                                  </p:childTnLst>
                                </p:cTn>
                              </p:par>
                            </p:childTnLst>
                          </p:cTn>
                        </p:par>
                        <p:par>
                          <p:cTn id="29" fill="hold">
                            <p:stCondLst>
                              <p:cond delay="400"/>
                            </p:stCondLst>
                            <p:childTnLst>
                              <p:par>
                                <p:cTn id="30" presetID="22" presetClass="entr" presetSubtype="4"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down)">
                                      <p:cBhvr>
                                        <p:cTn id="32" dur="2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200" fill="hold"/>
                                        <p:tgtEl>
                                          <p:spTgt spid="11"/>
                                        </p:tgtEl>
                                        <p:attrNameLst>
                                          <p:attrName>ppt_w</p:attrName>
                                        </p:attrNameLst>
                                      </p:cBhvr>
                                      <p:tavLst>
                                        <p:tav tm="0">
                                          <p:val>
                                            <p:fltVal val="0"/>
                                          </p:val>
                                        </p:tav>
                                        <p:tav tm="100000">
                                          <p:val>
                                            <p:strVal val="#ppt_w"/>
                                          </p:val>
                                        </p:tav>
                                      </p:tavLst>
                                    </p:anim>
                                    <p:anim calcmode="lin" valueType="num">
                                      <p:cBhvr>
                                        <p:cTn id="38" dur="200" fill="hold"/>
                                        <p:tgtEl>
                                          <p:spTgt spid="11"/>
                                        </p:tgtEl>
                                        <p:attrNameLst>
                                          <p:attrName>ppt_h</p:attrName>
                                        </p:attrNameLst>
                                      </p:cBhvr>
                                      <p:tavLst>
                                        <p:tav tm="0">
                                          <p:val>
                                            <p:fltVal val="0"/>
                                          </p:val>
                                        </p:tav>
                                        <p:tav tm="100000">
                                          <p:val>
                                            <p:strVal val="#ppt_h"/>
                                          </p:val>
                                        </p:tav>
                                      </p:tavLst>
                                    </p:anim>
                                    <p:animEffect transition="in" filter="fade">
                                      <p:cBhvr>
                                        <p:cTn id="39" dur="200"/>
                                        <p:tgtEl>
                                          <p:spTgt spid="11"/>
                                        </p:tgtEl>
                                      </p:cBhvr>
                                    </p:animEffect>
                                  </p:childTnLst>
                                </p:cTn>
                              </p:par>
                            </p:childTnLst>
                          </p:cTn>
                        </p:par>
                        <p:par>
                          <p:cTn id="40" fill="hold">
                            <p:stCondLst>
                              <p:cond delay="200"/>
                            </p:stCondLst>
                            <p:childTnLst>
                              <p:par>
                                <p:cTn id="41" presetID="22" presetClass="entr" presetSubtype="4"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200"/>
                                        <p:tgtEl>
                                          <p:spTgt spid="20"/>
                                        </p:tgtEl>
                                      </p:cBhvr>
                                    </p:animEffect>
                                  </p:childTnLst>
                                </p:cTn>
                              </p:par>
                            </p:childTnLst>
                          </p:cTn>
                        </p:par>
                        <p:par>
                          <p:cTn id="44" fill="hold">
                            <p:stCondLst>
                              <p:cond delay="400"/>
                            </p:stCondLst>
                            <p:childTnLst>
                              <p:par>
                                <p:cTn id="45" presetID="22" presetClass="entr" presetSubtype="4"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2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 calcmode="lin" valueType="num">
                                      <p:cBhvr>
                                        <p:cTn id="52" dur="200" fill="hold"/>
                                        <p:tgtEl>
                                          <p:spTgt spid="9"/>
                                        </p:tgtEl>
                                        <p:attrNameLst>
                                          <p:attrName>ppt_w</p:attrName>
                                        </p:attrNameLst>
                                      </p:cBhvr>
                                      <p:tavLst>
                                        <p:tav tm="0">
                                          <p:val>
                                            <p:fltVal val="0"/>
                                          </p:val>
                                        </p:tav>
                                        <p:tav tm="100000">
                                          <p:val>
                                            <p:strVal val="#ppt_w"/>
                                          </p:val>
                                        </p:tav>
                                      </p:tavLst>
                                    </p:anim>
                                    <p:anim calcmode="lin" valueType="num">
                                      <p:cBhvr>
                                        <p:cTn id="53" dur="200" fill="hold"/>
                                        <p:tgtEl>
                                          <p:spTgt spid="9"/>
                                        </p:tgtEl>
                                        <p:attrNameLst>
                                          <p:attrName>ppt_h</p:attrName>
                                        </p:attrNameLst>
                                      </p:cBhvr>
                                      <p:tavLst>
                                        <p:tav tm="0">
                                          <p:val>
                                            <p:fltVal val="0"/>
                                          </p:val>
                                        </p:tav>
                                        <p:tav tm="100000">
                                          <p:val>
                                            <p:strVal val="#ppt_h"/>
                                          </p:val>
                                        </p:tav>
                                      </p:tavLst>
                                    </p:anim>
                                    <p:animEffect transition="in" filter="fade">
                                      <p:cBhvr>
                                        <p:cTn id="54" dur="200"/>
                                        <p:tgtEl>
                                          <p:spTgt spid="9"/>
                                        </p:tgtEl>
                                      </p:cBhvr>
                                    </p:animEffect>
                                  </p:childTnLst>
                                </p:cTn>
                              </p:par>
                            </p:childTnLst>
                          </p:cTn>
                        </p:par>
                        <p:par>
                          <p:cTn id="55" fill="hold">
                            <p:stCondLst>
                              <p:cond delay="200"/>
                            </p:stCondLst>
                            <p:childTnLst>
                              <p:par>
                                <p:cTn id="56" presetID="22" presetClass="entr" presetSubtype="4" fill="hold"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down)">
                                      <p:cBhvr>
                                        <p:cTn id="58" dur="200"/>
                                        <p:tgtEl>
                                          <p:spTgt spid="17"/>
                                        </p:tgtEl>
                                      </p:cBhvr>
                                    </p:animEffect>
                                  </p:childTnLst>
                                </p:cTn>
                              </p:par>
                            </p:childTnLst>
                          </p:cTn>
                        </p:par>
                        <p:par>
                          <p:cTn id="59" fill="hold">
                            <p:stCondLst>
                              <p:cond delay="400"/>
                            </p:stCondLst>
                            <p:childTnLst>
                              <p:par>
                                <p:cTn id="60" presetID="22" presetClass="entr" presetSubtype="4" fill="hold" grpId="0" nodeType="after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down)">
                                      <p:cBhvr>
                                        <p:cTn id="62" dur="200"/>
                                        <p:tgtEl>
                                          <p:spTgt spid="1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500"/>
                                        <p:tgtEl>
                                          <p:spTgt spid="3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fade">
                                      <p:cBhvr>
                                        <p:cTn id="70" dur="500"/>
                                        <p:tgtEl>
                                          <p:spTgt spid="3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500"/>
                                        <p:tgtEl>
                                          <p:spTgt spid="4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500"/>
                                        <p:tgtEl>
                                          <p:spTgt spid="4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fade">
                                      <p:cBhvr>
                                        <p:cTn id="83" dur="500"/>
                                        <p:tgtEl>
                                          <p:spTgt spid="4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35" grpId="0" animBg="1"/>
      <p:bldP spid="38" grpId="0"/>
      <p:bldP spid="42" grpId="0"/>
      <p:bldP spid="4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D6B7-DD4A-4212-FD90-1823D2B2B1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E69AB1-68A0-847D-2A4C-68372ACBDDEB}"/>
              </a:ext>
            </a:extLst>
          </p:cNvPr>
          <p:cNvSpPr>
            <a:spLocks noGrp="1"/>
          </p:cNvSpPr>
          <p:nvPr>
            <p:ph idx="1"/>
          </p:nvPr>
        </p:nvSpPr>
        <p:spPr>
          <a:xfrm>
            <a:off x="342901" y="971550"/>
            <a:ext cx="10274300" cy="4914900"/>
          </a:xfrm>
        </p:spPr>
        <p:txBody>
          <a:bodyPr>
            <a:normAutofit/>
          </a:bodyPr>
          <a:lstStyle/>
          <a:p>
            <a:r>
              <a:rPr lang="en-US" b="1" dirty="0"/>
              <a:t>Introduction </a:t>
            </a:r>
            <a:endParaRPr lang="en-US" dirty="0"/>
          </a:p>
          <a:p>
            <a:r>
              <a:rPr lang="en-US" b="1" dirty="0">
                <a:solidFill>
                  <a:srgbClr val="000000">
                    <a:alpha val="20000"/>
                  </a:srgbClr>
                </a:solidFill>
              </a:rPr>
              <a:t>Modeling</a:t>
            </a:r>
          </a:p>
          <a:p>
            <a:r>
              <a:rPr lang="en-US" b="1" dirty="0">
                <a:solidFill>
                  <a:srgbClr val="000000">
                    <a:alpha val="20000"/>
                  </a:srgbClr>
                </a:solidFill>
              </a:rPr>
              <a:t>RTL</a:t>
            </a:r>
          </a:p>
          <a:p>
            <a:r>
              <a:rPr lang="en-US" b="1" dirty="0">
                <a:solidFill>
                  <a:srgbClr val="000000">
                    <a:alpha val="20000"/>
                  </a:srgbClr>
                </a:solidFill>
              </a:rPr>
              <a:t>HW/SW Co-design (HW Part)</a:t>
            </a:r>
          </a:p>
          <a:p>
            <a:r>
              <a:rPr lang="en-US" b="1" dirty="0">
                <a:solidFill>
                  <a:srgbClr val="000000">
                    <a:alpha val="20000"/>
                  </a:srgbClr>
                </a:solidFill>
              </a:rPr>
              <a:t>HW/SW Co-design (SW Part)</a:t>
            </a: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26225172-9D95-F482-4290-ABBE452AFD58}"/>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4C2823D6-8F56-6734-96DC-2C08F7837D30}"/>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81A351B-EF34-A74B-D0F9-0650A5AC055A}"/>
              </a:ext>
            </a:extLst>
          </p:cNvPr>
          <p:cNvSpPr>
            <a:spLocks noGrp="1"/>
          </p:cNvSpPr>
          <p:nvPr>
            <p:ph type="sldNum" sz="quarter" idx="4"/>
          </p:nvPr>
        </p:nvSpPr>
        <p:spPr/>
        <p:txBody>
          <a:bodyPr/>
          <a:lstStyle/>
          <a:p>
            <a:pPr>
              <a:defRPr/>
            </a:pPr>
            <a:fld id="{A9CE67A1-BA7F-A74E-B5D7-615746DEEC2B}" type="slidenum">
              <a:rPr lang="en-US" smtClean="0"/>
              <a:pPr>
                <a:defRPr/>
              </a:pPr>
              <a:t>3</a:t>
            </a:fld>
            <a:endParaRPr lang="en-US" baseline="-11000" dirty="0"/>
          </a:p>
        </p:txBody>
      </p:sp>
      <p:sp>
        <p:nvSpPr>
          <p:cNvPr id="6" name="Date Placeholder 5">
            <a:extLst>
              <a:ext uri="{FF2B5EF4-FFF2-40B4-BE49-F238E27FC236}">
                <a16:creationId xmlns:a16="http://schemas.microsoft.com/office/drawing/2014/main" id="{25A8A2FB-EFEE-383F-3040-BF9A367BBACF}"/>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3368920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FBDE2-F06B-163C-A6AD-5D6B018BD6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ADFC3D-1288-F5B2-C512-50C39FF04F5C}"/>
              </a:ext>
            </a:extLst>
          </p:cNvPr>
          <p:cNvSpPr>
            <a:spLocks noGrp="1"/>
          </p:cNvSpPr>
          <p:nvPr>
            <p:ph type="title"/>
          </p:nvPr>
        </p:nvSpPr>
        <p:spPr>
          <a:xfrm>
            <a:off x="347472" y="3827812"/>
            <a:ext cx="7755668" cy="664797"/>
          </a:xfrm>
        </p:spPr>
        <p:txBody>
          <a:bodyPr/>
          <a:lstStyle/>
          <a:p>
            <a:r>
              <a:rPr lang="en-US" dirty="0"/>
              <a:t>Introduction</a:t>
            </a:r>
          </a:p>
        </p:txBody>
      </p:sp>
      <p:sp>
        <p:nvSpPr>
          <p:cNvPr id="4" name="Footer Placeholder 3">
            <a:extLst>
              <a:ext uri="{FF2B5EF4-FFF2-40B4-BE49-F238E27FC236}">
                <a16:creationId xmlns:a16="http://schemas.microsoft.com/office/drawing/2014/main" id="{A249DEF6-7430-A564-B11B-AC4F3EEFCDF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29DB470-AAC9-B661-D96C-BB5BA412B651}"/>
              </a:ext>
            </a:extLst>
          </p:cNvPr>
          <p:cNvSpPr>
            <a:spLocks noGrp="1"/>
          </p:cNvSpPr>
          <p:nvPr>
            <p:ph type="sldNum" sz="quarter" idx="4"/>
          </p:nvPr>
        </p:nvSpPr>
        <p:spPr/>
        <p:txBody>
          <a:bodyPr/>
          <a:lstStyle/>
          <a:p>
            <a:pPr>
              <a:defRPr/>
            </a:pPr>
            <a:fld id="{A9CE67A1-BA7F-A74E-B5D7-615746DEEC2B}" type="slidenum">
              <a:rPr lang="en-US" smtClean="0"/>
              <a:pPr>
                <a:defRPr/>
              </a:pPr>
              <a:t>4</a:t>
            </a:fld>
            <a:endParaRPr lang="en-US" baseline="-11000" dirty="0"/>
          </a:p>
        </p:txBody>
      </p:sp>
      <p:sp>
        <p:nvSpPr>
          <p:cNvPr id="6" name="Date Placeholder 5">
            <a:extLst>
              <a:ext uri="{FF2B5EF4-FFF2-40B4-BE49-F238E27FC236}">
                <a16:creationId xmlns:a16="http://schemas.microsoft.com/office/drawing/2014/main" id="{4A539209-C6AE-31EC-C5B0-8DEB7F4604A1}"/>
              </a:ext>
            </a:extLst>
          </p:cNvPr>
          <p:cNvSpPr>
            <a:spLocks noGrp="1"/>
          </p:cNvSpPr>
          <p:nvPr>
            <p:ph type="dt" sz="half" idx="2"/>
          </p:nvPr>
        </p:nvSpPr>
        <p:spPr/>
        <p:txBody>
          <a:body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4261963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ED50E-5C2B-EFDF-6330-3BD7E3F8EE3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926573-4EA0-7D1D-4469-D4CB3CB9E351}"/>
              </a:ext>
            </a:extLst>
          </p:cNvPr>
          <p:cNvSpPr>
            <a:spLocks noGrp="1"/>
          </p:cNvSpPr>
          <p:nvPr>
            <p:ph idx="1"/>
          </p:nvPr>
        </p:nvSpPr>
        <p:spPr>
          <a:xfrm>
            <a:off x="342901" y="971550"/>
            <a:ext cx="10274300" cy="4914900"/>
          </a:xfrm>
        </p:spPr>
        <p:txBody>
          <a:bodyPr>
            <a:normAutofit/>
          </a:bodyPr>
          <a:lstStyle/>
          <a:p>
            <a:r>
              <a:rPr lang="en-US" b="1" dirty="0"/>
              <a:t>Introduction </a:t>
            </a:r>
            <a:endParaRPr lang="en-US" dirty="0"/>
          </a:p>
          <a:p>
            <a:pPr lvl="1"/>
            <a:r>
              <a:rPr lang="en-US" b="1" dirty="0"/>
              <a:t>DFT Definition </a:t>
            </a:r>
          </a:p>
          <a:p>
            <a:pPr lvl="1"/>
            <a:r>
              <a:rPr lang="en-US" b="1" dirty="0"/>
              <a:t>DFT calculation methods </a:t>
            </a:r>
          </a:p>
          <a:p>
            <a:pPr lvl="1"/>
            <a:r>
              <a:rPr lang="en-US" b="1" dirty="0"/>
              <a:t>FFT</a:t>
            </a:r>
          </a:p>
          <a:p>
            <a:pPr lvl="1"/>
            <a:r>
              <a:rPr lang="en-US" b="1" dirty="0"/>
              <a:t>Direct computation vs FFT</a:t>
            </a:r>
          </a:p>
          <a:p>
            <a:pPr lvl="1"/>
            <a:r>
              <a:rPr lang="en-US" b="1" dirty="0"/>
              <a:t>Radix-2 vs Radix-4</a:t>
            </a: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F08DD4C1-B98B-84E2-8AB5-00DC4C0D5580}"/>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EDCEE107-3FBF-A6AF-36E5-C23A99FC23A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4DF8ED69-5867-515D-4AFE-DE87495B125E}"/>
              </a:ext>
            </a:extLst>
          </p:cNvPr>
          <p:cNvSpPr>
            <a:spLocks noGrp="1"/>
          </p:cNvSpPr>
          <p:nvPr>
            <p:ph type="sldNum" sz="quarter" idx="4"/>
          </p:nvPr>
        </p:nvSpPr>
        <p:spPr/>
        <p:txBody>
          <a:bodyPr/>
          <a:lstStyle/>
          <a:p>
            <a:pPr>
              <a:defRPr/>
            </a:pPr>
            <a:fld id="{A9CE67A1-BA7F-A74E-B5D7-615746DEEC2B}" type="slidenum">
              <a:rPr lang="en-US" smtClean="0"/>
              <a:pPr>
                <a:defRPr/>
              </a:pPr>
              <a:t>5</a:t>
            </a:fld>
            <a:endParaRPr lang="en-US" baseline="-11000" dirty="0"/>
          </a:p>
        </p:txBody>
      </p:sp>
      <p:sp>
        <p:nvSpPr>
          <p:cNvPr id="6" name="Date Placeholder 5">
            <a:extLst>
              <a:ext uri="{FF2B5EF4-FFF2-40B4-BE49-F238E27FC236}">
                <a16:creationId xmlns:a16="http://schemas.microsoft.com/office/drawing/2014/main" id="{3B8FDDCA-0A67-41F2-D414-2653B6ED84C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1188771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1143-827A-19AD-2E9E-9506819DE4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E6606E-2FAE-627D-C99A-5366601CFA14}"/>
              </a:ext>
            </a:extLst>
          </p:cNvPr>
          <p:cNvSpPr>
            <a:spLocks noGrp="1"/>
          </p:cNvSpPr>
          <p:nvPr>
            <p:ph type="title"/>
          </p:nvPr>
        </p:nvSpPr>
        <p:spPr>
          <a:xfrm>
            <a:off x="342901" y="219456"/>
            <a:ext cx="10287001" cy="470898"/>
          </a:xfrm>
        </p:spPr>
        <p:txBody>
          <a:bodyPr/>
          <a:lstStyle/>
          <a:p>
            <a:r>
              <a:rPr lang="en-US" dirty="0"/>
              <a:t>Introduction :DFT Definition </a:t>
            </a:r>
          </a:p>
        </p:txBody>
      </p:sp>
      <p:sp>
        <p:nvSpPr>
          <p:cNvPr id="4" name="Footer Placeholder 3">
            <a:extLst>
              <a:ext uri="{FF2B5EF4-FFF2-40B4-BE49-F238E27FC236}">
                <a16:creationId xmlns:a16="http://schemas.microsoft.com/office/drawing/2014/main" id="{2FC08DD8-8FC4-E5EB-420F-4B486723872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9D4843A-4B2E-093D-87EF-9E58B5032E54}"/>
              </a:ext>
            </a:extLst>
          </p:cNvPr>
          <p:cNvSpPr>
            <a:spLocks noGrp="1"/>
          </p:cNvSpPr>
          <p:nvPr>
            <p:ph type="sldNum" sz="quarter" idx="4"/>
          </p:nvPr>
        </p:nvSpPr>
        <p:spPr/>
        <p:txBody>
          <a:bodyPr/>
          <a:lstStyle/>
          <a:p>
            <a:pPr>
              <a:defRPr/>
            </a:pPr>
            <a:fld id="{A9CE67A1-BA7F-A74E-B5D7-615746DEEC2B}" type="slidenum">
              <a:rPr lang="en-US" smtClean="0"/>
              <a:pPr>
                <a:defRPr/>
              </a:pPr>
              <a:t>6</a:t>
            </a:fld>
            <a:endParaRPr lang="en-US" baseline="-11000" dirty="0"/>
          </a:p>
        </p:txBody>
      </p:sp>
      <p:sp>
        <p:nvSpPr>
          <p:cNvPr id="6" name="Date Placeholder 5">
            <a:extLst>
              <a:ext uri="{FF2B5EF4-FFF2-40B4-BE49-F238E27FC236}">
                <a16:creationId xmlns:a16="http://schemas.microsoft.com/office/drawing/2014/main" id="{7BB5E7B6-4E32-0CA5-6691-08C93B9C23BB}"/>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1" name="TextBox 10">
            <a:extLst>
              <a:ext uri="{FF2B5EF4-FFF2-40B4-BE49-F238E27FC236}">
                <a16:creationId xmlns:a16="http://schemas.microsoft.com/office/drawing/2014/main" id="{B85340F7-B883-1AEF-A52E-92BC290E8BBA}"/>
              </a:ext>
            </a:extLst>
          </p:cNvPr>
          <p:cNvSpPr txBox="1"/>
          <p:nvPr/>
        </p:nvSpPr>
        <p:spPr>
          <a:xfrm>
            <a:off x="405722" y="869058"/>
            <a:ext cx="10833779" cy="646331"/>
          </a:xfrm>
          <a:prstGeom prst="rect">
            <a:avLst/>
          </a:prstGeom>
          <a:noFill/>
        </p:spPr>
        <p:txBody>
          <a:bodyPr wrap="square">
            <a:spAutoFit/>
          </a:bodyPr>
          <a:lstStyle/>
          <a:p>
            <a:pPr defTabSz="457200">
              <a:spcBef>
                <a:spcPts val="1000"/>
              </a:spcBef>
              <a:buClr>
                <a:srgbClr val="1E4056"/>
              </a:buClr>
              <a:buSzPct val="75000"/>
            </a:pPr>
            <a:r>
              <a:rPr lang="en-US" b="1" dirty="0"/>
              <a:t>DFT</a:t>
            </a:r>
            <a:r>
              <a:rPr lang="en-US" dirty="0"/>
              <a:t>: it stands for Discrete Fourier Transform which is the tool to transform the discrete signal in time domain to discrete in frequency domain  </a:t>
            </a:r>
          </a:p>
        </p:txBody>
      </p:sp>
      <p:grpSp>
        <p:nvGrpSpPr>
          <p:cNvPr id="8" name="Group 7">
            <a:extLst>
              <a:ext uri="{FF2B5EF4-FFF2-40B4-BE49-F238E27FC236}">
                <a16:creationId xmlns:a16="http://schemas.microsoft.com/office/drawing/2014/main" id="{330E04AC-5A11-2A6D-19D7-3F88E260F53B}"/>
              </a:ext>
            </a:extLst>
          </p:cNvPr>
          <p:cNvGrpSpPr/>
          <p:nvPr/>
        </p:nvGrpSpPr>
        <p:grpSpPr>
          <a:xfrm>
            <a:off x="2140644" y="1255510"/>
            <a:ext cx="7655074" cy="1983658"/>
            <a:chOff x="813009" y="818439"/>
            <a:chExt cx="9651513" cy="3222800"/>
          </a:xfrm>
        </p:grpSpPr>
        <p:grpSp>
          <p:nvGrpSpPr>
            <p:cNvPr id="9" name="Group 8">
              <a:extLst>
                <a:ext uri="{FF2B5EF4-FFF2-40B4-BE49-F238E27FC236}">
                  <a16:creationId xmlns:a16="http://schemas.microsoft.com/office/drawing/2014/main" id="{446186A5-E1C6-7A52-0C73-BE528C03C4F6}"/>
                </a:ext>
              </a:extLst>
            </p:cNvPr>
            <p:cNvGrpSpPr/>
            <p:nvPr/>
          </p:nvGrpSpPr>
          <p:grpSpPr>
            <a:xfrm>
              <a:off x="1293344" y="818439"/>
              <a:ext cx="8690338" cy="3222800"/>
              <a:chOff x="1190705" y="2109573"/>
              <a:chExt cx="8690338" cy="3222800"/>
            </a:xfrm>
          </p:grpSpPr>
          <p:graphicFrame>
            <p:nvGraphicFramePr>
              <p:cNvPr id="15" name="Diagram 14">
                <a:extLst>
                  <a:ext uri="{FF2B5EF4-FFF2-40B4-BE49-F238E27FC236}">
                    <a16:creationId xmlns:a16="http://schemas.microsoft.com/office/drawing/2014/main" id="{492F33A4-B1E2-8C00-8418-B120E2EC1268}"/>
                  </a:ext>
                </a:extLst>
              </p:cNvPr>
              <p:cNvGraphicFramePr/>
              <p:nvPr>
                <p:extLst>
                  <p:ext uri="{D42A27DB-BD31-4B8C-83A1-F6EECF244321}">
                    <p14:modId xmlns:p14="http://schemas.microsoft.com/office/powerpoint/2010/main" val="1189906627"/>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Straight Connector 4">
                <a:extLst>
                  <a:ext uri="{FF2B5EF4-FFF2-40B4-BE49-F238E27FC236}">
                    <a16:creationId xmlns:a16="http://schemas.microsoft.com/office/drawing/2014/main" id="{19C03AF7-BD82-CC40-CE8C-8574D41369FA}"/>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027AA7BC-E15B-D193-E7AA-FF753457833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1C800D5A-51B7-7D5D-C087-9E1C1FA3F031}"/>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8DA717A2-ACC6-1753-DBB3-E7A88F059C0D}"/>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1D86A0B-BC0D-F51D-BF1B-34C33B63085E}"/>
                  </a:ext>
                </a:extLst>
              </p:cNvPr>
              <p:cNvSpPr txBox="1"/>
              <p:nvPr/>
            </p:nvSpPr>
            <p:spPr>
              <a:xfrm>
                <a:off x="405721" y="2918748"/>
                <a:ext cx="10833779" cy="2488630"/>
              </a:xfrm>
              <a:prstGeom prst="rect">
                <a:avLst/>
              </a:prstGeom>
              <a:noFill/>
            </p:spPr>
            <p:txBody>
              <a:bodyPr wrap="square">
                <a:spAutoFit/>
              </a:bodyPr>
              <a:lstStyle/>
              <a:p>
                <a:pPr defTabSz="457200">
                  <a:spcBef>
                    <a:spcPts val="1000"/>
                  </a:spcBef>
                  <a:buClr>
                    <a:srgbClr val="1E4056"/>
                  </a:buClr>
                  <a:buSzPct val="75000"/>
                </a:pPr>
                <a:r>
                  <a:rPr lang="en-US" b="1" dirty="0">
                    <a:latin typeface="Cambria Math" panose="02040503050406030204" pitchFamily="18" charset="0"/>
                  </a:rPr>
                  <a:t>Mathematical model :</a:t>
                </a:r>
                <a:endParaRPr lang="en-US" b="1" i="1" dirty="0">
                  <a:latin typeface="Cambria Math" panose="02040503050406030204" pitchFamily="18" charset="0"/>
                </a:endParaRP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dirty="0"/>
                  <a:t>Where : X[k] is the input signal in frequency domain </a:t>
                </a:r>
              </a:p>
              <a:p>
                <a:pPr defTabSz="457200">
                  <a:spcBef>
                    <a:spcPts val="1000"/>
                  </a:spcBef>
                  <a:buClr>
                    <a:srgbClr val="1E4056"/>
                  </a:buClr>
                  <a:buSzPct val="75000"/>
                </a:pPr>
                <a:r>
                  <a:rPr lang="en-US" dirty="0"/>
                  <a:t>	        x[n] is the input signal in time domain</a:t>
                </a:r>
              </a:p>
              <a:p>
                <a:pPr defTabSz="457200">
                  <a:spcBef>
                    <a:spcPts val="1000"/>
                  </a:spcBef>
                  <a:buClr>
                    <a:srgbClr val="1E4056"/>
                  </a:buClr>
                  <a:buSzPct val="75000"/>
                </a:pPr>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𝑘𝑛</m:t>
                        </m:r>
                      </m:sup>
                    </m:sSubSup>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h</m:t>
                    </m:r>
                    <m:r>
                      <a:rPr lang="en-US" b="0" i="1" smtClean="0">
                        <a:latin typeface="Cambria Math" panose="02040503050406030204" pitchFamily="18" charset="0"/>
                      </a:rPr>
                      <m:t>𝑒</m:t>
                    </m:r>
                    <m:r>
                      <a:rPr lang="en-US" b="0" i="1" smtClean="0">
                        <a:latin typeface="Cambria Math" panose="02040503050406030204" pitchFamily="18" charset="0"/>
                      </a:rPr>
                      <m:t> </m:t>
                    </m:r>
                    <m:r>
                      <a:rPr lang="en-US" b="0" i="1" smtClean="0">
                        <a:latin typeface="Cambria Math" panose="02040503050406030204" pitchFamily="18" charset="0"/>
                      </a:rPr>
                      <m:t>𝑇𝑤𝑖𝑑𝑑𝑙𝑒</m:t>
                    </m:r>
                    <m:r>
                      <a:rPr lang="en-US" b="0" i="1" smtClean="0">
                        <a:latin typeface="Cambria Math" panose="02040503050406030204" pitchFamily="18" charset="0"/>
                      </a:rPr>
                      <m:t> </m:t>
                    </m:r>
                    <m:r>
                      <a:rPr lang="en-US" b="0" i="1" smtClean="0">
                        <a:latin typeface="Cambria Math" panose="02040503050406030204" pitchFamily="18" charset="0"/>
                      </a:rPr>
                      <m:t>𝑓𝑎𝑐𝑡𝑜𝑟</m:t>
                    </m:r>
                    <m:r>
                      <a:rPr lang="en-US" b="0" i="1" smtClean="0">
                        <a:latin typeface="Cambria Math" panose="02040503050406030204" pitchFamily="18" charset="0"/>
                      </a:rPr>
                      <m:t> </m:t>
                    </m:r>
                  </m:oMath>
                </a14:m>
                <a:r>
                  <a:rPr lang="en-US" dirty="0"/>
                  <a:t>which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𝑗</m:t>
                            </m:r>
                            <m:r>
                              <a:rPr lang="en-US" b="0" i="1" smtClean="0">
                                <a:latin typeface="Cambria Math" panose="02040503050406030204" pitchFamily="18" charset="0"/>
                              </a:rPr>
                              <m:t>2</m:t>
                            </m:r>
                            <m:r>
                              <a:rPr lang="en-US" b="0" i="1" smtClean="0">
                                <a:latin typeface="Cambria Math" panose="02040503050406030204" pitchFamily="18" charset="0"/>
                              </a:rPr>
                              <m:t>𝜋</m:t>
                            </m:r>
                            <m:r>
                              <a:rPr lang="en-US" b="0" i="1" smtClean="0">
                                <a:latin typeface="Cambria Math" panose="02040503050406030204" pitchFamily="18" charset="0"/>
                              </a:rPr>
                              <m:t>𝑘</m:t>
                            </m:r>
                          </m:num>
                          <m:den>
                            <m:r>
                              <a:rPr lang="en-US" b="0" i="1" smtClean="0">
                                <a:latin typeface="Cambria Math" panose="02040503050406030204" pitchFamily="18" charset="0"/>
                              </a:rPr>
                              <m:t>𝑁</m:t>
                            </m:r>
                          </m:den>
                        </m:f>
                      </m:sup>
                    </m:sSup>
                  </m:oMath>
                </a14:m>
                <a:endParaRPr lang="en-US" dirty="0"/>
              </a:p>
            </p:txBody>
          </p:sp>
        </mc:Choice>
        <mc:Fallback xmlns="">
          <p:sp>
            <p:nvSpPr>
              <p:cNvPr id="22" name="TextBox 21">
                <a:extLst>
                  <a:ext uri="{FF2B5EF4-FFF2-40B4-BE49-F238E27FC236}">
                    <a16:creationId xmlns:a16="http://schemas.microsoft.com/office/drawing/2014/main" id="{81D86A0B-BC0D-F51D-BF1B-34C33B63085E}"/>
                  </a:ext>
                </a:extLst>
              </p:cNvPr>
              <p:cNvSpPr txBox="1">
                <a:spLocks noRot="1" noChangeAspect="1" noMove="1" noResize="1" noEditPoints="1" noAdjustHandles="1" noChangeArrowheads="1" noChangeShapeType="1" noTextEdit="1"/>
              </p:cNvSpPr>
              <p:nvPr/>
            </p:nvSpPr>
            <p:spPr>
              <a:xfrm>
                <a:off x="405721" y="2918748"/>
                <a:ext cx="10833779" cy="2488630"/>
              </a:xfrm>
              <a:prstGeom prst="rect">
                <a:avLst/>
              </a:prstGeom>
              <a:blipFill>
                <a:blip r:embed="rId8"/>
                <a:stretch>
                  <a:fillRect l="-506" t="-1716" b="-2696"/>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889E2106-AC3B-4C69-4424-E2530FCAD42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9" name="TextBox 18">
            <a:extLst>
              <a:ext uri="{FF2B5EF4-FFF2-40B4-BE49-F238E27FC236}">
                <a16:creationId xmlns:a16="http://schemas.microsoft.com/office/drawing/2014/main" id="{964DA638-4AB3-644E-A781-49B7D083714E}"/>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alpha val="30000"/>
                  </a:schemeClr>
                </a:solidFill>
              </a:rPr>
              <a:t>DFT calculation methods </a:t>
            </a:r>
          </a:p>
        </p:txBody>
      </p:sp>
      <p:sp>
        <p:nvSpPr>
          <p:cNvPr id="20" name="TextBox 19">
            <a:extLst>
              <a:ext uri="{FF2B5EF4-FFF2-40B4-BE49-F238E27FC236}">
                <a16:creationId xmlns:a16="http://schemas.microsoft.com/office/drawing/2014/main" id="{B340CDE9-3918-58FE-B986-19A214282761}"/>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21" name="TextBox 20">
            <a:extLst>
              <a:ext uri="{FF2B5EF4-FFF2-40B4-BE49-F238E27FC236}">
                <a16:creationId xmlns:a16="http://schemas.microsoft.com/office/drawing/2014/main" id="{43F6DD69-90F8-6900-9B42-11A941C6CD14}"/>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3" name="TextBox 22">
            <a:extLst>
              <a:ext uri="{FF2B5EF4-FFF2-40B4-BE49-F238E27FC236}">
                <a16:creationId xmlns:a16="http://schemas.microsoft.com/office/drawing/2014/main" id="{CF8315AD-237D-BB43-68BD-75CE3919CB67}"/>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2345166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BD26D-C8ED-D619-2EDE-D6C26A60FB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5DDB272-22BC-0F15-9D4D-7D6D6074C3A9}"/>
              </a:ext>
            </a:extLst>
          </p:cNvPr>
          <p:cNvSpPr>
            <a:spLocks noGrp="1"/>
          </p:cNvSpPr>
          <p:nvPr>
            <p:ph type="title"/>
          </p:nvPr>
        </p:nvSpPr>
        <p:spPr>
          <a:xfrm>
            <a:off x="342901" y="219456"/>
            <a:ext cx="10287001" cy="470898"/>
          </a:xfrm>
        </p:spPr>
        <p:txBody>
          <a:bodyPr/>
          <a:lstStyle/>
          <a:p>
            <a:r>
              <a:rPr lang="en-US" dirty="0"/>
              <a:t>Introduction :DFT calculation methods</a:t>
            </a:r>
          </a:p>
        </p:txBody>
      </p:sp>
      <p:sp>
        <p:nvSpPr>
          <p:cNvPr id="4" name="Footer Placeholder 3">
            <a:extLst>
              <a:ext uri="{FF2B5EF4-FFF2-40B4-BE49-F238E27FC236}">
                <a16:creationId xmlns:a16="http://schemas.microsoft.com/office/drawing/2014/main" id="{6EFD7498-9986-AFC3-650A-75E9699A2F9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C0593FC-7F88-82C5-F111-1E1A98E25DE0}"/>
              </a:ext>
            </a:extLst>
          </p:cNvPr>
          <p:cNvSpPr>
            <a:spLocks noGrp="1"/>
          </p:cNvSpPr>
          <p:nvPr>
            <p:ph type="sldNum" sz="quarter" idx="4"/>
          </p:nvPr>
        </p:nvSpPr>
        <p:spPr/>
        <p:txBody>
          <a:bodyPr/>
          <a:lstStyle/>
          <a:p>
            <a:pPr>
              <a:defRPr/>
            </a:pPr>
            <a:fld id="{A9CE67A1-BA7F-A74E-B5D7-615746DEEC2B}" type="slidenum">
              <a:rPr lang="en-US" smtClean="0"/>
              <a:pPr>
                <a:defRPr/>
              </a:pPr>
              <a:t>7</a:t>
            </a:fld>
            <a:endParaRPr lang="en-US" baseline="-11000" dirty="0"/>
          </a:p>
        </p:txBody>
      </p:sp>
      <p:sp>
        <p:nvSpPr>
          <p:cNvPr id="6" name="Date Placeholder 5">
            <a:extLst>
              <a:ext uri="{FF2B5EF4-FFF2-40B4-BE49-F238E27FC236}">
                <a16:creationId xmlns:a16="http://schemas.microsoft.com/office/drawing/2014/main" id="{1A621873-F9EA-7381-5E87-F6C34B0DE25C}"/>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8" name="Group 7">
            <a:extLst>
              <a:ext uri="{FF2B5EF4-FFF2-40B4-BE49-F238E27FC236}">
                <a16:creationId xmlns:a16="http://schemas.microsoft.com/office/drawing/2014/main" id="{74B2550D-BA8C-366D-F6B7-1ABB581F313A}"/>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295DAEF4-4D95-09AD-9CB8-4DD8365F32A4}"/>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515FF48C-8DCB-CF83-F9AE-22BF3DBD4578}"/>
                  </a:ext>
                </a:extLst>
              </p:cNvPr>
              <p:cNvGraphicFramePr/>
              <p:nvPr>
                <p:extLst>
                  <p:ext uri="{D42A27DB-BD31-4B8C-83A1-F6EECF244321}">
                    <p14:modId xmlns:p14="http://schemas.microsoft.com/office/powerpoint/2010/main" val="3783661006"/>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EF0B1926-42B4-1A62-875B-DF7D491BC0CE}"/>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825F0928-2A30-E975-4BBC-E9872C3D1162}"/>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1276F3F7-560F-F1EA-9538-BFBC19CF6554}"/>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C2D62F48-1DEB-7D01-2663-1CA8A60FB896}"/>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A31F3E9-1861-4FF2-490A-6A8B469989E6}"/>
                  </a:ext>
                </a:extLst>
              </p:cNvPr>
              <p:cNvSpPr txBox="1"/>
              <p:nvPr/>
            </p:nvSpPr>
            <p:spPr>
              <a:xfrm>
                <a:off x="257828" y="1901822"/>
                <a:ext cx="10833779" cy="3513206"/>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1- Sum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Using nested for loop one for K and one for 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2" name="!!TextBox 21">
                <a:extLst>
                  <a:ext uri="{FF2B5EF4-FFF2-40B4-BE49-F238E27FC236}">
                    <a16:creationId xmlns:a16="http://schemas.microsoft.com/office/drawing/2014/main" id="{0A31F3E9-1861-4FF2-490A-6A8B469989E6}"/>
                  </a:ext>
                </a:extLst>
              </p:cNvPr>
              <p:cNvSpPr txBox="1">
                <a:spLocks noRot="1" noChangeAspect="1" noMove="1" noResize="1" noEditPoints="1" noAdjustHandles="1" noChangeArrowheads="1" noChangeShapeType="1" noTextEdit="1"/>
              </p:cNvSpPr>
              <p:nvPr/>
            </p:nvSpPr>
            <p:spPr>
              <a:xfrm>
                <a:off x="257828" y="1901822"/>
                <a:ext cx="10833779" cy="3513206"/>
              </a:xfrm>
              <a:prstGeom prst="rect">
                <a:avLst/>
              </a:prstGeom>
              <a:blipFill>
                <a:blip r:embed="rId7"/>
                <a:stretch>
                  <a:fillRect l="-563"/>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5D1B9B29-33AA-3EF8-0780-CEF442A9D3C7}"/>
              </a:ext>
            </a:extLst>
          </p:cNvPr>
          <p:cNvSpPr txBox="1"/>
          <p:nvPr/>
        </p:nvSpPr>
        <p:spPr>
          <a:xfrm>
            <a:off x="342901" y="1976704"/>
            <a:ext cx="2504641" cy="36174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latin typeface="Cambria Math" panose="02040503050406030204" pitchFamily="18" charset="0"/>
              </a:rPr>
              <a:t>Direct computation:</a:t>
            </a:r>
          </a:p>
          <a:p>
            <a:pPr defTabSz="457200">
              <a:spcBef>
                <a:spcPts val="1000"/>
              </a:spcBef>
              <a:buClr>
                <a:srgbClr val="1E4056"/>
              </a:buClr>
              <a:buSzPct val="75000"/>
            </a:pPr>
            <a:endParaRPr lang="en-US" sz="2000" dirty="0">
              <a:solidFill>
                <a:srgbClr val="000000"/>
              </a:solidFill>
            </a:endParaRPr>
          </a:p>
        </p:txBody>
      </p:sp>
      <p:sp>
        <p:nvSpPr>
          <p:cNvPr id="7" name="TextBox 6">
            <a:extLst>
              <a:ext uri="{FF2B5EF4-FFF2-40B4-BE49-F238E27FC236}">
                <a16:creationId xmlns:a16="http://schemas.microsoft.com/office/drawing/2014/main" id="{9BD52CF1-DE5A-21C0-5704-B0F2C011E65B}"/>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1" name="TextBox 10">
            <a:extLst>
              <a:ext uri="{FF2B5EF4-FFF2-40B4-BE49-F238E27FC236}">
                <a16:creationId xmlns:a16="http://schemas.microsoft.com/office/drawing/2014/main" id="{FEB4EC26-9FCC-C693-331A-7CF237AD888D}"/>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039B0E87-CF6F-93D6-D196-A888ED66CDB2}"/>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13" name="TextBox 12">
            <a:extLst>
              <a:ext uri="{FF2B5EF4-FFF2-40B4-BE49-F238E27FC236}">
                <a16:creationId xmlns:a16="http://schemas.microsoft.com/office/drawing/2014/main" id="{0B8B56CD-44F5-4B7A-CFB0-636DD2102122}"/>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8" name="TextBox 17">
            <a:extLst>
              <a:ext uri="{FF2B5EF4-FFF2-40B4-BE49-F238E27FC236}">
                <a16:creationId xmlns:a16="http://schemas.microsoft.com/office/drawing/2014/main" id="{C516DA75-14D3-4BE7-C55B-1715F477559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732171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95F68-3294-53C4-6F6A-E980B4829F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575B7B-27D4-27F8-720A-C0E1869C8E20}"/>
              </a:ext>
            </a:extLst>
          </p:cNvPr>
          <p:cNvSpPr>
            <a:spLocks noGrp="1"/>
          </p:cNvSpPr>
          <p:nvPr>
            <p:ph type="title"/>
          </p:nvPr>
        </p:nvSpPr>
        <p:spPr>
          <a:xfrm>
            <a:off x="342901" y="219456"/>
            <a:ext cx="10287001" cy="470898"/>
          </a:xfrm>
        </p:spPr>
        <p:txBody>
          <a:bodyPr/>
          <a:lstStyle/>
          <a:p>
            <a:r>
              <a:rPr lang="en-US" dirty="0"/>
              <a:t>Introduction :DFT calculation methods</a:t>
            </a:r>
          </a:p>
        </p:txBody>
      </p:sp>
      <p:sp>
        <p:nvSpPr>
          <p:cNvPr id="4" name="Footer Placeholder 3">
            <a:extLst>
              <a:ext uri="{FF2B5EF4-FFF2-40B4-BE49-F238E27FC236}">
                <a16:creationId xmlns:a16="http://schemas.microsoft.com/office/drawing/2014/main" id="{6A0CDBE3-752C-D41E-F763-57AB3EB215D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18BDD74-88AC-C163-2C8D-51B162313843}"/>
              </a:ext>
            </a:extLst>
          </p:cNvPr>
          <p:cNvSpPr>
            <a:spLocks noGrp="1"/>
          </p:cNvSpPr>
          <p:nvPr>
            <p:ph type="sldNum" sz="quarter" idx="4"/>
          </p:nvPr>
        </p:nvSpPr>
        <p:spPr/>
        <p:txBody>
          <a:bodyPr/>
          <a:lstStyle/>
          <a:p>
            <a:pPr>
              <a:defRPr/>
            </a:pPr>
            <a:fld id="{A9CE67A1-BA7F-A74E-B5D7-615746DEEC2B}" type="slidenum">
              <a:rPr lang="en-US" smtClean="0"/>
              <a:pPr>
                <a:defRPr/>
              </a:pPr>
              <a:t>8</a:t>
            </a:fld>
            <a:endParaRPr lang="en-US" baseline="-11000" dirty="0"/>
          </a:p>
        </p:txBody>
      </p:sp>
      <p:sp>
        <p:nvSpPr>
          <p:cNvPr id="6" name="Date Placeholder 5">
            <a:extLst>
              <a:ext uri="{FF2B5EF4-FFF2-40B4-BE49-F238E27FC236}">
                <a16:creationId xmlns:a16="http://schemas.microsoft.com/office/drawing/2014/main" id="{F68D18DB-9FFE-3F48-5744-F79F1A40F590}"/>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8" name="Group 7">
            <a:extLst>
              <a:ext uri="{FF2B5EF4-FFF2-40B4-BE49-F238E27FC236}">
                <a16:creationId xmlns:a16="http://schemas.microsoft.com/office/drawing/2014/main" id="{51A764AC-798B-C9D7-E3C0-F865E3F4CA08}"/>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A5EB0D71-2D94-BE80-8261-16E0CCCF12DA}"/>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66CCFFED-EB8A-7993-5FDD-50F730293737}"/>
                  </a:ext>
                </a:extLst>
              </p:cNvPr>
              <p:cNvGraphicFramePr/>
              <p:nvPr>
                <p:extLst>
                  <p:ext uri="{D42A27DB-BD31-4B8C-83A1-F6EECF244321}">
                    <p14:modId xmlns:p14="http://schemas.microsoft.com/office/powerpoint/2010/main" val="4038139814"/>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F0F425EF-391D-7CF3-2B75-C2601D0FAA08}"/>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FF85025B-3C6F-6358-F704-05F184ECD042}"/>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5D864422-F29D-D18E-C1D1-75B1ADAB17FF}"/>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0BBE0E85-D5E2-E109-02CE-8832B987C899}"/>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55FC8ED-8ADC-3757-74ED-DC95D52D555E}"/>
                  </a:ext>
                </a:extLst>
              </p:cNvPr>
              <p:cNvSpPr txBox="1"/>
              <p:nvPr/>
            </p:nvSpPr>
            <p:spPr>
              <a:xfrm>
                <a:off x="257828" y="1901822"/>
                <a:ext cx="10833779" cy="3657924"/>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2- Matrix form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d>
                            <m:dPr>
                              <m:begChr m:val="["/>
                              <m:endChr m:val="]"/>
                              <m:ctrlPr>
                                <a:rPr lang="en-US" b="1" i="1" smtClean="0">
                                  <a:latin typeface="Cambria Math" panose="02040503050406030204" pitchFamily="18" charset="0"/>
                                </a:rPr>
                              </m:ctrlPr>
                            </m:dPr>
                            <m:e>
                              <m:m>
                                <m:mPr>
                                  <m:mcs>
                                    <m:mc>
                                      <m:mcPr>
                                        <m:count m:val="1"/>
                                        <m:mcJc m:val="center"/>
                                      </m:mcPr>
                                    </m:mc>
                                  </m:mcs>
                                  <m:ctrlPr>
                                    <a:rPr lang="en-US" b="1" i="1" smtClean="0">
                                      <a:latin typeface="Cambria Math" panose="02040503050406030204" pitchFamily="18" charset="0"/>
                                    </a:rPr>
                                  </m:ctrlPr>
                                </m:mPr>
                                <m:mr>
                                  <m:e>
                                    <m:r>
                                      <m:rPr>
                                        <m:brk m:alnAt="7"/>
                                      </m:rP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m:rPr>
                                            <m:brk m:alnAt="7"/>
                                          </m:rPr>
                                          <a:rPr lang="en-US" b="1" i="1" smtClean="0">
                                            <a:latin typeface="Cambria Math" panose="02040503050406030204" pitchFamily="18" charset="0"/>
                                          </a:rPr>
                                          <m:t>𝟎</m:t>
                                        </m:r>
                                      </m:e>
                                    </m:d>
                                  </m:e>
                                </m:mr>
                                <m:mr>
                                  <m:e>
                                    <m:r>
                                      <a:rPr lang="en-US" b="1" i="1" smtClean="0">
                                        <a:latin typeface="Cambria Math" panose="02040503050406030204" pitchFamily="18" charset="0"/>
                                      </a:rPr>
                                      <m:t>⋮</m:t>
                                    </m:r>
                                  </m:e>
                                </m:mr>
                                <m:mr>
                                  <m:e>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𝑵</m:t>
                                        </m:r>
                                        <m:r>
                                          <a:rPr lang="en-US" b="1" i="1" smtClean="0">
                                            <a:latin typeface="Cambria Math" panose="02040503050406030204" pitchFamily="18" charset="0"/>
                                          </a:rPr>
                                          <m:t>−</m:t>
                                        </m:r>
                                        <m:r>
                                          <a:rPr lang="en-US" b="1" i="1" smtClean="0">
                                            <a:latin typeface="Cambria Math" panose="02040503050406030204" pitchFamily="18" charset="0"/>
                                          </a:rPr>
                                          <m:t>𝟏</m:t>
                                        </m:r>
                                      </m:e>
                                    </m:d>
                                  </m:e>
                                </m:mr>
                              </m:m>
                            </m:e>
                          </m:d>
                        </m:e>
                        <m:sub>
                          <m:r>
                            <a:rPr lang="en-US" b="1" i="1" smtClean="0">
                              <a:latin typeface="Cambria Math" panose="02040503050406030204" pitchFamily="18" charset="0"/>
                            </a:rPr>
                            <m:t>𝑵</m:t>
                          </m:r>
                          <m:r>
                            <a:rPr lang="en-US" b="1" i="1" smtClean="0">
                              <a:latin typeface="Cambria Math" panose="02040503050406030204" pitchFamily="18" charset="0"/>
                            </a:rPr>
                            <m:t>×</m:t>
                          </m:r>
                          <m:r>
                            <a:rPr lang="en-US" b="1" i="1" smtClean="0">
                              <a:latin typeface="Cambria Math" panose="02040503050406030204" pitchFamily="18" charset="0"/>
                            </a:rPr>
                            <m:t>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r>
                                        <m:e>
                                          <m:r>
                                            <a:rPr lang="en-US" b="0" i="1" smtClean="0">
                                              <a:latin typeface="Cambria Math" panose="02040503050406030204" pitchFamily="18" charset="0"/>
                                            </a:rPr>
                                            <m:t>⋮</m:t>
                                          </m:r>
                                        </m:e>
                                      </m:m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
                                  </m:e>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e>
                                      </m:mr>
                                      <m:mr>
                                        <m:e>
                                          <m:r>
                                            <a:rPr lang="en-US" b="0" i="1" smtClean="0">
                                              <a:latin typeface="Cambria Math" panose="02040503050406030204" pitchFamily="18" charset="0"/>
                                            </a:rPr>
                                            <m:t>⋱</m:t>
                                          </m:r>
                                        </m:e>
                                      </m:mr>
                                      <m:mr>
                                        <m:e>
                                          <m:r>
                                            <a:rPr lang="en-US" b="0" i="1" smtClean="0">
                                              <a:latin typeface="Cambria Math" panose="02040503050406030204" pitchFamily="18" charset="0"/>
                                            </a:rPr>
                                            <m:t>…</m:t>
                                          </m:r>
                                        </m:e>
                                      </m:mr>
                                    </m:m>
                                  </m:e>
                                  <m:e>
                                    <m:m>
                                      <m:mPr>
                                        <m:mcs>
                                          <m:mc>
                                            <m:mcPr>
                                              <m:count m:val="1"/>
                                              <m:mcJc m:val="center"/>
                                            </m:mcPr>
                                          </m:mc>
                                        </m:mcs>
                                        <m:ctrlPr>
                                          <a:rPr lang="en-US" b="0" i="1" smtClean="0">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r>
                                        <m:e>
                                          <m:r>
                                            <a:rPr lang="en-US" b="0" i="1" smtClean="0">
                                              <a:latin typeface="Cambria Math" panose="02040503050406030204" pitchFamily="18" charset="0"/>
                                            </a:rPr>
                                            <m:t>⋮</m:t>
                                          </m:r>
                                        </m:e>
                                      </m:mr>
                                      <m:mr>
                                        <m:e>
                                          <m:sSubSup>
                                            <m:sSubSupPr>
                                              <m:ctrlPr>
                                                <a:rPr lang="en-US" i="1">
                                                  <a:latin typeface="Cambria Math" panose="02040503050406030204" pitchFamily="18" charset="0"/>
                                                </a:rPr>
                                              </m:ctrlPr>
                                            </m:sSubSupPr>
                                            <m:e>
                                              <m:r>
                                                <a:rPr lang="en-US" b="0" i="1" smtClean="0">
                                                  <a:latin typeface="Cambria Math" panose="02040503050406030204" pitchFamily="18" charset="0"/>
                                                </a:rPr>
                                                <m:t>       </m:t>
                                              </m:r>
                                              <m:r>
                                                <a:rPr lang="en-US" i="1">
                                                  <a:latin typeface="Cambria Math" panose="02040503050406030204" pitchFamily="18" charset="0"/>
                                                </a:rPr>
                                                <m:t>𝑊</m:t>
                                              </m:r>
                                            </m:e>
                                            <m:sub>
                                              <m:r>
                                                <a:rPr lang="en-US" i="1">
                                                  <a:latin typeface="Cambria Math" panose="02040503050406030204" pitchFamily="18" charset="0"/>
                                                </a:rPr>
                                                <m:t>𝑁</m:t>
                                              </m:r>
                                            </m:sub>
                                            <m:sup>
                                              <m:d>
                                                <m:dPr>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1</m:t>
                                                  </m:r>
                                                </m:e>
                                              </m:d>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e>
                                              </m:d>
                                            </m:sup>
                                          </m:sSubSup>
                                        </m:e>
                                      </m:mr>
                                    </m:m>
                                  </m:e>
                                </m:mr>
                              </m:m>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sub>
                      </m:sSub>
                      <m:sSub>
                        <m:sSubPr>
                          <m:ctrlPr>
                            <a:rPr lang="en-US" b="0" i="1" smtClean="0">
                              <a:latin typeface="Cambria Math" panose="02040503050406030204" pitchFamily="18" charset="0"/>
                            </a:rPr>
                          </m:ctrlPr>
                        </m:sSubPr>
                        <m:e>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𝑥</m:t>
                                    </m:r>
                                    <m:d>
                                      <m:dPr>
                                        <m:begChr m:val="["/>
                                        <m:endChr m:val="]"/>
                                        <m:ctrlPr>
                                          <a:rPr lang="en-US" i="1">
                                            <a:latin typeface="Cambria Math" panose="02040503050406030204" pitchFamily="18" charset="0"/>
                                          </a:rPr>
                                        </m:ctrlPr>
                                      </m:dPr>
                                      <m:e>
                                        <m:r>
                                          <m:rPr>
                                            <m:brk m:alnAt="7"/>
                                          </m:rPr>
                                          <a:rPr lang="en-US" i="1">
                                            <a:latin typeface="Cambria Math" panose="02040503050406030204" pitchFamily="18" charset="0"/>
                                          </a:rPr>
                                          <m:t>0</m:t>
                                        </m:r>
                                      </m:e>
                                    </m:d>
                                  </m:e>
                                </m:mr>
                                <m:mr>
                                  <m:e>
                                    <m:r>
                                      <a:rPr lang="en-US" i="1">
                                        <a:latin typeface="Cambria Math" panose="02040503050406030204" pitchFamily="18" charset="0"/>
                                      </a:rPr>
                                      <m:t>⋮</m:t>
                                    </m:r>
                                  </m:e>
                                </m:mr>
                                <m:mr>
                                  <m:e>
                                    <m:r>
                                      <a:rPr lang="en-US" b="0" i="1" smtClean="0">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1</m:t>
                                        </m:r>
                                      </m:e>
                                    </m:d>
                                  </m:e>
                                </m:mr>
                              </m:m>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sub>
                      </m:sSub>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Matrix multiplication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2" name="TextBox 21">
                <a:extLst>
                  <a:ext uri="{FF2B5EF4-FFF2-40B4-BE49-F238E27FC236}">
                    <a16:creationId xmlns:a16="http://schemas.microsoft.com/office/drawing/2014/main" id="{155FC8ED-8ADC-3757-74ED-DC95D52D555E}"/>
                  </a:ext>
                </a:extLst>
              </p:cNvPr>
              <p:cNvSpPr txBox="1">
                <a:spLocks noRot="1" noChangeAspect="1" noMove="1" noResize="1" noEditPoints="1" noAdjustHandles="1" noChangeArrowheads="1" noChangeShapeType="1" noTextEdit="1"/>
              </p:cNvSpPr>
              <p:nvPr/>
            </p:nvSpPr>
            <p:spPr>
              <a:xfrm>
                <a:off x="257828" y="1901822"/>
                <a:ext cx="10833779" cy="3657924"/>
              </a:xfrm>
              <a:prstGeom prst="rect">
                <a:avLst/>
              </a:prstGeom>
              <a:blipFill>
                <a:blip r:embed="rId7"/>
                <a:stretch>
                  <a:fillRect l="-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21">
                <a:extLst>
                  <a:ext uri="{FF2B5EF4-FFF2-40B4-BE49-F238E27FC236}">
                    <a16:creationId xmlns:a16="http://schemas.microsoft.com/office/drawing/2014/main" id="{E9C84AA2-8716-3F84-4121-C05DB9A99D39}"/>
                  </a:ext>
                </a:extLst>
              </p:cNvPr>
              <p:cNvSpPr txBox="1"/>
              <p:nvPr/>
            </p:nvSpPr>
            <p:spPr>
              <a:xfrm>
                <a:off x="12192000" y="1901822"/>
                <a:ext cx="10833779" cy="3513206"/>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1- Sum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Using nested for loop one for K and one for 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 name="!!TextBox 21">
                <a:extLst>
                  <a:ext uri="{FF2B5EF4-FFF2-40B4-BE49-F238E27FC236}">
                    <a16:creationId xmlns:a16="http://schemas.microsoft.com/office/drawing/2014/main" id="{E9C84AA2-8716-3F84-4121-C05DB9A99D39}"/>
                  </a:ext>
                </a:extLst>
              </p:cNvPr>
              <p:cNvSpPr txBox="1">
                <a:spLocks noRot="1" noChangeAspect="1" noMove="1" noResize="1" noEditPoints="1" noAdjustHandles="1" noChangeArrowheads="1" noChangeShapeType="1" noTextEdit="1"/>
              </p:cNvSpPr>
              <p:nvPr/>
            </p:nvSpPr>
            <p:spPr>
              <a:xfrm>
                <a:off x="12192000" y="1901822"/>
                <a:ext cx="10833779" cy="3513206"/>
              </a:xfrm>
              <a:prstGeom prst="rect">
                <a:avLst/>
              </a:prstGeom>
              <a:blipFill>
                <a:blip r:embed="rId8"/>
                <a:stretch>
                  <a:fillRect l="-56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238962-C372-CB10-C320-447D772046D1}"/>
              </a:ext>
            </a:extLst>
          </p:cNvPr>
          <p:cNvSpPr txBox="1"/>
          <p:nvPr/>
        </p:nvSpPr>
        <p:spPr>
          <a:xfrm>
            <a:off x="342901" y="1976704"/>
            <a:ext cx="2504641" cy="36174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latin typeface="Cambria Math" panose="02040503050406030204" pitchFamily="18" charset="0"/>
              </a:rPr>
              <a:t>Direct computation:</a:t>
            </a: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B83F1AF8-9325-DFF2-3873-9AA3992ABB84}"/>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1" name="TextBox 20">
            <a:extLst>
              <a:ext uri="{FF2B5EF4-FFF2-40B4-BE49-F238E27FC236}">
                <a16:creationId xmlns:a16="http://schemas.microsoft.com/office/drawing/2014/main" id="{F1A2781F-8F67-5E7F-72DB-8BEDD2683AE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3" name="TextBox 22">
            <a:extLst>
              <a:ext uri="{FF2B5EF4-FFF2-40B4-BE49-F238E27FC236}">
                <a16:creationId xmlns:a16="http://schemas.microsoft.com/office/drawing/2014/main" id="{A852339A-4003-A5E5-B3AD-D000F98C4EF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24" name="TextBox 23">
            <a:extLst>
              <a:ext uri="{FF2B5EF4-FFF2-40B4-BE49-F238E27FC236}">
                <a16:creationId xmlns:a16="http://schemas.microsoft.com/office/drawing/2014/main" id="{750DC1E1-9E0B-253B-7120-F0863F5D5AF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5" name="TextBox 24">
            <a:extLst>
              <a:ext uri="{FF2B5EF4-FFF2-40B4-BE49-F238E27FC236}">
                <a16:creationId xmlns:a16="http://schemas.microsoft.com/office/drawing/2014/main" id="{D2C23230-C0CB-E6C0-E2D5-3B3159347D0A}"/>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24073528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DDDE8-45A7-0753-539E-F8453B5B054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BC4F7C-4A74-9E2D-5A1E-8CB5DF53D89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1478CECB-BDFE-EAD4-4E08-CB141E61D77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B6058F9-D3EA-D9FB-BA1D-EA04CD4C03A8}"/>
              </a:ext>
            </a:extLst>
          </p:cNvPr>
          <p:cNvSpPr>
            <a:spLocks noGrp="1"/>
          </p:cNvSpPr>
          <p:nvPr>
            <p:ph type="sldNum" sz="quarter" idx="4"/>
          </p:nvPr>
        </p:nvSpPr>
        <p:spPr/>
        <p:txBody>
          <a:bodyPr/>
          <a:lstStyle/>
          <a:p>
            <a:pPr>
              <a:defRPr/>
            </a:pPr>
            <a:fld id="{A9CE67A1-BA7F-A74E-B5D7-615746DEEC2B}" type="slidenum">
              <a:rPr lang="en-US" smtClean="0"/>
              <a:pPr>
                <a:defRPr/>
              </a:pPr>
              <a:t>9</a:t>
            </a:fld>
            <a:endParaRPr lang="en-US" baseline="-11000" dirty="0"/>
          </a:p>
        </p:txBody>
      </p:sp>
      <p:sp>
        <p:nvSpPr>
          <p:cNvPr id="6" name="Date Placeholder 5">
            <a:extLst>
              <a:ext uri="{FF2B5EF4-FFF2-40B4-BE49-F238E27FC236}">
                <a16:creationId xmlns:a16="http://schemas.microsoft.com/office/drawing/2014/main" id="{9851DB5E-F9B3-2314-5242-BB16BD96B0BA}"/>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8" name="Group 7">
            <a:extLst>
              <a:ext uri="{FF2B5EF4-FFF2-40B4-BE49-F238E27FC236}">
                <a16:creationId xmlns:a16="http://schemas.microsoft.com/office/drawing/2014/main" id="{07ED0CA1-C7B3-82C3-B3C4-8351BBA92683}"/>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C990ED08-ABA1-7A49-5186-6F637347B6FE}"/>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8707AFD5-430E-18E4-63ED-4C4207876873}"/>
                  </a:ext>
                </a:extLst>
              </p:cNvPr>
              <p:cNvGraphicFramePr/>
              <p:nvPr>
                <p:extLst>
                  <p:ext uri="{D42A27DB-BD31-4B8C-83A1-F6EECF244321}">
                    <p14:modId xmlns:p14="http://schemas.microsoft.com/office/powerpoint/2010/main" val="339245187"/>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AB27EECC-BC49-990E-2067-DD13F67BB8B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71CE1145-ADF5-5D3E-C842-BCEAAC4ED8AF}"/>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20BCB5C0-065A-0143-27C4-E651502B301F}"/>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A8234D40-8B11-8BE2-C912-4EA153969CA2}"/>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2" name="TextBox 21">
            <a:extLst>
              <a:ext uri="{FF2B5EF4-FFF2-40B4-BE49-F238E27FC236}">
                <a16:creationId xmlns:a16="http://schemas.microsoft.com/office/drawing/2014/main" id="{4D62403D-C668-B5DE-7089-F29F8C36CA78}"/>
              </a:ext>
            </a:extLst>
          </p:cNvPr>
          <p:cNvSpPr txBox="1"/>
          <p:nvPr/>
        </p:nvSpPr>
        <p:spPr>
          <a:xfrm>
            <a:off x="257828" y="1901822"/>
            <a:ext cx="10833779" cy="1518364"/>
          </a:xfrm>
          <a:prstGeom prst="rect">
            <a:avLst/>
          </a:prstGeom>
          <a:noFill/>
        </p:spPr>
        <p:txBody>
          <a:bodyPr wrap="square">
            <a:spAutoFit/>
          </a:bodyPr>
          <a:lstStyle/>
          <a:p>
            <a:pPr defTabSz="457200">
              <a:spcBef>
                <a:spcPts val="1000"/>
              </a:spcBef>
              <a:buClr>
                <a:srgbClr val="1E4056"/>
              </a:buClr>
              <a:buSzPct val="75000"/>
            </a:pPr>
            <a:r>
              <a:rPr lang="en-US" sz="2000" b="1" dirty="0">
                <a:latin typeface="Barlow (Body)"/>
              </a:rPr>
              <a:t>FFT</a:t>
            </a:r>
            <a:r>
              <a:rPr lang="en-US" sz="2000" b="1" dirty="0">
                <a:latin typeface="Cambria Math" panose="02040503050406030204" pitchFamily="18" charset="0"/>
              </a:rPr>
              <a:t>: </a:t>
            </a:r>
            <a:r>
              <a:rPr lang="en-US" sz="2000" dirty="0"/>
              <a:t>The Fast Fourier Transform (FFT) is </a:t>
            </a:r>
            <a:r>
              <a:rPr lang="en-US" sz="2000" b="1" dirty="0"/>
              <a:t>an algorithm that computes the Discrete Fourier Transform (DFT) of a sequence</a:t>
            </a:r>
            <a:endParaRPr lang="en-US" sz="2000" b="1" dirty="0">
              <a:latin typeface="Cambria Math" panose="02040503050406030204" pitchFamily="18" charset="0"/>
            </a:endParaRPr>
          </a:p>
          <a:p>
            <a:pPr defTabSz="457200">
              <a:spcBef>
                <a:spcPts val="1000"/>
              </a:spcBef>
              <a:buClr>
                <a:srgbClr val="1E4056"/>
              </a:buClr>
              <a:buSzPct val="75000"/>
            </a:pPr>
            <a:r>
              <a:rPr lang="en-US" b="1" dirty="0"/>
              <a:t>Algorithm categories : </a:t>
            </a:r>
          </a:p>
          <a:p>
            <a:pPr defTabSz="457200">
              <a:spcBef>
                <a:spcPts val="1000"/>
              </a:spcBef>
              <a:buClr>
                <a:srgbClr val="1E4056"/>
              </a:buClr>
              <a:buSzPct val="75000"/>
            </a:pPr>
            <a:endParaRPr lang="en-US" dirty="0"/>
          </a:p>
        </p:txBody>
      </p:sp>
      <p:graphicFrame>
        <p:nvGraphicFramePr>
          <p:cNvPr id="11" name="Diagram 10">
            <a:extLst>
              <a:ext uri="{FF2B5EF4-FFF2-40B4-BE49-F238E27FC236}">
                <a16:creationId xmlns:a16="http://schemas.microsoft.com/office/drawing/2014/main" id="{4215C5D8-DC47-1D56-B3A5-FC6AF208E2D8}"/>
              </a:ext>
            </a:extLst>
          </p:cNvPr>
          <p:cNvGraphicFramePr/>
          <p:nvPr>
            <p:extLst>
              <p:ext uri="{D42A27DB-BD31-4B8C-83A1-F6EECF244321}">
                <p14:modId xmlns:p14="http://schemas.microsoft.com/office/powerpoint/2010/main" val="1386574199"/>
              </p:ext>
            </p:extLst>
          </p:nvPr>
        </p:nvGraphicFramePr>
        <p:xfrm>
          <a:off x="3028633" y="2956338"/>
          <a:ext cx="6487588" cy="334724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2A32A638-BBDA-9D0C-5EA7-91E53CECDFF4}"/>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5FD26C15-5FC3-8ECE-D6AF-C132F5CA574E}"/>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C05304ED-EFF1-C45A-C40C-9FE3F338A1DA}"/>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3" name="TextBox 12">
            <a:extLst>
              <a:ext uri="{FF2B5EF4-FFF2-40B4-BE49-F238E27FC236}">
                <a16:creationId xmlns:a16="http://schemas.microsoft.com/office/drawing/2014/main" id="{93530D79-48FF-E9D4-B152-B97FDF53435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8" name="TextBox 17">
            <a:extLst>
              <a:ext uri="{FF2B5EF4-FFF2-40B4-BE49-F238E27FC236}">
                <a16:creationId xmlns:a16="http://schemas.microsoft.com/office/drawing/2014/main" id="{F7EFBA70-F69B-1D5D-D355-CC3B07F413F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576621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Graphic spid="11"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86959-243F-15FF-3973-634C2E04F3E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A57A3F-C5FD-2D42-8BA8-0E6911D84F8C}"/>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DE4AF5AF-430E-ECE3-DF4C-AF03A006942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4990A75-68FB-C037-0693-98A3EE5F0B43}"/>
              </a:ext>
            </a:extLst>
          </p:cNvPr>
          <p:cNvSpPr>
            <a:spLocks noGrp="1"/>
          </p:cNvSpPr>
          <p:nvPr>
            <p:ph type="sldNum" sz="quarter" idx="4"/>
          </p:nvPr>
        </p:nvSpPr>
        <p:spPr/>
        <p:txBody>
          <a:bodyPr/>
          <a:lstStyle/>
          <a:p>
            <a:pPr>
              <a:defRPr/>
            </a:pPr>
            <a:fld id="{A9CE67A1-BA7F-A74E-B5D7-615746DEEC2B}" type="slidenum">
              <a:rPr lang="en-US" smtClean="0"/>
              <a:pPr>
                <a:defRPr/>
              </a:pPr>
              <a:t>10</a:t>
            </a:fld>
            <a:endParaRPr lang="en-US" baseline="-11000" dirty="0"/>
          </a:p>
        </p:txBody>
      </p:sp>
      <p:sp>
        <p:nvSpPr>
          <p:cNvPr id="6" name="Date Placeholder 5">
            <a:extLst>
              <a:ext uri="{FF2B5EF4-FFF2-40B4-BE49-F238E27FC236}">
                <a16:creationId xmlns:a16="http://schemas.microsoft.com/office/drawing/2014/main" id="{E53FE427-EBC2-ADA6-86E2-49EF170BE9F9}"/>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0B84742-6558-774D-DAC6-4837988ADBC4}"/>
                  </a:ext>
                </a:extLst>
              </p:cNvPr>
              <p:cNvSpPr txBox="1"/>
              <p:nvPr/>
            </p:nvSpPr>
            <p:spPr>
              <a:xfrm>
                <a:off x="228331" y="849771"/>
                <a:ext cx="10833779" cy="439736"/>
              </a:xfrm>
              <a:prstGeom prst="rect">
                <a:avLst/>
              </a:prstGeom>
              <a:noFill/>
            </p:spPr>
            <p:txBody>
              <a:bodyPr wrap="square">
                <a:spAutoFit/>
              </a:bodyPr>
              <a:lstStyle/>
              <a:p>
                <a:pPr defTabSz="457200">
                  <a:spcBef>
                    <a:spcPts val="1000"/>
                  </a:spcBef>
                  <a:buClr>
                    <a:srgbClr val="1E4056"/>
                  </a:buClr>
                  <a:buSzPct val="75000"/>
                </a:pPr>
                <a:r>
                  <a:rPr lang="en-US" sz="2000" b="1" dirty="0">
                    <a:latin typeface="Barlow (Body)"/>
                  </a:rPr>
                  <a:t>Complexity table of DFT computation  </a:t>
                </a:r>
                <a:r>
                  <a:rPr lang="en-US" sz="2000" b="1" dirty="0">
                    <a:latin typeface="Cambria Math" panose="02040503050406030204" pitchFamily="18" charset="0"/>
                  </a:rPr>
                  <a:t>:</a:t>
                </a:r>
                <a14:m>
                  <m:oMath xmlns:m="http://schemas.openxmlformats.org/officeDocument/2006/math">
                    <m:r>
                      <a:rPr lang="en-US" sz="2000" b="1" i="0" smtClean="0">
                        <a:latin typeface="Cambria Math" panose="02040503050406030204" pitchFamily="18" charset="0"/>
                      </a:rPr>
                      <m:t> </m:t>
                    </m:r>
                    <m:r>
                      <a:rPr lang="en-US" sz="2000" b="1" i="1" smtClean="0">
                        <a:latin typeface="Cambria Math" panose="02040503050406030204" pitchFamily="18" charset="0"/>
                      </a:rPr>
                      <m:t>𝑶</m:t>
                    </m:r>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𝑵</m:t>
                            </m:r>
                          </m:e>
                          <m:sup>
                            <m:r>
                              <a:rPr lang="en-US" sz="2000" b="1" i="1" smtClean="0">
                                <a:latin typeface="Cambria Math" panose="02040503050406030204" pitchFamily="18" charset="0"/>
                              </a:rPr>
                              <m:t>𝟐</m:t>
                            </m:r>
                          </m:sup>
                        </m:sSup>
                      </m:e>
                    </m:d>
                  </m:oMath>
                </a14:m>
                <a:endParaRPr lang="en-US" dirty="0"/>
              </a:p>
            </p:txBody>
          </p:sp>
        </mc:Choice>
        <mc:Fallback xmlns="">
          <p:sp>
            <p:nvSpPr>
              <p:cNvPr id="22" name="TextBox 21">
                <a:extLst>
                  <a:ext uri="{FF2B5EF4-FFF2-40B4-BE49-F238E27FC236}">
                    <a16:creationId xmlns:a16="http://schemas.microsoft.com/office/drawing/2014/main" id="{00B84742-6558-774D-DAC6-4837988ADBC4}"/>
                  </a:ext>
                </a:extLst>
              </p:cNvPr>
              <p:cNvSpPr txBox="1">
                <a:spLocks noRot="1" noChangeAspect="1" noMove="1" noResize="1" noEditPoints="1" noAdjustHandles="1" noChangeArrowheads="1" noChangeShapeType="1" noTextEdit="1"/>
              </p:cNvSpPr>
              <p:nvPr/>
            </p:nvSpPr>
            <p:spPr>
              <a:xfrm>
                <a:off x="228331" y="849771"/>
                <a:ext cx="10833779" cy="439736"/>
              </a:xfrm>
              <a:prstGeom prst="rect">
                <a:avLst/>
              </a:prstGeom>
              <a:blipFill>
                <a:blip r:embed="rId2"/>
                <a:stretch>
                  <a:fillRect l="-562" t="-5479" b="-16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DEF7395-5DF0-F088-0287-11707EDCA809}"/>
                  </a:ext>
                </a:extLst>
              </p:cNvPr>
              <p:cNvGraphicFramePr>
                <a:graphicFrameLocks noGrp="1"/>
              </p:cNvGraphicFramePr>
              <p:nvPr>
                <p:extLst>
                  <p:ext uri="{D42A27DB-BD31-4B8C-83A1-F6EECF244321}">
                    <p14:modId xmlns:p14="http://schemas.microsoft.com/office/powerpoint/2010/main" val="467401240"/>
                  </p:ext>
                </p:extLst>
              </p:nvPr>
            </p:nvGraphicFramePr>
            <p:xfrm>
              <a:off x="2032000" y="1448924"/>
              <a:ext cx="8128000" cy="2226120"/>
            </p:xfrm>
            <a:graphic>
              <a:graphicData uri="http://schemas.openxmlformats.org/drawingml/2006/table">
                <a:tbl>
                  <a:tblPr firstRow="1" bandRow="1">
                    <a:tableStyleId>{72833802-FEF1-4C79-8D5D-14CF1EAF98D9}</a:tableStyleId>
                  </a:tblPr>
                  <a:tblGrid>
                    <a:gridCol w="4064000">
                      <a:extLst>
                        <a:ext uri="{9D8B030D-6E8A-4147-A177-3AD203B41FA5}">
                          <a16:colId xmlns:a16="http://schemas.microsoft.com/office/drawing/2014/main" val="2864736022"/>
                        </a:ext>
                      </a:extLst>
                    </a:gridCol>
                    <a:gridCol w="4064000">
                      <a:extLst>
                        <a:ext uri="{9D8B030D-6E8A-4147-A177-3AD203B41FA5}">
                          <a16:colId xmlns:a16="http://schemas.microsoft.com/office/drawing/2014/main" val="1737341764"/>
                        </a:ext>
                      </a:extLst>
                    </a:gridCol>
                  </a:tblGrid>
                  <a:tr h="370840">
                    <a:tc>
                      <a:txBody>
                        <a:bodyPr/>
                        <a:lstStyle/>
                        <a:p>
                          <a:pPr algn="ctr"/>
                          <a:r>
                            <a:rPr lang="en-US" dirty="0"/>
                            <a:t>Number of points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Number of multiplication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0840">
                    <a:tc>
                      <a:txBody>
                        <a:bodyPr/>
                        <a:lstStyle/>
                        <a:p>
                          <a:pPr algn="ctr"/>
                          <a:r>
                            <a:rPr lang="en-US" b="1"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p>
                                  <m:sSupPr>
                                    <m:ctrlPr>
                                      <a:rPr lang="en-US" b="1" i="1" smtClean="0">
                                        <a:latin typeface="Cambria Math" panose="02040503050406030204" pitchFamily="18" charset="0"/>
                                      </a:rPr>
                                    </m:ctrlPr>
                                  </m:sSupPr>
                                  <m:e>
                                    <m:r>
                                      <a:rPr lang="en-US" b="1" smtClean="0">
                                        <a:latin typeface="Cambria Math" panose="02040503050406030204" pitchFamily="18" charset="0"/>
                                      </a:rPr>
                                      <m:t>𝟏𝟎</m:t>
                                    </m:r>
                                  </m:e>
                                  <m:sup>
                                    <m:r>
                                      <a:rPr lang="en-US" b="1" smtClean="0">
                                        <a:latin typeface="Cambria Math" panose="02040503050406030204" pitchFamily="18" charset="0"/>
                                      </a:rPr>
                                      <m:t>𝟔</m:t>
                                    </m:r>
                                  </m:sup>
                                </m:sSup>
                              </m:oMath>
                            </m:oMathPara>
                          </a14:m>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043004"/>
                      </a:ext>
                    </a:extLst>
                  </a:tr>
                </a:tbl>
              </a:graphicData>
            </a:graphic>
          </p:graphicFrame>
        </mc:Choice>
        <mc:Fallback xmlns="">
          <p:graphicFrame>
            <p:nvGraphicFramePr>
              <p:cNvPr id="2" name="Table 1">
                <a:extLst>
                  <a:ext uri="{FF2B5EF4-FFF2-40B4-BE49-F238E27FC236}">
                    <a16:creationId xmlns:a16="http://schemas.microsoft.com/office/drawing/2014/main" id="{3DEF7395-5DF0-F088-0287-11707EDCA809}"/>
                  </a:ext>
                </a:extLst>
              </p:cNvPr>
              <p:cNvGraphicFramePr>
                <a:graphicFrameLocks noGrp="1"/>
              </p:cNvGraphicFramePr>
              <p:nvPr>
                <p:extLst>
                  <p:ext uri="{D42A27DB-BD31-4B8C-83A1-F6EECF244321}">
                    <p14:modId xmlns:p14="http://schemas.microsoft.com/office/powerpoint/2010/main" val="467401240"/>
                  </p:ext>
                </p:extLst>
              </p:nvPr>
            </p:nvGraphicFramePr>
            <p:xfrm>
              <a:off x="2032000" y="1448924"/>
              <a:ext cx="8128000" cy="2226120"/>
            </p:xfrm>
            <a:graphic>
              <a:graphicData uri="http://schemas.openxmlformats.org/drawingml/2006/table">
                <a:tbl>
                  <a:tblPr firstRow="1" bandRow="1">
                    <a:tableStyleId>{72833802-FEF1-4C79-8D5D-14CF1EAF98D9}</a:tableStyleId>
                  </a:tblPr>
                  <a:tblGrid>
                    <a:gridCol w="4064000">
                      <a:extLst>
                        <a:ext uri="{9D8B030D-6E8A-4147-A177-3AD203B41FA5}">
                          <a16:colId xmlns:a16="http://schemas.microsoft.com/office/drawing/2014/main" val="2864736022"/>
                        </a:ext>
                      </a:extLst>
                    </a:gridCol>
                    <a:gridCol w="4064000">
                      <a:extLst>
                        <a:ext uri="{9D8B030D-6E8A-4147-A177-3AD203B41FA5}">
                          <a16:colId xmlns:a16="http://schemas.microsoft.com/office/drawing/2014/main" val="1737341764"/>
                        </a:ext>
                      </a:extLst>
                    </a:gridCol>
                  </a:tblGrid>
                  <a:tr h="370840">
                    <a:tc>
                      <a:txBody>
                        <a:bodyPr/>
                        <a:lstStyle/>
                        <a:p>
                          <a:pPr algn="ctr"/>
                          <a:r>
                            <a:rPr lang="en-US" dirty="0"/>
                            <a:t>Number of points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Number of multiplication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1920">
                    <a:tc>
                      <a:txBody>
                        <a:bodyPr/>
                        <a:lstStyle/>
                        <a:p>
                          <a:pPr algn="ctr"/>
                          <a:r>
                            <a:rPr lang="en-US" b="1"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150" t="-506557" r="-300" b="-26230"/>
                          </a:stretch>
                        </a:blipFill>
                      </a:tcPr>
                    </a:tc>
                    <a:extLst>
                      <a:ext uri="{0D108BD9-81ED-4DB2-BD59-A6C34878D82A}">
                        <a16:rowId xmlns:a16="http://schemas.microsoft.com/office/drawing/2014/main" val="2696043004"/>
                      </a:ext>
                    </a:extLst>
                  </a:tr>
                </a:tbl>
              </a:graphicData>
            </a:graphic>
          </p:graphicFrame>
        </mc:Fallback>
      </mc:AlternateContent>
      <p:sp>
        <p:nvSpPr>
          <p:cNvPr id="8" name="TextBox 7">
            <a:extLst>
              <a:ext uri="{FF2B5EF4-FFF2-40B4-BE49-F238E27FC236}">
                <a16:creationId xmlns:a16="http://schemas.microsoft.com/office/drawing/2014/main" id="{3256097B-5594-9222-205A-4BA9157E743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0492A094-942E-D8C2-826F-37A079C817A3}"/>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6FDEEE6D-8624-482A-7AA4-E5D89D18D69D}"/>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827DF5F7-EA2B-1B2D-505A-98715A998A52}"/>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3" name="TextBox 12">
            <a:extLst>
              <a:ext uri="{FF2B5EF4-FFF2-40B4-BE49-F238E27FC236}">
                <a16:creationId xmlns:a16="http://schemas.microsoft.com/office/drawing/2014/main" id="{D8162E71-5F2F-C560-EBD8-C95D457BB829}"/>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8831633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6BAE8-4B07-FBAC-208C-42D511F566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28402D-2D9C-8699-0A64-054BAB72BA2E}"/>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B04BACB5-56E1-323F-BEFA-F5D3CC68CD3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6BB9040-E219-48E0-F3FF-667234468E70}"/>
              </a:ext>
            </a:extLst>
          </p:cNvPr>
          <p:cNvSpPr>
            <a:spLocks noGrp="1"/>
          </p:cNvSpPr>
          <p:nvPr>
            <p:ph type="sldNum" sz="quarter" idx="4"/>
          </p:nvPr>
        </p:nvSpPr>
        <p:spPr/>
        <p:txBody>
          <a:bodyPr/>
          <a:lstStyle/>
          <a:p>
            <a:pPr>
              <a:defRPr/>
            </a:pPr>
            <a:fld id="{A9CE67A1-BA7F-A74E-B5D7-615746DEEC2B}" type="slidenum">
              <a:rPr lang="en-US" smtClean="0"/>
              <a:pPr>
                <a:defRPr/>
              </a:pPr>
              <a:t>11</a:t>
            </a:fld>
            <a:endParaRPr lang="en-US" baseline="-11000" dirty="0"/>
          </a:p>
        </p:txBody>
      </p:sp>
      <p:sp>
        <p:nvSpPr>
          <p:cNvPr id="6" name="Date Placeholder 5">
            <a:extLst>
              <a:ext uri="{FF2B5EF4-FFF2-40B4-BE49-F238E27FC236}">
                <a16:creationId xmlns:a16="http://schemas.microsoft.com/office/drawing/2014/main" id="{D6E9BBB4-CA12-CAC9-3509-D0678779BAC6}"/>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9AE293A-09F3-B627-1C3F-DD2141C15E0A}"/>
                  </a:ext>
                </a:extLst>
              </p:cNvPr>
              <p:cNvSpPr txBox="1"/>
              <p:nvPr/>
            </p:nvSpPr>
            <p:spPr>
              <a:xfrm>
                <a:off x="228331" y="849771"/>
                <a:ext cx="10833779" cy="439736"/>
              </a:xfrm>
              <a:prstGeom prst="rect">
                <a:avLst/>
              </a:prstGeom>
              <a:noFill/>
            </p:spPr>
            <p:txBody>
              <a:bodyPr wrap="square">
                <a:spAutoFit/>
              </a:bodyPr>
              <a:lstStyle/>
              <a:p>
                <a:pPr defTabSz="457200">
                  <a:spcBef>
                    <a:spcPts val="1000"/>
                  </a:spcBef>
                  <a:buClr>
                    <a:srgbClr val="1E4056"/>
                  </a:buClr>
                  <a:buSzPct val="75000"/>
                </a:pPr>
                <a:r>
                  <a:rPr lang="en-US" sz="2000" b="1" dirty="0">
                    <a:latin typeface="Barlow (Body)"/>
                  </a:rPr>
                  <a:t>Complexity table of DFT computation  </a:t>
                </a:r>
                <a:r>
                  <a:rPr lang="en-US" sz="2000" b="1" dirty="0">
                    <a:latin typeface="Cambria Math" panose="02040503050406030204" pitchFamily="18" charset="0"/>
                  </a:rPr>
                  <a:t>:</a:t>
                </a:r>
                <a14:m>
                  <m:oMath xmlns:m="http://schemas.openxmlformats.org/officeDocument/2006/math">
                    <m:r>
                      <a:rPr lang="en-US" sz="2000" b="1" i="0" smtClean="0">
                        <a:latin typeface="Cambria Math" panose="02040503050406030204" pitchFamily="18" charset="0"/>
                      </a:rPr>
                      <m:t> </m:t>
                    </m:r>
                    <m:r>
                      <a:rPr lang="en-US" sz="2000" b="1" i="1" smtClean="0">
                        <a:latin typeface="Cambria Math" panose="02040503050406030204" pitchFamily="18" charset="0"/>
                      </a:rPr>
                      <m:t>𝑶</m:t>
                    </m:r>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𝑵</m:t>
                            </m:r>
                          </m:e>
                          <m:sup>
                            <m:r>
                              <a:rPr lang="en-US" sz="2000" b="1" i="1" smtClean="0">
                                <a:latin typeface="Cambria Math" panose="02040503050406030204" pitchFamily="18" charset="0"/>
                              </a:rPr>
                              <m:t>𝟐</m:t>
                            </m:r>
                          </m:sup>
                        </m:sSup>
                      </m:e>
                    </m:d>
                  </m:oMath>
                </a14:m>
                <a:endParaRPr lang="en-US" dirty="0"/>
              </a:p>
            </p:txBody>
          </p:sp>
        </mc:Choice>
        <mc:Fallback xmlns="">
          <p:sp>
            <p:nvSpPr>
              <p:cNvPr id="22" name="TextBox 21">
                <a:extLst>
                  <a:ext uri="{FF2B5EF4-FFF2-40B4-BE49-F238E27FC236}">
                    <a16:creationId xmlns:a16="http://schemas.microsoft.com/office/drawing/2014/main" id="{39AE293A-09F3-B627-1C3F-DD2141C15E0A}"/>
                  </a:ext>
                </a:extLst>
              </p:cNvPr>
              <p:cNvSpPr txBox="1">
                <a:spLocks noRot="1" noChangeAspect="1" noMove="1" noResize="1" noEditPoints="1" noAdjustHandles="1" noChangeArrowheads="1" noChangeShapeType="1" noTextEdit="1"/>
              </p:cNvSpPr>
              <p:nvPr/>
            </p:nvSpPr>
            <p:spPr>
              <a:xfrm>
                <a:off x="228331" y="849771"/>
                <a:ext cx="10833779" cy="439736"/>
              </a:xfrm>
              <a:prstGeom prst="rect">
                <a:avLst/>
              </a:prstGeom>
              <a:blipFill>
                <a:blip r:embed="rId2"/>
                <a:stretch>
                  <a:fillRect l="-562" t="-5479" b="-16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9A661E3-4485-4CF1-33D6-1B6E793FA2C3}"/>
                  </a:ext>
                </a:extLst>
              </p:cNvPr>
              <p:cNvGraphicFramePr>
                <a:graphicFrameLocks noGrp="1"/>
              </p:cNvGraphicFramePr>
              <p:nvPr>
                <p:extLst>
                  <p:ext uri="{D42A27DB-BD31-4B8C-83A1-F6EECF244321}">
                    <p14:modId xmlns:p14="http://schemas.microsoft.com/office/powerpoint/2010/main" val="1119458310"/>
                  </p:ext>
                </p:extLst>
              </p:nvPr>
            </p:nvGraphicFramePr>
            <p:xfrm>
              <a:off x="2032000" y="1448924"/>
              <a:ext cx="8128000" cy="2226120"/>
            </p:xfrm>
            <a:graphic>
              <a:graphicData uri="http://schemas.openxmlformats.org/drawingml/2006/table">
                <a:tbl>
                  <a:tblPr firstRow="1" bandRow="1">
                    <a:tableStyleId>{72833802-FEF1-4C79-8D5D-14CF1EAF98D9}</a:tableStyleId>
                  </a:tblPr>
                  <a:tblGrid>
                    <a:gridCol w="4064000">
                      <a:extLst>
                        <a:ext uri="{9D8B030D-6E8A-4147-A177-3AD203B41FA5}">
                          <a16:colId xmlns:a16="http://schemas.microsoft.com/office/drawing/2014/main" val="2864736022"/>
                        </a:ext>
                      </a:extLst>
                    </a:gridCol>
                    <a:gridCol w="4064000">
                      <a:extLst>
                        <a:ext uri="{9D8B030D-6E8A-4147-A177-3AD203B41FA5}">
                          <a16:colId xmlns:a16="http://schemas.microsoft.com/office/drawing/2014/main" val="1737341764"/>
                        </a:ext>
                      </a:extLst>
                    </a:gridCol>
                  </a:tblGrid>
                  <a:tr h="370840">
                    <a:tc>
                      <a:txBody>
                        <a:bodyPr/>
                        <a:lstStyle/>
                        <a:p>
                          <a:pPr algn="ctr"/>
                          <a:r>
                            <a:rPr lang="en-US" dirty="0"/>
                            <a:t>Number of points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Number of multiplication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solidFill>
                                <a:schemeClr val="tx1"/>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922749"/>
                      </a:ext>
                    </a:extLst>
                  </a:tr>
                  <a:tr h="370840">
                    <a:tc>
                      <a:txBody>
                        <a:bodyPr/>
                        <a:lstStyle/>
                        <a:p>
                          <a:pPr algn="ctr"/>
                          <a:r>
                            <a:rPr lang="en-US" b="1" dirty="0">
                              <a:solidFill>
                                <a:schemeClr val="tx1">
                                  <a:alpha val="0"/>
                                </a:schemeClr>
                              </a:solidFill>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solidFill>
                                <a:schemeClr val="tx1">
                                  <a:alpha val="0"/>
                                </a:schemeClr>
                              </a:solidFill>
                            </a:rPr>
                            <a:t>64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8031661"/>
                      </a:ext>
                    </a:extLst>
                  </a:tr>
                  <a:tr h="370840">
                    <a:tc>
                      <a:txBody>
                        <a:bodyPr/>
                        <a:lstStyle/>
                        <a:p>
                          <a:pPr algn="ctr"/>
                          <a:r>
                            <a:rPr lang="en-US" b="1" dirty="0">
                              <a:solidFill>
                                <a:schemeClr val="tx1">
                                  <a:alpha val="0"/>
                                </a:schemeClr>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solidFill>
                                <a:schemeClr val="tx1">
                                  <a:alpha val="0"/>
                                </a:schemeClr>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5644736"/>
                      </a:ext>
                    </a:extLst>
                  </a:tr>
                  <a:tr h="370840">
                    <a:tc>
                      <a:txBody>
                        <a:bodyPr/>
                        <a:lstStyle/>
                        <a:p>
                          <a:pPr algn="ctr"/>
                          <a:r>
                            <a:rPr lang="en-US" b="1" dirty="0">
                              <a:solidFill>
                                <a:schemeClr val="tx1">
                                  <a:alpha val="0"/>
                                </a:schemeClr>
                              </a:solidFill>
                            </a:rPr>
                            <a:t>1024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p>
                                  <m:sSupPr>
                                    <m:ctrlPr>
                                      <a:rPr lang="en-US" b="1" i="1" smtClean="0">
                                        <a:solidFill>
                                          <a:schemeClr val="tx1">
                                            <a:alpha val="0"/>
                                          </a:schemeClr>
                                        </a:solidFill>
                                        <a:latin typeface="Cambria Math" panose="02040503050406030204" pitchFamily="18" charset="0"/>
                                      </a:rPr>
                                    </m:ctrlPr>
                                  </m:sSupPr>
                                  <m:e>
                                    <m:r>
                                      <a:rPr lang="en-US" b="1" smtClean="0">
                                        <a:solidFill>
                                          <a:schemeClr val="tx1">
                                            <a:alpha val="0"/>
                                          </a:schemeClr>
                                        </a:solidFill>
                                        <a:latin typeface="Cambria Math" panose="02040503050406030204" pitchFamily="18" charset="0"/>
                                      </a:rPr>
                                      <m:t>𝟏𝟎</m:t>
                                    </m:r>
                                  </m:e>
                                  <m:sup>
                                    <m:r>
                                      <a:rPr lang="en-US" b="1" smtClean="0">
                                        <a:solidFill>
                                          <a:schemeClr val="tx1">
                                            <a:alpha val="0"/>
                                          </a:schemeClr>
                                        </a:solidFill>
                                        <a:latin typeface="Cambria Math" panose="02040503050406030204" pitchFamily="18" charset="0"/>
                                      </a:rPr>
                                      <m:t>𝟔</m:t>
                                    </m:r>
                                  </m:sup>
                                </m:sSup>
                              </m:oMath>
                            </m:oMathPara>
                          </a14:m>
                          <a:endParaRPr lang="en-US" b="1" dirty="0">
                            <a:solidFill>
                              <a:schemeClr val="tx1">
                                <a:alpha val="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6043004"/>
                      </a:ext>
                    </a:extLst>
                  </a:tr>
                </a:tbl>
              </a:graphicData>
            </a:graphic>
          </p:graphicFrame>
        </mc:Choice>
        <mc:Fallback xmlns="">
          <p:graphicFrame>
            <p:nvGraphicFramePr>
              <p:cNvPr id="2" name="Table 1">
                <a:extLst>
                  <a:ext uri="{FF2B5EF4-FFF2-40B4-BE49-F238E27FC236}">
                    <a16:creationId xmlns:a16="http://schemas.microsoft.com/office/drawing/2014/main" id="{29A661E3-4485-4CF1-33D6-1B6E793FA2C3}"/>
                  </a:ext>
                </a:extLst>
              </p:cNvPr>
              <p:cNvGraphicFramePr>
                <a:graphicFrameLocks noGrp="1"/>
              </p:cNvGraphicFramePr>
              <p:nvPr>
                <p:extLst>
                  <p:ext uri="{D42A27DB-BD31-4B8C-83A1-F6EECF244321}">
                    <p14:modId xmlns:p14="http://schemas.microsoft.com/office/powerpoint/2010/main" val="1119458310"/>
                  </p:ext>
                </p:extLst>
              </p:nvPr>
            </p:nvGraphicFramePr>
            <p:xfrm>
              <a:off x="2032000" y="1448924"/>
              <a:ext cx="8128000" cy="2226120"/>
            </p:xfrm>
            <a:graphic>
              <a:graphicData uri="http://schemas.openxmlformats.org/drawingml/2006/table">
                <a:tbl>
                  <a:tblPr firstRow="1" bandRow="1">
                    <a:tableStyleId>{72833802-FEF1-4C79-8D5D-14CF1EAF98D9}</a:tableStyleId>
                  </a:tblPr>
                  <a:tblGrid>
                    <a:gridCol w="4064000">
                      <a:extLst>
                        <a:ext uri="{9D8B030D-6E8A-4147-A177-3AD203B41FA5}">
                          <a16:colId xmlns:a16="http://schemas.microsoft.com/office/drawing/2014/main" val="2864736022"/>
                        </a:ext>
                      </a:extLst>
                    </a:gridCol>
                    <a:gridCol w="4064000">
                      <a:extLst>
                        <a:ext uri="{9D8B030D-6E8A-4147-A177-3AD203B41FA5}">
                          <a16:colId xmlns:a16="http://schemas.microsoft.com/office/drawing/2014/main" val="1737341764"/>
                        </a:ext>
                      </a:extLst>
                    </a:gridCol>
                  </a:tblGrid>
                  <a:tr h="370840">
                    <a:tc>
                      <a:txBody>
                        <a:bodyPr/>
                        <a:lstStyle/>
                        <a:p>
                          <a:pPr algn="ctr"/>
                          <a:r>
                            <a:rPr lang="en-US" dirty="0"/>
                            <a:t>Number of points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Number of multiplication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solidFill>
                                <a:schemeClr val="tx1"/>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922749"/>
                      </a:ext>
                    </a:extLst>
                  </a:tr>
                  <a:tr h="370840">
                    <a:tc>
                      <a:txBody>
                        <a:bodyPr/>
                        <a:lstStyle/>
                        <a:p>
                          <a:pPr algn="ctr"/>
                          <a:r>
                            <a:rPr lang="en-US" b="1" dirty="0">
                              <a:solidFill>
                                <a:schemeClr val="tx1">
                                  <a:alpha val="0"/>
                                </a:schemeClr>
                              </a:solidFill>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solidFill>
                                <a:schemeClr val="tx1">
                                  <a:alpha val="0"/>
                                </a:schemeClr>
                              </a:solidFill>
                            </a:rPr>
                            <a:t>64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8031661"/>
                      </a:ext>
                    </a:extLst>
                  </a:tr>
                  <a:tr h="370840">
                    <a:tc>
                      <a:txBody>
                        <a:bodyPr/>
                        <a:lstStyle/>
                        <a:p>
                          <a:pPr algn="ctr"/>
                          <a:r>
                            <a:rPr lang="en-US" b="1" dirty="0">
                              <a:solidFill>
                                <a:schemeClr val="tx1">
                                  <a:alpha val="0"/>
                                </a:schemeClr>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solidFill>
                                <a:schemeClr val="tx1">
                                  <a:alpha val="0"/>
                                </a:schemeClr>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5644736"/>
                      </a:ext>
                    </a:extLst>
                  </a:tr>
                  <a:tr h="371920">
                    <a:tc>
                      <a:txBody>
                        <a:bodyPr/>
                        <a:lstStyle/>
                        <a:p>
                          <a:pPr algn="ctr"/>
                          <a:r>
                            <a:rPr lang="en-US" b="1" dirty="0">
                              <a:solidFill>
                                <a:schemeClr val="tx1">
                                  <a:alpha val="0"/>
                                </a:schemeClr>
                              </a:solidFill>
                            </a:rPr>
                            <a:t>1024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0150" t="-506557" r="-300" b="-26230"/>
                          </a:stretch>
                        </a:blipFill>
                      </a:tcPr>
                    </a:tc>
                    <a:extLst>
                      <a:ext uri="{0D108BD9-81ED-4DB2-BD59-A6C34878D82A}">
                        <a16:rowId xmlns:a16="http://schemas.microsoft.com/office/drawing/2014/main" val="2696043004"/>
                      </a:ext>
                    </a:extLst>
                  </a:tr>
                </a:tbl>
              </a:graphicData>
            </a:graphic>
          </p:graphicFrame>
        </mc:Fallback>
      </mc:AlternateContent>
      <p:sp>
        <p:nvSpPr>
          <p:cNvPr id="8" name="TextBox 7">
            <a:extLst>
              <a:ext uri="{FF2B5EF4-FFF2-40B4-BE49-F238E27FC236}">
                <a16:creationId xmlns:a16="http://schemas.microsoft.com/office/drawing/2014/main" id="{80DBC6C0-2811-CC5B-97BD-50EA08E8B010}"/>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D73C07A0-B7DD-CCB1-682E-117AEAA753EB}"/>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E193C5EA-29AA-96D7-9B11-73EF0CFBE6DD}"/>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FE4B528A-A832-99C1-F170-FAAD1B64365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3" name="TextBox 12">
            <a:extLst>
              <a:ext uri="{FF2B5EF4-FFF2-40B4-BE49-F238E27FC236}">
                <a16:creationId xmlns:a16="http://schemas.microsoft.com/office/drawing/2014/main" id="{DEFE5E71-59D2-C125-8C6C-33397DD75461}"/>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cxnSp>
        <p:nvCxnSpPr>
          <p:cNvPr id="12" name="Straight Connector 11">
            <a:extLst>
              <a:ext uri="{FF2B5EF4-FFF2-40B4-BE49-F238E27FC236}">
                <a16:creationId xmlns:a16="http://schemas.microsoft.com/office/drawing/2014/main" id="{CC86DDB9-BB06-8F1E-38B5-51FC0F7477B8}"/>
              </a:ext>
            </a:extLst>
          </p:cNvPr>
          <p:cNvCxnSpPr>
            <a:cxnSpLocks/>
          </p:cNvCxnSpPr>
          <p:nvPr/>
        </p:nvCxnSpPr>
        <p:spPr>
          <a:xfrm>
            <a:off x="6093614" y="3489960"/>
            <a:ext cx="0" cy="311639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E7533769-CC58-8555-3CD6-607AE1DCE814}"/>
              </a:ext>
            </a:extLst>
          </p:cNvPr>
          <p:cNvSpPr/>
          <p:nvPr/>
        </p:nvSpPr>
        <p:spPr>
          <a:xfrm>
            <a:off x="2014653" y="3621665"/>
            <a:ext cx="1831596" cy="162230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b="1" dirty="0">
              <a:solidFill>
                <a:schemeClr val="tx1"/>
              </a:solidFill>
            </a:endParaRPr>
          </a:p>
        </p:txBody>
      </p:sp>
      <p:cxnSp>
        <p:nvCxnSpPr>
          <p:cNvPr id="16" name="Straight Arrow Connector 15">
            <a:extLst>
              <a:ext uri="{FF2B5EF4-FFF2-40B4-BE49-F238E27FC236}">
                <a16:creationId xmlns:a16="http://schemas.microsoft.com/office/drawing/2014/main" id="{036C58CD-5C52-7BD9-8D82-A17647BD135E}"/>
              </a:ext>
            </a:extLst>
          </p:cNvPr>
          <p:cNvCxnSpPr/>
          <p:nvPr/>
        </p:nvCxnSpPr>
        <p:spPr>
          <a:xfrm>
            <a:off x="1062563" y="392825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5196EAF9-8E71-5BC0-830E-D3155049C5F5}"/>
              </a:ext>
            </a:extLst>
          </p:cNvPr>
          <p:cNvSpPr txBox="1"/>
          <p:nvPr/>
        </p:nvSpPr>
        <p:spPr>
          <a:xfrm>
            <a:off x="600447" y="373652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8" name="Straight Arrow Connector 17">
            <a:extLst>
              <a:ext uri="{FF2B5EF4-FFF2-40B4-BE49-F238E27FC236}">
                <a16:creationId xmlns:a16="http://schemas.microsoft.com/office/drawing/2014/main" id="{B46149CC-B584-12C6-993D-25B500BA9B54}"/>
              </a:ext>
            </a:extLst>
          </p:cNvPr>
          <p:cNvCxnSpPr/>
          <p:nvPr/>
        </p:nvCxnSpPr>
        <p:spPr>
          <a:xfrm>
            <a:off x="1036344" y="466413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D06652AF-2128-7B54-DFB1-CA4D9A4BB328}"/>
              </a:ext>
            </a:extLst>
          </p:cNvPr>
          <p:cNvSpPr txBox="1"/>
          <p:nvPr/>
        </p:nvSpPr>
        <p:spPr>
          <a:xfrm>
            <a:off x="574228" y="447240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20" name="Straight Arrow Connector 19">
            <a:extLst>
              <a:ext uri="{FF2B5EF4-FFF2-40B4-BE49-F238E27FC236}">
                <a16:creationId xmlns:a16="http://schemas.microsoft.com/office/drawing/2014/main" id="{8EF69623-009D-32ED-058B-AE363E86C058}"/>
              </a:ext>
            </a:extLst>
          </p:cNvPr>
          <p:cNvCxnSpPr/>
          <p:nvPr/>
        </p:nvCxnSpPr>
        <p:spPr>
          <a:xfrm>
            <a:off x="3833754" y="411998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9520C8C-A1E4-00FA-182E-A105D70016CE}"/>
              </a:ext>
            </a:extLst>
          </p:cNvPr>
          <p:cNvSpPr txBox="1"/>
          <p:nvPr/>
        </p:nvSpPr>
        <p:spPr>
          <a:xfrm>
            <a:off x="4812063" y="393593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3" name="Straight Arrow Connector 22">
            <a:extLst>
              <a:ext uri="{FF2B5EF4-FFF2-40B4-BE49-F238E27FC236}">
                <a16:creationId xmlns:a16="http://schemas.microsoft.com/office/drawing/2014/main" id="{98CAE5A8-875F-2708-7FA0-3355781D63DE}"/>
              </a:ext>
            </a:extLst>
          </p:cNvPr>
          <p:cNvCxnSpPr/>
          <p:nvPr/>
        </p:nvCxnSpPr>
        <p:spPr>
          <a:xfrm>
            <a:off x="3858787" y="47129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683A9146-AE1B-5280-E50D-271F9BB9ACE4}"/>
              </a:ext>
            </a:extLst>
          </p:cNvPr>
          <p:cNvSpPr txBox="1"/>
          <p:nvPr/>
        </p:nvSpPr>
        <p:spPr>
          <a:xfrm>
            <a:off x="4837096" y="451409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55A5A9C-6B15-7528-B415-28069599B243}"/>
                  </a:ext>
                </a:extLst>
              </p:cNvPr>
              <p:cNvSpPr txBox="1"/>
              <p:nvPr/>
            </p:nvSpPr>
            <p:spPr>
              <a:xfrm>
                <a:off x="1950745" y="5241700"/>
                <a:ext cx="2067693" cy="597343"/>
              </a:xfrm>
              <a:prstGeom prst="rect">
                <a:avLst/>
              </a:prstGeom>
              <a:noFill/>
            </p:spPr>
            <p:txBody>
              <a:bodyPr wrap="square">
                <a:spAutoFit/>
              </a:bodyPr>
              <a:lstStyle/>
              <a:p>
                <a:pPr defTabSz="457200">
                  <a:spcBef>
                    <a:spcPts val="1000"/>
                  </a:spcBef>
                  <a:buClr>
                    <a:srgbClr val="1E4056"/>
                  </a:buClr>
                  <a:buSzPct val="75000"/>
                </a:pPr>
                <a14:m>
                  <m:oMath xmlns:m="http://schemas.openxmlformats.org/officeDocument/2006/math">
                    <m:r>
                      <a:rPr lang="en-US" sz="1200" b="1" i="1" smtClean="0">
                        <a:latin typeface="Cambria Math" panose="02040503050406030204" pitchFamily="18" charset="0"/>
                      </a:rPr>
                      <m:t>𝑿</m:t>
                    </m:r>
                    <m:d>
                      <m:dPr>
                        <m:begChr m:val="["/>
                        <m:endChr m:val="]"/>
                        <m:ctrlPr>
                          <a:rPr lang="en-US" sz="1200" b="1" i="1" smtClean="0">
                            <a:latin typeface="Cambria Math" panose="02040503050406030204" pitchFamily="18" charset="0"/>
                          </a:rPr>
                        </m:ctrlPr>
                      </m:dPr>
                      <m:e>
                        <m:r>
                          <a:rPr lang="en-US" sz="1200" b="1" i="1" smtClean="0">
                            <a:latin typeface="Cambria Math" panose="02040503050406030204" pitchFamily="18" charset="0"/>
                          </a:rPr>
                          <m:t>𝟎</m:t>
                        </m:r>
                      </m:e>
                    </m:d>
                    <m:r>
                      <a:rPr lang="en-US" sz="1200" b="1" i="1" smtClean="0">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b="0" i="1" smtClean="0">
                            <a:latin typeface="Cambria Math" panose="02040503050406030204" pitchFamily="18" charset="0"/>
                          </a:rPr>
                          <m:t>2</m:t>
                        </m:r>
                      </m:sub>
                      <m:sup>
                        <m:r>
                          <a:rPr lang="en-US" sz="1200" b="0" i="1" smtClean="0">
                            <a:latin typeface="Cambria Math" panose="02040503050406030204" pitchFamily="18" charset="0"/>
                          </a:rPr>
                          <m:t>0</m:t>
                        </m:r>
                      </m:sup>
                    </m:sSubSup>
                    <m:r>
                      <a:rPr lang="en-US" sz="1200" b="0" i="1" smtClean="0">
                        <a:latin typeface="Cambria Math" panose="02040503050406030204" pitchFamily="18" charset="0"/>
                      </a:rPr>
                      <m:t>+</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b="0" i="1" smtClean="0">
                            <a:latin typeface="Cambria Math" panose="02040503050406030204" pitchFamily="18" charset="0"/>
                          </a:rPr>
                          <m:t>2</m:t>
                        </m:r>
                      </m:sub>
                      <m:sup>
                        <m:r>
                          <a:rPr lang="en-US" sz="1200" i="1">
                            <a:latin typeface="Cambria Math" panose="02040503050406030204" pitchFamily="18" charset="0"/>
                          </a:rPr>
                          <m:t>0</m:t>
                        </m:r>
                      </m:sup>
                    </m:sSubSup>
                  </m:oMath>
                </a14:m>
                <a:endParaRPr lang="en-US" sz="1200" dirty="0"/>
              </a:p>
              <a:p>
                <a:pPr defTabSz="457200">
                  <a:spcBef>
                    <a:spcPts val="1000"/>
                  </a:spcBef>
                  <a:buClr>
                    <a:srgbClr val="1E4056"/>
                  </a:buClr>
                  <a:buSzPct val="75000"/>
                </a:pPr>
                <a14:m>
                  <m:oMath xmlns:m="http://schemas.openxmlformats.org/officeDocument/2006/math">
                    <m:r>
                      <a:rPr lang="en-US" sz="1200" b="1" i="1">
                        <a:latin typeface="Cambria Math" panose="02040503050406030204" pitchFamily="18" charset="0"/>
                      </a:rPr>
                      <m:t>𝑿</m:t>
                    </m:r>
                    <m:d>
                      <m:dPr>
                        <m:begChr m:val="["/>
                        <m:endChr m:val="]"/>
                        <m:ctrlPr>
                          <a:rPr lang="en-US" sz="1200" b="1" i="1">
                            <a:latin typeface="Cambria Math" panose="02040503050406030204" pitchFamily="18" charset="0"/>
                          </a:rPr>
                        </m:ctrlPr>
                      </m:dPr>
                      <m:e>
                        <m:r>
                          <a:rPr lang="en-US" sz="1200" b="1" i="1" smtClean="0">
                            <a:latin typeface="Cambria Math" panose="02040503050406030204" pitchFamily="18" charset="0"/>
                          </a:rPr>
                          <m:t>𝟏</m:t>
                        </m:r>
                      </m:e>
                    </m:d>
                    <m:r>
                      <a:rPr lang="en-US" sz="1200" b="1" i="1">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2</m:t>
                        </m:r>
                      </m:sub>
                      <m:sup>
                        <m:r>
                          <a:rPr lang="en-US" sz="1200" i="1">
                            <a:latin typeface="Cambria Math" panose="02040503050406030204" pitchFamily="18" charset="0"/>
                          </a:rPr>
                          <m:t>0</m:t>
                        </m:r>
                      </m:sup>
                    </m:sSubSup>
                    <m:r>
                      <a:rPr lang="en-US" sz="1200" i="1">
                        <a:latin typeface="Cambria Math" panose="02040503050406030204" pitchFamily="18" charset="0"/>
                      </a:rPr>
                      <m:t>+</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1</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2</m:t>
                        </m:r>
                      </m:sub>
                      <m:sup>
                        <m:r>
                          <a:rPr lang="en-US" sz="1200" b="0" i="1" smtClean="0">
                            <a:latin typeface="Cambria Math" panose="02040503050406030204" pitchFamily="18" charset="0"/>
                          </a:rPr>
                          <m:t>1</m:t>
                        </m:r>
                      </m:sup>
                    </m:sSubSup>
                  </m:oMath>
                </a14:m>
                <a:endParaRPr lang="en-US" sz="1200" dirty="0"/>
              </a:p>
            </p:txBody>
          </p:sp>
        </mc:Choice>
        <mc:Fallback xmlns="">
          <p:sp>
            <p:nvSpPr>
              <p:cNvPr id="27" name="TextBox 26">
                <a:extLst>
                  <a:ext uri="{FF2B5EF4-FFF2-40B4-BE49-F238E27FC236}">
                    <a16:creationId xmlns:a16="http://schemas.microsoft.com/office/drawing/2014/main" id="{055A5A9C-6B15-7528-B415-28069599B243}"/>
                  </a:ext>
                </a:extLst>
              </p:cNvPr>
              <p:cNvSpPr txBox="1">
                <a:spLocks noRot="1" noChangeAspect="1" noMove="1" noResize="1" noEditPoints="1" noAdjustHandles="1" noChangeArrowheads="1" noChangeShapeType="1" noTextEdit="1"/>
              </p:cNvSpPr>
              <p:nvPr/>
            </p:nvSpPr>
            <p:spPr>
              <a:xfrm>
                <a:off x="1950745" y="5241700"/>
                <a:ext cx="2067693" cy="597343"/>
              </a:xfrm>
              <a:prstGeom prst="rect">
                <a:avLst/>
              </a:prstGeom>
              <a:blipFill>
                <a:blip r:embed="rId4"/>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A786EED7-961B-3A06-AFB4-E4467B034AC5}"/>
              </a:ext>
            </a:extLst>
          </p:cNvPr>
          <p:cNvSpPr txBox="1"/>
          <p:nvPr/>
        </p:nvSpPr>
        <p:spPr>
          <a:xfrm>
            <a:off x="2261320" y="4312547"/>
            <a:ext cx="1512397" cy="24553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t>2-point DFT</a:t>
            </a:r>
          </a:p>
          <a:p>
            <a:pPr marL="228600" indent="-228600" defTabSz="457200">
              <a:spcBef>
                <a:spcPts val="1000"/>
              </a:spcBef>
              <a:buClr>
                <a:srgbClr val="1E4056"/>
              </a:buClr>
              <a:buSzPct val="75000"/>
              <a:buFont typeface="Barlow"/>
              <a:buChar char="►"/>
            </a:pPr>
            <a:endParaRPr lang="en-US" sz="2000" dirty="0">
              <a:solidFill>
                <a:srgbClr val="000000"/>
              </a:solidFill>
            </a:endParaRPr>
          </a:p>
        </p:txBody>
      </p:sp>
      <p:sp>
        <p:nvSpPr>
          <p:cNvPr id="29" name="Rectangle 28">
            <a:extLst>
              <a:ext uri="{FF2B5EF4-FFF2-40B4-BE49-F238E27FC236}">
                <a16:creationId xmlns:a16="http://schemas.microsoft.com/office/drawing/2014/main" id="{53DBA8F8-81F8-9646-A9C8-49E7AEE9E7AA}"/>
              </a:ext>
            </a:extLst>
          </p:cNvPr>
          <p:cNvSpPr/>
          <p:nvPr/>
        </p:nvSpPr>
        <p:spPr>
          <a:xfrm>
            <a:off x="277392" y="6024019"/>
            <a:ext cx="2067692" cy="267029"/>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accent2"/>
                </a:solidFill>
              </a:rPr>
              <a:t>Show Equation</a:t>
            </a:r>
          </a:p>
        </p:txBody>
      </p:sp>
      <p:sp>
        <p:nvSpPr>
          <p:cNvPr id="30" name="Rectangle 29">
            <a:extLst>
              <a:ext uri="{FF2B5EF4-FFF2-40B4-BE49-F238E27FC236}">
                <a16:creationId xmlns:a16="http://schemas.microsoft.com/office/drawing/2014/main" id="{AC217BFC-54F9-390A-A28C-449EE8D25831}"/>
              </a:ext>
            </a:extLst>
          </p:cNvPr>
          <p:cNvSpPr/>
          <p:nvPr/>
        </p:nvSpPr>
        <p:spPr>
          <a:xfrm>
            <a:off x="3712838" y="6024019"/>
            <a:ext cx="2067692" cy="267029"/>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accent2"/>
                </a:solidFill>
              </a:rPr>
              <a:t>Substitute with W</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E5716C9-6B53-5F66-BF47-656DB0602AD3}"/>
                  </a:ext>
                </a:extLst>
              </p:cNvPr>
              <p:cNvSpPr txBox="1"/>
              <p:nvPr/>
            </p:nvSpPr>
            <p:spPr>
              <a:xfrm>
                <a:off x="2223262" y="5233188"/>
                <a:ext cx="1455420" cy="612540"/>
              </a:xfrm>
              <a:prstGeom prst="rect">
                <a:avLst/>
              </a:prstGeom>
              <a:noFill/>
            </p:spPr>
            <p:txBody>
              <a:bodyPr wrap="square">
                <a:spAutoFit/>
              </a:bodyPr>
              <a:lstStyle/>
              <a:p>
                <a:pPr defTabSz="457200">
                  <a:spcBef>
                    <a:spcPts val="1000"/>
                  </a:spcBef>
                  <a:buClr>
                    <a:srgbClr val="1E4056"/>
                  </a:buClr>
                  <a:buSzPct val="75000"/>
                </a:pPr>
                <a14:m>
                  <m:oMath xmlns:m="http://schemas.openxmlformats.org/officeDocument/2006/math">
                    <m:r>
                      <a:rPr lang="en-US" sz="1200" b="1" i="1" smtClean="0">
                        <a:latin typeface="Cambria Math" panose="02040503050406030204" pitchFamily="18" charset="0"/>
                      </a:rPr>
                      <m:t>𝑿</m:t>
                    </m:r>
                    <m:d>
                      <m:dPr>
                        <m:begChr m:val="["/>
                        <m:endChr m:val="]"/>
                        <m:ctrlPr>
                          <a:rPr lang="en-US" sz="1200" b="1" i="1" smtClean="0">
                            <a:latin typeface="Cambria Math" panose="02040503050406030204" pitchFamily="18" charset="0"/>
                          </a:rPr>
                        </m:ctrlPr>
                      </m:dPr>
                      <m:e>
                        <m:r>
                          <a:rPr lang="en-US" sz="1200" b="1" i="1" smtClean="0">
                            <a:latin typeface="Cambria Math" panose="02040503050406030204" pitchFamily="18" charset="0"/>
                          </a:rPr>
                          <m:t>𝟎</m:t>
                        </m:r>
                      </m:e>
                    </m:d>
                    <m:r>
                      <a:rPr lang="en-US" sz="1200" b="1" i="1" smtClean="0">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i="1">
                        <a:latin typeface="Cambria Math" panose="02040503050406030204" pitchFamily="18" charset="0"/>
                      </a:rPr>
                      <m:t> </m:t>
                    </m:r>
                    <m:r>
                      <a:rPr lang="en-US" sz="1200" b="0" i="1" smtClean="0">
                        <a:latin typeface="Cambria Math" panose="02040503050406030204" pitchFamily="18" charset="0"/>
                      </a:rPr>
                      <m:t>+</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e>
                    </m:d>
                  </m:oMath>
                </a14:m>
                <a:endParaRPr lang="en-US" sz="1200" dirty="0"/>
              </a:p>
              <a:p>
                <a:pPr defTabSz="457200">
                  <a:spcBef>
                    <a:spcPts val="1000"/>
                  </a:spcBef>
                  <a:buClr>
                    <a:srgbClr val="1E4056"/>
                  </a:buClr>
                  <a:buSzPct val="75000"/>
                </a:pPr>
                <a14:m>
                  <m:oMath xmlns:m="http://schemas.openxmlformats.org/officeDocument/2006/math">
                    <m:r>
                      <a:rPr lang="en-US" sz="1200" b="1" i="1">
                        <a:latin typeface="Cambria Math" panose="02040503050406030204" pitchFamily="18" charset="0"/>
                      </a:rPr>
                      <m:t>𝑿</m:t>
                    </m:r>
                    <m:d>
                      <m:dPr>
                        <m:begChr m:val="["/>
                        <m:endChr m:val="]"/>
                        <m:ctrlPr>
                          <a:rPr lang="en-US" sz="1200" b="1" i="1">
                            <a:latin typeface="Cambria Math" panose="02040503050406030204" pitchFamily="18" charset="0"/>
                          </a:rPr>
                        </m:ctrlPr>
                      </m:dPr>
                      <m:e>
                        <m:r>
                          <a:rPr lang="en-US" sz="1200" b="1" i="1" smtClean="0">
                            <a:latin typeface="Cambria Math" panose="02040503050406030204" pitchFamily="18" charset="0"/>
                          </a:rPr>
                          <m:t>𝟏</m:t>
                        </m:r>
                      </m:e>
                    </m:d>
                    <m:r>
                      <a:rPr lang="en-US" sz="1200" b="1" i="1">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i="1">
                        <a:latin typeface="Cambria Math" panose="02040503050406030204" pitchFamily="18" charset="0"/>
                      </a:rPr>
                      <m:t> </m:t>
                    </m:r>
                    <m:r>
                      <a:rPr lang="en-US" sz="1200" b="0" i="1" smtClean="0">
                        <a:latin typeface="Cambria Math" panose="02040503050406030204" pitchFamily="18" charset="0"/>
                      </a:rPr>
                      <m:t>−</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1</m:t>
                        </m:r>
                      </m:e>
                    </m:d>
                  </m:oMath>
                </a14:m>
                <a:endParaRPr lang="en-US" sz="1200" dirty="0"/>
              </a:p>
            </p:txBody>
          </p:sp>
        </mc:Choice>
        <mc:Fallback xmlns="">
          <p:sp>
            <p:nvSpPr>
              <p:cNvPr id="31" name="TextBox 30">
                <a:extLst>
                  <a:ext uri="{FF2B5EF4-FFF2-40B4-BE49-F238E27FC236}">
                    <a16:creationId xmlns:a16="http://schemas.microsoft.com/office/drawing/2014/main" id="{2E5716C9-6B53-5F66-BF47-656DB0602AD3}"/>
                  </a:ext>
                </a:extLst>
              </p:cNvPr>
              <p:cNvSpPr txBox="1">
                <a:spLocks noRot="1" noChangeAspect="1" noMove="1" noResize="1" noEditPoints="1" noAdjustHandles="1" noChangeArrowheads="1" noChangeShapeType="1" noTextEdit="1"/>
              </p:cNvSpPr>
              <p:nvPr/>
            </p:nvSpPr>
            <p:spPr>
              <a:xfrm>
                <a:off x="2223262" y="5233188"/>
                <a:ext cx="1455420" cy="612540"/>
              </a:xfrm>
              <a:prstGeom prst="rect">
                <a:avLst/>
              </a:prstGeom>
              <a:blipFill>
                <a:blip r:embed="rId5"/>
                <a:stretch>
                  <a:fillRect/>
                </a:stretch>
              </a:blipFill>
            </p:spPr>
            <p:txBody>
              <a:bodyPr/>
              <a:lstStyle/>
              <a:p>
                <a:r>
                  <a:rPr lang="en-US">
                    <a:noFill/>
                  </a:rPr>
                  <a:t> </a:t>
                </a:r>
              </a:p>
            </p:txBody>
          </p:sp>
        </mc:Fallback>
      </mc:AlternateContent>
      <p:sp>
        <p:nvSpPr>
          <p:cNvPr id="33" name="Rectangle 32">
            <a:extLst>
              <a:ext uri="{FF2B5EF4-FFF2-40B4-BE49-F238E27FC236}">
                <a16:creationId xmlns:a16="http://schemas.microsoft.com/office/drawing/2014/main" id="{5A2A0053-9CAF-65EC-9667-755ED686A6B9}"/>
              </a:ext>
            </a:extLst>
          </p:cNvPr>
          <p:cNvSpPr/>
          <p:nvPr/>
        </p:nvSpPr>
        <p:spPr>
          <a:xfrm>
            <a:off x="6978173" y="3585723"/>
            <a:ext cx="4013454" cy="2226120"/>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b="1" dirty="0">
              <a:solidFill>
                <a:schemeClr val="tx1"/>
              </a:solidFill>
            </a:endParaRPr>
          </a:p>
        </p:txBody>
      </p:sp>
      <p:cxnSp>
        <p:nvCxnSpPr>
          <p:cNvPr id="34" name="Straight Arrow Connector 33">
            <a:extLst>
              <a:ext uri="{FF2B5EF4-FFF2-40B4-BE49-F238E27FC236}">
                <a16:creationId xmlns:a16="http://schemas.microsoft.com/office/drawing/2014/main" id="{BB868529-0289-5858-83D4-8B9F5E555FD2}"/>
              </a:ext>
            </a:extLst>
          </p:cNvPr>
          <p:cNvCxnSpPr>
            <a:cxnSpLocks/>
          </p:cNvCxnSpPr>
          <p:nvPr/>
        </p:nvCxnSpPr>
        <p:spPr>
          <a:xfrm>
            <a:off x="6642798" y="3736524"/>
            <a:ext cx="34425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3062C0C7-A80B-F4CD-AD98-6D020AF1F29C}"/>
              </a:ext>
            </a:extLst>
          </p:cNvPr>
          <p:cNvSpPr txBox="1"/>
          <p:nvPr/>
        </p:nvSpPr>
        <p:spPr>
          <a:xfrm>
            <a:off x="6209854" y="357184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sp>
        <p:nvSpPr>
          <p:cNvPr id="37" name="TextBox 36">
            <a:extLst>
              <a:ext uri="{FF2B5EF4-FFF2-40B4-BE49-F238E27FC236}">
                <a16:creationId xmlns:a16="http://schemas.microsoft.com/office/drawing/2014/main" id="{048E319A-7AFA-76EE-3352-ACB4F99EB221}"/>
              </a:ext>
            </a:extLst>
          </p:cNvPr>
          <p:cNvSpPr txBox="1"/>
          <p:nvPr/>
        </p:nvSpPr>
        <p:spPr>
          <a:xfrm>
            <a:off x="6241573" y="419427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sp>
        <p:nvSpPr>
          <p:cNvPr id="41" name="TextBox 40">
            <a:extLst>
              <a:ext uri="{FF2B5EF4-FFF2-40B4-BE49-F238E27FC236}">
                <a16:creationId xmlns:a16="http://schemas.microsoft.com/office/drawing/2014/main" id="{87D1E1AA-B4BD-3853-A87F-BAF01263CF82}"/>
              </a:ext>
            </a:extLst>
          </p:cNvPr>
          <p:cNvSpPr txBox="1"/>
          <p:nvPr/>
        </p:nvSpPr>
        <p:spPr>
          <a:xfrm>
            <a:off x="11419601" y="365937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45486DA-D240-E4AA-705B-195CBD2639FC}"/>
                  </a:ext>
                </a:extLst>
              </p:cNvPr>
              <p:cNvSpPr txBox="1"/>
              <p:nvPr/>
            </p:nvSpPr>
            <p:spPr>
              <a:xfrm>
                <a:off x="7141782" y="6024019"/>
                <a:ext cx="3487047" cy="1556195"/>
              </a:xfrm>
              <a:prstGeom prst="rect">
                <a:avLst/>
              </a:prstGeom>
              <a:noFill/>
            </p:spPr>
            <p:txBody>
              <a:bodyPr wrap="square">
                <a:spAutoFit/>
              </a:bodyPr>
              <a:lstStyle/>
              <a:p>
                <a:pPr defTabSz="457200">
                  <a:spcBef>
                    <a:spcPts val="1000"/>
                  </a:spcBef>
                  <a:buClr>
                    <a:srgbClr val="1E4056"/>
                  </a:buClr>
                  <a:buSzPct val="75000"/>
                </a:pPr>
                <a14:m>
                  <m:oMath xmlns:m="http://schemas.openxmlformats.org/officeDocument/2006/math">
                    <m:r>
                      <a:rPr lang="en-US" sz="1200" b="1" i="1" smtClean="0">
                        <a:latin typeface="Cambria Math" panose="02040503050406030204" pitchFamily="18" charset="0"/>
                      </a:rPr>
                      <m:t>𝑿</m:t>
                    </m:r>
                    <m:d>
                      <m:dPr>
                        <m:begChr m:val="["/>
                        <m:endChr m:val="]"/>
                        <m:ctrlPr>
                          <a:rPr lang="en-US" sz="1200" b="1" i="1" smtClean="0">
                            <a:latin typeface="Cambria Math" panose="02040503050406030204" pitchFamily="18" charset="0"/>
                          </a:rPr>
                        </m:ctrlPr>
                      </m:dPr>
                      <m:e>
                        <m:r>
                          <a:rPr lang="en-US" sz="1200" b="1" i="1" smtClean="0">
                            <a:latin typeface="Cambria Math" panose="02040503050406030204" pitchFamily="18" charset="0"/>
                          </a:rPr>
                          <m:t>𝟎</m:t>
                        </m:r>
                      </m:e>
                    </m:d>
                    <m:r>
                      <a:rPr lang="en-US" sz="1200" b="1" i="1" smtClean="0">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b="0" i="1" smtClean="0">
                            <a:latin typeface="Cambria Math" panose="02040503050406030204" pitchFamily="18" charset="0"/>
                          </a:rPr>
                          <m:t>4</m:t>
                        </m:r>
                      </m:sub>
                      <m:sup>
                        <m:r>
                          <a:rPr lang="en-US" sz="1200" b="0" i="1" smtClean="0">
                            <a:latin typeface="Cambria Math" panose="02040503050406030204" pitchFamily="18" charset="0"/>
                          </a:rPr>
                          <m:t>0</m:t>
                        </m:r>
                      </m:sup>
                    </m:sSubSup>
                    <m:r>
                      <a:rPr lang="en-US" sz="1200" b="0" i="1" smtClean="0">
                        <a:latin typeface="Cambria Math" panose="02040503050406030204" pitchFamily="18" charset="0"/>
                      </a:rPr>
                      <m:t>+</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b="0" i="1" smtClean="0">
                            <a:latin typeface="Cambria Math" panose="02040503050406030204" pitchFamily="18" charset="0"/>
                          </a:rPr>
                          <m:t>4</m:t>
                        </m:r>
                      </m:sub>
                      <m:sup>
                        <m:r>
                          <a:rPr lang="en-US" sz="1200" i="1">
                            <a:latin typeface="Cambria Math" panose="02040503050406030204" pitchFamily="18" charset="0"/>
                          </a:rPr>
                          <m:t>0</m:t>
                        </m:r>
                      </m:sup>
                    </m:sSubSup>
                    <m:r>
                      <a:rPr lang="en-US" sz="1200" b="0" i="1" smtClean="0">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2</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i="1">
                            <a:latin typeface="Cambria Math" panose="02040503050406030204" pitchFamily="18" charset="0"/>
                          </a:rPr>
                          <m:t>0</m:t>
                        </m:r>
                      </m:sup>
                    </m:sSubSup>
                    <m:r>
                      <a:rPr lang="en-US" sz="1200" i="1">
                        <a:latin typeface="Cambria Math" panose="02040503050406030204" pitchFamily="18" charset="0"/>
                      </a:rPr>
                      <m:t>+</m:t>
                    </m:r>
                    <m:r>
                      <m:rPr>
                        <m:nor/>
                      </m:rPr>
                      <a:rPr lang="en-US" sz="1200" dirty="0"/>
                      <m:t> </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3</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i="1">
                            <a:latin typeface="Cambria Math" panose="02040503050406030204" pitchFamily="18" charset="0"/>
                          </a:rPr>
                          <m:t>0</m:t>
                        </m:r>
                      </m:sup>
                    </m:sSubSup>
                  </m:oMath>
                </a14:m>
                <a:endParaRPr lang="en-US" sz="1200" dirty="0"/>
              </a:p>
              <a:p>
                <a:pPr defTabSz="457200">
                  <a:spcBef>
                    <a:spcPts val="1000"/>
                  </a:spcBef>
                  <a:buClr>
                    <a:srgbClr val="1E4056"/>
                  </a:buClr>
                  <a:buSzPct val="75000"/>
                </a:pPr>
                <a14:m>
                  <m:oMath xmlns:m="http://schemas.openxmlformats.org/officeDocument/2006/math">
                    <m:r>
                      <a:rPr lang="en-US" sz="1200" b="1" i="1">
                        <a:latin typeface="Cambria Math" panose="02040503050406030204" pitchFamily="18" charset="0"/>
                      </a:rPr>
                      <m:t>𝑿</m:t>
                    </m:r>
                    <m:d>
                      <m:dPr>
                        <m:begChr m:val="["/>
                        <m:endChr m:val="]"/>
                        <m:ctrlPr>
                          <a:rPr lang="en-US" sz="1200" b="1" i="1">
                            <a:latin typeface="Cambria Math" panose="02040503050406030204" pitchFamily="18" charset="0"/>
                          </a:rPr>
                        </m:ctrlPr>
                      </m:dPr>
                      <m:e>
                        <m:r>
                          <a:rPr lang="en-US" sz="1200" b="1" i="1" smtClean="0">
                            <a:latin typeface="Cambria Math" panose="02040503050406030204" pitchFamily="18" charset="0"/>
                          </a:rPr>
                          <m:t>𝟏</m:t>
                        </m:r>
                      </m:e>
                    </m:d>
                    <m:r>
                      <a:rPr lang="en-US" sz="1200" b="1" i="1">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i="1">
                            <a:latin typeface="Cambria Math" panose="02040503050406030204" pitchFamily="18" charset="0"/>
                          </a:rPr>
                          <m:t>0</m:t>
                        </m:r>
                      </m:sup>
                    </m:sSubSup>
                    <m:r>
                      <a:rPr lang="en-US" sz="1200" i="1">
                        <a:latin typeface="Cambria Math" panose="02040503050406030204" pitchFamily="18" charset="0"/>
                      </a:rPr>
                      <m:t>+</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1</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b="0" i="1" smtClean="0">
                            <a:latin typeface="Cambria Math" panose="02040503050406030204" pitchFamily="18" charset="0"/>
                          </a:rPr>
                          <m:t>1</m:t>
                        </m:r>
                      </m:sup>
                    </m:sSubSup>
                    <m:r>
                      <a:rPr lang="en-US" sz="1200" i="1">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2</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b="0" i="1" smtClean="0">
                            <a:latin typeface="Cambria Math" panose="02040503050406030204" pitchFamily="18" charset="0"/>
                          </a:rPr>
                          <m:t>2</m:t>
                        </m:r>
                      </m:sup>
                    </m:sSubSup>
                    <m:r>
                      <a:rPr lang="en-US" sz="1200" i="1">
                        <a:latin typeface="Cambria Math" panose="02040503050406030204" pitchFamily="18" charset="0"/>
                      </a:rPr>
                      <m:t>+</m:t>
                    </m:r>
                    <m:r>
                      <m:rPr>
                        <m:nor/>
                      </m:rPr>
                      <a:rPr lang="en-US" sz="1200" dirty="0"/>
                      <m:t> </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3</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b="0" i="1" smtClean="0">
                            <a:latin typeface="Cambria Math" panose="02040503050406030204" pitchFamily="18" charset="0"/>
                          </a:rPr>
                          <m:t>3</m:t>
                        </m:r>
                      </m:sup>
                    </m:sSubSup>
                  </m:oMath>
                </a14:m>
                <a:endParaRPr lang="en-US" sz="1200" dirty="0"/>
              </a:p>
              <a:p>
                <a:pPr defTabSz="457200">
                  <a:spcBef>
                    <a:spcPts val="1000"/>
                  </a:spcBef>
                  <a:buClr>
                    <a:srgbClr val="1E4056"/>
                  </a:buClr>
                  <a:buSzPct val="75000"/>
                </a:pPr>
                <a14:m>
                  <m:oMath xmlns:m="http://schemas.openxmlformats.org/officeDocument/2006/math">
                    <m:r>
                      <a:rPr lang="en-US" sz="1200" b="1" i="1">
                        <a:latin typeface="Cambria Math" panose="02040503050406030204" pitchFamily="18" charset="0"/>
                      </a:rPr>
                      <m:t>𝑿</m:t>
                    </m:r>
                    <m:d>
                      <m:dPr>
                        <m:begChr m:val="["/>
                        <m:endChr m:val="]"/>
                        <m:ctrlPr>
                          <a:rPr lang="en-US" sz="1200" b="1" i="1">
                            <a:latin typeface="Cambria Math" panose="02040503050406030204" pitchFamily="18" charset="0"/>
                          </a:rPr>
                        </m:ctrlPr>
                      </m:dPr>
                      <m:e>
                        <m:r>
                          <a:rPr lang="en-US" sz="1200" b="1" i="1" smtClean="0">
                            <a:latin typeface="Cambria Math" panose="02040503050406030204" pitchFamily="18" charset="0"/>
                          </a:rPr>
                          <m:t>𝟐</m:t>
                        </m:r>
                      </m:e>
                    </m:d>
                    <m:r>
                      <a:rPr lang="en-US" sz="1200" b="1" i="1">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i="1">
                            <a:latin typeface="Cambria Math" panose="02040503050406030204" pitchFamily="18" charset="0"/>
                          </a:rPr>
                          <m:t>0</m:t>
                        </m:r>
                      </m:sup>
                    </m:sSubSup>
                    <m:r>
                      <a:rPr lang="en-US" sz="1200" i="1">
                        <a:latin typeface="Cambria Math" panose="02040503050406030204" pitchFamily="18" charset="0"/>
                      </a:rPr>
                      <m:t>+</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1</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b="0" i="1" smtClean="0">
                            <a:latin typeface="Cambria Math" panose="02040503050406030204" pitchFamily="18" charset="0"/>
                          </a:rPr>
                          <m:t>2</m:t>
                        </m:r>
                      </m:sup>
                    </m:sSubSup>
                    <m:r>
                      <a:rPr lang="en-US" sz="1200" i="1">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2</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b="0" i="1" smtClean="0">
                            <a:latin typeface="Cambria Math" panose="02040503050406030204" pitchFamily="18" charset="0"/>
                          </a:rPr>
                          <m:t>4</m:t>
                        </m:r>
                      </m:sup>
                    </m:sSubSup>
                    <m:r>
                      <a:rPr lang="en-US" sz="1200" i="1">
                        <a:latin typeface="Cambria Math" panose="02040503050406030204" pitchFamily="18" charset="0"/>
                      </a:rPr>
                      <m:t>+</m:t>
                    </m:r>
                    <m:r>
                      <m:rPr>
                        <m:nor/>
                      </m:rPr>
                      <a:rPr lang="en-US" sz="1200" dirty="0"/>
                      <m:t> </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3</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b="0" i="1" smtClean="0">
                            <a:latin typeface="Cambria Math" panose="02040503050406030204" pitchFamily="18" charset="0"/>
                          </a:rPr>
                          <m:t>6</m:t>
                        </m:r>
                      </m:sup>
                    </m:sSubSup>
                  </m:oMath>
                </a14:m>
                <a:endParaRPr lang="en-US" sz="1200" dirty="0"/>
              </a:p>
              <a:p>
                <a:pPr defTabSz="457200">
                  <a:spcBef>
                    <a:spcPts val="1000"/>
                  </a:spcBef>
                  <a:buClr>
                    <a:srgbClr val="1E4056"/>
                  </a:buClr>
                  <a:buSzPct val="75000"/>
                </a:pPr>
                <a14:m>
                  <m:oMath xmlns:m="http://schemas.openxmlformats.org/officeDocument/2006/math">
                    <m:r>
                      <a:rPr lang="en-US" sz="1200" b="1" i="1">
                        <a:latin typeface="Cambria Math" panose="02040503050406030204" pitchFamily="18" charset="0"/>
                      </a:rPr>
                      <m:t>𝑿</m:t>
                    </m:r>
                    <m:d>
                      <m:dPr>
                        <m:begChr m:val="["/>
                        <m:endChr m:val="]"/>
                        <m:ctrlPr>
                          <a:rPr lang="en-US" sz="1200" b="1" i="1">
                            <a:latin typeface="Cambria Math" panose="02040503050406030204" pitchFamily="18" charset="0"/>
                          </a:rPr>
                        </m:ctrlPr>
                      </m:dPr>
                      <m:e>
                        <m:r>
                          <a:rPr lang="en-US" sz="1200" b="1" i="1" smtClean="0">
                            <a:latin typeface="Cambria Math" panose="02040503050406030204" pitchFamily="18" charset="0"/>
                          </a:rPr>
                          <m:t>𝟑</m:t>
                        </m:r>
                      </m:e>
                    </m:d>
                    <m:r>
                      <a:rPr lang="en-US" sz="1200" b="1" i="1">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i="1">
                            <a:latin typeface="Cambria Math" panose="02040503050406030204" pitchFamily="18" charset="0"/>
                          </a:rPr>
                          <m:t>0</m:t>
                        </m:r>
                      </m:sup>
                    </m:sSubSup>
                    <m:r>
                      <a:rPr lang="en-US" sz="1200" i="1">
                        <a:latin typeface="Cambria Math" panose="02040503050406030204" pitchFamily="18" charset="0"/>
                      </a:rPr>
                      <m:t>+</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1</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b="0" i="1" smtClean="0">
                            <a:latin typeface="Cambria Math" panose="02040503050406030204" pitchFamily="18" charset="0"/>
                          </a:rPr>
                          <m:t>3</m:t>
                        </m:r>
                      </m:sup>
                    </m:sSubSup>
                    <m:r>
                      <a:rPr lang="en-US" sz="1200" i="1">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2</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b="0" i="1" smtClean="0">
                            <a:latin typeface="Cambria Math" panose="02040503050406030204" pitchFamily="18" charset="0"/>
                          </a:rPr>
                          <m:t>6</m:t>
                        </m:r>
                      </m:sup>
                    </m:sSubSup>
                    <m:r>
                      <a:rPr lang="en-US" sz="1200" i="1">
                        <a:latin typeface="Cambria Math" panose="02040503050406030204" pitchFamily="18" charset="0"/>
                      </a:rPr>
                      <m:t>+</m:t>
                    </m:r>
                    <m:r>
                      <m:rPr>
                        <m:nor/>
                      </m:rPr>
                      <a:rPr lang="en-US" sz="1200" dirty="0"/>
                      <m:t> </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3</m:t>
                        </m:r>
                      </m:e>
                    </m:d>
                    <m:r>
                      <a:rPr lang="en-US" sz="1200" i="1">
                        <a:latin typeface="Cambria Math" panose="02040503050406030204" pitchFamily="18" charset="0"/>
                      </a:rPr>
                      <m:t> </m:t>
                    </m:r>
                    <m:sSubSup>
                      <m:sSubSupPr>
                        <m:ctrlPr>
                          <a:rPr lang="en-US" sz="1200" i="1">
                            <a:latin typeface="Cambria Math" panose="02040503050406030204" pitchFamily="18" charset="0"/>
                          </a:rPr>
                        </m:ctrlPr>
                      </m:sSubSupPr>
                      <m:e>
                        <m:r>
                          <a:rPr lang="en-US" sz="1200" i="1">
                            <a:latin typeface="Cambria Math" panose="02040503050406030204" pitchFamily="18" charset="0"/>
                          </a:rPr>
                          <m:t>𝑊</m:t>
                        </m:r>
                      </m:e>
                      <m:sub>
                        <m:r>
                          <a:rPr lang="en-US" sz="1200" i="1">
                            <a:latin typeface="Cambria Math" panose="02040503050406030204" pitchFamily="18" charset="0"/>
                          </a:rPr>
                          <m:t>4</m:t>
                        </m:r>
                      </m:sub>
                      <m:sup>
                        <m:r>
                          <a:rPr lang="en-US" sz="1200" b="0" i="1" smtClean="0">
                            <a:latin typeface="Cambria Math" panose="02040503050406030204" pitchFamily="18" charset="0"/>
                          </a:rPr>
                          <m:t>9</m:t>
                        </m:r>
                      </m:sup>
                    </m:sSubSup>
                  </m:oMath>
                </a14:m>
                <a:endParaRPr lang="en-US" sz="1200" dirty="0"/>
              </a:p>
              <a:p>
                <a:pPr defTabSz="457200">
                  <a:spcBef>
                    <a:spcPts val="1000"/>
                  </a:spcBef>
                  <a:buClr>
                    <a:srgbClr val="1E4056"/>
                  </a:buClr>
                  <a:buSzPct val="75000"/>
                </a:pPr>
                <a:endParaRPr lang="en-US" sz="1200" dirty="0"/>
              </a:p>
            </p:txBody>
          </p:sp>
        </mc:Choice>
        <mc:Fallback xmlns="">
          <p:sp>
            <p:nvSpPr>
              <p:cNvPr id="42" name="TextBox 41">
                <a:extLst>
                  <a:ext uri="{FF2B5EF4-FFF2-40B4-BE49-F238E27FC236}">
                    <a16:creationId xmlns:a16="http://schemas.microsoft.com/office/drawing/2014/main" id="{E45486DA-D240-E4AA-705B-195CBD2639FC}"/>
                  </a:ext>
                </a:extLst>
              </p:cNvPr>
              <p:cNvSpPr txBox="1">
                <a:spLocks noRot="1" noChangeAspect="1" noMove="1" noResize="1" noEditPoints="1" noAdjustHandles="1" noChangeArrowheads="1" noChangeShapeType="1" noTextEdit="1"/>
              </p:cNvSpPr>
              <p:nvPr/>
            </p:nvSpPr>
            <p:spPr>
              <a:xfrm>
                <a:off x="7141782" y="6024019"/>
                <a:ext cx="3487047" cy="1556195"/>
              </a:xfrm>
              <a:prstGeom prst="rect">
                <a:avLst/>
              </a:prstGeom>
              <a:blipFill>
                <a:blip r:embed="rId6"/>
                <a:stretch>
                  <a:fillRect/>
                </a:stretch>
              </a:blipFill>
            </p:spPr>
            <p:txBody>
              <a:bodyPr/>
              <a:lstStyle/>
              <a:p>
                <a:r>
                  <a:rPr lang="en-US">
                    <a:noFill/>
                  </a:rPr>
                  <a:t> </a:t>
                </a:r>
              </a:p>
            </p:txBody>
          </p:sp>
        </mc:Fallback>
      </mc:AlternateContent>
      <p:sp>
        <p:nvSpPr>
          <p:cNvPr id="43" name="TextBox 42">
            <a:extLst>
              <a:ext uri="{FF2B5EF4-FFF2-40B4-BE49-F238E27FC236}">
                <a16:creationId xmlns:a16="http://schemas.microsoft.com/office/drawing/2014/main" id="{A665CBBE-AE08-0655-C22D-EA1D2EF03DEC}"/>
              </a:ext>
            </a:extLst>
          </p:cNvPr>
          <p:cNvSpPr txBox="1"/>
          <p:nvPr/>
        </p:nvSpPr>
        <p:spPr>
          <a:xfrm>
            <a:off x="8329748" y="4478596"/>
            <a:ext cx="1512397" cy="24553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t>4-point DFT</a:t>
            </a:r>
          </a:p>
          <a:p>
            <a:pPr marL="228600" indent="-228600" defTabSz="457200">
              <a:spcBef>
                <a:spcPts val="1000"/>
              </a:spcBef>
              <a:buClr>
                <a:srgbClr val="1E4056"/>
              </a:buClr>
              <a:buSzPct val="75000"/>
              <a:buFont typeface="Barlow"/>
              <a:buChar char="►"/>
            </a:pPr>
            <a:endParaRPr lang="en-US" sz="2000" dirty="0">
              <a:solidFill>
                <a:srgbClr val="000000"/>
              </a:solidFill>
            </a:endParaRPr>
          </a:p>
        </p:txBody>
      </p:sp>
      <p:sp>
        <p:nvSpPr>
          <p:cNvPr id="44" name="Rectangle 43">
            <a:extLst>
              <a:ext uri="{FF2B5EF4-FFF2-40B4-BE49-F238E27FC236}">
                <a16:creationId xmlns:a16="http://schemas.microsoft.com/office/drawing/2014/main" id="{2B8A0245-6E0C-0C03-8E3A-2A255F60A897}"/>
              </a:ext>
            </a:extLst>
          </p:cNvPr>
          <p:cNvSpPr/>
          <p:nvPr/>
        </p:nvSpPr>
        <p:spPr>
          <a:xfrm>
            <a:off x="6345962" y="6011503"/>
            <a:ext cx="2067692" cy="267029"/>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accent2"/>
                </a:solidFill>
              </a:rPr>
              <a:t>Show Equation</a:t>
            </a:r>
          </a:p>
        </p:txBody>
      </p:sp>
      <p:sp>
        <p:nvSpPr>
          <p:cNvPr id="45" name="Rectangle 44">
            <a:extLst>
              <a:ext uri="{FF2B5EF4-FFF2-40B4-BE49-F238E27FC236}">
                <a16:creationId xmlns:a16="http://schemas.microsoft.com/office/drawing/2014/main" id="{D6E4F4FD-A808-036B-8C96-1A45F6FEE21A}"/>
              </a:ext>
            </a:extLst>
          </p:cNvPr>
          <p:cNvSpPr/>
          <p:nvPr/>
        </p:nvSpPr>
        <p:spPr>
          <a:xfrm>
            <a:off x="9781408" y="6011503"/>
            <a:ext cx="2067692" cy="267029"/>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accent2"/>
                </a:solidFill>
              </a:rPr>
              <a:t>Substitute with W</a:t>
            </a:r>
          </a:p>
        </p:txBody>
      </p:sp>
      <p:cxnSp>
        <p:nvCxnSpPr>
          <p:cNvPr id="51" name="Straight Arrow Connector 50">
            <a:extLst>
              <a:ext uri="{FF2B5EF4-FFF2-40B4-BE49-F238E27FC236}">
                <a16:creationId xmlns:a16="http://schemas.microsoft.com/office/drawing/2014/main" id="{EA4AA0D7-60BE-8FAE-797A-7E8D762D03AE}"/>
              </a:ext>
            </a:extLst>
          </p:cNvPr>
          <p:cNvCxnSpPr>
            <a:cxnSpLocks/>
          </p:cNvCxnSpPr>
          <p:nvPr/>
        </p:nvCxnSpPr>
        <p:spPr>
          <a:xfrm>
            <a:off x="6618409" y="4355997"/>
            <a:ext cx="34425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191AF10E-7A09-FEA9-D27C-2F4CA899A39E}"/>
              </a:ext>
            </a:extLst>
          </p:cNvPr>
          <p:cNvCxnSpPr>
            <a:cxnSpLocks/>
          </p:cNvCxnSpPr>
          <p:nvPr/>
        </p:nvCxnSpPr>
        <p:spPr>
          <a:xfrm>
            <a:off x="6636529" y="4975470"/>
            <a:ext cx="34425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80CF309E-BE94-4272-C782-0109BCFA9730}"/>
              </a:ext>
            </a:extLst>
          </p:cNvPr>
          <p:cNvSpPr txBox="1"/>
          <p:nvPr/>
        </p:nvSpPr>
        <p:spPr>
          <a:xfrm>
            <a:off x="6213025" y="481669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sp>
        <p:nvSpPr>
          <p:cNvPr id="54" name="TextBox 53">
            <a:extLst>
              <a:ext uri="{FF2B5EF4-FFF2-40B4-BE49-F238E27FC236}">
                <a16:creationId xmlns:a16="http://schemas.microsoft.com/office/drawing/2014/main" id="{4B68293D-DB03-9186-CC40-6EB6D5DFB153}"/>
              </a:ext>
            </a:extLst>
          </p:cNvPr>
          <p:cNvSpPr txBox="1"/>
          <p:nvPr/>
        </p:nvSpPr>
        <p:spPr>
          <a:xfrm>
            <a:off x="6217964" y="537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55" name="Straight Arrow Connector 54">
            <a:extLst>
              <a:ext uri="{FF2B5EF4-FFF2-40B4-BE49-F238E27FC236}">
                <a16:creationId xmlns:a16="http://schemas.microsoft.com/office/drawing/2014/main" id="{485B7072-C28B-7053-6BAC-B35BDBD5AA8F}"/>
              </a:ext>
            </a:extLst>
          </p:cNvPr>
          <p:cNvCxnSpPr>
            <a:cxnSpLocks/>
          </p:cNvCxnSpPr>
          <p:nvPr/>
        </p:nvCxnSpPr>
        <p:spPr>
          <a:xfrm>
            <a:off x="6636529" y="5594942"/>
            <a:ext cx="34425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9BA4073A-382E-4E85-77AD-0F389F4C3C5C}"/>
              </a:ext>
            </a:extLst>
          </p:cNvPr>
          <p:cNvCxnSpPr>
            <a:cxnSpLocks/>
          </p:cNvCxnSpPr>
          <p:nvPr/>
        </p:nvCxnSpPr>
        <p:spPr>
          <a:xfrm>
            <a:off x="10997896" y="3807716"/>
            <a:ext cx="34425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CD58A7D2-A847-3837-A455-BD88A2D2F05C}"/>
              </a:ext>
            </a:extLst>
          </p:cNvPr>
          <p:cNvCxnSpPr>
            <a:cxnSpLocks/>
          </p:cNvCxnSpPr>
          <p:nvPr/>
        </p:nvCxnSpPr>
        <p:spPr>
          <a:xfrm>
            <a:off x="10973507" y="4427189"/>
            <a:ext cx="34425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2DAAC376-889D-F1B4-C03F-EB7C965AE790}"/>
              </a:ext>
            </a:extLst>
          </p:cNvPr>
          <p:cNvCxnSpPr>
            <a:cxnSpLocks/>
          </p:cNvCxnSpPr>
          <p:nvPr/>
        </p:nvCxnSpPr>
        <p:spPr>
          <a:xfrm>
            <a:off x="10991627" y="5046662"/>
            <a:ext cx="34425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A3C3463D-8A6E-14F8-A62C-C40824E23A28}"/>
              </a:ext>
            </a:extLst>
          </p:cNvPr>
          <p:cNvCxnSpPr>
            <a:cxnSpLocks/>
          </p:cNvCxnSpPr>
          <p:nvPr/>
        </p:nvCxnSpPr>
        <p:spPr>
          <a:xfrm>
            <a:off x="10991627" y="5666134"/>
            <a:ext cx="34425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0A34CB20-AAC9-BF21-4416-B5C331E65A7F}"/>
              </a:ext>
            </a:extLst>
          </p:cNvPr>
          <p:cNvSpPr txBox="1"/>
          <p:nvPr/>
        </p:nvSpPr>
        <p:spPr>
          <a:xfrm>
            <a:off x="11415345" y="426823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64" name="TextBox 63">
            <a:extLst>
              <a:ext uri="{FF2B5EF4-FFF2-40B4-BE49-F238E27FC236}">
                <a16:creationId xmlns:a16="http://schemas.microsoft.com/office/drawing/2014/main" id="{06C0454A-FDAA-F547-E9B1-CB7C20F7F3B2}"/>
              </a:ext>
            </a:extLst>
          </p:cNvPr>
          <p:cNvSpPr txBox="1"/>
          <p:nvPr/>
        </p:nvSpPr>
        <p:spPr>
          <a:xfrm>
            <a:off x="11419601" y="482907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65" name="TextBox 64">
            <a:extLst>
              <a:ext uri="{FF2B5EF4-FFF2-40B4-BE49-F238E27FC236}">
                <a16:creationId xmlns:a16="http://schemas.microsoft.com/office/drawing/2014/main" id="{CDF0E421-7442-01B1-228A-941A885D21FE}"/>
              </a:ext>
            </a:extLst>
          </p:cNvPr>
          <p:cNvSpPr txBox="1"/>
          <p:nvPr/>
        </p:nvSpPr>
        <p:spPr>
          <a:xfrm>
            <a:off x="11415345" y="5437928"/>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8204B07A-541B-89CD-E5C2-F0B9AFE20C15}"/>
                  </a:ext>
                </a:extLst>
              </p:cNvPr>
              <p:cNvSpPr txBox="1"/>
              <p:nvPr/>
            </p:nvSpPr>
            <p:spPr>
              <a:xfrm>
                <a:off x="7729561" y="5860446"/>
                <a:ext cx="2642298" cy="1556195"/>
              </a:xfrm>
              <a:prstGeom prst="rect">
                <a:avLst/>
              </a:prstGeom>
              <a:noFill/>
            </p:spPr>
            <p:txBody>
              <a:bodyPr wrap="square">
                <a:spAutoFit/>
              </a:bodyPr>
              <a:lstStyle/>
              <a:p>
                <a:pPr defTabSz="457200">
                  <a:spcBef>
                    <a:spcPts val="1000"/>
                  </a:spcBef>
                  <a:buClr>
                    <a:srgbClr val="1E4056"/>
                  </a:buClr>
                  <a:buSzPct val="75000"/>
                </a:pPr>
                <a14:m>
                  <m:oMath xmlns:m="http://schemas.openxmlformats.org/officeDocument/2006/math">
                    <m:r>
                      <a:rPr lang="en-US" sz="1200" b="1" i="1" smtClean="0">
                        <a:latin typeface="Cambria Math" panose="02040503050406030204" pitchFamily="18" charset="0"/>
                      </a:rPr>
                      <m:t>𝑿</m:t>
                    </m:r>
                    <m:d>
                      <m:dPr>
                        <m:begChr m:val="["/>
                        <m:endChr m:val="]"/>
                        <m:ctrlPr>
                          <a:rPr lang="en-US" sz="1200" b="1" i="1" smtClean="0">
                            <a:latin typeface="Cambria Math" panose="02040503050406030204" pitchFamily="18" charset="0"/>
                          </a:rPr>
                        </m:ctrlPr>
                      </m:dPr>
                      <m:e>
                        <m:r>
                          <a:rPr lang="en-US" sz="1200" b="1" i="1" smtClean="0">
                            <a:latin typeface="Cambria Math" panose="02040503050406030204" pitchFamily="18" charset="0"/>
                          </a:rPr>
                          <m:t>𝟎</m:t>
                        </m:r>
                      </m:e>
                    </m:d>
                    <m:r>
                      <a:rPr lang="en-US" sz="1200" b="1" i="1" smtClean="0">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i="1">
                        <a:latin typeface="Cambria Math" panose="02040503050406030204" pitchFamily="18" charset="0"/>
                      </a:rPr>
                      <m:t> </m:t>
                    </m:r>
                    <m:r>
                      <a:rPr lang="en-US" sz="1200" b="0" i="1" smtClean="0">
                        <a:latin typeface="Cambria Math" panose="02040503050406030204" pitchFamily="18" charset="0"/>
                      </a:rPr>
                      <m:t>+</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1</m:t>
                        </m:r>
                      </m:e>
                    </m:d>
                    <m:r>
                      <a:rPr lang="en-US" sz="1200" i="1">
                        <a:latin typeface="Cambria Math" panose="02040503050406030204" pitchFamily="18" charset="0"/>
                      </a:rPr>
                      <m:t> </m:t>
                    </m:r>
                    <m:r>
                      <a:rPr lang="en-US" sz="1200" b="0" i="1" smtClean="0">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2</m:t>
                        </m:r>
                      </m:e>
                    </m:d>
                    <m:r>
                      <a:rPr lang="en-US" sz="1200" i="1">
                        <a:latin typeface="Cambria Math" panose="02040503050406030204" pitchFamily="18" charset="0"/>
                      </a:rPr>
                      <m:t> +</m:t>
                    </m:r>
                    <m:r>
                      <m:rPr>
                        <m:nor/>
                      </m:rPr>
                      <a:rPr lang="en-US" sz="1200" dirty="0"/>
                      <m:t> </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3</m:t>
                        </m:r>
                      </m:e>
                    </m:d>
                  </m:oMath>
                </a14:m>
                <a:endParaRPr lang="en-US" sz="1200" dirty="0"/>
              </a:p>
              <a:p>
                <a:pPr defTabSz="457200">
                  <a:spcBef>
                    <a:spcPts val="1000"/>
                  </a:spcBef>
                  <a:buClr>
                    <a:srgbClr val="1E4056"/>
                  </a:buClr>
                  <a:buSzPct val="75000"/>
                </a:pPr>
                <a14:m>
                  <m:oMath xmlns:m="http://schemas.openxmlformats.org/officeDocument/2006/math">
                    <m:r>
                      <a:rPr lang="en-US" sz="1200" b="1" i="1">
                        <a:latin typeface="Cambria Math" panose="02040503050406030204" pitchFamily="18" charset="0"/>
                      </a:rPr>
                      <m:t>𝑿</m:t>
                    </m:r>
                    <m:d>
                      <m:dPr>
                        <m:begChr m:val="["/>
                        <m:endChr m:val="]"/>
                        <m:ctrlPr>
                          <a:rPr lang="en-US" sz="1200" b="1" i="1">
                            <a:latin typeface="Cambria Math" panose="02040503050406030204" pitchFamily="18" charset="0"/>
                          </a:rPr>
                        </m:ctrlPr>
                      </m:dPr>
                      <m:e>
                        <m:r>
                          <a:rPr lang="en-US" sz="1200" b="1" i="1" smtClean="0">
                            <a:latin typeface="Cambria Math" panose="02040503050406030204" pitchFamily="18" charset="0"/>
                          </a:rPr>
                          <m:t>𝟏</m:t>
                        </m:r>
                      </m:e>
                    </m:d>
                    <m:r>
                      <a:rPr lang="en-US" sz="1200" b="1" i="1">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b="0" i="1" smtClean="0">
                        <a:latin typeface="Cambria Math" panose="02040503050406030204" pitchFamily="18" charset="0"/>
                      </a:rPr>
                      <m:t>−</m:t>
                    </m:r>
                    <m:r>
                      <a:rPr lang="en-US" sz="1200" b="0" i="1" smtClean="0">
                        <a:latin typeface="Cambria Math" panose="02040503050406030204" pitchFamily="18" charset="0"/>
                      </a:rPr>
                      <m:t>𝑗</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1</m:t>
                        </m:r>
                      </m:e>
                    </m:d>
                    <m:r>
                      <a:rPr lang="en-US" sz="1200" i="1">
                        <a:latin typeface="Cambria Math" panose="02040503050406030204" pitchFamily="18" charset="0"/>
                      </a:rPr>
                      <m:t> </m:t>
                    </m:r>
                    <m:r>
                      <a:rPr lang="en-US" sz="1200" b="0" i="1" smtClean="0">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2</m:t>
                        </m:r>
                      </m:e>
                    </m:d>
                    <m:r>
                      <a:rPr lang="en-US" sz="1200" i="1">
                        <a:latin typeface="Cambria Math" panose="02040503050406030204" pitchFamily="18" charset="0"/>
                      </a:rPr>
                      <m:t> +</m:t>
                    </m:r>
                    <m:r>
                      <a:rPr lang="en-US" sz="1200" b="0" i="1" smtClean="0">
                        <a:latin typeface="Cambria Math" panose="02040503050406030204" pitchFamily="18" charset="0"/>
                      </a:rPr>
                      <m:t>𝑗</m:t>
                    </m:r>
                    <m:r>
                      <m:rPr>
                        <m:nor/>
                      </m:rPr>
                      <a:rPr lang="en-US" sz="1200" dirty="0"/>
                      <m:t> </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3</m:t>
                        </m:r>
                      </m:e>
                    </m:d>
                  </m:oMath>
                </a14:m>
                <a:endParaRPr lang="en-US" sz="1200" dirty="0"/>
              </a:p>
              <a:p>
                <a:pPr defTabSz="457200">
                  <a:spcBef>
                    <a:spcPts val="1000"/>
                  </a:spcBef>
                  <a:buClr>
                    <a:srgbClr val="1E4056"/>
                  </a:buClr>
                  <a:buSzPct val="75000"/>
                </a:pPr>
                <a14:m>
                  <m:oMath xmlns:m="http://schemas.openxmlformats.org/officeDocument/2006/math">
                    <m:r>
                      <a:rPr lang="en-US" sz="1200" b="1" i="1">
                        <a:latin typeface="Cambria Math" panose="02040503050406030204" pitchFamily="18" charset="0"/>
                      </a:rPr>
                      <m:t>𝑿</m:t>
                    </m:r>
                    <m:d>
                      <m:dPr>
                        <m:begChr m:val="["/>
                        <m:endChr m:val="]"/>
                        <m:ctrlPr>
                          <a:rPr lang="en-US" sz="1200" b="1" i="1">
                            <a:latin typeface="Cambria Math" panose="02040503050406030204" pitchFamily="18" charset="0"/>
                          </a:rPr>
                        </m:ctrlPr>
                      </m:dPr>
                      <m:e>
                        <m:r>
                          <a:rPr lang="en-US" sz="1200" b="1" i="1" smtClean="0">
                            <a:latin typeface="Cambria Math" panose="02040503050406030204" pitchFamily="18" charset="0"/>
                          </a:rPr>
                          <m:t>𝟐</m:t>
                        </m:r>
                      </m:e>
                    </m:d>
                    <m:r>
                      <a:rPr lang="en-US" sz="1200" b="1" i="1">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i="1">
                        <a:latin typeface="Cambria Math" panose="02040503050406030204" pitchFamily="18" charset="0"/>
                      </a:rPr>
                      <m:t> </m:t>
                    </m:r>
                    <m:r>
                      <a:rPr lang="en-US" sz="1200" b="0" i="1" smtClean="0">
                        <a:latin typeface="Cambria Math" panose="02040503050406030204" pitchFamily="18" charset="0"/>
                      </a:rPr>
                      <m:t>−</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1</m:t>
                        </m:r>
                      </m:e>
                    </m:d>
                    <m:r>
                      <a:rPr lang="en-US" sz="1200" i="1">
                        <a:latin typeface="Cambria Math" panose="02040503050406030204" pitchFamily="18" charset="0"/>
                      </a:rPr>
                      <m:t> +</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2</m:t>
                        </m:r>
                      </m:e>
                    </m:d>
                    <m:r>
                      <a:rPr lang="en-US" sz="1200" i="1">
                        <a:latin typeface="Cambria Math" panose="02040503050406030204" pitchFamily="18" charset="0"/>
                      </a:rPr>
                      <m:t> </m:t>
                    </m:r>
                    <m:r>
                      <a:rPr lang="en-US" sz="1200" b="0" i="1" smtClean="0">
                        <a:latin typeface="Cambria Math" panose="02040503050406030204" pitchFamily="18" charset="0"/>
                      </a:rPr>
                      <m:t>−</m:t>
                    </m:r>
                    <m:r>
                      <m:rPr>
                        <m:nor/>
                      </m:rPr>
                      <a:rPr lang="en-US" sz="1200" dirty="0"/>
                      <m:t> </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3</m:t>
                        </m:r>
                      </m:e>
                    </m:d>
                  </m:oMath>
                </a14:m>
                <a:endParaRPr lang="en-US" sz="1200" dirty="0"/>
              </a:p>
              <a:p>
                <a:pPr defTabSz="457200">
                  <a:spcBef>
                    <a:spcPts val="1000"/>
                  </a:spcBef>
                  <a:buClr>
                    <a:srgbClr val="1E4056"/>
                  </a:buClr>
                  <a:buSzPct val="75000"/>
                </a:pPr>
                <a14:m>
                  <m:oMath xmlns:m="http://schemas.openxmlformats.org/officeDocument/2006/math">
                    <m:r>
                      <a:rPr lang="en-US" sz="1200" b="1" i="1">
                        <a:latin typeface="Cambria Math" panose="02040503050406030204" pitchFamily="18" charset="0"/>
                      </a:rPr>
                      <m:t>𝑿</m:t>
                    </m:r>
                    <m:d>
                      <m:dPr>
                        <m:begChr m:val="["/>
                        <m:endChr m:val="]"/>
                        <m:ctrlPr>
                          <a:rPr lang="en-US" sz="1200" b="1" i="1">
                            <a:latin typeface="Cambria Math" panose="02040503050406030204" pitchFamily="18" charset="0"/>
                          </a:rPr>
                        </m:ctrlPr>
                      </m:dPr>
                      <m:e>
                        <m:r>
                          <a:rPr lang="en-US" sz="1200" b="1" i="1" smtClean="0">
                            <a:latin typeface="Cambria Math" panose="02040503050406030204" pitchFamily="18" charset="0"/>
                          </a:rPr>
                          <m:t>𝟑</m:t>
                        </m:r>
                      </m:e>
                    </m:d>
                    <m:r>
                      <a:rPr lang="en-US" sz="1200" b="1" i="1">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i="1">
                        <a:latin typeface="Cambria Math" panose="02040503050406030204" pitchFamily="18" charset="0"/>
                      </a:rPr>
                      <m:t> +</m:t>
                    </m:r>
                    <m:r>
                      <a:rPr lang="en-US" sz="1200" b="0" i="1" smtClean="0">
                        <a:latin typeface="Cambria Math" panose="02040503050406030204" pitchFamily="18" charset="0"/>
                      </a:rPr>
                      <m:t>𝑗</m:t>
                    </m:r>
                  </m:oMath>
                </a14:m>
                <a:r>
                  <a:rPr lang="en-US" sz="1200" dirty="0"/>
                  <a:t> </a:t>
                </a:r>
                <a14:m>
                  <m:oMath xmlns:m="http://schemas.openxmlformats.org/officeDocument/2006/math">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1</m:t>
                        </m:r>
                      </m:e>
                    </m:d>
                    <m:r>
                      <a:rPr lang="en-US" sz="1200" i="1">
                        <a:latin typeface="Cambria Math" panose="02040503050406030204" pitchFamily="18" charset="0"/>
                      </a:rPr>
                      <m:t> </m:t>
                    </m:r>
                    <m:r>
                      <a:rPr lang="en-US" sz="1200" b="0" i="1" smtClean="0">
                        <a:latin typeface="Cambria Math" panose="02040503050406030204" pitchFamily="18" charset="0"/>
                      </a:rPr>
                      <m:t>−</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2</m:t>
                        </m:r>
                      </m:e>
                    </m:d>
                    <m:r>
                      <a:rPr lang="en-US" sz="1200" i="1">
                        <a:latin typeface="Cambria Math" panose="02040503050406030204" pitchFamily="18" charset="0"/>
                      </a:rPr>
                      <m:t> </m:t>
                    </m:r>
                    <m:r>
                      <m:rPr>
                        <m:nor/>
                      </m:rPr>
                      <a:rPr lang="en-US" sz="1200" b="0" i="0" smtClean="0">
                        <a:latin typeface="Cambria Math" panose="02040503050406030204" pitchFamily="18" charset="0"/>
                      </a:rPr>
                      <m:t>−</m:t>
                    </m:r>
                    <m:r>
                      <m:rPr>
                        <m:nor/>
                      </m:rPr>
                      <a:rPr lang="en-US" sz="1200" b="0" i="0" smtClean="0">
                        <a:latin typeface="Cambria Math" panose="02040503050406030204" pitchFamily="18" charset="0"/>
                      </a:rPr>
                      <m:t>j</m:t>
                    </m:r>
                    <m:r>
                      <m:rPr>
                        <m:nor/>
                      </m:rPr>
                      <a:rPr lang="en-US" sz="1200" dirty="0"/>
                      <m:t> </m:t>
                    </m:r>
                    <m:r>
                      <a:rPr lang="en-US" sz="1200" i="1">
                        <a:latin typeface="Cambria Math" panose="02040503050406030204" pitchFamily="18" charset="0"/>
                      </a:rPr>
                      <m:t>𝑥</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3</m:t>
                        </m:r>
                      </m:e>
                    </m:d>
                  </m:oMath>
                </a14:m>
                <a:endParaRPr lang="en-US" sz="1200" dirty="0"/>
              </a:p>
              <a:p>
                <a:pPr defTabSz="457200">
                  <a:spcBef>
                    <a:spcPts val="1000"/>
                  </a:spcBef>
                  <a:buClr>
                    <a:srgbClr val="1E4056"/>
                  </a:buClr>
                  <a:buSzPct val="75000"/>
                </a:pPr>
                <a:endParaRPr lang="en-US" sz="1200" dirty="0"/>
              </a:p>
            </p:txBody>
          </p:sp>
        </mc:Choice>
        <mc:Fallback xmlns="">
          <p:sp>
            <p:nvSpPr>
              <p:cNvPr id="66" name="TextBox 65">
                <a:extLst>
                  <a:ext uri="{FF2B5EF4-FFF2-40B4-BE49-F238E27FC236}">
                    <a16:creationId xmlns:a16="http://schemas.microsoft.com/office/drawing/2014/main" id="{8204B07A-541B-89CD-E5C2-F0B9AFE20C15}"/>
                  </a:ext>
                </a:extLst>
              </p:cNvPr>
              <p:cNvSpPr txBox="1">
                <a:spLocks noRot="1" noChangeAspect="1" noMove="1" noResize="1" noEditPoints="1" noAdjustHandles="1" noChangeArrowheads="1" noChangeShapeType="1" noTextEdit="1"/>
              </p:cNvSpPr>
              <p:nvPr/>
            </p:nvSpPr>
            <p:spPr>
              <a:xfrm>
                <a:off x="7729561" y="5860446"/>
                <a:ext cx="2642298" cy="1556195"/>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579107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grpId="1"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par>
                                <p:cTn id="51" presetID="10"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fade">
                                      <p:cBhvr>
                                        <p:cTn id="59" dur="500"/>
                                        <p:tgtEl>
                                          <p:spTgt spid="3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500"/>
                                        <p:tgtEl>
                                          <p:spTgt spid="41"/>
                                        </p:tgtEl>
                                      </p:cBhvr>
                                    </p:animEffect>
                                  </p:childTnLst>
                                </p:cTn>
                              </p:par>
                              <p:par>
                                <p:cTn id="63" presetID="10" presetClass="entr" presetSubtype="0" fill="hold" grpId="1" nodeType="withEffect">
                                  <p:stCondLst>
                                    <p:cond delay="0"/>
                                  </p:stCondLst>
                                  <p:childTnLst>
                                    <p:set>
                                      <p:cBhvr>
                                        <p:cTn id="64" dur="1" fill="hold">
                                          <p:stCondLst>
                                            <p:cond delay="0"/>
                                          </p:stCondLst>
                                        </p:cTn>
                                        <p:tgtEl>
                                          <p:spTgt spid="43"/>
                                        </p:tgtEl>
                                        <p:attrNameLst>
                                          <p:attrName>style.visibility</p:attrName>
                                        </p:attrNameLst>
                                      </p:cBhvr>
                                      <p:to>
                                        <p:strVal val="visible"/>
                                      </p:to>
                                    </p:set>
                                    <p:animEffect transition="in" filter="fade">
                                      <p:cBhvr>
                                        <p:cTn id="65" dur="500"/>
                                        <p:tgtEl>
                                          <p:spTgt spid="43"/>
                                        </p:tgtEl>
                                      </p:cBhvr>
                                    </p:animEffect>
                                  </p:childTnLst>
                                </p:cTn>
                              </p:par>
                              <p:par>
                                <p:cTn id="66" presetID="10" presetClass="entr" presetSubtype="0" fill="hold" nodeType="withEffect">
                                  <p:stCondLst>
                                    <p:cond delay="0"/>
                                  </p:stCondLst>
                                  <p:childTnLst>
                                    <p:set>
                                      <p:cBhvr>
                                        <p:cTn id="67" dur="1" fill="hold">
                                          <p:stCondLst>
                                            <p:cond delay="0"/>
                                          </p:stCondLst>
                                        </p:cTn>
                                        <p:tgtEl>
                                          <p:spTgt spid="51"/>
                                        </p:tgtEl>
                                        <p:attrNameLst>
                                          <p:attrName>style.visibility</p:attrName>
                                        </p:attrNameLst>
                                      </p:cBhvr>
                                      <p:to>
                                        <p:strVal val="visible"/>
                                      </p:to>
                                    </p:set>
                                    <p:animEffect transition="in" filter="fade">
                                      <p:cBhvr>
                                        <p:cTn id="68" dur="500"/>
                                        <p:tgtEl>
                                          <p:spTgt spid="51"/>
                                        </p:tgtEl>
                                      </p:cBhvr>
                                    </p:animEffect>
                                  </p:childTnLst>
                                </p:cTn>
                              </p:par>
                              <p:par>
                                <p:cTn id="69" presetID="10" presetClass="entr" presetSubtype="0" fill="hold" nodeType="withEffect">
                                  <p:stCondLst>
                                    <p:cond delay="0"/>
                                  </p:stCondLst>
                                  <p:childTnLst>
                                    <p:set>
                                      <p:cBhvr>
                                        <p:cTn id="70" dur="1" fill="hold">
                                          <p:stCondLst>
                                            <p:cond delay="0"/>
                                          </p:stCondLst>
                                        </p:cTn>
                                        <p:tgtEl>
                                          <p:spTgt spid="52"/>
                                        </p:tgtEl>
                                        <p:attrNameLst>
                                          <p:attrName>style.visibility</p:attrName>
                                        </p:attrNameLst>
                                      </p:cBhvr>
                                      <p:to>
                                        <p:strVal val="visible"/>
                                      </p:to>
                                    </p:set>
                                    <p:animEffect transition="in" filter="fade">
                                      <p:cBhvr>
                                        <p:cTn id="71" dur="500"/>
                                        <p:tgtEl>
                                          <p:spTgt spid="5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fade">
                                      <p:cBhvr>
                                        <p:cTn id="74" dur="500"/>
                                        <p:tgtEl>
                                          <p:spTgt spid="5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4"/>
                                        </p:tgtEl>
                                        <p:attrNameLst>
                                          <p:attrName>style.visibility</p:attrName>
                                        </p:attrNameLst>
                                      </p:cBhvr>
                                      <p:to>
                                        <p:strVal val="visible"/>
                                      </p:to>
                                    </p:set>
                                    <p:animEffect transition="in" filter="fade">
                                      <p:cBhvr>
                                        <p:cTn id="77" dur="500"/>
                                        <p:tgtEl>
                                          <p:spTgt spid="54"/>
                                        </p:tgtEl>
                                      </p:cBhvr>
                                    </p:animEffect>
                                  </p:childTnLst>
                                </p:cTn>
                              </p:par>
                              <p:par>
                                <p:cTn id="78" presetID="10" presetClass="entr" presetSubtype="0" fill="hold" nodeType="withEffect">
                                  <p:stCondLst>
                                    <p:cond delay="0"/>
                                  </p:stCondLst>
                                  <p:childTnLst>
                                    <p:set>
                                      <p:cBhvr>
                                        <p:cTn id="79" dur="1" fill="hold">
                                          <p:stCondLst>
                                            <p:cond delay="0"/>
                                          </p:stCondLst>
                                        </p:cTn>
                                        <p:tgtEl>
                                          <p:spTgt spid="55"/>
                                        </p:tgtEl>
                                        <p:attrNameLst>
                                          <p:attrName>style.visibility</p:attrName>
                                        </p:attrNameLst>
                                      </p:cBhvr>
                                      <p:to>
                                        <p:strVal val="visible"/>
                                      </p:to>
                                    </p:set>
                                    <p:animEffect transition="in" filter="fade">
                                      <p:cBhvr>
                                        <p:cTn id="80" dur="500"/>
                                        <p:tgtEl>
                                          <p:spTgt spid="55"/>
                                        </p:tgtEl>
                                      </p:cBhvr>
                                    </p:animEffect>
                                  </p:childTnLst>
                                </p:cTn>
                              </p:par>
                              <p:par>
                                <p:cTn id="81" presetID="10" presetClass="entr" presetSubtype="0" fill="hold" nodeType="withEffect">
                                  <p:stCondLst>
                                    <p:cond delay="0"/>
                                  </p:stCondLst>
                                  <p:childTnLst>
                                    <p:set>
                                      <p:cBhvr>
                                        <p:cTn id="82" dur="1" fill="hold">
                                          <p:stCondLst>
                                            <p:cond delay="0"/>
                                          </p:stCondLst>
                                        </p:cTn>
                                        <p:tgtEl>
                                          <p:spTgt spid="59"/>
                                        </p:tgtEl>
                                        <p:attrNameLst>
                                          <p:attrName>style.visibility</p:attrName>
                                        </p:attrNameLst>
                                      </p:cBhvr>
                                      <p:to>
                                        <p:strVal val="visible"/>
                                      </p:to>
                                    </p:set>
                                    <p:animEffect transition="in" filter="fade">
                                      <p:cBhvr>
                                        <p:cTn id="83" dur="500"/>
                                        <p:tgtEl>
                                          <p:spTgt spid="59"/>
                                        </p:tgtEl>
                                      </p:cBhvr>
                                    </p:animEffect>
                                  </p:childTnLst>
                                </p:cTn>
                              </p:par>
                              <p:par>
                                <p:cTn id="84" presetID="10" presetClass="entr" presetSubtype="0" fill="hold" nodeType="withEffect">
                                  <p:stCondLst>
                                    <p:cond delay="0"/>
                                  </p:stCondLst>
                                  <p:childTnLst>
                                    <p:set>
                                      <p:cBhvr>
                                        <p:cTn id="85" dur="1" fill="hold">
                                          <p:stCondLst>
                                            <p:cond delay="0"/>
                                          </p:stCondLst>
                                        </p:cTn>
                                        <p:tgtEl>
                                          <p:spTgt spid="60"/>
                                        </p:tgtEl>
                                        <p:attrNameLst>
                                          <p:attrName>style.visibility</p:attrName>
                                        </p:attrNameLst>
                                      </p:cBhvr>
                                      <p:to>
                                        <p:strVal val="visible"/>
                                      </p:to>
                                    </p:set>
                                    <p:animEffect transition="in" filter="fade">
                                      <p:cBhvr>
                                        <p:cTn id="86" dur="500"/>
                                        <p:tgtEl>
                                          <p:spTgt spid="60"/>
                                        </p:tgtEl>
                                      </p:cBhvr>
                                    </p:animEffect>
                                  </p:childTnLst>
                                </p:cTn>
                              </p:par>
                              <p:par>
                                <p:cTn id="87" presetID="10" presetClass="entr" presetSubtype="0" fill="hold" nodeType="withEffect">
                                  <p:stCondLst>
                                    <p:cond delay="0"/>
                                  </p:stCondLst>
                                  <p:childTnLst>
                                    <p:set>
                                      <p:cBhvr>
                                        <p:cTn id="88" dur="1" fill="hold">
                                          <p:stCondLst>
                                            <p:cond delay="0"/>
                                          </p:stCondLst>
                                        </p:cTn>
                                        <p:tgtEl>
                                          <p:spTgt spid="61"/>
                                        </p:tgtEl>
                                        <p:attrNameLst>
                                          <p:attrName>style.visibility</p:attrName>
                                        </p:attrNameLst>
                                      </p:cBhvr>
                                      <p:to>
                                        <p:strVal val="visible"/>
                                      </p:to>
                                    </p:set>
                                    <p:animEffect transition="in" filter="fade">
                                      <p:cBhvr>
                                        <p:cTn id="89" dur="500"/>
                                        <p:tgtEl>
                                          <p:spTgt spid="61"/>
                                        </p:tgtEl>
                                      </p:cBhvr>
                                    </p:animEffect>
                                  </p:childTnLst>
                                </p:cTn>
                              </p:par>
                              <p:par>
                                <p:cTn id="90" presetID="10" presetClass="entr" presetSubtype="0" fill="hold" nodeType="withEffect">
                                  <p:stCondLst>
                                    <p:cond delay="0"/>
                                  </p:stCondLst>
                                  <p:childTnLst>
                                    <p:set>
                                      <p:cBhvr>
                                        <p:cTn id="91" dur="1" fill="hold">
                                          <p:stCondLst>
                                            <p:cond delay="0"/>
                                          </p:stCondLst>
                                        </p:cTn>
                                        <p:tgtEl>
                                          <p:spTgt spid="62"/>
                                        </p:tgtEl>
                                        <p:attrNameLst>
                                          <p:attrName>style.visibility</p:attrName>
                                        </p:attrNameLst>
                                      </p:cBhvr>
                                      <p:to>
                                        <p:strVal val="visible"/>
                                      </p:to>
                                    </p:set>
                                    <p:animEffect transition="in" filter="fade">
                                      <p:cBhvr>
                                        <p:cTn id="92" dur="500"/>
                                        <p:tgtEl>
                                          <p:spTgt spid="6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3"/>
                                        </p:tgtEl>
                                        <p:attrNameLst>
                                          <p:attrName>style.visibility</p:attrName>
                                        </p:attrNameLst>
                                      </p:cBhvr>
                                      <p:to>
                                        <p:strVal val="visible"/>
                                      </p:to>
                                    </p:set>
                                    <p:animEffect transition="in" filter="fade">
                                      <p:cBhvr>
                                        <p:cTn id="95" dur="500"/>
                                        <p:tgtEl>
                                          <p:spTgt spid="6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64"/>
                                        </p:tgtEl>
                                        <p:attrNameLst>
                                          <p:attrName>style.visibility</p:attrName>
                                        </p:attrNameLst>
                                      </p:cBhvr>
                                      <p:to>
                                        <p:strVal val="visible"/>
                                      </p:to>
                                    </p:set>
                                    <p:animEffect transition="in" filter="fade">
                                      <p:cBhvr>
                                        <p:cTn id="98" dur="500"/>
                                        <p:tgtEl>
                                          <p:spTgt spid="6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5"/>
                                        </p:tgtEl>
                                        <p:attrNameLst>
                                          <p:attrName>style.visibility</p:attrName>
                                        </p:attrNameLst>
                                      </p:cBhvr>
                                      <p:to>
                                        <p:strVal val="visible"/>
                                      </p:to>
                                    </p:set>
                                    <p:animEffect transition="in" filter="fade">
                                      <p:cBhvr>
                                        <p:cTn id="101" dur="500"/>
                                        <p:tgtEl>
                                          <p:spTgt spid="6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4"/>
                                        </p:tgtEl>
                                        <p:attrNameLst>
                                          <p:attrName>style.visibility</p:attrName>
                                        </p:attrNameLst>
                                      </p:cBhvr>
                                      <p:to>
                                        <p:strVal val="visible"/>
                                      </p:to>
                                    </p:set>
                                    <p:animEffect transition="in" filter="fade">
                                      <p:cBhvr>
                                        <p:cTn id="104" dur="500"/>
                                        <p:tgtEl>
                                          <p:spTgt spid="4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08" restart="whenNotActive" fill="hold" evtFilter="cancelBubble" nodeType="interactiveSeq">
                <p:stCondLst>
                  <p:cond evt="onClick" delay="0">
                    <p:tgtEl>
                      <p:spTgt spid="29"/>
                    </p:tgtEl>
                  </p:cond>
                </p:stCondLst>
                <p:endSync evt="end" delay="0">
                  <p:rtn val="all"/>
                </p:endSync>
                <p:childTnLst>
                  <p:par>
                    <p:cTn id="109" fill="hold">
                      <p:stCondLst>
                        <p:cond delay="0"/>
                      </p:stCondLst>
                      <p:childTnLst>
                        <p:par>
                          <p:cTn id="110" fill="hold">
                            <p:stCondLst>
                              <p:cond delay="0"/>
                            </p:stCondLst>
                            <p:childTnLst>
                              <p:par>
                                <p:cTn id="111" presetID="0" presetClass="path" presetSubtype="0" accel="50000" decel="50000" fill="hold" grpId="0" nodeType="clickEffect">
                                  <p:stCondLst>
                                    <p:cond delay="0"/>
                                  </p:stCondLst>
                                  <p:childTnLst>
                                    <p:animMotion origin="layout" path="M -0.00144 -0.02176 L -0.00235 -0.09931 " pathEditMode="relative" ptsTypes="AA">
                                      <p:cBhvr>
                                        <p:cTn id="112" dur="500" fill="hold"/>
                                        <p:tgtEl>
                                          <p:spTgt spid="28"/>
                                        </p:tgtEl>
                                        <p:attrNameLst>
                                          <p:attrName>ppt_x</p:attrName>
                                          <p:attrName>ppt_y</p:attrName>
                                        </p:attrNameLst>
                                      </p:cBhvr>
                                    </p:animMotion>
                                  </p:childTnLst>
                                </p:cTn>
                              </p:par>
                              <p:par>
                                <p:cTn id="113" presetID="10" presetClass="entr" presetSubtype="0" fill="hold" grpId="0"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500"/>
                                        <p:tgtEl>
                                          <p:spTgt spid="27"/>
                                        </p:tgtEl>
                                      </p:cBhvr>
                                    </p:animEffect>
                                  </p:childTnLst>
                                </p:cTn>
                              </p:par>
                              <p:par>
                                <p:cTn id="116" presetID="0" presetClass="path" presetSubtype="0" accel="50000" decel="50000" fill="hold" grpId="1" nodeType="withEffect">
                                  <p:stCondLst>
                                    <p:cond delay="0"/>
                                  </p:stCondLst>
                                  <p:childTnLst>
                                    <p:animMotion origin="layout" path="M -0.00234 -0.03009 L -0.0013 -0.15463 " pathEditMode="relative" ptsTypes="AA">
                                      <p:cBhvr>
                                        <p:cTn id="117" dur="500" fill="hold"/>
                                        <p:tgtEl>
                                          <p:spTgt spid="27"/>
                                        </p:tgtEl>
                                        <p:attrNameLst>
                                          <p:attrName>ppt_x</p:attrName>
                                          <p:attrName>ppt_y</p:attrName>
                                        </p:attrNameLst>
                                      </p:cBhvr>
                                    </p:animMotion>
                                  </p:childTnLst>
                                </p:cTn>
                              </p:par>
                            </p:childTnLst>
                          </p:cTn>
                        </p:par>
                      </p:childTnLst>
                    </p:cTn>
                  </p:par>
                </p:childTnLst>
              </p:cTn>
              <p:nextCondLst>
                <p:cond evt="onClick" delay="0">
                  <p:tgtEl>
                    <p:spTgt spid="29"/>
                  </p:tgtEl>
                </p:cond>
              </p:nextCondLst>
            </p:seq>
            <p:seq concurrent="1" nextAc="seek">
              <p:cTn id="118" restart="whenNotActive" fill="hold" evtFilter="cancelBubble" nodeType="interactiveSeq">
                <p:stCondLst>
                  <p:cond evt="onClick" delay="0">
                    <p:tgtEl>
                      <p:spTgt spid="30"/>
                    </p:tgtEl>
                  </p:cond>
                </p:stCondLst>
                <p:endSync evt="end" delay="0">
                  <p:rtn val="all"/>
                </p:endSync>
                <p:childTnLst>
                  <p:par>
                    <p:cTn id="119" fill="hold">
                      <p:stCondLst>
                        <p:cond delay="0"/>
                      </p:stCondLst>
                      <p:childTnLst>
                        <p:par>
                          <p:cTn id="120" fill="hold">
                            <p:stCondLst>
                              <p:cond delay="0"/>
                            </p:stCondLst>
                            <p:childTnLst>
                              <p:par>
                                <p:cTn id="121" presetID="10" presetClass="exit" presetSubtype="0" fill="hold" grpId="2" nodeType="clickEffect">
                                  <p:stCondLst>
                                    <p:cond delay="0"/>
                                  </p:stCondLst>
                                  <p:childTnLst>
                                    <p:animEffect transition="out" filter="fade">
                                      <p:cBhvr>
                                        <p:cTn id="122" dur="200"/>
                                        <p:tgtEl>
                                          <p:spTgt spid="27"/>
                                        </p:tgtEl>
                                      </p:cBhvr>
                                    </p:animEffect>
                                    <p:set>
                                      <p:cBhvr>
                                        <p:cTn id="123" dur="1" fill="hold">
                                          <p:stCondLst>
                                            <p:cond delay="199"/>
                                          </p:stCondLst>
                                        </p:cTn>
                                        <p:tgtEl>
                                          <p:spTgt spid="27"/>
                                        </p:tgtEl>
                                        <p:attrNameLst>
                                          <p:attrName>style.visibility</p:attrName>
                                        </p:attrNameLst>
                                      </p:cBhvr>
                                      <p:to>
                                        <p:strVal val="hidden"/>
                                      </p:to>
                                    </p:set>
                                  </p:childTnLst>
                                </p:cTn>
                              </p:par>
                              <p:par>
                                <p:cTn id="124" presetID="10" presetClass="entr" presetSubtype="0" fill="hold" grpId="0" nodeType="withEffect">
                                  <p:stCondLst>
                                    <p:cond delay="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500"/>
                                        <p:tgtEl>
                                          <p:spTgt spid="31"/>
                                        </p:tgtEl>
                                      </p:cBhvr>
                                    </p:animEffect>
                                  </p:childTnLst>
                                </p:cTn>
                              </p:par>
                              <p:par>
                                <p:cTn id="127" presetID="0" presetClass="path" presetSubtype="0" accel="50000" decel="50000" fill="hold" grpId="1" nodeType="withEffect">
                                  <p:stCondLst>
                                    <p:cond delay="0"/>
                                  </p:stCondLst>
                                  <p:childTnLst>
                                    <p:animMotion origin="layout" path="M 0.00052 -0.04676 L 0.00013 -0.16227 " pathEditMode="relative" ptsTypes="AA">
                                      <p:cBhvr>
                                        <p:cTn id="128" dur="500" fill="hold"/>
                                        <p:tgtEl>
                                          <p:spTgt spid="31"/>
                                        </p:tgtEl>
                                        <p:attrNameLst>
                                          <p:attrName>ppt_x</p:attrName>
                                          <p:attrName>ppt_y</p:attrName>
                                        </p:attrNameLst>
                                      </p:cBhvr>
                                    </p:animMotion>
                                  </p:childTnLst>
                                </p:cTn>
                              </p:par>
                            </p:childTnLst>
                          </p:cTn>
                        </p:par>
                      </p:childTnLst>
                    </p:cTn>
                  </p:par>
                </p:childTnLst>
              </p:cTn>
              <p:nextCondLst>
                <p:cond evt="onClick" delay="0">
                  <p:tgtEl>
                    <p:spTgt spid="30"/>
                  </p:tgtEl>
                </p:cond>
              </p:nextCondLst>
            </p:seq>
            <p:seq concurrent="1" nextAc="seek">
              <p:cTn id="129" restart="whenNotActive" fill="hold" evtFilter="cancelBubble" nodeType="interactiveSeq">
                <p:stCondLst>
                  <p:cond evt="onClick" delay="0">
                    <p:tgtEl>
                      <p:spTgt spid="44"/>
                    </p:tgtEl>
                  </p:cond>
                </p:stCondLst>
                <p:endSync evt="end" delay="0">
                  <p:rtn val="all"/>
                </p:endSync>
                <p:childTnLst>
                  <p:par>
                    <p:cTn id="130" fill="hold">
                      <p:stCondLst>
                        <p:cond delay="0"/>
                      </p:stCondLst>
                      <p:childTnLst>
                        <p:par>
                          <p:cTn id="131" fill="hold">
                            <p:stCondLst>
                              <p:cond delay="0"/>
                            </p:stCondLst>
                            <p:childTnLst>
                              <p:par>
                                <p:cTn id="132" presetID="0" presetClass="path" presetSubtype="0" accel="50000" decel="50000" fill="hold" grpId="2" nodeType="clickEffect">
                                  <p:stCondLst>
                                    <p:cond delay="0"/>
                                  </p:stCondLst>
                                  <p:childTnLst>
                                    <p:animMotion origin="layout" path="M 0.00065 -0.02338 L 0.00065 -0.11967 " pathEditMode="relative" ptsTypes="AA">
                                      <p:cBhvr>
                                        <p:cTn id="133" dur="500" fill="hold"/>
                                        <p:tgtEl>
                                          <p:spTgt spid="43"/>
                                        </p:tgtEl>
                                        <p:attrNameLst>
                                          <p:attrName>ppt_x</p:attrName>
                                          <p:attrName>ppt_y</p:attrName>
                                        </p:attrNameLst>
                                      </p:cBhvr>
                                    </p:animMotion>
                                  </p:childTnLst>
                                </p:cTn>
                              </p:par>
                              <p:par>
                                <p:cTn id="134" presetID="10" presetClass="entr" presetSubtype="0" fill="hold" grpId="0" nodeType="withEffect">
                                  <p:stCondLst>
                                    <p:cond delay="0"/>
                                  </p:stCondLst>
                                  <p:childTnLst>
                                    <p:set>
                                      <p:cBhvr>
                                        <p:cTn id="135" dur="1" fill="hold">
                                          <p:stCondLst>
                                            <p:cond delay="0"/>
                                          </p:stCondLst>
                                        </p:cTn>
                                        <p:tgtEl>
                                          <p:spTgt spid="42"/>
                                        </p:tgtEl>
                                        <p:attrNameLst>
                                          <p:attrName>style.visibility</p:attrName>
                                        </p:attrNameLst>
                                      </p:cBhvr>
                                      <p:to>
                                        <p:strVal val="visible"/>
                                      </p:to>
                                    </p:set>
                                    <p:animEffect transition="in" filter="fade">
                                      <p:cBhvr>
                                        <p:cTn id="136" dur="500"/>
                                        <p:tgtEl>
                                          <p:spTgt spid="42"/>
                                        </p:tgtEl>
                                      </p:cBhvr>
                                    </p:animEffect>
                                  </p:childTnLst>
                                </p:cTn>
                              </p:par>
                              <p:par>
                                <p:cTn id="137" presetID="0" presetClass="path" presetSubtype="0" accel="50000" decel="50000" fill="hold" grpId="1" nodeType="withEffect">
                                  <p:stCondLst>
                                    <p:cond delay="0"/>
                                  </p:stCondLst>
                                  <p:childTnLst>
                                    <p:animMotion origin="layout" path="M 0.00039 -0.11644 L 0.00039 -0.25394 " pathEditMode="relative" rAng="0" ptsTypes="AA">
                                      <p:cBhvr>
                                        <p:cTn id="138" dur="500" fill="hold"/>
                                        <p:tgtEl>
                                          <p:spTgt spid="42"/>
                                        </p:tgtEl>
                                        <p:attrNameLst>
                                          <p:attrName>ppt_x</p:attrName>
                                          <p:attrName>ppt_y</p:attrName>
                                        </p:attrNameLst>
                                      </p:cBhvr>
                                      <p:rCtr x="0" y="-6875"/>
                                    </p:animMotion>
                                  </p:childTnLst>
                                </p:cTn>
                              </p:par>
                            </p:childTnLst>
                          </p:cTn>
                        </p:par>
                      </p:childTnLst>
                    </p:cTn>
                  </p:par>
                </p:childTnLst>
              </p:cTn>
              <p:nextCondLst>
                <p:cond evt="onClick" delay="0">
                  <p:tgtEl>
                    <p:spTgt spid="44"/>
                  </p:tgtEl>
                </p:cond>
              </p:nextCondLst>
            </p:seq>
            <p:seq concurrent="1" nextAc="seek">
              <p:cTn id="139" restart="whenNotActive" fill="hold" evtFilter="cancelBubble" nodeType="interactiveSeq">
                <p:stCondLst>
                  <p:cond evt="onClick" delay="0">
                    <p:tgtEl>
                      <p:spTgt spid="45"/>
                    </p:tgtEl>
                  </p:cond>
                </p:stCondLst>
                <p:endSync evt="end" delay="0">
                  <p:rtn val="all"/>
                </p:endSync>
                <p:childTnLst>
                  <p:par>
                    <p:cTn id="140" fill="hold">
                      <p:stCondLst>
                        <p:cond delay="0"/>
                      </p:stCondLst>
                      <p:childTnLst>
                        <p:par>
                          <p:cTn id="141" fill="hold">
                            <p:stCondLst>
                              <p:cond delay="0"/>
                            </p:stCondLst>
                            <p:childTnLst>
                              <p:par>
                                <p:cTn id="142" presetID="10" presetClass="exit" presetSubtype="0" fill="hold" grpId="2" nodeType="clickEffect">
                                  <p:stCondLst>
                                    <p:cond delay="0"/>
                                  </p:stCondLst>
                                  <p:childTnLst>
                                    <p:animEffect transition="out" filter="fade">
                                      <p:cBhvr>
                                        <p:cTn id="143" dur="200"/>
                                        <p:tgtEl>
                                          <p:spTgt spid="42"/>
                                        </p:tgtEl>
                                      </p:cBhvr>
                                    </p:animEffect>
                                    <p:set>
                                      <p:cBhvr>
                                        <p:cTn id="144" dur="1" fill="hold">
                                          <p:stCondLst>
                                            <p:cond delay="199"/>
                                          </p:stCondLst>
                                        </p:cTn>
                                        <p:tgtEl>
                                          <p:spTgt spid="42"/>
                                        </p:tgtEl>
                                        <p:attrNameLst>
                                          <p:attrName>style.visibility</p:attrName>
                                        </p:attrNameLst>
                                      </p:cBhvr>
                                      <p:to>
                                        <p:strVal val="hidden"/>
                                      </p:to>
                                    </p:set>
                                  </p:childTnLst>
                                </p:cTn>
                              </p:par>
                              <p:par>
                                <p:cTn id="145" presetID="10" presetClass="entr" presetSubtype="0" fill="hold" grpId="0" nodeType="withEffect">
                                  <p:stCondLst>
                                    <p:cond delay="0"/>
                                  </p:stCondLst>
                                  <p:childTnLst>
                                    <p:set>
                                      <p:cBhvr>
                                        <p:cTn id="146" dur="1" fill="hold">
                                          <p:stCondLst>
                                            <p:cond delay="0"/>
                                          </p:stCondLst>
                                        </p:cTn>
                                        <p:tgtEl>
                                          <p:spTgt spid="66"/>
                                        </p:tgtEl>
                                        <p:attrNameLst>
                                          <p:attrName>style.visibility</p:attrName>
                                        </p:attrNameLst>
                                      </p:cBhvr>
                                      <p:to>
                                        <p:strVal val="visible"/>
                                      </p:to>
                                    </p:set>
                                    <p:animEffect transition="in" filter="fade">
                                      <p:cBhvr>
                                        <p:cTn id="147" dur="500"/>
                                        <p:tgtEl>
                                          <p:spTgt spid="66"/>
                                        </p:tgtEl>
                                      </p:cBhvr>
                                    </p:animEffect>
                                  </p:childTnLst>
                                </p:cTn>
                              </p:par>
                              <p:par>
                                <p:cTn id="148" presetID="0" presetClass="path" presetSubtype="0" accel="50000" decel="50000" fill="hold" grpId="1" nodeType="withEffect">
                                  <p:stCondLst>
                                    <p:cond delay="0"/>
                                  </p:stCondLst>
                                  <p:childTnLst>
                                    <p:animMotion origin="layout" path="M 0.00273 -0.1176 L 0.00429 -0.25556 " pathEditMode="relative" ptsTypes="AA">
                                      <p:cBhvr>
                                        <p:cTn id="149" dur="500" fill="hold"/>
                                        <p:tgtEl>
                                          <p:spTgt spid="66"/>
                                        </p:tgtEl>
                                        <p:attrNameLst>
                                          <p:attrName>ppt_x</p:attrName>
                                          <p:attrName>ppt_y</p:attrName>
                                        </p:attrNameLst>
                                      </p:cBhvr>
                                    </p:animMotion>
                                  </p:childTnLst>
                                </p:cTn>
                              </p:par>
                            </p:childTnLst>
                          </p:cTn>
                        </p:par>
                      </p:childTnLst>
                    </p:cTn>
                  </p:par>
                </p:childTnLst>
              </p:cTn>
              <p:nextCondLst>
                <p:cond evt="onClick" delay="0">
                  <p:tgtEl>
                    <p:spTgt spid="45"/>
                  </p:tgtEl>
                </p:cond>
              </p:nextCondLst>
            </p:seq>
          </p:childTnLst>
        </p:cTn>
      </p:par>
    </p:tnLst>
    <p:bldLst>
      <p:bldP spid="15" grpId="0" animBg="1"/>
      <p:bldP spid="17" grpId="0"/>
      <p:bldP spid="19" grpId="0"/>
      <p:bldP spid="21" grpId="0"/>
      <p:bldP spid="24" grpId="0"/>
      <p:bldP spid="27" grpId="0"/>
      <p:bldP spid="27" grpId="1"/>
      <p:bldP spid="27" grpId="2"/>
      <p:bldP spid="28" grpId="0"/>
      <p:bldP spid="28" grpId="1"/>
      <p:bldP spid="29" grpId="0" animBg="1"/>
      <p:bldP spid="30" grpId="0" animBg="1"/>
      <p:bldP spid="31" grpId="0"/>
      <p:bldP spid="31" grpId="1"/>
      <p:bldP spid="33" grpId="0" animBg="1"/>
      <p:bldP spid="35" grpId="0"/>
      <p:bldP spid="37" grpId="0"/>
      <p:bldP spid="41" grpId="0"/>
      <p:bldP spid="42" grpId="0"/>
      <p:bldP spid="42" grpId="1"/>
      <p:bldP spid="42" grpId="2"/>
      <p:bldP spid="43" grpId="1"/>
      <p:bldP spid="43" grpId="2"/>
      <p:bldP spid="44" grpId="0" animBg="1"/>
      <p:bldP spid="45" grpId="0" animBg="1"/>
      <p:bldP spid="53" grpId="0"/>
      <p:bldP spid="54" grpId="0"/>
      <p:bldP spid="63" grpId="0"/>
      <p:bldP spid="64" grpId="0"/>
      <p:bldP spid="65" grpId="0"/>
      <p:bldP spid="66" grpId="0"/>
      <p:bldP spid="66"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E31C3-079A-3354-BD26-FE4E9F85DE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5A777F-CDC1-8DBD-A8AD-5BDD3EFCFF40}"/>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3C9D7C22-9654-E2C1-BCBA-844862AE6BF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FD89647-D8ED-6F3C-F83D-00C513066C00}"/>
              </a:ext>
            </a:extLst>
          </p:cNvPr>
          <p:cNvSpPr>
            <a:spLocks noGrp="1"/>
          </p:cNvSpPr>
          <p:nvPr>
            <p:ph type="sldNum" sz="quarter" idx="4"/>
          </p:nvPr>
        </p:nvSpPr>
        <p:spPr/>
        <p:txBody>
          <a:bodyPr/>
          <a:lstStyle/>
          <a:p>
            <a:pPr>
              <a:defRPr/>
            </a:pPr>
            <a:fld id="{A9CE67A1-BA7F-A74E-B5D7-615746DEEC2B}" type="slidenum">
              <a:rPr lang="en-US" smtClean="0"/>
              <a:pPr>
                <a:defRPr/>
              </a:pPr>
              <a:t>12</a:t>
            </a:fld>
            <a:endParaRPr lang="en-US" baseline="-11000" dirty="0"/>
          </a:p>
        </p:txBody>
      </p:sp>
      <p:sp>
        <p:nvSpPr>
          <p:cNvPr id="6" name="Date Placeholder 5">
            <a:extLst>
              <a:ext uri="{FF2B5EF4-FFF2-40B4-BE49-F238E27FC236}">
                <a16:creationId xmlns:a16="http://schemas.microsoft.com/office/drawing/2014/main" id="{06CDCCDA-AD36-87C2-260B-236E5385766A}"/>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Rectangle 6">
            <a:extLst>
              <a:ext uri="{FF2B5EF4-FFF2-40B4-BE49-F238E27FC236}">
                <a16:creationId xmlns:a16="http://schemas.microsoft.com/office/drawing/2014/main" id="{E270E768-66F6-AED2-CF4B-B5B24F47D371}"/>
              </a:ext>
            </a:extLst>
          </p:cNvPr>
          <p:cNvSpPr/>
          <p:nvPr/>
        </p:nvSpPr>
        <p:spPr>
          <a:xfrm>
            <a:off x="1719418" y="1725562"/>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DFT</a:t>
            </a:r>
          </a:p>
        </p:txBody>
      </p:sp>
      <p:cxnSp>
        <p:nvCxnSpPr>
          <p:cNvPr id="9" name="Straight Arrow Connector 8">
            <a:extLst>
              <a:ext uri="{FF2B5EF4-FFF2-40B4-BE49-F238E27FC236}">
                <a16:creationId xmlns:a16="http://schemas.microsoft.com/office/drawing/2014/main" id="{682363EF-979B-8B78-A1EA-EDB961DBD07A}"/>
              </a:ext>
            </a:extLst>
          </p:cNvPr>
          <p:cNvCxnSpPr/>
          <p:nvPr/>
        </p:nvCxnSpPr>
        <p:spPr>
          <a:xfrm>
            <a:off x="805017"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225D9CB-66B3-D8FD-E2B8-F156252BA7A1}"/>
              </a:ext>
            </a:extLst>
          </p:cNvPr>
          <p:cNvSpPr txBox="1"/>
          <p:nvPr/>
        </p:nvSpPr>
        <p:spPr>
          <a:xfrm>
            <a:off x="342901"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 name="Straight Arrow Connector 10">
            <a:extLst>
              <a:ext uri="{FF2B5EF4-FFF2-40B4-BE49-F238E27FC236}">
                <a16:creationId xmlns:a16="http://schemas.microsoft.com/office/drawing/2014/main" id="{991C1179-D112-E550-3FB2-BA960457DBC7}"/>
              </a:ext>
            </a:extLst>
          </p:cNvPr>
          <p:cNvCxnSpPr/>
          <p:nvPr/>
        </p:nvCxnSpPr>
        <p:spPr>
          <a:xfrm>
            <a:off x="805017"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9C8C807E-A810-DF90-39CE-E5CE02CAC6CD}"/>
              </a:ext>
            </a:extLst>
          </p:cNvPr>
          <p:cNvSpPr txBox="1"/>
          <p:nvPr/>
        </p:nvSpPr>
        <p:spPr>
          <a:xfrm>
            <a:off x="342901"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4" name="Straight Arrow Connector 13">
            <a:extLst>
              <a:ext uri="{FF2B5EF4-FFF2-40B4-BE49-F238E27FC236}">
                <a16:creationId xmlns:a16="http://schemas.microsoft.com/office/drawing/2014/main" id="{EF9A99B7-26A4-17C7-AD62-4301F860A6BE}"/>
              </a:ext>
            </a:extLst>
          </p:cNvPr>
          <p:cNvCxnSpPr/>
          <p:nvPr/>
        </p:nvCxnSpPr>
        <p:spPr>
          <a:xfrm>
            <a:off x="805017"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079CAB6-DECD-E598-9B60-3B5FB5EF9B43}"/>
              </a:ext>
            </a:extLst>
          </p:cNvPr>
          <p:cNvSpPr txBox="1"/>
          <p:nvPr/>
        </p:nvSpPr>
        <p:spPr>
          <a:xfrm>
            <a:off x="342901"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6" name="Straight Arrow Connector 15">
            <a:extLst>
              <a:ext uri="{FF2B5EF4-FFF2-40B4-BE49-F238E27FC236}">
                <a16:creationId xmlns:a16="http://schemas.microsoft.com/office/drawing/2014/main" id="{39B3E6A3-D085-B997-64B9-21FC0960689C}"/>
              </a:ext>
            </a:extLst>
          </p:cNvPr>
          <p:cNvCxnSpPr/>
          <p:nvPr/>
        </p:nvCxnSpPr>
        <p:spPr>
          <a:xfrm>
            <a:off x="805017"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0CAB2F7-DA0B-BD8F-6DB5-5C42F6BB92E0}"/>
              </a:ext>
            </a:extLst>
          </p:cNvPr>
          <p:cNvSpPr txBox="1"/>
          <p:nvPr/>
        </p:nvSpPr>
        <p:spPr>
          <a:xfrm>
            <a:off x="342901"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8" name="Straight Arrow Connector 17">
            <a:extLst>
              <a:ext uri="{FF2B5EF4-FFF2-40B4-BE49-F238E27FC236}">
                <a16:creationId xmlns:a16="http://schemas.microsoft.com/office/drawing/2014/main" id="{1D6E544D-E5E8-6E30-FA93-DF48955ECB0A}"/>
              </a:ext>
            </a:extLst>
          </p:cNvPr>
          <p:cNvCxnSpPr/>
          <p:nvPr/>
        </p:nvCxnSpPr>
        <p:spPr>
          <a:xfrm>
            <a:off x="805017"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DB823FB8-7D34-E4FE-168F-30EF22CC2676}"/>
              </a:ext>
            </a:extLst>
          </p:cNvPr>
          <p:cNvSpPr txBox="1"/>
          <p:nvPr/>
        </p:nvSpPr>
        <p:spPr>
          <a:xfrm>
            <a:off x="342901"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20" name="Straight Arrow Connector 19">
            <a:extLst>
              <a:ext uri="{FF2B5EF4-FFF2-40B4-BE49-F238E27FC236}">
                <a16:creationId xmlns:a16="http://schemas.microsoft.com/office/drawing/2014/main" id="{E60E6050-2119-8851-ADA0-F28D106BB3DF}"/>
              </a:ext>
            </a:extLst>
          </p:cNvPr>
          <p:cNvCxnSpPr/>
          <p:nvPr/>
        </p:nvCxnSpPr>
        <p:spPr>
          <a:xfrm>
            <a:off x="805017"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F500F2B5-3B72-E049-D9BB-91D4518CBFE7}"/>
              </a:ext>
            </a:extLst>
          </p:cNvPr>
          <p:cNvSpPr txBox="1"/>
          <p:nvPr/>
        </p:nvSpPr>
        <p:spPr>
          <a:xfrm>
            <a:off x="342901"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23" name="Straight Arrow Connector 22">
            <a:extLst>
              <a:ext uri="{FF2B5EF4-FFF2-40B4-BE49-F238E27FC236}">
                <a16:creationId xmlns:a16="http://schemas.microsoft.com/office/drawing/2014/main" id="{1C6DA977-6322-B2FC-F274-FE86D2BC6C58}"/>
              </a:ext>
            </a:extLst>
          </p:cNvPr>
          <p:cNvCxnSpPr/>
          <p:nvPr/>
        </p:nvCxnSpPr>
        <p:spPr>
          <a:xfrm>
            <a:off x="805017"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66EC9F1-2DE5-3561-1C92-BF431859C044}"/>
              </a:ext>
            </a:extLst>
          </p:cNvPr>
          <p:cNvSpPr txBox="1"/>
          <p:nvPr/>
        </p:nvSpPr>
        <p:spPr>
          <a:xfrm>
            <a:off x="342901"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25" name="Straight Arrow Connector 24">
            <a:extLst>
              <a:ext uri="{FF2B5EF4-FFF2-40B4-BE49-F238E27FC236}">
                <a16:creationId xmlns:a16="http://schemas.microsoft.com/office/drawing/2014/main" id="{E934D99E-ED82-4F61-0CDA-751CF21BC0D1}"/>
              </a:ext>
            </a:extLst>
          </p:cNvPr>
          <p:cNvCxnSpPr/>
          <p:nvPr/>
        </p:nvCxnSpPr>
        <p:spPr>
          <a:xfrm>
            <a:off x="805017"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3231403-1A28-33E0-869D-7411C8FBEB5A}"/>
              </a:ext>
            </a:extLst>
          </p:cNvPr>
          <p:cNvSpPr txBox="1"/>
          <p:nvPr/>
        </p:nvSpPr>
        <p:spPr>
          <a:xfrm>
            <a:off x="342901"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27" name="Straight Arrow Connector 26">
            <a:extLst>
              <a:ext uri="{FF2B5EF4-FFF2-40B4-BE49-F238E27FC236}">
                <a16:creationId xmlns:a16="http://schemas.microsoft.com/office/drawing/2014/main" id="{20966517-527B-906C-03FB-08244EEEAA41}"/>
              </a:ext>
            </a:extLst>
          </p:cNvPr>
          <p:cNvCxnSpPr/>
          <p:nvPr/>
        </p:nvCxnSpPr>
        <p:spPr>
          <a:xfrm>
            <a:off x="3390902"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A0A0D84C-E8B2-F32B-0BE8-3E0CA5489E89}"/>
              </a:ext>
            </a:extLst>
          </p:cNvPr>
          <p:cNvSpPr txBox="1"/>
          <p:nvPr/>
        </p:nvSpPr>
        <p:spPr>
          <a:xfrm>
            <a:off x="4369211" y="17332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9" name="Straight Arrow Connector 28">
            <a:extLst>
              <a:ext uri="{FF2B5EF4-FFF2-40B4-BE49-F238E27FC236}">
                <a16:creationId xmlns:a16="http://schemas.microsoft.com/office/drawing/2014/main" id="{FB6C8E0F-CBD8-BE08-6629-E0EC0A06B6E6}"/>
              </a:ext>
            </a:extLst>
          </p:cNvPr>
          <p:cNvCxnSpPr/>
          <p:nvPr/>
        </p:nvCxnSpPr>
        <p:spPr>
          <a:xfrm>
            <a:off x="3390902"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F687A97-6DD0-5C31-0465-B1069C17D44F}"/>
              </a:ext>
            </a:extLst>
          </p:cNvPr>
          <p:cNvSpPr txBox="1"/>
          <p:nvPr/>
        </p:nvSpPr>
        <p:spPr>
          <a:xfrm>
            <a:off x="4369211" y="210189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31" name="Straight Arrow Connector 30">
            <a:extLst>
              <a:ext uri="{FF2B5EF4-FFF2-40B4-BE49-F238E27FC236}">
                <a16:creationId xmlns:a16="http://schemas.microsoft.com/office/drawing/2014/main" id="{51A88152-611F-786E-82B1-42FFF478E5BA}"/>
              </a:ext>
            </a:extLst>
          </p:cNvPr>
          <p:cNvCxnSpPr/>
          <p:nvPr/>
        </p:nvCxnSpPr>
        <p:spPr>
          <a:xfrm>
            <a:off x="3390902"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4190F038-7ED1-82E5-4567-3989FB317681}"/>
              </a:ext>
            </a:extLst>
          </p:cNvPr>
          <p:cNvSpPr txBox="1"/>
          <p:nvPr/>
        </p:nvSpPr>
        <p:spPr>
          <a:xfrm>
            <a:off x="4369211" y="248535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33" name="Straight Arrow Connector 32">
            <a:extLst>
              <a:ext uri="{FF2B5EF4-FFF2-40B4-BE49-F238E27FC236}">
                <a16:creationId xmlns:a16="http://schemas.microsoft.com/office/drawing/2014/main" id="{925411CF-277A-041B-1CB5-F9D313D48434}"/>
              </a:ext>
            </a:extLst>
          </p:cNvPr>
          <p:cNvCxnSpPr/>
          <p:nvPr/>
        </p:nvCxnSpPr>
        <p:spPr>
          <a:xfrm>
            <a:off x="3390902"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1100E19-2F39-A15C-8A0A-2846EBEAAA10}"/>
              </a:ext>
            </a:extLst>
          </p:cNvPr>
          <p:cNvSpPr txBox="1"/>
          <p:nvPr/>
        </p:nvSpPr>
        <p:spPr>
          <a:xfrm>
            <a:off x="4369211" y="29355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35" name="Straight Arrow Connector 34">
            <a:extLst>
              <a:ext uri="{FF2B5EF4-FFF2-40B4-BE49-F238E27FC236}">
                <a16:creationId xmlns:a16="http://schemas.microsoft.com/office/drawing/2014/main" id="{7ADEDA5A-A8DF-A5CB-1562-DA58E136C672}"/>
              </a:ext>
            </a:extLst>
          </p:cNvPr>
          <p:cNvCxnSpPr/>
          <p:nvPr/>
        </p:nvCxnSpPr>
        <p:spPr>
          <a:xfrm>
            <a:off x="3390902"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B9C5C2B6-FB2D-B377-70D5-96344BAA3965}"/>
              </a:ext>
            </a:extLst>
          </p:cNvPr>
          <p:cNvSpPr txBox="1"/>
          <p:nvPr/>
        </p:nvSpPr>
        <p:spPr>
          <a:xfrm>
            <a:off x="4369211" y="335268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9EF8EFC7-127E-5AF5-6AF2-CE9553645E40}"/>
              </a:ext>
            </a:extLst>
          </p:cNvPr>
          <p:cNvCxnSpPr/>
          <p:nvPr/>
        </p:nvCxnSpPr>
        <p:spPr>
          <a:xfrm>
            <a:off x="3390902"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3272DA0D-20E3-4A49-17CC-956FC89AB1D0}"/>
              </a:ext>
            </a:extLst>
          </p:cNvPr>
          <p:cNvSpPr txBox="1"/>
          <p:nvPr/>
        </p:nvSpPr>
        <p:spPr>
          <a:xfrm>
            <a:off x="4369211" y="378161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39" name="Straight Arrow Connector 38">
            <a:extLst>
              <a:ext uri="{FF2B5EF4-FFF2-40B4-BE49-F238E27FC236}">
                <a16:creationId xmlns:a16="http://schemas.microsoft.com/office/drawing/2014/main" id="{7B84EE24-A136-5CD1-B477-0C782369BF4C}"/>
              </a:ext>
            </a:extLst>
          </p:cNvPr>
          <p:cNvCxnSpPr/>
          <p:nvPr/>
        </p:nvCxnSpPr>
        <p:spPr>
          <a:xfrm>
            <a:off x="3390902"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7D61618C-066B-0BA5-AEC3-510E1D8F85C6}"/>
              </a:ext>
            </a:extLst>
          </p:cNvPr>
          <p:cNvSpPr txBox="1"/>
          <p:nvPr/>
        </p:nvSpPr>
        <p:spPr>
          <a:xfrm>
            <a:off x="4369211" y="418203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41" name="Straight Arrow Connector 40">
            <a:extLst>
              <a:ext uri="{FF2B5EF4-FFF2-40B4-BE49-F238E27FC236}">
                <a16:creationId xmlns:a16="http://schemas.microsoft.com/office/drawing/2014/main" id="{DC0E25C4-1CAC-DACA-AF02-01EB9129C1B0}"/>
              </a:ext>
            </a:extLst>
          </p:cNvPr>
          <p:cNvCxnSpPr/>
          <p:nvPr/>
        </p:nvCxnSpPr>
        <p:spPr>
          <a:xfrm>
            <a:off x="3390902"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95E94F9B-D915-0C38-3AE2-F62042F73FAC}"/>
              </a:ext>
            </a:extLst>
          </p:cNvPr>
          <p:cNvSpPr txBox="1"/>
          <p:nvPr/>
        </p:nvSpPr>
        <p:spPr>
          <a:xfrm>
            <a:off x="4369211" y="4572614"/>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43" name="Rectangle 42">
            <a:extLst>
              <a:ext uri="{FF2B5EF4-FFF2-40B4-BE49-F238E27FC236}">
                <a16:creationId xmlns:a16="http://schemas.microsoft.com/office/drawing/2014/main" id="{9500D232-7F26-5182-1C58-A106001D759D}"/>
              </a:ext>
            </a:extLst>
          </p:cNvPr>
          <p:cNvSpPr/>
          <p:nvPr/>
        </p:nvSpPr>
        <p:spPr>
          <a:xfrm>
            <a:off x="8498760" y="1718437"/>
            <a:ext cx="1671484" cy="164137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A1816A52-4F23-B403-3616-BFC29F00A4B7}"/>
              </a:ext>
            </a:extLst>
          </p:cNvPr>
          <p:cNvCxnSpPr/>
          <p:nvPr/>
        </p:nvCxnSpPr>
        <p:spPr>
          <a:xfrm>
            <a:off x="7584359"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DEF3C99D-C1F3-F2F4-C2D3-D649157B21C7}"/>
              </a:ext>
            </a:extLst>
          </p:cNvPr>
          <p:cNvSpPr txBox="1"/>
          <p:nvPr/>
        </p:nvSpPr>
        <p:spPr>
          <a:xfrm>
            <a:off x="7122243" y="171843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46" name="Straight Arrow Connector 45">
            <a:extLst>
              <a:ext uri="{FF2B5EF4-FFF2-40B4-BE49-F238E27FC236}">
                <a16:creationId xmlns:a16="http://schemas.microsoft.com/office/drawing/2014/main" id="{52B68F24-E16A-90F4-8B6B-98DE3709CAF3}"/>
              </a:ext>
            </a:extLst>
          </p:cNvPr>
          <p:cNvCxnSpPr/>
          <p:nvPr/>
        </p:nvCxnSpPr>
        <p:spPr>
          <a:xfrm>
            <a:off x="7584359"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28FDD3E1-5AC5-E088-CB8E-6BA4E374A025}"/>
              </a:ext>
            </a:extLst>
          </p:cNvPr>
          <p:cNvSpPr txBox="1"/>
          <p:nvPr/>
        </p:nvSpPr>
        <p:spPr>
          <a:xfrm>
            <a:off x="7122243" y="210189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48" name="Straight Arrow Connector 47">
            <a:extLst>
              <a:ext uri="{FF2B5EF4-FFF2-40B4-BE49-F238E27FC236}">
                <a16:creationId xmlns:a16="http://schemas.microsoft.com/office/drawing/2014/main" id="{21144926-F039-5404-812D-07235D69BB46}"/>
              </a:ext>
            </a:extLst>
          </p:cNvPr>
          <p:cNvCxnSpPr/>
          <p:nvPr/>
        </p:nvCxnSpPr>
        <p:spPr>
          <a:xfrm>
            <a:off x="7584359"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C9119174-1CAB-1730-4341-F2A36C2FBD90}"/>
              </a:ext>
            </a:extLst>
          </p:cNvPr>
          <p:cNvSpPr txBox="1"/>
          <p:nvPr/>
        </p:nvSpPr>
        <p:spPr>
          <a:xfrm>
            <a:off x="7122243" y="248535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50" name="Straight Arrow Connector 49">
            <a:extLst>
              <a:ext uri="{FF2B5EF4-FFF2-40B4-BE49-F238E27FC236}">
                <a16:creationId xmlns:a16="http://schemas.microsoft.com/office/drawing/2014/main" id="{BE4BEB7A-08EE-18B2-57D2-952A1CD86134}"/>
              </a:ext>
            </a:extLst>
          </p:cNvPr>
          <p:cNvCxnSpPr/>
          <p:nvPr/>
        </p:nvCxnSpPr>
        <p:spPr>
          <a:xfrm>
            <a:off x="7584359"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C329FFB-C7EC-9A9C-CC02-797E3B6C8254}"/>
              </a:ext>
            </a:extLst>
          </p:cNvPr>
          <p:cNvSpPr txBox="1"/>
          <p:nvPr/>
        </p:nvSpPr>
        <p:spPr>
          <a:xfrm>
            <a:off x="7122243" y="29355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52" name="Straight Arrow Connector 51">
            <a:extLst>
              <a:ext uri="{FF2B5EF4-FFF2-40B4-BE49-F238E27FC236}">
                <a16:creationId xmlns:a16="http://schemas.microsoft.com/office/drawing/2014/main" id="{93DAE486-D051-AFD2-671C-3E956F9A97CD}"/>
              </a:ext>
            </a:extLst>
          </p:cNvPr>
          <p:cNvCxnSpPr/>
          <p:nvPr/>
        </p:nvCxnSpPr>
        <p:spPr>
          <a:xfrm>
            <a:off x="7584359"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BD4AF8F-F3CB-8ECB-1690-035680E9EAAF}"/>
              </a:ext>
            </a:extLst>
          </p:cNvPr>
          <p:cNvSpPr txBox="1"/>
          <p:nvPr/>
        </p:nvSpPr>
        <p:spPr>
          <a:xfrm>
            <a:off x="7122243" y="33526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54" name="Straight Arrow Connector 53">
            <a:extLst>
              <a:ext uri="{FF2B5EF4-FFF2-40B4-BE49-F238E27FC236}">
                <a16:creationId xmlns:a16="http://schemas.microsoft.com/office/drawing/2014/main" id="{8FC78EB9-2182-407F-F9E0-002C770B079D}"/>
              </a:ext>
            </a:extLst>
          </p:cNvPr>
          <p:cNvCxnSpPr/>
          <p:nvPr/>
        </p:nvCxnSpPr>
        <p:spPr>
          <a:xfrm>
            <a:off x="7584359"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CDD77215-8965-0EE6-DDC0-37DA59C9CEB5}"/>
              </a:ext>
            </a:extLst>
          </p:cNvPr>
          <p:cNvSpPr txBox="1"/>
          <p:nvPr/>
        </p:nvSpPr>
        <p:spPr>
          <a:xfrm>
            <a:off x="7122243" y="378161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56" name="Straight Arrow Connector 55">
            <a:extLst>
              <a:ext uri="{FF2B5EF4-FFF2-40B4-BE49-F238E27FC236}">
                <a16:creationId xmlns:a16="http://schemas.microsoft.com/office/drawing/2014/main" id="{4448AAC6-B760-8A04-A686-547923659BD0}"/>
              </a:ext>
            </a:extLst>
          </p:cNvPr>
          <p:cNvCxnSpPr/>
          <p:nvPr/>
        </p:nvCxnSpPr>
        <p:spPr>
          <a:xfrm>
            <a:off x="7584359"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0FF0A82A-927A-442F-5680-57FBBEDE03A3}"/>
              </a:ext>
            </a:extLst>
          </p:cNvPr>
          <p:cNvSpPr txBox="1"/>
          <p:nvPr/>
        </p:nvSpPr>
        <p:spPr>
          <a:xfrm>
            <a:off x="7122243" y="418203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58" name="Straight Arrow Connector 57">
            <a:extLst>
              <a:ext uri="{FF2B5EF4-FFF2-40B4-BE49-F238E27FC236}">
                <a16:creationId xmlns:a16="http://schemas.microsoft.com/office/drawing/2014/main" id="{A44639A4-04D0-A9EA-4E5A-AEE449A79BF0}"/>
              </a:ext>
            </a:extLst>
          </p:cNvPr>
          <p:cNvCxnSpPr/>
          <p:nvPr/>
        </p:nvCxnSpPr>
        <p:spPr>
          <a:xfrm>
            <a:off x="7584359"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F5D66970-A23A-4327-6399-FC334FAA5D3A}"/>
              </a:ext>
            </a:extLst>
          </p:cNvPr>
          <p:cNvSpPr txBox="1"/>
          <p:nvPr/>
        </p:nvSpPr>
        <p:spPr>
          <a:xfrm>
            <a:off x="7122243" y="457261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60" name="Straight Arrow Connector 59">
            <a:extLst>
              <a:ext uri="{FF2B5EF4-FFF2-40B4-BE49-F238E27FC236}">
                <a16:creationId xmlns:a16="http://schemas.microsoft.com/office/drawing/2014/main" id="{F5F09933-C1E3-262C-5D1F-7ECABF6C4740}"/>
              </a:ext>
            </a:extLst>
          </p:cNvPr>
          <p:cNvCxnSpPr/>
          <p:nvPr/>
        </p:nvCxnSpPr>
        <p:spPr>
          <a:xfrm>
            <a:off x="10170244"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DEA1E793-D16E-0AAE-A3E2-AB40E0A604E0}"/>
              </a:ext>
            </a:extLst>
          </p:cNvPr>
          <p:cNvSpPr txBox="1"/>
          <p:nvPr/>
        </p:nvSpPr>
        <p:spPr>
          <a:xfrm>
            <a:off x="11148553" y="17261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892686B8-8E34-DAD7-784A-3EB69B2BA66D}"/>
              </a:ext>
            </a:extLst>
          </p:cNvPr>
          <p:cNvCxnSpPr/>
          <p:nvPr/>
        </p:nvCxnSpPr>
        <p:spPr>
          <a:xfrm>
            <a:off x="10170244"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1FA40501-511E-8E4D-6C66-E897FB3CF421}"/>
              </a:ext>
            </a:extLst>
          </p:cNvPr>
          <p:cNvSpPr txBox="1"/>
          <p:nvPr/>
        </p:nvSpPr>
        <p:spPr>
          <a:xfrm>
            <a:off x="11148553" y="20947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3C2A8833-C016-0110-33FD-4C0D5B66D088}"/>
              </a:ext>
            </a:extLst>
          </p:cNvPr>
          <p:cNvCxnSpPr/>
          <p:nvPr/>
        </p:nvCxnSpPr>
        <p:spPr>
          <a:xfrm>
            <a:off x="10170244"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39B8F0C3-A216-42C4-86C7-393DEA2AB02D}"/>
              </a:ext>
            </a:extLst>
          </p:cNvPr>
          <p:cNvSpPr txBox="1"/>
          <p:nvPr/>
        </p:nvSpPr>
        <p:spPr>
          <a:xfrm>
            <a:off x="11148553" y="24782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6D69558F-D0EA-DFF4-9491-5EF20D8E0020}"/>
              </a:ext>
            </a:extLst>
          </p:cNvPr>
          <p:cNvCxnSpPr/>
          <p:nvPr/>
        </p:nvCxnSpPr>
        <p:spPr>
          <a:xfrm>
            <a:off x="10170244"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C5BD72DD-D2E1-9D6B-AA38-F592525BC5AE}"/>
              </a:ext>
            </a:extLst>
          </p:cNvPr>
          <p:cNvSpPr txBox="1"/>
          <p:nvPr/>
        </p:nvSpPr>
        <p:spPr>
          <a:xfrm>
            <a:off x="11148553" y="29284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52DBC9CA-89BF-65D5-E290-5A560278C655}"/>
              </a:ext>
            </a:extLst>
          </p:cNvPr>
          <p:cNvCxnSpPr/>
          <p:nvPr/>
        </p:nvCxnSpPr>
        <p:spPr>
          <a:xfrm>
            <a:off x="10170244"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24C4F269-496A-C62F-2BC0-D84675046DC6}"/>
              </a:ext>
            </a:extLst>
          </p:cNvPr>
          <p:cNvSpPr txBox="1"/>
          <p:nvPr/>
        </p:nvSpPr>
        <p:spPr>
          <a:xfrm>
            <a:off x="11148553" y="3345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3AC3957B-8D3D-9A9E-AA73-E87275BAEB5E}"/>
              </a:ext>
            </a:extLst>
          </p:cNvPr>
          <p:cNvCxnSpPr/>
          <p:nvPr/>
        </p:nvCxnSpPr>
        <p:spPr>
          <a:xfrm>
            <a:off x="10170244"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53D3B3FC-088E-0469-51B3-4704ABFF74DB}"/>
              </a:ext>
            </a:extLst>
          </p:cNvPr>
          <p:cNvSpPr txBox="1"/>
          <p:nvPr/>
        </p:nvSpPr>
        <p:spPr>
          <a:xfrm>
            <a:off x="11148553" y="37744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B588EB46-69F7-1230-AB09-09DCD03C6050}"/>
              </a:ext>
            </a:extLst>
          </p:cNvPr>
          <p:cNvCxnSpPr/>
          <p:nvPr/>
        </p:nvCxnSpPr>
        <p:spPr>
          <a:xfrm>
            <a:off x="10170244"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36FE844-2C4F-B9FE-9C51-4271ACB88B1E}"/>
              </a:ext>
            </a:extLst>
          </p:cNvPr>
          <p:cNvSpPr txBox="1"/>
          <p:nvPr/>
        </p:nvSpPr>
        <p:spPr>
          <a:xfrm>
            <a:off x="11148553" y="41749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54E40F31-3F94-A057-5E12-38EC81E671D5}"/>
              </a:ext>
            </a:extLst>
          </p:cNvPr>
          <p:cNvCxnSpPr/>
          <p:nvPr/>
        </p:nvCxnSpPr>
        <p:spPr>
          <a:xfrm>
            <a:off x="10170244"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FCF325DC-19CC-7C50-CB51-FF4A67627E4D}"/>
              </a:ext>
            </a:extLst>
          </p:cNvPr>
          <p:cNvSpPr txBox="1"/>
          <p:nvPr/>
        </p:nvSpPr>
        <p:spPr>
          <a:xfrm>
            <a:off x="11148553" y="45654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B2D36CF4-9D0E-309C-19B9-1689E9C5071C}"/>
              </a:ext>
            </a:extLst>
          </p:cNvPr>
          <p:cNvSpPr/>
          <p:nvPr/>
        </p:nvSpPr>
        <p:spPr>
          <a:xfrm>
            <a:off x="8498760" y="3437600"/>
            <a:ext cx="1671484" cy="164137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3344E48-7DB0-9B7A-36FA-0123F1D64C75}"/>
                  </a:ext>
                </a:extLst>
              </p:cNvPr>
              <p:cNvSpPr txBox="1"/>
              <p:nvPr/>
            </p:nvSpPr>
            <p:spPr>
              <a:xfrm>
                <a:off x="4714259" y="3053973"/>
                <a:ext cx="2370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200" b="1" i="1" smtClean="0">
                          <a:solidFill>
                            <a:srgbClr val="000000"/>
                          </a:solidFill>
                          <a:latin typeface="Cambria Math" panose="02040503050406030204" pitchFamily="18" charset="0"/>
                          <a:ea typeface="Cambria Math" panose="02040503050406030204" pitchFamily="18" charset="0"/>
                        </a:rPr>
                        <m:t>≡</m:t>
                      </m:r>
                      <m:r>
                        <a:rPr lang="en-US" sz="3200" b="1" i="1" smtClean="0">
                          <a:solidFill>
                            <a:srgbClr val="000000"/>
                          </a:solidFill>
                          <a:latin typeface="Cambria Math" panose="02040503050406030204" pitchFamily="18" charset="0"/>
                          <a:ea typeface="Cambria Math" panose="02040503050406030204" pitchFamily="18" charset="0"/>
                        </a:rPr>
                        <m:t>𝒐𝒓</m:t>
                      </m:r>
                      <m:r>
                        <m:rPr>
                          <m:nor/>
                        </m:rPr>
                        <a:rPr lang="en-US" sz="3200" b="1" i="0" smtClean="0">
                          <a:solidFill>
                            <a:srgbClr val="000000"/>
                          </a:solidFill>
                          <a:latin typeface="Cambria Math" panose="02040503050406030204" pitchFamily="18" charset="0"/>
                          <a:ea typeface="Cambria Math" panose="02040503050406030204" pitchFamily="18" charset="0"/>
                        </a:rPr>
                        <m:t> </m:t>
                      </m:r>
                      <m:r>
                        <m:rPr>
                          <m:nor/>
                        </m:rPr>
                        <a:rPr lang="en-US" sz="3200" b="1"/>
                        <m:t>≢</m:t>
                      </m:r>
                    </m:oMath>
                  </m:oMathPara>
                </a14:m>
                <a:endParaRPr lang="en-US" sz="3200" b="1" dirty="0">
                  <a:solidFill>
                    <a:srgbClr val="000000"/>
                  </a:solidFill>
                </a:endParaRPr>
              </a:p>
            </p:txBody>
          </p:sp>
        </mc:Choice>
        <mc:Fallback xmlns="">
          <p:sp>
            <p:nvSpPr>
              <p:cNvPr id="77" name="TextBox 76">
                <a:extLst>
                  <a:ext uri="{FF2B5EF4-FFF2-40B4-BE49-F238E27FC236}">
                    <a16:creationId xmlns:a16="http://schemas.microsoft.com/office/drawing/2014/main" id="{63344E48-7DB0-9B7A-36FA-0123F1D64C75}"/>
                  </a:ext>
                </a:extLst>
              </p:cNvPr>
              <p:cNvSpPr txBox="1">
                <a:spLocks noRot="1" noChangeAspect="1" noMove="1" noResize="1" noEditPoints="1" noAdjustHandles="1" noChangeArrowheads="1" noChangeShapeType="1" noTextEdit="1"/>
              </p:cNvSpPr>
              <p:nvPr/>
            </p:nvSpPr>
            <p:spPr>
              <a:xfrm>
                <a:off x="4714259" y="3053973"/>
                <a:ext cx="2370192" cy="914400"/>
              </a:xfrm>
              <a:prstGeom prst="rect">
                <a:avLst/>
              </a:prstGeom>
              <a:blipFill>
                <a:blip r:embed="rId2"/>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7B2A7349-8DED-BFB9-9959-79F858585E06}"/>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F957FE55-4B25-6B78-974A-1B1E04FC4486}"/>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5E874E4C-EA2E-45EC-2DB8-7D7C6FA2784E}"/>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2" name="TextBox 21">
            <a:extLst>
              <a:ext uri="{FF2B5EF4-FFF2-40B4-BE49-F238E27FC236}">
                <a16:creationId xmlns:a16="http://schemas.microsoft.com/office/drawing/2014/main" id="{218C115D-1F28-C410-2A7A-8EB7B8CB391C}"/>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78" name="TextBox 77">
            <a:extLst>
              <a:ext uri="{FF2B5EF4-FFF2-40B4-BE49-F238E27FC236}">
                <a16:creationId xmlns:a16="http://schemas.microsoft.com/office/drawing/2014/main" id="{FC11AB9C-91D1-1D8F-46B3-D247F05063FC}"/>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
        <p:nvSpPr>
          <p:cNvPr id="79" name="TextBox 78">
            <a:extLst>
              <a:ext uri="{FF2B5EF4-FFF2-40B4-BE49-F238E27FC236}">
                <a16:creationId xmlns:a16="http://schemas.microsoft.com/office/drawing/2014/main" id="{582B8BF6-27A3-F554-FCD1-05A0A0F459A0}"/>
              </a:ext>
            </a:extLst>
          </p:cNvPr>
          <p:cNvSpPr txBox="1"/>
          <p:nvPr/>
        </p:nvSpPr>
        <p:spPr>
          <a:xfrm>
            <a:off x="599440" y="5222240"/>
            <a:ext cx="4114819" cy="58599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64 Multiplication (16 complex)</a:t>
            </a:r>
          </a:p>
        </p:txBody>
      </p:sp>
    </p:spTree>
    <p:extLst>
      <p:ext uri="{BB962C8B-B14F-4D97-AF65-F5344CB8AC3E}">
        <p14:creationId xmlns:p14="http://schemas.microsoft.com/office/powerpoint/2010/main" val="528564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fade">
                                      <p:cBhvr>
                                        <p:cTn id="61" dur="500"/>
                                        <p:tgtEl>
                                          <p:spTgt spid="61"/>
                                        </p:tgtEl>
                                      </p:cBhvr>
                                    </p:animEffect>
                                  </p:childTnLst>
                                </p:cTn>
                              </p:par>
                              <p:par>
                                <p:cTn id="62" presetID="10" presetClass="entr" presetSubtype="0" fill="hold" nodeType="with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500"/>
                                        <p:tgtEl>
                                          <p:spTgt spid="6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ntr" presetSubtype="0" fill="hold"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fade">
                                      <p:cBhvr>
                                        <p:cTn id="73" dur="500"/>
                                        <p:tgtEl>
                                          <p:spTgt spid="65"/>
                                        </p:tgtEl>
                                      </p:cBhvr>
                                    </p:animEffect>
                                  </p:childTnLst>
                                </p:cTn>
                              </p:par>
                              <p:par>
                                <p:cTn id="74" presetID="10" presetClass="entr" presetSubtype="0" fill="hold"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500"/>
                                        <p:tgtEl>
                                          <p:spTgt spid="6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500"/>
                                        <p:tgtEl>
                                          <p:spTgt spid="67"/>
                                        </p:tgtEl>
                                      </p:cBhvr>
                                    </p:animEffect>
                                  </p:childTnLst>
                                </p:cTn>
                              </p:par>
                              <p:par>
                                <p:cTn id="80" presetID="10" presetClass="entr" presetSubtype="0"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500"/>
                                        <p:tgtEl>
                                          <p:spTgt spid="6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animEffect transition="in" filter="fade">
                                      <p:cBhvr>
                                        <p:cTn id="85" dur="500"/>
                                        <p:tgtEl>
                                          <p:spTgt spid="69"/>
                                        </p:tgtEl>
                                      </p:cBhvr>
                                    </p:animEffect>
                                  </p:childTnLst>
                                </p:cTn>
                              </p:par>
                              <p:par>
                                <p:cTn id="86" presetID="10" presetClass="entr" presetSubtype="0" fill="hold" nodeType="with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fade">
                                      <p:cBhvr>
                                        <p:cTn id="88" dur="500"/>
                                        <p:tgtEl>
                                          <p:spTgt spid="7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fade">
                                      <p:cBhvr>
                                        <p:cTn id="91" dur="500"/>
                                        <p:tgtEl>
                                          <p:spTgt spid="71"/>
                                        </p:tgtEl>
                                      </p:cBhvr>
                                    </p:animEffect>
                                  </p:childTnLst>
                                </p:cTn>
                              </p:par>
                              <p:par>
                                <p:cTn id="92" presetID="10" presetClass="entr" presetSubtype="0" fill="hold" nodeType="withEffect">
                                  <p:stCondLst>
                                    <p:cond delay="0"/>
                                  </p:stCondLst>
                                  <p:childTnLst>
                                    <p:set>
                                      <p:cBhvr>
                                        <p:cTn id="93" dur="1" fill="hold">
                                          <p:stCondLst>
                                            <p:cond delay="0"/>
                                          </p:stCondLst>
                                        </p:cTn>
                                        <p:tgtEl>
                                          <p:spTgt spid="72"/>
                                        </p:tgtEl>
                                        <p:attrNameLst>
                                          <p:attrName>style.visibility</p:attrName>
                                        </p:attrNameLst>
                                      </p:cBhvr>
                                      <p:to>
                                        <p:strVal val="visible"/>
                                      </p:to>
                                    </p:set>
                                    <p:animEffect transition="in" filter="fade">
                                      <p:cBhvr>
                                        <p:cTn id="94" dur="500"/>
                                        <p:tgtEl>
                                          <p:spTgt spid="7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3"/>
                                        </p:tgtEl>
                                        <p:attrNameLst>
                                          <p:attrName>style.visibility</p:attrName>
                                        </p:attrNameLst>
                                      </p:cBhvr>
                                      <p:to>
                                        <p:strVal val="visible"/>
                                      </p:to>
                                    </p:set>
                                    <p:animEffect transition="in" filter="fade">
                                      <p:cBhvr>
                                        <p:cTn id="97" dur="500"/>
                                        <p:tgtEl>
                                          <p:spTgt spid="73"/>
                                        </p:tgtEl>
                                      </p:cBhvr>
                                    </p:animEffect>
                                  </p:childTnLst>
                                </p:cTn>
                              </p:par>
                              <p:par>
                                <p:cTn id="98" presetID="10" presetClass="entr" presetSubtype="0" fill="hold" nodeType="with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fade">
                                      <p:cBhvr>
                                        <p:cTn id="100" dur="500"/>
                                        <p:tgtEl>
                                          <p:spTgt spid="7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animEffect transition="in" filter="fade">
                                      <p:cBhvr>
                                        <p:cTn id="103" dur="500"/>
                                        <p:tgtEl>
                                          <p:spTgt spid="7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6"/>
                                        </p:tgtEl>
                                        <p:attrNameLst>
                                          <p:attrName>style.visibility</p:attrName>
                                        </p:attrNameLst>
                                      </p:cBhvr>
                                      <p:to>
                                        <p:strVal val="visible"/>
                                      </p:to>
                                    </p:set>
                                    <p:animEffect transition="in" filter="fade">
                                      <p:cBhvr>
                                        <p:cTn id="106" dur="500"/>
                                        <p:tgtEl>
                                          <p:spTgt spid="76"/>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79"/>
                                        </p:tgtEl>
                                        <p:attrNameLst>
                                          <p:attrName>style.visibility</p:attrName>
                                        </p:attrNameLst>
                                      </p:cBhvr>
                                      <p:to>
                                        <p:strVal val="visible"/>
                                      </p:to>
                                    </p:set>
                                    <p:animEffect transition="in" filter="fade">
                                      <p:cBhvr>
                                        <p:cTn id="111" dur="500"/>
                                        <p:tgtEl>
                                          <p:spTgt spid="79"/>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77"/>
                                        </p:tgtEl>
                                        <p:attrNameLst>
                                          <p:attrName>style.visibility</p:attrName>
                                        </p:attrNameLst>
                                      </p:cBhvr>
                                      <p:to>
                                        <p:strVal val="visible"/>
                                      </p:to>
                                    </p:set>
                                    <p:animEffect transition="in" filter="fade">
                                      <p:cBhvr>
                                        <p:cTn id="116"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7" grpId="0"/>
      <p:bldP spid="49" grpId="0"/>
      <p:bldP spid="51" grpId="0"/>
      <p:bldP spid="53" grpId="0"/>
      <p:bldP spid="55" grpId="0"/>
      <p:bldP spid="57" grpId="0"/>
      <p:bldP spid="59" grpId="0"/>
      <p:bldP spid="61" grpId="0"/>
      <p:bldP spid="63" grpId="0"/>
      <p:bldP spid="65" grpId="0"/>
      <p:bldP spid="67" grpId="0"/>
      <p:bldP spid="69" grpId="0"/>
      <p:bldP spid="71" grpId="0"/>
      <p:bldP spid="73" grpId="0"/>
      <p:bldP spid="75" grpId="0"/>
      <p:bldP spid="76" grpId="0" animBg="1"/>
      <p:bldP spid="77" grpId="0"/>
      <p:bldP spid="7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3B3A-8BF0-A7E1-F813-5FE818B31A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6D3336-3AD4-2165-A336-AB58451EFB38}"/>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09027813-FBAF-43F1-4841-E4FB1930193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B816D96-D4B7-9AE7-DEF6-E90547D2B8EA}"/>
              </a:ext>
            </a:extLst>
          </p:cNvPr>
          <p:cNvSpPr>
            <a:spLocks noGrp="1"/>
          </p:cNvSpPr>
          <p:nvPr>
            <p:ph type="sldNum" sz="quarter" idx="4"/>
          </p:nvPr>
        </p:nvSpPr>
        <p:spPr/>
        <p:txBody>
          <a:bodyPr/>
          <a:lstStyle/>
          <a:p>
            <a:pPr>
              <a:defRPr/>
            </a:pPr>
            <a:fld id="{A9CE67A1-BA7F-A74E-B5D7-615746DEEC2B}" type="slidenum">
              <a:rPr lang="en-US" smtClean="0"/>
              <a:pPr>
                <a:defRPr/>
              </a:pPr>
              <a:t>13</a:t>
            </a:fld>
            <a:endParaRPr lang="en-US" baseline="-11000" dirty="0"/>
          </a:p>
        </p:txBody>
      </p:sp>
      <p:sp>
        <p:nvSpPr>
          <p:cNvPr id="6" name="Date Placeholder 5">
            <a:extLst>
              <a:ext uri="{FF2B5EF4-FFF2-40B4-BE49-F238E27FC236}">
                <a16:creationId xmlns:a16="http://schemas.microsoft.com/office/drawing/2014/main" id="{16CFECA2-01B4-3D6D-EFB2-A271EF1FD92B}"/>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39CAAE0-CC0F-9614-F0C9-63FBBB1D7B6C}"/>
                  </a:ext>
                </a:extLst>
              </p:cNvPr>
              <p:cNvSpPr txBox="1"/>
              <p:nvPr/>
            </p:nvSpPr>
            <p:spPr>
              <a:xfrm>
                <a:off x="407688" y="900775"/>
                <a:ext cx="10833779" cy="5973238"/>
              </a:xfrm>
              <a:prstGeom prst="rect">
                <a:avLst/>
              </a:prstGeom>
              <a:noFill/>
            </p:spPr>
            <p:txBody>
              <a:bodyPr wrap="square">
                <a:spAutoFit/>
              </a:bodyPr>
              <a:lstStyle/>
              <a:p>
                <a:pPr defTabSz="457200">
                  <a:spcBef>
                    <a:spcPts val="1000"/>
                  </a:spcBef>
                  <a:buClr>
                    <a:srgbClr val="1E4056"/>
                  </a:buClr>
                  <a:buSzPct val="75000"/>
                </a:pPr>
                <a:r>
                  <a:rPr lang="en-US" b="1" dirty="0"/>
                  <a:t>Mathematical Perspective </a:t>
                </a:r>
                <a:r>
                  <a:rPr lang="en-US" dirty="0"/>
                  <a:t>:starting for DFT formal definition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𝒌</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−1</m:t>
                          </m:r>
                        </m:sup>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𝑘𝑛</m:t>
                              </m:r>
                            </m:sup>
                          </m:sSubSup>
                          <m:r>
                            <a:rPr lang="en-US" i="1">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dirty="0"/>
                  <a:t>After some mathematical manipulation we could prove that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𝟐</m:t>
                          </m:r>
                          <m:r>
                            <a:rPr lang="en-US" b="1" i="1">
                              <a:latin typeface="Cambria Math" panose="02040503050406030204" pitchFamily="18" charset="0"/>
                            </a:rPr>
                            <m:t>𝒌</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i="1">
                                      <a:latin typeface="Cambria Math" panose="02040503050406030204" pitchFamily="18" charset="0"/>
                                    </a:rPr>
                                    <m:t>𝑁</m:t>
                                  </m:r>
                                </m:num>
                                <m:den>
                                  <m:r>
                                    <a:rPr lang="en-US" b="0" i="1" smtClean="0">
                                      <a:latin typeface="Cambria Math" panose="02040503050406030204" pitchFamily="18" charset="0"/>
                                    </a:rPr>
                                    <m:t>2</m:t>
                                  </m:r>
                                </m:den>
                              </m:f>
                              <m:r>
                                <a:rPr lang="en-US" i="1">
                                  <a:latin typeface="Cambria Math" panose="02040503050406030204" pitchFamily="18" charset="0"/>
                                </a:rPr>
                                <m:t>−1</m:t>
                              </m:r>
                            </m:e>
                          </m:d>
                        </m:sup>
                        <m:e>
                          <m:r>
                            <a:rPr lang="en-US" b="0" i="1" smtClean="0">
                              <a:latin typeface="Cambria Math" panose="02040503050406030204" pitchFamily="18" charset="0"/>
                            </a:rPr>
                            <m:t>𝑎</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sub>
                            <m:sup>
                              <m:r>
                                <a:rPr lang="en-US" i="1">
                                  <a:latin typeface="Cambria Math" panose="02040503050406030204" pitchFamily="18" charset="0"/>
                                </a:rPr>
                                <m:t>𝑘𝑛</m:t>
                              </m:r>
                            </m:sup>
                          </m:sSubSup>
                          <m:r>
                            <m:rPr>
                              <m:nor/>
                            </m:rPr>
                            <a:rPr lang="en-US">
                              <a:latin typeface="Cambria Math" panose="02040503050406030204" pitchFamily="18" charset="0"/>
                            </a:rPr>
                            <m:t>  </m:t>
                          </m:r>
                          <m:r>
                            <m:rPr>
                              <m:nor/>
                            </m:rPr>
                            <a:rPr lang="en-US" dirty="0"/>
                            <m:t>(</m:t>
                          </m:r>
                          <m:r>
                            <m:rPr>
                              <m:nor/>
                            </m:rPr>
                            <a:rPr lang="en-US" b="0" i="0" dirty="0" smtClean="0"/>
                            <m:t>even</m:t>
                          </m:r>
                          <m:r>
                            <m:rPr>
                              <m:nor/>
                            </m:rPr>
                            <a:rPr lang="en-US" dirty="0"/>
                            <m:t> </m:t>
                          </m:r>
                          <m:r>
                            <m:rPr>
                              <m:nor/>
                            </m:rPr>
                            <a:rPr lang="en-US" dirty="0"/>
                            <m:t>bins</m:t>
                          </m:r>
                          <m:r>
                            <m:rPr>
                              <m:nor/>
                            </m:rPr>
                            <a:rPr lang="en-US" dirty="0"/>
                            <m:t> </m:t>
                          </m:r>
                          <m:r>
                            <m:rPr>
                              <m:nor/>
                            </m:rPr>
                            <a:rPr lang="en-US" dirty="0"/>
                            <m:t>in</m:t>
                          </m:r>
                          <m:r>
                            <m:rPr>
                              <m:nor/>
                            </m:rPr>
                            <a:rPr lang="en-US" dirty="0"/>
                            <m:t> </m:t>
                          </m:r>
                          <m:r>
                            <m:rPr>
                              <m:nor/>
                            </m:rPr>
                            <a:rPr lang="en-US" dirty="0"/>
                            <m:t>frequency</m:t>
                          </m:r>
                          <m:r>
                            <m:rPr>
                              <m:nor/>
                            </m:rPr>
                            <a:rPr lang="en-US" dirty="0"/>
                            <m:t>) (4−</m:t>
                          </m:r>
                          <m:r>
                            <m:rPr>
                              <m:nor/>
                            </m:rPr>
                            <a:rPr lang="en-US" b="0" i="0" dirty="0" smtClean="0"/>
                            <m:t>Point</m:t>
                          </m:r>
                          <m:r>
                            <m:rPr>
                              <m:nor/>
                            </m:rPr>
                            <a:rPr lang="en-US" b="0" i="0" dirty="0" smtClean="0"/>
                            <m:t> </m:t>
                          </m:r>
                          <m:r>
                            <m:rPr>
                              <m:nor/>
                            </m:rPr>
                            <a:rPr lang="en-US" b="0" i="0" dirty="0" smtClean="0"/>
                            <m:t>FFT</m:t>
                          </m:r>
                          <m:r>
                            <m:rPr>
                              <m:nor/>
                            </m:rPr>
                            <a:rPr lang="en-US" b="0" i="0" dirty="0" smtClean="0"/>
                            <m:t>) </m:t>
                          </m:r>
                        </m:e>
                      </m:nary>
                    </m:oMath>
                  </m:oMathPara>
                </a14:m>
                <a:endParaRPr lang="en-US" dirty="0"/>
              </a:p>
              <a:p>
                <a:pPr algn="ctr" defTabSz="457200">
                  <a:spcBef>
                    <a:spcPts val="1000"/>
                  </a:spcBef>
                  <a:buClr>
                    <a:srgbClr val="1E4056"/>
                  </a:buClr>
                  <a:buSzPct val="75000"/>
                </a:pPr>
                <a:endParaRPr lang="en-US" dirty="0"/>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   </m:t>
                      </m:r>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𝟐</m:t>
                          </m:r>
                          <m:r>
                            <a:rPr lang="en-US" b="1" i="1">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i="1">
                                      <a:latin typeface="Cambria Math" panose="02040503050406030204" pitchFamily="18" charset="0"/>
                                    </a:rPr>
                                    <m:t>𝑁</m:t>
                                  </m:r>
                                </m:num>
                                <m:den>
                                  <m:r>
                                    <a:rPr lang="en-US" b="0" i="1" smtClean="0">
                                      <a:latin typeface="Cambria Math" panose="02040503050406030204" pitchFamily="18" charset="0"/>
                                    </a:rPr>
                                    <m:t>2</m:t>
                                  </m:r>
                                </m:den>
                              </m:f>
                              <m:r>
                                <a:rPr lang="en-US" i="1">
                                  <a:latin typeface="Cambria Math" panose="02040503050406030204" pitchFamily="18" charset="0"/>
                                </a:rPr>
                                <m:t>−1</m:t>
                              </m:r>
                            </m:e>
                          </m:d>
                        </m:sup>
                        <m:e>
                          <m:r>
                            <a:rPr lang="en-US" b="0" i="1" smtClean="0">
                              <a:latin typeface="Cambria Math" panose="02040503050406030204" pitchFamily="18" charset="0"/>
                            </a:rPr>
                            <m:t>𝑏</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sub>
                            <m:sup>
                              <m:r>
                                <a:rPr lang="en-US" i="1">
                                  <a:latin typeface="Cambria Math" panose="02040503050406030204" pitchFamily="18" charset="0"/>
                                </a:rPr>
                                <m:t>𝑘𝑛</m:t>
                              </m:r>
                            </m:sup>
                          </m:sSubSup>
                          <m:r>
                            <m:rPr>
                              <m:nor/>
                            </m:rPr>
                            <a:rPr lang="en-US" b="0" i="0" smtClean="0">
                              <a:latin typeface="Cambria Math" panose="02040503050406030204" pitchFamily="18" charset="0"/>
                            </a:rPr>
                            <m:t>  </m:t>
                          </m:r>
                          <m:r>
                            <m:rPr>
                              <m:nor/>
                            </m:rPr>
                            <a:rPr lang="en-US" dirty="0" smtClean="0"/>
                            <m:t>(</m:t>
                          </m:r>
                          <m:r>
                            <m:rPr>
                              <m:nor/>
                            </m:rPr>
                            <a:rPr lang="en-US" b="0" i="0" dirty="0" smtClean="0"/>
                            <m:t>odd</m:t>
                          </m:r>
                          <m:r>
                            <m:rPr>
                              <m:nor/>
                            </m:rPr>
                            <a:rPr lang="en-US" dirty="0" smtClean="0"/>
                            <m:t> </m:t>
                          </m:r>
                          <m:r>
                            <m:rPr>
                              <m:nor/>
                            </m:rPr>
                            <a:rPr lang="en-US" dirty="0" smtClean="0"/>
                            <m:t>bins</m:t>
                          </m:r>
                          <m:r>
                            <m:rPr>
                              <m:nor/>
                            </m:rPr>
                            <a:rPr lang="en-US" dirty="0" smtClean="0"/>
                            <m:t> </m:t>
                          </m:r>
                          <m:r>
                            <m:rPr>
                              <m:nor/>
                            </m:rPr>
                            <a:rPr lang="en-US" dirty="0" smtClean="0"/>
                            <m:t>in</m:t>
                          </m:r>
                          <m:r>
                            <m:rPr>
                              <m:nor/>
                            </m:rPr>
                            <a:rPr lang="en-US" dirty="0" smtClean="0"/>
                            <m:t> </m:t>
                          </m:r>
                          <m:r>
                            <m:rPr>
                              <m:nor/>
                            </m:rPr>
                            <a:rPr lang="en-US" dirty="0" smtClean="0"/>
                            <m:t>frequency</m:t>
                          </m:r>
                          <m:r>
                            <m:rPr>
                              <m:nor/>
                            </m:rPr>
                            <a:rPr lang="en-US" dirty="0" smtClean="0"/>
                            <m:t>)(4−</m:t>
                          </m:r>
                          <m:r>
                            <m:rPr>
                              <m:nor/>
                            </m:rPr>
                            <a:rPr lang="en-US" dirty="0"/>
                            <m:t>Point</m:t>
                          </m:r>
                          <m:r>
                            <m:rPr>
                              <m:nor/>
                            </m:rPr>
                            <a:rPr lang="en-US" dirty="0"/>
                            <m:t> </m:t>
                          </m:r>
                          <m:r>
                            <m:rPr>
                              <m:nor/>
                            </m:rPr>
                            <a:rPr lang="en-US" dirty="0"/>
                            <m:t>FFT</m:t>
                          </m:r>
                          <m:r>
                            <m:rPr>
                              <m:nor/>
                            </m:rPr>
                            <a:rPr lang="en-US" dirty="0"/>
                            <m:t>)</m:t>
                          </m:r>
                        </m:e>
                      </m:nary>
                    </m:oMath>
                  </m:oMathPara>
                </a14:m>
                <a:endParaRPr lang="en-US" dirty="0"/>
              </a:p>
              <a:p>
                <a:pPr defTabSz="457200">
                  <a:spcBef>
                    <a:spcPts val="1000"/>
                  </a:spcBef>
                  <a:buClr>
                    <a:srgbClr val="1E4056"/>
                  </a:buClr>
                  <a:buSzPct val="75000"/>
                </a:pPr>
                <a:r>
                  <a:rPr lang="en-US" dirty="0"/>
                  <a:t>Where : </a:t>
                </a:r>
                <a14:m>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2</m:t>
                                </m:r>
                              </m:den>
                            </m:f>
                          </m:e>
                        </m:d>
                      </m:e>
                    </m:d>
                    <m:r>
                      <a:rPr lang="en-US" b="0" i="1" smtClean="0">
                        <a:latin typeface="Cambria Math" panose="02040503050406030204" pitchFamily="18" charset="0"/>
                      </a:rPr>
                      <m:t> </m:t>
                    </m:r>
                  </m:oMath>
                </a14:m>
                <a:endParaRPr lang="en-US" dirty="0"/>
              </a:p>
              <a:p>
                <a:pPr defTabSz="457200">
                  <a:spcBef>
                    <a:spcPts val="1000"/>
                  </a:spcBef>
                  <a:buClr>
                    <a:srgbClr val="1E4056"/>
                  </a:buClr>
                  <a:buSzPct val="75000"/>
                </a:pPr>
                <a:r>
                  <a:rPr lang="en-US" dirty="0"/>
                  <a:t>	        b</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e>
                        </m:d>
                      </m:e>
                    </m:d>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𝑛</m:t>
                        </m:r>
                      </m:sup>
                    </m:sSubSup>
                  </m:oMath>
                </a14:m>
                <a:endParaRPr lang="en-US" dirty="0"/>
              </a:p>
              <a:p>
                <a:pPr defTabSz="457200">
                  <a:spcBef>
                    <a:spcPts val="1000"/>
                  </a:spcBef>
                  <a:buClr>
                    <a:srgbClr val="1E4056"/>
                  </a:buClr>
                  <a:buSzPct val="75000"/>
                </a:pPr>
                <a:r>
                  <a:rPr lang="en-US" dirty="0"/>
                  <a:t>So, are they exactly equivalent ? </a:t>
                </a:r>
                <a:br>
                  <a:rPr lang="en-US" dirty="0"/>
                </a:br>
                <a:endParaRPr lang="en-US" dirty="0"/>
              </a:p>
              <a:p>
                <a:pPr defTabSz="457200">
                  <a:spcBef>
                    <a:spcPts val="1000"/>
                  </a:spcBef>
                  <a:buClr>
                    <a:srgbClr val="1E4056"/>
                  </a:buClr>
                  <a:buSzPct val="75000"/>
                </a:pPr>
                <a:endParaRPr lang="en-US" dirty="0"/>
              </a:p>
            </p:txBody>
          </p:sp>
        </mc:Choice>
        <mc:Fallback xmlns="">
          <p:sp>
            <p:nvSpPr>
              <p:cNvPr id="11" name="TextBox 10">
                <a:extLst>
                  <a:ext uri="{FF2B5EF4-FFF2-40B4-BE49-F238E27FC236}">
                    <a16:creationId xmlns:a16="http://schemas.microsoft.com/office/drawing/2014/main" id="{739CAAE0-CC0F-9614-F0C9-63FBBB1D7B6C}"/>
                  </a:ext>
                </a:extLst>
              </p:cNvPr>
              <p:cNvSpPr txBox="1">
                <a:spLocks noRot="1" noChangeAspect="1" noMove="1" noResize="1" noEditPoints="1" noAdjustHandles="1" noChangeArrowheads="1" noChangeShapeType="1" noTextEdit="1"/>
              </p:cNvSpPr>
              <p:nvPr/>
            </p:nvSpPr>
            <p:spPr>
              <a:xfrm>
                <a:off x="407688" y="900775"/>
                <a:ext cx="10833779" cy="5973238"/>
              </a:xfrm>
              <a:prstGeom prst="rect">
                <a:avLst/>
              </a:prstGeom>
              <a:blipFill>
                <a:blip r:embed="rId2"/>
                <a:stretch>
                  <a:fillRect l="-506" t="-510"/>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F972D590-7FD8-40BE-E2D7-AD02A13CBFD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DAB6B25C-2F4C-395B-5A57-5245A6C27E45}"/>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BD5A85D2-CF3D-A4FA-86EF-58E00F3BC44B}"/>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4697CA43-C645-8330-B7BA-4C4E0EB411F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C519A291-2E48-02C3-F109-033316D9BCF1}"/>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2195606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3" end="3"/>
                                            </p:txEl>
                                          </p:spTgt>
                                        </p:tgtEl>
                                        <p:attrNameLst>
                                          <p:attrName>style.visibility</p:attrName>
                                        </p:attrNameLst>
                                      </p:cBhvr>
                                      <p:to>
                                        <p:strVal val="visible"/>
                                      </p:to>
                                    </p:set>
                                    <p:animEffect transition="in" filter="fade">
                                      <p:cBhvr>
                                        <p:cTn id="7" dur="500"/>
                                        <p:tgtEl>
                                          <p:spTgt spid="11">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5" end="5"/>
                                            </p:txEl>
                                          </p:spTgt>
                                        </p:tgtEl>
                                        <p:attrNameLst>
                                          <p:attrName>style.visibility</p:attrName>
                                        </p:attrNameLst>
                                      </p:cBhvr>
                                      <p:to>
                                        <p:strVal val="visible"/>
                                      </p:to>
                                    </p:set>
                                    <p:animEffect transition="in" filter="fade">
                                      <p:cBhvr>
                                        <p:cTn id="12" dur="500"/>
                                        <p:tgtEl>
                                          <p:spTgt spid="11">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6" end="6"/>
                                            </p:txEl>
                                          </p:spTgt>
                                        </p:tgtEl>
                                        <p:attrNameLst>
                                          <p:attrName>style.visibility</p:attrName>
                                        </p:attrNameLst>
                                      </p:cBhvr>
                                      <p:to>
                                        <p:strVal val="visible"/>
                                      </p:to>
                                    </p:set>
                                    <p:animEffect transition="in" filter="fade">
                                      <p:cBhvr>
                                        <p:cTn id="17" dur="500"/>
                                        <p:tgtEl>
                                          <p:spTgt spid="11">
                                            <p:txEl>
                                              <p:pRg st="6" end="6"/>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xEl>
                                              <p:pRg st="7" end="7"/>
                                            </p:txEl>
                                          </p:spTgt>
                                        </p:tgtEl>
                                        <p:attrNameLst>
                                          <p:attrName>style.visibility</p:attrName>
                                        </p:attrNameLst>
                                      </p:cBhvr>
                                      <p:to>
                                        <p:strVal val="visible"/>
                                      </p:to>
                                    </p:set>
                                    <p:animEffect transition="in" filter="fade">
                                      <p:cBhvr>
                                        <p:cTn id="20" dur="500"/>
                                        <p:tgtEl>
                                          <p:spTgt spid="11">
                                            <p:txEl>
                                              <p:pRg st="7" end="7"/>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animEffect transition="in" filter="fade">
                                      <p:cBhvr>
                                        <p:cTn id="23"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EB235-3441-4270-481F-7CCFDDE9A6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10AAE9-AF31-1299-210B-64CB475B7BE2}"/>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82D0280-D09E-0A6F-C957-0051EFAEDE9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DA5CEBD-EDCF-8B92-6DF7-A0D56F07FBDE}"/>
              </a:ext>
            </a:extLst>
          </p:cNvPr>
          <p:cNvSpPr>
            <a:spLocks noGrp="1"/>
          </p:cNvSpPr>
          <p:nvPr>
            <p:ph type="sldNum" sz="quarter" idx="4"/>
          </p:nvPr>
        </p:nvSpPr>
        <p:spPr/>
        <p:txBody>
          <a:bodyPr/>
          <a:lstStyle/>
          <a:p>
            <a:pPr>
              <a:defRPr/>
            </a:pPr>
            <a:fld id="{A9CE67A1-BA7F-A74E-B5D7-615746DEEC2B}" type="slidenum">
              <a:rPr lang="en-US" smtClean="0"/>
              <a:pPr>
                <a:defRPr/>
              </a:pPr>
              <a:t>14</a:t>
            </a:fld>
            <a:endParaRPr lang="en-US" baseline="-11000" dirty="0"/>
          </a:p>
        </p:txBody>
      </p:sp>
      <p:sp>
        <p:nvSpPr>
          <p:cNvPr id="6" name="!!Date Placeholder 5">
            <a:extLst>
              <a:ext uri="{FF2B5EF4-FFF2-40B4-BE49-F238E27FC236}">
                <a16:creationId xmlns:a16="http://schemas.microsoft.com/office/drawing/2014/main" id="{A5462263-DEB3-64F9-E11D-C42EC876F0F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Rectangle 6">
            <a:extLst>
              <a:ext uri="{FF2B5EF4-FFF2-40B4-BE49-F238E27FC236}">
                <a16:creationId xmlns:a16="http://schemas.microsoft.com/office/drawing/2014/main" id="{BA55914B-A8D6-EEDF-1259-1E325A92DE8B}"/>
              </a:ext>
            </a:extLst>
          </p:cNvPr>
          <p:cNvSpPr/>
          <p:nvPr/>
        </p:nvSpPr>
        <p:spPr>
          <a:xfrm>
            <a:off x="1719418" y="1725562"/>
            <a:ext cx="978309"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DFT</a:t>
            </a:r>
          </a:p>
        </p:txBody>
      </p:sp>
      <p:cxnSp>
        <p:nvCxnSpPr>
          <p:cNvPr id="9" name="!!Straight Arrow Connector 8">
            <a:extLst>
              <a:ext uri="{FF2B5EF4-FFF2-40B4-BE49-F238E27FC236}">
                <a16:creationId xmlns:a16="http://schemas.microsoft.com/office/drawing/2014/main" id="{9B72A6E5-8E64-FD72-18B5-D62B6E49A967}"/>
              </a:ext>
            </a:extLst>
          </p:cNvPr>
          <p:cNvCxnSpPr>
            <a:cxnSpLocks/>
          </p:cNvCxnSpPr>
          <p:nvPr/>
        </p:nvCxnSpPr>
        <p:spPr>
          <a:xfrm>
            <a:off x="805017"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59C6B30-3B03-3D77-BE4B-92F421BFF276}"/>
              </a:ext>
            </a:extLst>
          </p:cNvPr>
          <p:cNvSpPr txBox="1"/>
          <p:nvPr/>
        </p:nvSpPr>
        <p:spPr>
          <a:xfrm>
            <a:off x="342901"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 name="!!Straight Arrow Connector 10">
            <a:extLst>
              <a:ext uri="{FF2B5EF4-FFF2-40B4-BE49-F238E27FC236}">
                <a16:creationId xmlns:a16="http://schemas.microsoft.com/office/drawing/2014/main" id="{BCA440AB-AA2B-666D-DA55-9B7EB73BC8FC}"/>
              </a:ext>
            </a:extLst>
          </p:cNvPr>
          <p:cNvCxnSpPr>
            <a:cxnSpLocks/>
          </p:cNvCxnSpPr>
          <p:nvPr/>
        </p:nvCxnSpPr>
        <p:spPr>
          <a:xfrm>
            <a:off x="805017"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8D6897A-CA21-1DA0-DF71-924C77609333}"/>
              </a:ext>
            </a:extLst>
          </p:cNvPr>
          <p:cNvSpPr txBox="1"/>
          <p:nvPr/>
        </p:nvSpPr>
        <p:spPr>
          <a:xfrm>
            <a:off x="342901"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4" name="!!Straight Arrow Connector 13">
            <a:extLst>
              <a:ext uri="{FF2B5EF4-FFF2-40B4-BE49-F238E27FC236}">
                <a16:creationId xmlns:a16="http://schemas.microsoft.com/office/drawing/2014/main" id="{49B85A6A-72C2-97C8-9220-50ACC9C1E384}"/>
              </a:ext>
            </a:extLst>
          </p:cNvPr>
          <p:cNvCxnSpPr>
            <a:cxnSpLocks/>
          </p:cNvCxnSpPr>
          <p:nvPr/>
        </p:nvCxnSpPr>
        <p:spPr>
          <a:xfrm>
            <a:off x="805017"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BF21BA5-AB7E-628C-4B7F-45C121877DCD}"/>
              </a:ext>
            </a:extLst>
          </p:cNvPr>
          <p:cNvSpPr txBox="1"/>
          <p:nvPr/>
        </p:nvSpPr>
        <p:spPr>
          <a:xfrm>
            <a:off x="342901"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6" name="!!Straight Arrow Connector 15">
            <a:extLst>
              <a:ext uri="{FF2B5EF4-FFF2-40B4-BE49-F238E27FC236}">
                <a16:creationId xmlns:a16="http://schemas.microsoft.com/office/drawing/2014/main" id="{ADFF37CE-8A60-32F9-6591-6191D6BA478D}"/>
              </a:ext>
            </a:extLst>
          </p:cNvPr>
          <p:cNvCxnSpPr>
            <a:cxnSpLocks/>
          </p:cNvCxnSpPr>
          <p:nvPr/>
        </p:nvCxnSpPr>
        <p:spPr>
          <a:xfrm>
            <a:off x="805017"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C6C4C85-7A68-5F2B-173E-1C5BF461F8CB}"/>
              </a:ext>
            </a:extLst>
          </p:cNvPr>
          <p:cNvSpPr txBox="1"/>
          <p:nvPr/>
        </p:nvSpPr>
        <p:spPr>
          <a:xfrm>
            <a:off x="342901"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8" name="!!Straight Arrow Connector 17">
            <a:extLst>
              <a:ext uri="{FF2B5EF4-FFF2-40B4-BE49-F238E27FC236}">
                <a16:creationId xmlns:a16="http://schemas.microsoft.com/office/drawing/2014/main" id="{AFA4A0CF-2CA0-D52D-4D1A-47A14E076998}"/>
              </a:ext>
            </a:extLst>
          </p:cNvPr>
          <p:cNvCxnSpPr>
            <a:cxnSpLocks/>
          </p:cNvCxnSpPr>
          <p:nvPr/>
        </p:nvCxnSpPr>
        <p:spPr>
          <a:xfrm>
            <a:off x="805017"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0979F89-E4EE-ED8C-12B9-84AC71E65634}"/>
              </a:ext>
            </a:extLst>
          </p:cNvPr>
          <p:cNvSpPr txBox="1"/>
          <p:nvPr/>
        </p:nvSpPr>
        <p:spPr>
          <a:xfrm>
            <a:off x="342901"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20" name="!!Straight Arrow Connector 19">
            <a:extLst>
              <a:ext uri="{FF2B5EF4-FFF2-40B4-BE49-F238E27FC236}">
                <a16:creationId xmlns:a16="http://schemas.microsoft.com/office/drawing/2014/main" id="{E356AF36-7C38-3A49-D280-A6EA96CF4F61}"/>
              </a:ext>
            </a:extLst>
          </p:cNvPr>
          <p:cNvCxnSpPr>
            <a:cxnSpLocks/>
          </p:cNvCxnSpPr>
          <p:nvPr/>
        </p:nvCxnSpPr>
        <p:spPr>
          <a:xfrm>
            <a:off x="805017"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BA5C1AA9-97F3-8D1E-4C2C-3FCEDB6817BD}"/>
              </a:ext>
            </a:extLst>
          </p:cNvPr>
          <p:cNvSpPr txBox="1"/>
          <p:nvPr/>
        </p:nvSpPr>
        <p:spPr>
          <a:xfrm>
            <a:off x="342901"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23" name="!!Straight Arrow Connector 22">
            <a:extLst>
              <a:ext uri="{FF2B5EF4-FFF2-40B4-BE49-F238E27FC236}">
                <a16:creationId xmlns:a16="http://schemas.microsoft.com/office/drawing/2014/main" id="{C7A139F1-94A3-3298-3E2C-07717332CB85}"/>
              </a:ext>
            </a:extLst>
          </p:cNvPr>
          <p:cNvCxnSpPr>
            <a:cxnSpLocks/>
          </p:cNvCxnSpPr>
          <p:nvPr/>
        </p:nvCxnSpPr>
        <p:spPr>
          <a:xfrm>
            <a:off x="805017"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B55F673F-4338-9357-4444-09235FB49218}"/>
              </a:ext>
            </a:extLst>
          </p:cNvPr>
          <p:cNvSpPr txBox="1"/>
          <p:nvPr/>
        </p:nvSpPr>
        <p:spPr>
          <a:xfrm>
            <a:off x="342901"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25" name="!!Straight Arrow Connector 24">
            <a:extLst>
              <a:ext uri="{FF2B5EF4-FFF2-40B4-BE49-F238E27FC236}">
                <a16:creationId xmlns:a16="http://schemas.microsoft.com/office/drawing/2014/main" id="{5D6D7DF2-F5BF-2997-91C4-29685F836093}"/>
              </a:ext>
            </a:extLst>
          </p:cNvPr>
          <p:cNvCxnSpPr>
            <a:cxnSpLocks/>
          </p:cNvCxnSpPr>
          <p:nvPr/>
        </p:nvCxnSpPr>
        <p:spPr>
          <a:xfrm>
            <a:off x="805017"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ED9E478-BD77-62DE-FA1B-BFA4052891A3}"/>
              </a:ext>
            </a:extLst>
          </p:cNvPr>
          <p:cNvSpPr txBox="1"/>
          <p:nvPr/>
        </p:nvSpPr>
        <p:spPr>
          <a:xfrm>
            <a:off x="342901"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27" name="!!Straight Arrow Connector 26">
            <a:extLst>
              <a:ext uri="{FF2B5EF4-FFF2-40B4-BE49-F238E27FC236}">
                <a16:creationId xmlns:a16="http://schemas.microsoft.com/office/drawing/2014/main" id="{5400CCBE-A48E-6334-2E8C-7F8955B8E20B}"/>
              </a:ext>
            </a:extLst>
          </p:cNvPr>
          <p:cNvCxnSpPr>
            <a:cxnSpLocks/>
          </p:cNvCxnSpPr>
          <p:nvPr/>
        </p:nvCxnSpPr>
        <p:spPr>
          <a:xfrm>
            <a:off x="2718011" y="191950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4A893434-E037-D643-3EDB-2EE13B2ADD0D}"/>
              </a:ext>
            </a:extLst>
          </p:cNvPr>
          <p:cNvSpPr txBox="1"/>
          <p:nvPr/>
        </p:nvSpPr>
        <p:spPr>
          <a:xfrm>
            <a:off x="3696320" y="173545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9" name="!!Straight Arrow Connector 28">
            <a:extLst>
              <a:ext uri="{FF2B5EF4-FFF2-40B4-BE49-F238E27FC236}">
                <a16:creationId xmlns:a16="http://schemas.microsoft.com/office/drawing/2014/main" id="{24A7FF1B-A3E5-1A3D-C0A6-9A8884C36B56}"/>
              </a:ext>
            </a:extLst>
          </p:cNvPr>
          <p:cNvCxnSpPr>
            <a:cxnSpLocks/>
          </p:cNvCxnSpPr>
          <p:nvPr/>
        </p:nvCxnSpPr>
        <p:spPr>
          <a:xfrm>
            <a:off x="2718011" y="230295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A3ED5F03-C3C0-460D-963E-E32AFE337A20}"/>
              </a:ext>
            </a:extLst>
          </p:cNvPr>
          <p:cNvSpPr txBox="1"/>
          <p:nvPr/>
        </p:nvSpPr>
        <p:spPr>
          <a:xfrm>
            <a:off x="3696320" y="210410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31" name="!!Straight Arrow Connector 30">
            <a:extLst>
              <a:ext uri="{FF2B5EF4-FFF2-40B4-BE49-F238E27FC236}">
                <a16:creationId xmlns:a16="http://schemas.microsoft.com/office/drawing/2014/main" id="{D53A9D1C-FC3E-C94B-2C0B-BFB5D197BA28}"/>
              </a:ext>
            </a:extLst>
          </p:cNvPr>
          <p:cNvCxnSpPr>
            <a:cxnSpLocks/>
          </p:cNvCxnSpPr>
          <p:nvPr/>
        </p:nvCxnSpPr>
        <p:spPr>
          <a:xfrm>
            <a:off x="2718011" y="2686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04AFAF4-1684-1655-08C0-ABFB188775B1}"/>
              </a:ext>
            </a:extLst>
          </p:cNvPr>
          <p:cNvSpPr txBox="1"/>
          <p:nvPr/>
        </p:nvSpPr>
        <p:spPr>
          <a:xfrm>
            <a:off x="3696320" y="2487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33" name="!!Straight Arrow Connector 32">
            <a:extLst>
              <a:ext uri="{FF2B5EF4-FFF2-40B4-BE49-F238E27FC236}">
                <a16:creationId xmlns:a16="http://schemas.microsoft.com/office/drawing/2014/main" id="{E398D7B1-37FB-2D50-D9A3-301DC856C390}"/>
              </a:ext>
            </a:extLst>
          </p:cNvPr>
          <p:cNvCxnSpPr>
            <a:cxnSpLocks/>
          </p:cNvCxnSpPr>
          <p:nvPr/>
        </p:nvCxnSpPr>
        <p:spPr>
          <a:xfrm>
            <a:off x="2718011" y="313660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E2C9E6C3-9626-7588-36C1-A466C5EE0357}"/>
              </a:ext>
            </a:extLst>
          </p:cNvPr>
          <p:cNvSpPr txBox="1"/>
          <p:nvPr/>
        </p:nvSpPr>
        <p:spPr>
          <a:xfrm>
            <a:off x="3696320" y="293775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35" name="!!Straight Arrow Connector 34">
            <a:extLst>
              <a:ext uri="{FF2B5EF4-FFF2-40B4-BE49-F238E27FC236}">
                <a16:creationId xmlns:a16="http://schemas.microsoft.com/office/drawing/2014/main" id="{2AEEA1C0-7658-F593-AF45-4B71FA64022E}"/>
              </a:ext>
            </a:extLst>
          </p:cNvPr>
          <p:cNvCxnSpPr>
            <a:cxnSpLocks/>
          </p:cNvCxnSpPr>
          <p:nvPr/>
        </p:nvCxnSpPr>
        <p:spPr>
          <a:xfrm>
            <a:off x="2718011" y="355375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D5A0CF0A-57DF-492F-8EEE-2A6EEACFC6F4}"/>
              </a:ext>
            </a:extLst>
          </p:cNvPr>
          <p:cNvSpPr txBox="1"/>
          <p:nvPr/>
        </p:nvSpPr>
        <p:spPr>
          <a:xfrm>
            <a:off x="3696320" y="335489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D9E1DF0B-0394-D93D-8503-00A089FF84BD}"/>
              </a:ext>
            </a:extLst>
          </p:cNvPr>
          <p:cNvCxnSpPr>
            <a:cxnSpLocks/>
          </p:cNvCxnSpPr>
          <p:nvPr/>
        </p:nvCxnSpPr>
        <p:spPr>
          <a:xfrm>
            <a:off x="2718011" y="398267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D97437F-5D4B-9D6E-DC84-1513C78E4D90}"/>
              </a:ext>
            </a:extLst>
          </p:cNvPr>
          <p:cNvSpPr txBox="1"/>
          <p:nvPr/>
        </p:nvSpPr>
        <p:spPr>
          <a:xfrm>
            <a:off x="3696320" y="378382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39" name="!!Straight Arrow Connector 38">
            <a:extLst>
              <a:ext uri="{FF2B5EF4-FFF2-40B4-BE49-F238E27FC236}">
                <a16:creationId xmlns:a16="http://schemas.microsoft.com/office/drawing/2014/main" id="{EA109688-CE86-8E4B-09AF-2E0D0368C711}"/>
              </a:ext>
            </a:extLst>
          </p:cNvPr>
          <p:cNvCxnSpPr>
            <a:cxnSpLocks/>
          </p:cNvCxnSpPr>
          <p:nvPr/>
        </p:nvCxnSpPr>
        <p:spPr>
          <a:xfrm>
            <a:off x="2718011" y="43830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923210CD-FBC1-54B9-C17F-469F611E6701}"/>
              </a:ext>
            </a:extLst>
          </p:cNvPr>
          <p:cNvSpPr txBox="1"/>
          <p:nvPr/>
        </p:nvSpPr>
        <p:spPr>
          <a:xfrm>
            <a:off x="3696320" y="41842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41" name="!!Straight Arrow Connector 40">
            <a:extLst>
              <a:ext uri="{FF2B5EF4-FFF2-40B4-BE49-F238E27FC236}">
                <a16:creationId xmlns:a16="http://schemas.microsoft.com/office/drawing/2014/main" id="{EB5BCF23-6092-CE37-D7F9-91884E88AF81}"/>
              </a:ext>
            </a:extLst>
          </p:cNvPr>
          <p:cNvCxnSpPr>
            <a:cxnSpLocks/>
          </p:cNvCxnSpPr>
          <p:nvPr/>
        </p:nvCxnSpPr>
        <p:spPr>
          <a:xfrm>
            <a:off x="2718011" y="477367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9D07C0C3-176C-DA2F-7205-BFF8482464E5}"/>
              </a:ext>
            </a:extLst>
          </p:cNvPr>
          <p:cNvSpPr txBox="1"/>
          <p:nvPr/>
        </p:nvSpPr>
        <p:spPr>
          <a:xfrm>
            <a:off x="3696320" y="4574824"/>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43" name="!!Rectangle 42">
            <a:extLst>
              <a:ext uri="{FF2B5EF4-FFF2-40B4-BE49-F238E27FC236}">
                <a16:creationId xmlns:a16="http://schemas.microsoft.com/office/drawing/2014/main" id="{C6EE273E-08BB-9CD0-8066-AD14988E2392}"/>
              </a:ext>
            </a:extLst>
          </p:cNvPr>
          <p:cNvSpPr/>
          <p:nvPr/>
        </p:nvSpPr>
        <p:spPr>
          <a:xfrm>
            <a:off x="9191934" y="1718438"/>
            <a:ext cx="978310" cy="1520310"/>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19AA82DC-F406-F089-371F-6F126B8DABB3}"/>
              </a:ext>
            </a:extLst>
          </p:cNvPr>
          <p:cNvCxnSpPr/>
          <p:nvPr/>
        </p:nvCxnSpPr>
        <p:spPr>
          <a:xfrm>
            <a:off x="8277533"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7C486AD-79A1-45EE-F321-1EB843FD971A}"/>
              </a:ext>
            </a:extLst>
          </p:cNvPr>
          <p:cNvSpPr txBox="1"/>
          <p:nvPr/>
        </p:nvSpPr>
        <p:spPr>
          <a:xfrm>
            <a:off x="8393587" y="155811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a(0)</a:t>
            </a:r>
          </a:p>
        </p:txBody>
      </p:sp>
      <p:cxnSp>
        <p:nvCxnSpPr>
          <p:cNvPr id="46" name="!!Straight Arrow Connector 45">
            <a:extLst>
              <a:ext uri="{FF2B5EF4-FFF2-40B4-BE49-F238E27FC236}">
                <a16:creationId xmlns:a16="http://schemas.microsoft.com/office/drawing/2014/main" id="{85BF7D31-665A-1371-FCA2-91D3B463AF69}"/>
              </a:ext>
            </a:extLst>
          </p:cNvPr>
          <p:cNvCxnSpPr/>
          <p:nvPr/>
        </p:nvCxnSpPr>
        <p:spPr>
          <a:xfrm>
            <a:off x="8277533"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72B78F97-1671-D4BD-AC4D-01A566E29444}"/>
              </a:ext>
            </a:extLst>
          </p:cNvPr>
          <p:cNvSpPr txBox="1"/>
          <p:nvPr/>
        </p:nvSpPr>
        <p:spPr>
          <a:xfrm>
            <a:off x="8402542" y="197266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a(1)</a:t>
            </a:r>
          </a:p>
        </p:txBody>
      </p:sp>
      <p:cxnSp>
        <p:nvCxnSpPr>
          <p:cNvPr id="48" name="!!Straight Arrow Connector 47">
            <a:extLst>
              <a:ext uri="{FF2B5EF4-FFF2-40B4-BE49-F238E27FC236}">
                <a16:creationId xmlns:a16="http://schemas.microsoft.com/office/drawing/2014/main" id="{9F0915D0-9B29-1538-D401-DDE60B7A0C88}"/>
              </a:ext>
            </a:extLst>
          </p:cNvPr>
          <p:cNvCxnSpPr/>
          <p:nvPr/>
        </p:nvCxnSpPr>
        <p:spPr>
          <a:xfrm>
            <a:off x="8277533"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EECF6970-7673-938E-1BDB-E1F7AC64C3D1}"/>
              </a:ext>
            </a:extLst>
          </p:cNvPr>
          <p:cNvSpPr txBox="1"/>
          <p:nvPr/>
        </p:nvSpPr>
        <p:spPr>
          <a:xfrm>
            <a:off x="8402542" y="238581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a(2)</a:t>
            </a:r>
          </a:p>
        </p:txBody>
      </p:sp>
      <p:cxnSp>
        <p:nvCxnSpPr>
          <p:cNvPr id="50" name="!!Straight Arrow Connector 49">
            <a:extLst>
              <a:ext uri="{FF2B5EF4-FFF2-40B4-BE49-F238E27FC236}">
                <a16:creationId xmlns:a16="http://schemas.microsoft.com/office/drawing/2014/main" id="{D9729413-D296-08F5-0BA6-9CE0827F7FDA}"/>
              </a:ext>
            </a:extLst>
          </p:cNvPr>
          <p:cNvCxnSpPr/>
          <p:nvPr/>
        </p:nvCxnSpPr>
        <p:spPr>
          <a:xfrm>
            <a:off x="8277533"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7C0A103-718E-15FE-519E-4C442BE95CC8}"/>
              </a:ext>
            </a:extLst>
          </p:cNvPr>
          <p:cNvSpPr txBox="1"/>
          <p:nvPr/>
        </p:nvSpPr>
        <p:spPr>
          <a:xfrm>
            <a:off x="8393587" y="28063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a(3)</a:t>
            </a:r>
          </a:p>
        </p:txBody>
      </p:sp>
      <p:cxnSp>
        <p:nvCxnSpPr>
          <p:cNvPr id="52" name="!!Straight Arrow Connector 51">
            <a:extLst>
              <a:ext uri="{FF2B5EF4-FFF2-40B4-BE49-F238E27FC236}">
                <a16:creationId xmlns:a16="http://schemas.microsoft.com/office/drawing/2014/main" id="{21B25E70-F83A-6055-B5B7-546255FCB685}"/>
              </a:ext>
            </a:extLst>
          </p:cNvPr>
          <p:cNvCxnSpPr/>
          <p:nvPr/>
        </p:nvCxnSpPr>
        <p:spPr>
          <a:xfrm>
            <a:off x="8277533"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5E9410F-F76E-1D4D-6E8F-8F39F6951C0E}"/>
              </a:ext>
            </a:extLst>
          </p:cNvPr>
          <p:cNvSpPr txBox="1"/>
          <p:nvPr/>
        </p:nvSpPr>
        <p:spPr>
          <a:xfrm>
            <a:off x="8393587" y="321805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b(4)</a:t>
            </a:r>
          </a:p>
        </p:txBody>
      </p:sp>
      <p:cxnSp>
        <p:nvCxnSpPr>
          <p:cNvPr id="54" name="!!Straight Arrow Connector 53">
            <a:extLst>
              <a:ext uri="{FF2B5EF4-FFF2-40B4-BE49-F238E27FC236}">
                <a16:creationId xmlns:a16="http://schemas.microsoft.com/office/drawing/2014/main" id="{AEDD87DE-1130-D83C-78FA-947055C28983}"/>
              </a:ext>
            </a:extLst>
          </p:cNvPr>
          <p:cNvCxnSpPr/>
          <p:nvPr/>
        </p:nvCxnSpPr>
        <p:spPr>
          <a:xfrm>
            <a:off x="8277533"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D13B5CC8-73F8-BFCD-DA35-34782C4E2223}"/>
              </a:ext>
            </a:extLst>
          </p:cNvPr>
          <p:cNvSpPr txBox="1"/>
          <p:nvPr/>
        </p:nvSpPr>
        <p:spPr>
          <a:xfrm>
            <a:off x="8393587" y="366382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b(5)</a:t>
            </a:r>
          </a:p>
        </p:txBody>
      </p:sp>
      <p:cxnSp>
        <p:nvCxnSpPr>
          <p:cNvPr id="56" name="!!Straight Arrow Connector 55">
            <a:extLst>
              <a:ext uri="{FF2B5EF4-FFF2-40B4-BE49-F238E27FC236}">
                <a16:creationId xmlns:a16="http://schemas.microsoft.com/office/drawing/2014/main" id="{41473F49-7715-4FEE-9F0D-32BDBB93F974}"/>
              </a:ext>
            </a:extLst>
          </p:cNvPr>
          <p:cNvCxnSpPr/>
          <p:nvPr/>
        </p:nvCxnSpPr>
        <p:spPr>
          <a:xfrm>
            <a:off x="8277533"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E629BB6E-9F4B-8B82-79D0-55CB1AA5EEAA}"/>
              </a:ext>
            </a:extLst>
          </p:cNvPr>
          <p:cNvSpPr txBox="1"/>
          <p:nvPr/>
        </p:nvSpPr>
        <p:spPr>
          <a:xfrm>
            <a:off x="8387443" y="403565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b(6)</a:t>
            </a:r>
          </a:p>
        </p:txBody>
      </p:sp>
      <p:cxnSp>
        <p:nvCxnSpPr>
          <p:cNvPr id="58" name="!!Straight Arrow Connector 57">
            <a:extLst>
              <a:ext uri="{FF2B5EF4-FFF2-40B4-BE49-F238E27FC236}">
                <a16:creationId xmlns:a16="http://schemas.microsoft.com/office/drawing/2014/main" id="{AB2CF23E-7A97-940E-E05C-07865BF6309D}"/>
              </a:ext>
            </a:extLst>
          </p:cNvPr>
          <p:cNvCxnSpPr/>
          <p:nvPr/>
        </p:nvCxnSpPr>
        <p:spPr>
          <a:xfrm>
            <a:off x="8277533"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7A04FBE1-D253-E020-DC2F-60F3381669FD}"/>
              </a:ext>
            </a:extLst>
          </p:cNvPr>
          <p:cNvSpPr txBox="1"/>
          <p:nvPr/>
        </p:nvSpPr>
        <p:spPr>
          <a:xfrm>
            <a:off x="8387443" y="444770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b(7)</a:t>
            </a:r>
          </a:p>
        </p:txBody>
      </p:sp>
      <p:cxnSp>
        <p:nvCxnSpPr>
          <p:cNvPr id="60" name="!!Straight Arrow Connector 59">
            <a:extLst>
              <a:ext uri="{FF2B5EF4-FFF2-40B4-BE49-F238E27FC236}">
                <a16:creationId xmlns:a16="http://schemas.microsoft.com/office/drawing/2014/main" id="{225B6C6F-9480-B6BA-28CE-CFC236404A9D}"/>
              </a:ext>
            </a:extLst>
          </p:cNvPr>
          <p:cNvCxnSpPr/>
          <p:nvPr/>
        </p:nvCxnSpPr>
        <p:spPr>
          <a:xfrm>
            <a:off x="10170244"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5FBCD6F1-E5E7-BD39-9265-B441BE02D02A}"/>
              </a:ext>
            </a:extLst>
          </p:cNvPr>
          <p:cNvSpPr txBox="1"/>
          <p:nvPr/>
        </p:nvSpPr>
        <p:spPr>
          <a:xfrm>
            <a:off x="11148553" y="17261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E5B560DA-7752-1C38-AE82-E105FDB3941B}"/>
              </a:ext>
            </a:extLst>
          </p:cNvPr>
          <p:cNvCxnSpPr/>
          <p:nvPr/>
        </p:nvCxnSpPr>
        <p:spPr>
          <a:xfrm>
            <a:off x="10170244"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DA1BF505-D2C2-635C-3F72-14B53133211F}"/>
              </a:ext>
            </a:extLst>
          </p:cNvPr>
          <p:cNvSpPr txBox="1"/>
          <p:nvPr/>
        </p:nvSpPr>
        <p:spPr>
          <a:xfrm>
            <a:off x="11148553" y="20947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E13F40CF-C43A-7CA2-7A6C-7AB9BAAE2687}"/>
              </a:ext>
            </a:extLst>
          </p:cNvPr>
          <p:cNvCxnSpPr/>
          <p:nvPr/>
        </p:nvCxnSpPr>
        <p:spPr>
          <a:xfrm>
            <a:off x="10170244"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66159FED-908A-99EC-CAED-70AE84F301DC}"/>
              </a:ext>
            </a:extLst>
          </p:cNvPr>
          <p:cNvSpPr txBox="1"/>
          <p:nvPr/>
        </p:nvSpPr>
        <p:spPr>
          <a:xfrm>
            <a:off x="11148553" y="24782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F1D5361C-56EB-5A11-BEE8-9E643B7801ED}"/>
              </a:ext>
            </a:extLst>
          </p:cNvPr>
          <p:cNvCxnSpPr/>
          <p:nvPr/>
        </p:nvCxnSpPr>
        <p:spPr>
          <a:xfrm>
            <a:off x="10170244"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420BC61-97B6-1480-2F65-5B8D285104F1}"/>
              </a:ext>
            </a:extLst>
          </p:cNvPr>
          <p:cNvSpPr txBox="1"/>
          <p:nvPr/>
        </p:nvSpPr>
        <p:spPr>
          <a:xfrm>
            <a:off x="11148553" y="29284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617452A3-8E88-5A28-978A-7258ADA533ED}"/>
              </a:ext>
            </a:extLst>
          </p:cNvPr>
          <p:cNvCxnSpPr/>
          <p:nvPr/>
        </p:nvCxnSpPr>
        <p:spPr>
          <a:xfrm>
            <a:off x="10170244"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F9E54971-86DF-3A23-38A1-7724E81248E5}"/>
              </a:ext>
            </a:extLst>
          </p:cNvPr>
          <p:cNvSpPr txBox="1"/>
          <p:nvPr/>
        </p:nvSpPr>
        <p:spPr>
          <a:xfrm>
            <a:off x="11148553" y="3345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E09F57FB-9067-3AF5-9273-A2E57467C914}"/>
              </a:ext>
            </a:extLst>
          </p:cNvPr>
          <p:cNvCxnSpPr/>
          <p:nvPr/>
        </p:nvCxnSpPr>
        <p:spPr>
          <a:xfrm>
            <a:off x="10170244"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D3A6D15F-48D0-EEE0-A477-A0B11ACF9EC4}"/>
              </a:ext>
            </a:extLst>
          </p:cNvPr>
          <p:cNvSpPr txBox="1"/>
          <p:nvPr/>
        </p:nvSpPr>
        <p:spPr>
          <a:xfrm>
            <a:off x="11148553" y="37744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E3F13052-E872-E3E7-4B43-23C0E17EE721}"/>
              </a:ext>
            </a:extLst>
          </p:cNvPr>
          <p:cNvCxnSpPr/>
          <p:nvPr/>
        </p:nvCxnSpPr>
        <p:spPr>
          <a:xfrm>
            <a:off x="10170244"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E03827A-8D37-BC56-0345-0936A5A5F2C8}"/>
              </a:ext>
            </a:extLst>
          </p:cNvPr>
          <p:cNvSpPr txBox="1"/>
          <p:nvPr/>
        </p:nvSpPr>
        <p:spPr>
          <a:xfrm>
            <a:off x="11148553" y="41749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53805EB4-2E10-6F21-3EDE-DA535CBDB88A}"/>
              </a:ext>
            </a:extLst>
          </p:cNvPr>
          <p:cNvCxnSpPr/>
          <p:nvPr/>
        </p:nvCxnSpPr>
        <p:spPr>
          <a:xfrm>
            <a:off x="10170244"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2CA7D8B5-F77D-5DDF-0E7D-C00DFC568E27}"/>
              </a:ext>
            </a:extLst>
          </p:cNvPr>
          <p:cNvSpPr txBox="1"/>
          <p:nvPr/>
        </p:nvSpPr>
        <p:spPr>
          <a:xfrm>
            <a:off x="11148553" y="45654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8C028346-7481-E306-3CB0-2050042CFFBA}"/>
              </a:ext>
            </a:extLst>
          </p:cNvPr>
          <p:cNvSpPr/>
          <p:nvPr/>
        </p:nvSpPr>
        <p:spPr>
          <a:xfrm>
            <a:off x="9191934" y="3437600"/>
            <a:ext cx="978310" cy="148173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439F9E6F-6929-D9F2-D1C1-25A2A1EF922D}"/>
                  </a:ext>
                </a:extLst>
              </p:cNvPr>
              <p:cNvSpPr txBox="1"/>
              <p:nvPr/>
            </p:nvSpPr>
            <p:spPr>
              <a:xfrm>
                <a:off x="4241481" y="3054641"/>
                <a:ext cx="1498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m:t>
                      </m:r>
                    </m:oMath>
                  </m:oMathPara>
                </a14:m>
                <a:endParaRPr lang="en-US" sz="4000" b="1" dirty="0">
                  <a:solidFill>
                    <a:srgbClr val="000000"/>
                  </a:solidFill>
                </a:endParaRPr>
              </a:p>
            </p:txBody>
          </p:sp>
        </mc:Choice>
        <mc:Fallback xmlns="">
          <p:sp>
            <p:nvSpPr>
              <p:cNvPr id="77" name="!!TextBox 76">
                <a:extLst>
                  <a:ext uri="{FF2B5EF4-FFF2-40B4-BE49-F238E27FC236}">
                    <a16:creationId xmlns:a16="http://schemas.microsoft.com/office/drawing/2014/main" id="{439F9E6F-6929-D9F2-D1C1-25A2A1EF922D}"/>
                  </a:ext>
                </a:extLst>
              </p:cNvPr>
              <p:cNvSpPr txBox="1">
                <a:spLocks noRot="1" noChangeAspect="1" noMove="1" noResize="1" noEditPoints="1" noAdjustHandles="1" noChangeArrowheads="1" noChangeShapeType="1" noTextEdit="1"/>
              </p:cNvSpPr>
              <p:nvPr/>
            </p:nvSpPr>
            <p:spPr>
              <a:xfrm>
                <a:off x="4241481" y="3054641"/>
                <a:ext cx="1498192" cy="914400"/>
              </a:xfrm>
              <a:prstGeom prst="rect">
                <a:avLst/>
              </a:prstGeom>
              <a:blipFill>
                <a:blip r:embed="rId2"/>
                <a:stretch>
                  <a:fillRect/>
                </a:stretch>
              </a:blipFill>
            </p:spPr>
            <p:txBody>
              <a:bodyPr/>
              <a:lstStyle/>
              <a:p>
                <a:r>
                  <a:rPr lang="en-US">
                    <a:noFill/>
                  </a:rPr>
                  <a:t> </a:t>
                </a:r>
              </a:p>
            </p:txBody>
          </p:sp>
        </mc:Fallback>
      </mc:AlternateContent>
      <p:cxnSp>
        <p:nvCxnSpPr>
          <p:cNvPr id="106" name="!!Straight Arrow Connector 105">
            <a:extLst>
              <a:ext uri="{FF2B5EF4-FFF2-40B4-BE49-F238E27FC236}">
                <a16:creationId xmlns:a16="http://schemas.microsoft.com/office/drawing/2014/main" id="{F3646585-ED7A-42C3-E6E1-7DB77559F59D}"/>
              </a:ext>
            </a:extLst>
          </p:cNvPr>
          <p:cNvCxnSpPr/>
          <p:nvPr/>
        </p:nvCxnSpPr>
        <p:spPr>
          <a:xfrm>
            <a:off x="6239245"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334ADB86-5F8B-0EAD-AF33-F9B2D6B0C8D1}"/>
              </a:ext>
            </a:extLst>
          </p:cNvPr>
          <p:cNvSpPr txBox="1"/>
          <p:nvPr/>
        </p:nvSpPr>
        <p:spPr>
          <a:xfrm>
            <a:off x="5777129"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08" name="!!Straight Arrow Connector 107">
            <a:extLst>
              <a:ext uri="{FF2B5EF4-FFF2-40B4-BE49-F238E27FC236}">
                <a16:creationId xmlns:a16="http://schemas.microsoft.com/office/drawing/2014/main" id="{CF8A9B24-4336-CB8A-0D78-B9FBD26CB86E}"/>
              </a:ext>
            </a:extLst>
          </p:cNvPr>
          <p:cNvCxnSpPr/>
          <p:nvPr/>
        </p:nvCxnSpPr>
        <p:spPr>
          <a:xfrm>
            <a:off x="6239245"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E287BCB2-B1B2-0DC0-8C24-039AD6891D2A}"/>
              </a:ext>
            </a:extLst>
          </p:cNvPr>
          <p:cNvSpPr txBox="1"/>
          <p:nvPr/>
        </p:nvSpPr>
        <p:spPr>
          <a:xfrm>
            <a:off x="5777129"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0" name="!!Straight Arrow Connector 109">
            <a:extLst>
              <a:ext uri="{FF2B5EF4-FFF2-40B4-BE49-F238E27FC236}">
                <a16:creationId xmlns:a16="http://schemas.microsoft.com/office/drawing/2014/main" id="{71563438-A98C-1B4D-35F8-A869DB47633E}"/>
              </a:ext>
            </a:extLst>
          </p:cNvPr>
          <p:cNvCxnSpPr/>
          <p:nvPr/>
        </p:nvCxnSpPr>
        <p:spPr>
          <a:xfrm>
            <a:off x="6239245"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785C0F87-10DE-3E63-9A93-044BDD5FA538}"/>
              </a:ext>
            </a:extLst>
          </p:cNvPr>
          <p:cNvSpPr txBox="1"/>
          <p:nvPr/>
        </p:nvSpPr>
        <p:spPr>
          <a:xfrm>
            <a:off x="5777129"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2" name="!!Straight Arrow Connector 111">
            <a:extLst>
              <a:ext uri="{FF2B5EF4-FFF2-40B4-BE49-F238E27FC236}">
                <a16:creationId xmlns:a16="http://schemas.microsoft.com/office/drawing/2014/main" id="{F064298B-08CD-17AD-39E0-FF380FE49656}"/>
              </a:ext>
            </a:extLst>
          </p:cNvPr>
          <p:cNvCxnSpPr/>
          <p:nvPr/>
        </p:nvCxnSpPr>
        <p:spPr>
          <a:xfrm>
            <a:off x="6239245"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C6E60E57-659A-488C-00FB-AF60B293D3FD}"/>
              </a:ext>
            </a:extLst>
          </p:cNvPr>
          <p:cNvSpPr txBox="1"/>
          <p:nvPr/>
        </p:nvSpPr>
        <p:spPr>
          <a:xfrm>
            <a:off x="5777129"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14" name="!!Straight Arrow Connector 113">
            <a:extLst>
              <a:ext uri="{FF2B5EF4-FFF2-40B4-BE49-F238E27FC236}">
                <a16:creationId xmlns:a16="http://schemas.microsoft.com/office/drawing/2014/main" id="{B09D2A75-459F-3D6D-ED5D-E0718535ADA4}"/>
              </a:ext>
            </a:extLst>
          </p:cNvPr>
          <p:cNvCxnSpPr/>
          <p:nvPr/>
        </p:nvCxnSpPr>
        <p:spPr>
          <a:xfrm>
            <a:off x="6239245"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083603D4-0146-E302-20C1-59A0F08B5FFC}"/>
              </a:ext>
            </a:extLst>
          </p:cNvPr>
          <p:cNvSpPr txBox="1"/>
          <p:nvPr/>
        </p:nvSpPr>
        <p:spPr>
          <a:xfrm>
            <a:off x="5777129"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16" name="!!Straight Arrow Connector 115">
            <a:extLst>
              <a:ext uri="{FF2B5EF4-FFF2-40B4-BE49-F238E27FC236}">
                <a16:creationId xmlns:a16="http://schemas.microsoft.com/office/drawing/2014/main" id="{0C139843-8C9C-46CC-93E8-93CB74CFD31D}"/>
              </a:ext>
            </a:extLst>
          </p:cNvPr>
          <p:cNvCxnSpPr/>
          <p:nvPr/>
        </p:nvCxnSpPr>
        <p:spPr>
          <a:xfrm>
            <a:off x="6239245"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38BC12EC-C6C7-5E55-7288-B40ABC90D55B}"/>
              </a:ext>
            </a:extLst>
          </p:cNvPr>
          <p:cNvSpPr txBox="1"/>
          <p:nvPr/>
        </p:nvSpPr>
        <p:spPr>
          <a:xfrm>
            <a:off x="5777129"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18" name="!!Straight Arrow Connector 117">
            <a:extLst>
              <a:ext uri="{FF2B5EF4-FFF2-40B4-BE49-F238E27FC236}">
                <a16:creationId xmlns:a16="http://schemas.microsoft.com/office/drawing/2014/main" id="{CAB3978E-6404-154D-B1C2-E9FC2195DC16}"/>
              </a:ext>
            </a:extLst>
          </p:cNvPr>
          <p:cNvCxnSpPr/>
          <p:nvPr/>
        </p:nvCxnSpPr>
        <p:spPr>
          <a:xfrm>
            <a:off x="6239245"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5890DC37-7DE3-24E8-D7CB-BC774B63EE5E}"/>
              </a:ext>
            </a:extLst>
          </p:cNvPr>
          <p:cNvSpPr txBox="1"/>
          <p:nvPr/>
        </p:nvSpPr>
        <p:spPr>
          <a:xfrm>
            <a:off x="5777129"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0" name="!!Straight Arrow Connector 119">
            <a:extLst>
              <a:ext uri="{FF2B5EF4-FFF2-40B4-BE49-F238E27FC236}">
                <a16:creationId xmlns:a16="http://schemas.microsoft.com/office/drawing/2014/main" id="{D91BC23F-CEDA-FBAE-B0BA-5A61E86212C4}"/>
              </a:ext>
            </a:extLst>
          </p:cNvPr>
          <p:cNvCxnSpPr/>
          <p:nvPr/>
        </p:nvCxnSpPr>
        <p:spPr>
          <a:xfrm>
            <a:off x="6239245"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184B4C35-867E-780B-A44D-AF5703D98DB0}"/>
              </a:ext>
            </a:extLst>
          </p:cNvPr>
          <p:cNvSpPr txBox="1"/>
          <p:nvPr/>
        </p:nvSpPr>
        <p:spPr>
          <a:xfrm>
            <a:off x="5777129"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sp>
        <p:nvSpPr>
          <p:cNvPr id="123" name="!!Rectangle 122">
            <a:extLst>
              <a:ext uri="{FF2B5EF4-FFF2-40B4-BE49-F238E27FC236}">
                <a16:creationId xmlns:a16="http://schemas.microsoft.com/office/drawing/2014/main" id="{1AA039D6-6CBA-2872-42F4-DFB10BED82BD}"/>
              </a:ext>
            </a:extLst>
          </p:cNvPr>
          <p:cNvSpPr/>
          <p:nvPr/>
        </p:nvSpPr>
        <p:spPr>
          <a:xfrm>
            <a:off x="7153646" y="1690292"/>
            <a:ext cx="1119343"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sp>
        <p:nvSpPr>
          <p:cNvPr id="124" name="!!Rectangle 123">
            <a:extLst>
              <a:ext uri="{FF2B5EF4-FFF2-40B4-BE49-F238E27FC236}">
                <a16:creationId xmlns:a16="http://schemas.microsoft.com/office/drawing/2014/main" id="{0309E82F-E608-64C0-A5FD-AE532555F10E}"/>
              </a:ext>
            </a:extLst>
          </p:cNvPr>
          <p:cNvSpPr/>
          <p:nvPr/>
        </p:nvSpPr>
        <p:spPr>
          <a:xfrm>
            <a:off x="206477" y="1558111"/>
            <a:ext cx="4330711"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5" name="!!Rectangle 124">
            <a:extLst>
              <a:ext uri="{FF2B5EF4-FFF2-40B4-BE49-F238E27FC236}">
                <a16:creationId xmlns:a16="http://schemas.microsoft.com/office/drawing/2014/main" id="{4263CFE4-3438-3313-EE0F-1981FA233EDE}"/>
              </a:ext>
            </a:extLst>
          </p:cNvPr>
          <p:cNvSpPr/>
          <p:nvPr/>
        </p:nvSpPr>
        <p:spPr>
          <a:xfrm>
            <a:off x="5564953" y="1529705"/>
            <a:ext cx="6284146"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1B53DC82-9D0A-3389-B9E4-C4F9BE497A1C}"/>
              </a:ext>
            </a:extLst>
          </p:cNvPr>
          <p:cNvSpPr txBox="1"/>
          <p:nvPr/>
        </p:nvSpPr>
        <p:spPr>
          <a:xfrm>
            <a:off x="138529" y="5573289"/>
            <a:ext cx="8495071" cy="369332"/>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Why do we call it “Splitter” ? </a:t>
            </a:r>
            <a:endParaRPr lang="en-US" dirty="0"/>
          </a:p>
        </p:txBody>
      </p:sp>
      <p:sp>
        <p:nvSpPr>
          <p:cNvPr id="2" name="TextBox 1">
            <a:extLst>
              <a:ext uri="{FF2B5EF4-FFF2-40B4-BE49-F238E27FC236}">
                <a16:creationId xmlns:a16="http://schemas.microsoft.com/office/drawing/2014/main" id="{A198B439-AF19-D3F5-F92E-7C1455A62665}"/>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A559633F-52C8-5FEA-1464-6DB45188E099}"/>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59750C07-7220-A025-2843-B3FE6CD85B11}"/>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2" name="TextBox 21">
            <a:extLst>
              <a:ext uri="{FF2B5EF4-FFF2-40B4-BE49-F238E27FC236}">
                <a16:creationId xmlns:a16="http://schemas.microsoft.com/office/drawing/2014/main" id="{161CAC36-B0B0-5F98-7553-D8CB128182C8}"/>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78" name="TextBox 77">
            <a:extLst>
              <a:ext uri="{FF2B5EF4-FFF2-40B4-BE49-F238E27FC236}">
                <a16:creationId xmlns:a16="http://schemas.microsoft.com/office/drawing/2014/main" id="{18FC56B6-357D-2648-98E4-BCA470244B5E}"/>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26513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fade">
                                      <p:cBhvr>
                                        <p:cTn id="61" dur="500"/>
                                        <p:tgtEl>
                                          <p:spTgt spid="61"/>
                                        </p:tgtEl>
                                      </p:cBhvr>
                                    </p:animEffect>
                                  </p:childTnLst>
                                </p:cTn>
                              </p:par>
                              <p:par>
                                <p:cTn id="62" presetID="10" presetClass="entr" presetSubtype="0" fill="hold" nodeType="with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500"/>
                                        <p:tgtEl>
                                          <p:spTgt spid="6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ntr" presetSubtype="0" fill="hold"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fade">
                                      <p:cBhvr>
                                        <p:cTn id="73" dur="500"/>
                                        <p:tgtEl>
                                          <p:spTgt spid="65"/>
                                        </p:tgtEl>
                                      </p:cBhvr>
                                    </p:animEffect>
                                  </p:childTnLst>
                                </p:cTn>
                              </p:par>
                              <p:par>
                                <p:cTn id="74" presetID="10" presetClass="entr" presetSubtype="0" fill="hold"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500"/>
                                        <p:tgtEl>
                                          <p:spTgt spid="6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500"/>
                                        <p:tgtEl>
                                          <p:spTgt spid="67"/>
                                        </p:tgtEl>
                                      </p:cBhvr>
                                    </p:animEffect>
                                  </p:childTnLst>
                                </p:cTn>
                              </p:par>
                              <p:par>
                                <p:cTn id="80" presetID="10" presetClass="entr" presetSubtype="0"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500"/>
                                        <p:tgtEl>
                                          <p:spTgt spid="6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animEffect transition="in" filter="fade">
                                      <p:cBhvr>
                                        <p:cTn id="85" dur="500"/>
                                        <p:tgtEl>
                                          <p:spTgt spid="69"/>
                                        </p:tgtEl>
                                      </p:cBhvr>
                                    </p:animEffect>
                                  </p:childTnLst>
                                </p:cTn>
                              </p:par>
                              <p:par>
                                <p:cTn id="86" presetID="10" presetClass="entr" presetSubtype="0" fill="hold" nodeType="with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fade">
                                      <p:cBhvr>
                                        <p:cTn id="88" dur="500"/>
                                        <p:tgtEl>
                                          <p:spTgt spid="7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fade">
                                      <p:cBhvr>
                                        <p:cTn id="91" dur="500"/>
                                        <p:tgtEl>
                                          <p:spTgt spid="71"/>
                                        </p:tgtEl>
                                      </p:cBhvr>
                                    </p:animEffect>
                                  </p:childTnLst>
                                </p:cTn>
                              </p:par>
                              <p:par>
                                <p:cTn id="92" presetID="10" presetClass="entr" presetSubtype="0" fill="hold" nodeType="withEffect">
                                  <p:stCondLst>
                                    <p:cond delay="0"/>
                                  </p:stCondLst>
                                  <p:childTnLst>
                                    <p:set>
                                      <p:cBhvr>
                                        <p:cTn id="93" dur="1" fill="hold">
                                          <p:stCondLst>
                                            <p:cond delay="0"/>
                                          </p:stCondLst>
                                        </p:cTn>
                                        <p:tgtEl>
                                          <p:spTgt spid="72"/>
                                        </p:tgtEl>
                                        <p:attrNameLst>
                                          <p:attrName>style.visibility</p:attrName>
                                        </p:attrNameLst>
                                      </p:cBhvr>
                                      <p:to>
                                        <p:strVal val="visible"/>
                                      </p:to>
                                    </p:set>
                                    <p:animEffect transition="in" filter="fade">
                                      <p:cBhvr>
                                        <p:cTn id="94" dur="500"/>
                                        <p:tgtEl>
                                          <p:spTgt spid="7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3"/>
                                        </p:tgtEl>
                                        <p:attrNameLst>
                                          <p:attrName>style.visibility</p:attrName>
                                        </p:attrNameLst>
                                      </p:cBhvr>
                                      <p:to>
                                        <p:strVal val="visible"/>
                                      </p:to>
                                    </p:set>
                                    <p:animEffect transition="in" filter="fade">
                                      <p:cBhvr>
                                        <p:cTn id="97" dur="500"/>
                                        <p:tgtEl>
                                          <p:spTgt spid="73"/>
                                        </p:tgtEl>
                                      </p:cBhvr>
                                    </p:animEffect>
                                  </p:childTnLst>
                                </p:cTn>
                              </p:par>
                              <p:par>
                                <p:cTn id="98" presetID="10" presetClass="entr" presetSubtype="0" fill="hold" nodeType="with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fade">
                                      <p:cBhvr>
                                        <p:cTn id="100" dur="500"/>
                                        <p:tgtEl>
                                          <p:spTgt spid="7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animEffect transition="in" filter="fade">
                                      <p:cBhvr>
                                        <p:cTn id="103" dur="500"/>
                                        <p:tgtEl>
                                          <p:spTgt spid="7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6"/>
                                        </p:tgtEl>
                                        <p:attrNameLst>
                                          <p:attrName>style.visibility</p:attrName>
                                        </p:attrNameLst>
                                      </p:cBhvr>
                                      <p:to>
                                        <p:strVal val="visible"/>
                                      </p:to>
                                    </p:set>
                                    <p:animEffect transition="in" filter="fade">
                                      <p:cBhvr>
                                        <p:cTn id="106" dur="500"/>
                                        <p:tgtEl>
                                          <p:spTgt spid="76"/>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06"/>
                                        </p:tgtEl>
                                        <p:attrNameLst>
                                          <p:attrName>style.visibility</p:attrName>
                                        </p:attrNameLst>
                                      </p:cBhvr>
                                      <p:to>
                                        <p:strVal val="visible"/>
                                      </p:to>
                                    </p:set>
                                    <p:animEffect transition="in" filter="fade">
                                      <p:cBhvr>
                                        <p:cTn id="111" dur="500"/>
                                        <p:tgtEl>
                                          <p:spTgt spid="106"/>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107"/>
                                        </p:tgtEl>
                                        <p:attrNameLst>
                                          <p:attrName>style.visibility</p:attrName>
                                        </p:attrNameLst>
                                      </p:cBhvr>
                                      <p:to>
                                        <p:strVal val="visible"/>
                                      </p:to>
                                    </p:set>
                                    <p:animEffect transition="in" filter="fade">
                                      <p:cBhvr>
                                        <p:cTn id="114" dur="500"/>
                                        <p:tgtEl>
                                          <p:spTgt spid="107"/>
                                        </p:tgtEl>
                                      </p:cBhvr>
                                    </p:animEffect>
                                  </p:childTnLst>
                                </p:cTn>
                              </p:par>
                              <p:par>
                                <p:cTn id="115" presetID="10" presetClass="entr" presetSubtype="0" fill="hold" nodeType="withEffect">
                                  <p:stCondLst>
                                    <p:cond delay="0"/>
                                  </p:stCondLst>
                                  <p:childTnLst>
                                    <p:set>
                                      <p:cBhvr>
                                        <p:cTn id="116" dur="1" fill="hold">
                                          <p:stCondLst>
                                            <p:cond delay="0"/>
                                          </p:stCondLst>
                                        </p:cTn>
                                        <p:tgtEl>
                                          <p:spTgt spid="108"/>
                                        </p:tgtEl>
                                        <p:attrNameLst>
                                          <p:attrName>style.visibility</p:attrName>
                                        </p:attrNameLst>
                                      </p:cBhvr>
                                      <p:to>
                                        <p:strVal val="visible"/>
                                      </p:to>
                                    </p:set>
                                    <p:animEffect transition="in" filter="fade">
                                      <p:cBhvr>
                                        <p:cTn id="117" dur="500"/>
                                        <p:tgtEl>
                                          <p:spTgt spid="108"/>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09"/>
                                        </p:tgtEl>
                                        <p:attrNameLst>
                                          <p:attrName>style.visibility</p:attrName>
                                        </p:attrNameLst>
                                      </p:cBhvr>
                                      <p:to>
                                        <p:strVal val="visible"/>
                                      </p:to>
                                    </p:set>
                                    <p:animEffect transition="in" filter="fade">
                                      <p:cBhvr>
                                        <p:cTn id="120" dur="500"/>
                                        <p:tgtEl>
                                          <p:spTgt spid="109"/>
                                        </p:tgtEl>
                                      </p:cBhvr>
                                    </p:animEffect>
                                  </p:childTnLst>
                                </p:cTn>
                              </p:par>
                              <p:par>
                                <p:cTn id="121" presetID="10" presetClass="entr" presetSubtype="0" fill="hold" nodeType="withEffect">
                                  <p:stCondLst>
                                    <p:cond delay="0"/>
                                  </p:stCondLst>
                                  <p:childTnLst>
                                    <p:set>
                                      <p:cBhvr>
                                        <p:cTn id="122" dur="1" fill="hold">
                                          <p:stCondLst>
                                            <p:cond delay="0"/>
                                          </p:stCondLst>
                                        </p:cTn>
                                        <p:tgtEl>
                                          <p:spTgt spid="110"/>
                                        </p:tgtEl>
                                        <p:attrNameLst>
                                          <p:attrName>style.visibility</p:attrName>
                                        </p:attrNameLst>
                                      </p:cBhvr>
                                      <p:to>
                                        <p:strVal val="visible"/>
                                      </p:to>
                                    </p:set>
                                    <p:animEffect transition="in" filter="fade">
                                      <p:cBhvr>
                                        <p:cTn id="123" dur="500"/>
                                        <p:tgtEl>
                                          <p:spTgt spid="110"/>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111"/>
                                        </p:tgtEl>
                                        <p:attrNameLst>
                                          <p:attrName>style.visibility</p:attrName>
                                        </p:attrNameLst>
                                      </p:cBhvr>
                                      <p:to>
                                        <p:strVal val="visible"/>
                                      </p:to>
                                    </p:set>
                                    <p:animEffect transition="in" filter="fade">
                                      <p:cBhvr>
                                        <p:cTn id="126" dur="500"/>
                                        <p:tgtEl>
                                          <p:spTgt spid="111"/>
                                        </p:tgtEl>
                                      </p:cBhvr>
                                    </p:animEffect>
                                  </p:childTnLst>
                                </p:cTn>
                              </p:par>
                              <p:par>
                                <p:cTn id="127" presetID="10" presetClass="entr" presetSubtype="0" fill="hold" nodeType="withEffect">
                                  <p:stCondLst>
                                    <p:cond delay="0"/>
                                  </p:stCondLst>
                                  <p:childTnLst>
                                    <p:set>
                                      <p:cBhvr>
                                        <p:cTn id="128" dur="1" fill="hold">
                                          <p:stCondLst>
                                            <p:cond delay="0"/>
                                          </p:stCondLst>
                                        </p:cTn>
                                        <p:tgtEl>
                                          <p:spTgt spid="112"/>
                                        </p:tgtEl>
                                        <p:attrNameLst>
                                          <p:attrName>style.visibility</p:attrName>
                                        </p:attrNameLst>
                                      </p:cBhvr>
                                      <p:to>
                                        <p:strVal val="visible"/>
                                      </p:to>
                                    </p:set>
                                    <p:animEffect transition="in" filter="fade">
                                      <p:cBhvr>
                                        <p:cTn id="129" dur="500"/>
                                        <p:tgtEl>
                                          <p:spTgt spid="112"/>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113"/>
                                        </p:tgtEl>
                                        <p:attrNameLst>
                                          <p:attrName>style.visibility</p:attrName>
                                        </p:attrNameLst>
                                      </p:cBhvr>
                                      <p:to>
                                        <p:strVal val="visible"/>
                                      </p:to>
                                    </p:set>
                                    <p:animEffect transition="in" filter="fade">
                                      <p:cBhvr>
                                        <p:cTn id="132" dur="500"/>
                                        <p:tgtEl>
                                          <p:spTgt spid="113"/>
                                        </p:tgtEl>
                                      </p:cBhvr>
                                    </p:animEffect>
                                  </p:childTnLst>
                                </p:cTn>
                              </p:par>
                              <p:par>
                                <p:cTn id="133" presetID="10" presetClass="entr" presetSubtype="0" fill="hold" nodeType="withEffect">
                                  <p:stCondLst>
                                    <p:cond delay="0"/>
                                  </p:stCondLst>
                                  <p:childTnLst>
                                    <p:set>
                                      <p:cBhvr>
                                        <p:cTn id="134" dur="1" fill="hold">
                                          <p:stCondLst>
                                            <p:cond delay="0"/>
                                          </p:stCondLst>
                                        </p:cTn>
                                        <p:tgtEl>
                                          <p:spTgt spid="114"/>
                                        </p:tgtEl>
                                        <p:attrNameLst>
                                          <p:attrName>style.visibility</p:attrName>
                                        </p:attrNameLst>
                                      </p:cBhvr>
                                      <p:to>
                                        <p:strVal val="visible"/>
                                      </p:to>
                                    </p:set>
                                    <p:animEffect transition="in" filter="fade">
                                      <p:cBhvr>
                                        <p:cTn id="135" dur="500"/>
                                        <p:tgtEl>
                                          <p:spTgt spid="114"/>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115"/>
                                        </p:tgtEl>
                                        <p:attrNameLst>
                                          <p:attrName>style.visibility</p:attrName>
                                        </p:attrNameLst>
                                      </p:cBhvr>
                                      <p:to>
                                        <p:strVal val="visible"/>
                                      </p:to>
                                    </p:set>
                                    <p:animEffect transition="in" filter="fade">
                                      <p:cBhvr>
                                        <p:cTn id="138" dur="500"/>
                                        <p:tgtEl>
                                          <p:spTgt spid="115"/>
                                        </p:tgtEl>
                                      </p:cBhvr>
                                    </p:animEffect>
                                  </p:childTnLst>
                                </p:cTn>
                              </p:par>
                              <p:par>
                                <p:cTn id="139" presetID="10" presetClass="entr" presetSubtype="0" fill="hold" nodeType="withEffect">
                                  <p:stCondLst>
                                    <p:cond delay="0"/>
                                  </p:stCondLst>
                                  <p:childTnLst>
                                    <p:set>
                                      <p:cBhvr>
                                        <p:cTn id="140" dur="1" fill="hold">
                                          <p:stCondLst>
                                            <p:cond delay="0"/>
                                          </p:stCondLst>
                                        </p:cTn>
                                        <p:tgtEl>
                                          <p:spTgt spid="116"/>
                                        </p:tgtEl>
                                        <p:attrNameLst>
                                          <p:attrName>style.visibility</p:attrName>
                                        </p:attrNameLst>
                                      </p:cBhvr>
                                      <p:to>
                                        <p:strVal val="visible"/>
                                      </p:to>
                                    </p:set>
                                    <p:animEffect transition="in" filter="fade">
                                      <p:cBhvr>
                                        <p:cTn id="141" dur="500"/>
                                        <p:tgtEl>
                                          <p:spTgt spid="116"/>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117"/>
                                        </p:tgtEl>
                                        <p:attrNameLst>
                                          <p:attrName>style.visibility</p:attrName>
                                        </p:attrNameLst>
                                      </p:cBhvr>
                                      <p:to>
                                        <p:strVal val="visible"/>
                                      </p:to>
                                    </p:set>
                                    <p:animEffect transition="in" filter="fade">
                                      <p:cBhvr>
                                        <p:cTn id="144" dur="500"/>
                                        <p:tgtEl>
                                          <p:spTgt spid="117"/>
                                        </p:tgtEl>
                                      </p:cBhvr>
                                    </p:animEffect>
                                  </p:childTnLst>
                                </p:cTn>
                              </p:par>
                              <p:par>
                                <p:cTn id="145" presetID="10" presetClass="entr" presetSubtype="0" fill="hold" nodeType="withEffect">
                                  <p:stCondLst>
                                    <p:cond delay="0"/>
                                  </p:stCondLst>
                                  <p:childTnLst>
                                    <p:set>
                                      <p:cBhvr>
                                        <p:cTn id="146" dur="1" fill="hold">
                                          <p:stCondLst>
                                            <p:cond delay="0"/>
                                          </p:stCondLst>
                                        </p:cTn>
                                        <p:tgtEl>
                                          <p:spTgt spid="118"/>
                                        </p:tgtEl>
                                        <p:attrNameLst>
                                          <p:attrName>style.visibility</p:attrName>
                                        </p:attrNameLst>
                                      </p:cBhvr>
                                      <p:to>
                                        <p:strVal val="visible"/>
                                      </p:to>
                                    </p:set>
                                    <p:animEffect transition="in" filter="fade">
                                      <p:cBhvr>
                                        <p:cTn id="147" dur="500"/>
                                        <p:tgtEl>
                                          <p:spTgt spid="118"/>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119"/>
                                        </p:tgtEl>
                                        <p:attrNameLst>
                                          <p:attrName>style.visibility</p:attrName>
                                        </p:attrNameLst>
                                      </p:cBhvr>
                                      <p:to>
                                        <p:strVal val="visible"/>
                                      </p:to>
                                    </p:set>
                                    <p:animEffect transition="in" filter="fade">
                                      <p:cBhvr>
                                        <p:cTn id="150" dur="500"/>
                                        <p:tgtEl>
                                          <p:spTgt spid="119"/>
                                        </p:tgtEl>
                                      </p:cBhvr>
                                    </p:animEffect>
                                  </p:childTnLst>
                                </p:cTn>
                              </p:par>
                              <p:par>
                                <p:cTn id="151" presetID="10" presetClass="entr" presetSubtype="0" fill="hold" nodeType="withEffect">
                                  <p:stCondLst>
                                    <p:cond delay="0"/>
                                  </p:stCondLst>
                                  <p:childTnLst>
                                    <p:set>
                                      <p:cBhvr>
                                        <p:cTn id="152" dur="1" fill="hold">
                                          <p:stCondLst>
                                            <p:cond delay="0"/>
                                          </p:stCondLst>
                                        </p:cTn>
                                        <p:tgtEl>
                                          <p:spTgt spid="120"/>
                                        </p:tgtEl>
                                        <p:attrNameLst>
                                          <p:attrName>style.visibility</p:attrName>
                                        </p:attrNameLst>
                                      </p:cBhvr>
                                      <p:to>
                                        <p:strVal val="visible"/>
                                      </p:to>
                                    </p:set>
                                    <p:animEffect transition="in" filter="fade">
                                      <p:cBhvr>
                                        <p:cTn id="153" dur="500"/>
                                        <p:tgtEl>
                                          <p:spTgt spid="120"/>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121"/>
                                        </p:tgtEl>
                                        <p:attrNameLst>
                                          <p:attrName>style.visibility</p:attrName>
                                        </p:attrNameLst>
                                      </p:cBhvr>
                                      <p:to>
                                        <p:strVal val="visible"/>
                                      </p:to>
                                    </p:set>
                                    <p:animEffect transition="in" filter="fade">
                                      <p:cBhvr>
                                        <p:cTn id="156" dur="500"/>
                                        <p:tgtEl>
                                          <p:spTgt spid="121"/>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123"/>
                                        </p:tgtEl>
                                        <p:attrNameLst>
                                          <p:attrName>style.visibility</p:attrName>
                                        </p:attrNameLst>
                                      </p:cBhvr>
                                      <p:to>
                                        <p:strVal val="visible"/>
                                      </p:to>
                                    </p:set>
                                    <p:animEffect transition="in" filter="fade">
                                      <p:cBhvr>
                                        <p:cTn id="159" dur="500"/>
                                        <p:tgtEl>
                                          <p:spTgt spid="123"/>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125"/>
                                        </p:tgtEl>
                                        <p:attrNameLst>
                                          <p:attrName>style.visibility</p:attrName>
                                        </p:attrNameLst>
                                      </p:cBhvr>
                                      <p:to>
                                        <p:strVal val="visible"/>
                                      </p:to>
                                    </p:set>
                                    <p:animEffect transition="in" filter="fade">
                                      <p:cBhvr>
                                        <p:cTn id="162" dur="500"/>
                                        <p:tgtEl>
                                          <p:spTgt spid="125"/>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126"/>
                                        </p:tgtEl>
                                        <p:attrNameLst>
                                          <p:attrName>style.visibility</p:attrName>
                                        </p:attrNameLst>
                                      </p:cBhvr>
                                      <p:to>
                                        <p:strVal val="visible"/>
                                      </p:to>
                                    </p:set>
                                    <p:animEffect transition="in" filter="fade">
                                      <p:cBhvr>
                                        <p:cTn id="167"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7" grpId="0"/>
      <p:bldP spid="49" grpId="0"/>
      <p:bldP spid="51" grpId="0"/>
      <p:bldP spid="53" grpId="0"/>
      <p:bldP spid="55" grpId="0"/>
      <p:bldP spid="57" grpId="0"/>
      <p:bldP spid="59" grpId="0"/>
      <p:bldP spid="61" grpId="0"/>
      <p:bldP spid="63" grpId="0"/>
      <p:bldP spid="65" grpId="0"/>
      <p:bldP spid="67" grpId="0"/>
      <p:bldP spid="69" grpId="0"/>
      <p:bldP spid="71" grpId="0"/>
      <p:bldP spid="73" grpId="0"/>
      <p:bldP spid="75" grpId="0"/>
      <p:bldP spid="76" grpId="0" animBg="1"/>
      <p:bldP spid="107" grpId="0"/>
      <p:bldP spid="109" grpId="0"/>
      <p:bldP spid="111" grpId="0"/>
      <p:bldP spid="113" grpId="0"/>
      <p:bldP spid="115" grpId="0"/>
      <p:bldP spid="117" grpId="0"/>
      <p:bldP spid="119" grpId="0"/>
      <p:bldP spid="121" grpId="0"/>
      <p:bldP spid="123" grpId="0" animBg="1"/>
      <p:bldP spid="125" grpId="0" animBg="1"/>
      <p:bldP spid="1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CA072-17AB-8B79-E0DD-90F585BF78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5959EE-8348-6251-979A-C69433CC2E02}"/>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C0D475F5-FE5A-EEC6-D7A0-429998A1F85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5BAD5B4-B723-8DD4-E511-CD10C1AAB968}"/>
              </a:ext>
            </a:extLst>
          </p:cNvPr>
          <p:cNvSpPr>
            <a:spLocks noGrp="1"/>
          </p:cNvSpPr>
          <p:nvPr>
            <p:ph type="sldNum" sz="quarter" idx="4"/>
          </p:nvPr>
        </p:nvSpPr>
        <p:spPr/>
        <p:txBody>
          <a:bodyPr/>
          <a:lstStyle/>
          <a:p>
            <a:pPr>
              <a:defRPr/>
            </a:pPr>
            <a:fld id="{A9CE67A1-BA7F-A74E-B5D7-615746DEEC2B}" type="slidenum">
              <a:rPr lang="en-US" smtClean="0"/>
              <a:pPr>
                <a:defRPr/>
              </a:pPr>
              <a:t>15</a:t>
            </a:fld>
            <a:endParaRPr lang="en-US" baseline="-11000" dirty="0"/>
          </a:p>
        </p:txBody>
      </p:sp>
      <p:sp>
        <p:nvSpPr>
          <p:cNvPr id="6" name="!!Date Placeholder 5">
            <a:extLst>
              <a:ext uri="{FF2B5EF4-FFF2-40B4-BE49-F238E27FC236}">
                <a16:creationId xmlns:a16="http://schemas.microsoft.com/office/drawing/2014/main" id="{B6CF2DE8-9782-F70F-4DE4-4A88EC9B341F}"/>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43" name="!!Rectangle 42">
            <a:extLst>
              <a:ext uri="{FF2B5EF4-FFF2-40B4-BE49-F238E27FC236}">
                <a16:creationId xmlns:a16="http://schemas.microsoft.com/office/drawing/2014/main" id="{4C84DB65-C74C-0D2F-67B6-8710954AD6D3}"/>
              </a:ext>
            </a:extLst>
          </p:cNvPr>
          <p:cNvSpPr/>
          <p:nvPr/>
        </p:nvSpPr>
        <p:spPr>
          <a:xfrm>
            <a:off x="6389740" y="1803059"/>
            <a:ext cx="978310" cy="1520310"/>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74657048-7D5A-2EF2-4695-8E6E03329CC6}"/>
              </a:ext>
            </a:extLst>
          </p:cNvPr>
          <p:cNvCxnSpPr/>
          <p:nvPr/>
        </p:nvCxnSpPr>
        <p:spPr>
          <a:xfrm>
            <a:off x="5475339" y="199478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C5183E0D-5135-5A94-CC29-24D03F2910D6}"/>
              </a:ext>
            </a:extLst>
          </p:cNvPr>
          <p:cNvSpPr txBox="1"/>
          <p:nvPr/>
        </p:nvSpPr>
        <p:spPr>
          <a:xfrm>
            <a:off x="5591393" y="164273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a(0)</a:t>
            </a:r>
          </a:p>
        </p:txBody>
      </p:sp>
      <p:cxnSp>
        <p:nvCxnSpPr>
          <p:cNvPr id="46" name="!!Straight Arrow Connector 45">
            <a:extLst>
              <a:ext uri="{FF2B5EF4-FFF2-40B4-BE49-F238E27FC236}">
                <a16:creationId xmlns:a16="http://schemas.microsoft.com/office/drawing/2014/main" id="{4088D3C7-44DE-7A85-7ED1-30FFC1299FB1}"/>
              </a:ext>
            </a:extLst>
          </p:cNvPr>
          <p:cNvCxnSpPr/>
          <p:nvPr/>
        </p:nvCxnSpPr>
        <p:spPr>
          <a:xfrm>
            <a:off x="5475339" y="237824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44771751-85B6-B794-EBC6-69335D72B48F}"/>
              </a:ext>
            </a:extLst>
          </p:cNvPr>
          <p:cNvSpPr txBox="1"/>
          <p:nvPr/>
        </p:nvSpPr>
        <p:spPr>
          <a:xfrm>
            <a:off x="5600348" y="205728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a(1)</a:t>
            </a:r>
          </a:p>
        </p:txBody>
      </p:sp>
      <p:cxnSp>
        <p:nvCxnSpPr>
          <p:cNvPr id="48" name="!!Straight Arrow Connector 47">
            <a:extLst>
              <a:ext uri="{FF2B5EF4-FFF2-40B4-BE49-F238E27FC236}">
                <a16:creationId xmlns:a16="http://schemas.microsoft.com/office/drawing/2014/main" id="{3778C98F-7CAF-D8F0-D9AD-77744FC2084F}"/>
              </a:ext>
            </a:extLst>
          </p:cNvPr>
          <p:cNvCxnSpPr/>
          <p:nvPr/>
        </p:nvCxnSpPr>
        <p:spPr>
          <a:xfrm>
            <a:off x="5475339" y="276170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9B439D98-06F4-6AE0-F961-C47A9AE52F64}"/>
              </a:ext>
            </a:extLst>
          </p:cNvPr>
          <p:cNvSpPr txBox="1"/>
          <p:nvPr/>
        </p:nvSpPr>
        <p:spPr>
          <a:xfrm>
            <a:off x="5600348" y="24704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a(2)</a:t>
            </a:r>
          </a:p>
        </p:txBody>
      </p:sp>
      <p:cxnSp>
        <p:nvCxnSpPr>
          <p:cNvPr id="50" name="!!Straight Arrow Connector 49">
            <a:extLst>
              <a:ext uri="{FF2B5EF4-FFF2-40B4-BE49-F238E27FC236}">
                <a16:creationId xmlns:a16="http://schemas.microsoft.com/office/drawing/2014/main" id="{BFE2B1F5-3353-1131-C0EC-9078641418B9}"/>
              </a:ext>
            </a:extLst>
          </p:cNvPr>
          <p:cNvCxnSpPr/>
          <p:nvPr/>
        </p:nvCxnSpPr>
        <p:spPr>
          <a:xfrm>
            <a:off x="5475339" y="32118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C4115149-9559-86D4-8F93-BCEE217DFDD6}"/>
              </a:ext>
            </a:extLst>
          </p:cNvPr>
          <p:cNvSpPr txBox="1"/>
          <p:nvPr/>
        </p:nvSpPr>
        <p:spPr>
          <a:xfrm>
            <a:off x="5617048" y="293867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a(3)</a:t>
            </a:r>
          </a:p>
        </p:txBody>
      </p:sp>
      <p:cxnSp>
        <p:nvCxnSpPr>
          <p:cNvPr id="52" name="!!Straight Arrow Connector 51">
            <a:extLst>
              <a:ext uri="{FF2B5EF4-FFF2-40B4-BE49-F238E27FC236}">
                <a16:creationId xmlns:a16="http://schemas.microsoft.com/office/drawing/2014/main" id="{8CA77692-C7F3-5BD3-1190-24DBEF502E46}"/>
              </a:ext>
            </a:extLst>
          </p:cNvPr>
          <p:cNvCxnSpPr/>
          <p:nvPr/>
        </p:nvCxnSpPr>
        <p:spPr>
          <a:xfrm>
            <a:off x="5475339" y="362903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7E89998-9C95-E1EC-200C-4EB29E9F3DB2}"/>
              </a:ext>
            </a:extLst>
          </p:cNvPr>
          <p:cNvSpPr txBox="1"/>
          <p:nvPr/>
        </p:nvSpPr>
        <p:spPr>
          <a:xfrm>
            <a:off x="5582112" y="336022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b(4)</a:t>
            </a:r>
          </a:p>
        </p:txBody>
      </p:sp>
      <p:cxnSp>
        <p:nvCxnSpPr>
          <p:cNvPr id="54" name="!!Straight Arrow Connector 53">
            <a:extLst>
              <a:ext uri="{FF2B5EF4-FFF2-40B4-BE49-F238E27FC236}">
                <a16:creationId xmlns:a16="http://schemas.microsoft.com/office/drawing/2014/main" id="{39754559-A3E6-B0AB-A5E2-0596DE05B5FA}"/>
              </a:ext>
            </a:extLst>
          </p:cNvPr>
          <p:cNvCxnSpPr/>
          <p:nvPr/>
        </p:nvCxnSpPr>
        <p:spPr>
          <a:xfrm>
            <a:off x="5475339" y="405796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FCED90EB-797A-5055-40B8-655ECD9C450E}"/>
              </a:ext>
            </a:extLst>
          </p:cNvPr>
          <p:cNvSpPr txBox="1"/>
          <p:nvPr/>
        </p:nvSpPr>
        <p:spPr>
          <a:xfrm>
            <a:off x="5591393" y="37484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b(5)</a:t>
            </a:r>
          </a:p>
        </p:txBody>
      </p:sp>
      <p:cxnSp>
        <p:nvCxnSpPr>
          <p:cNvPr id="56" name="!!Straight Arrow Connector 55">
            <a:extLst>
              <a:ext uri="{FF2B5EF4-FFF2-40B4-BE49-F238E27FC236}">
                <a16:creationId xmlns:a16="http://schemas.microsoft.com/office/drawing/2014/main" id="{432578D5-A736-4806-82B3-6B4D8E65AFF6}"/>
              </a:ext>
            </a:extLst>
          </p:cNvPr>
          <p:cNvCxnSpPr/>
          <p:nvPr/>
        </p:nvCxnSpPr>
        <p:spPr>
          <a:xfrm>
            <a:off x="5475339" y="44583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FD0E91AC-31B0-DC7D-6272-C6744A24BE5A}"/>
              </a:ext>
            </a:extLst>
          </p:cNvPr>
          <p:cNvSpPr txBox="1"/>
          <p:nvPr/>
        </p:nvSpPr>
        <p:spPr>
          <a:xfrm>
            <a:off x="5585249" y="412027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b(6)</a:t>
            </a:r>
          </a:p>
        </p:txBody>
      </p:sp>
      <p:cxnSp>
        <p:nvCxnSpPr>
          <p:cNvPr id="58" name="!!Straight Arrow Connector 57">
            <a:extLst>
              <a:ext uri="{FF2B5EF4-FFF2-40B4-BE49-F238E27FC236}">
                <a16:creationId xmlns:a16="http://schemas.microsoft.com/office/drawing/2014/main" id="{83ECA9CD-C159-66DA-6E52-8F88C24B2AC1}"/>
              </a:ext>
            </a:extLst>
          </p:cNvPr>
          <p:cNvCxnSpPr/>
          <p:nvPr/>
        </p:nvCxnSpPr>
        <p:spPr>
          <a:xfrm>
            <a:off x="5475339" y="484896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98E9D53C-CE0B-66BD-B54E-573BCD340E4B}"/>
              </a:ext>
            </a:extLst>
          </p:cNvPr>
          <p:cNvSpPr txBox="1"/>
          <p:nvPr/>
        </p:nvSpPr>
        <p:spPr>
          <a:xfrm>
            <a:off x="5585249" y="453232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b(7)</a:t>
            </a:r>
          </a:p>
        </p:txBody>
      </p:sp>
      <p:cxnSp>
        <p:nvCxnSpPr>
          <p:cNvPr id="60" name="!!Straight Arrow Connector 59">
            <a:extLst>
              <a:ext uri="{FF2B5EF4-FFF2-40B4-BE49-F238E27FC236}">
                <a16:creationId xmlns:a16="http://schemas.microsoft.com/office/drawing/2014/main" id="{60B66945-FEF1-7E5A-31B2-0669C966E9B1}"/>
              </a:ext>
            </a:extLst>
          </p:cNvPr>
          <p:cNvCxnSpPr/>
          <p:nvPr/>
        </p:nvCxnSpPr>
        <p:spPr>
          <a:xfrm>
            <a:off x="7368050" y="199478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FBB8AF44-8563-1C2E-7036-FB29DC722B15}"/>
              </a:ext>
            </a:extLst>
          </p:cNvPr>
          <p:cNvSpPr txBox="1"/>
          <p:nvPr/>
        </p:nvSpPr>
        <p:spPr>
          <a:xfrm>
            <a:off x="8346359" y="18107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E9398081-F3BC-B1DE-DAAA-F2CC997DDE08}"/>
              </a:ext>
            </a:extLst>
          </p:cNvPr>
          <p:cNvCxnSpPr/>
          <p:nvPr/>
        </p:nvCxnSpPr>
        <p:spPr>
          <a:xfrm>
            <a:off x="7368050" y="237824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F399A54-DED1-657B-C293-27ED385EE91C}"/>
              </a:ext>
            </a:extLst>
          </p:cNvPr>
          <p:cNvSpPr txBox="1"/>
          <p:nvPr/>
        </p:nvSpPr>
        <p:spPr>
          <a:xfrm>
            <a:off x="8346359" y="217939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9F3C7FD6-DCB0-E7CB-CA26-D20253A48B71}"/>
              </a:ext>
            </a:extLst>
          </p:cNvPr>
          <p:cNvCxnSpPr/>
          <p:nvPr/>
        </p:nvCxnSpPr>
        <p:spPr>
          <a:xfrm>
            <a:off x="7368050" y="276170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A52C9D3C-B039-5D47-5F4E-D3AF49F12548}"/>
              </a:ext>
            </a:extLst>
          </p:cNvPr>
          <p:cNvSpPr txBox="1"/>
          <p:nvPr/>
        </p:nvSpPr>
        <p:spPr>
          <a:xfrm>
            <a:off x="8346359" y="2562848"/>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1B183CB2-FE9C-856C-FBF6-F3EF0C33226C}"/>
              </a:ext>
            </a:extLst>
          </p:cNvPr>
          <p:cNvCxnSpPr/>
          <p:nvPr/>
        </p:nvCxnSpPr>
        <p:spPr>
          <a:xfrm>
            <a:off x="7368050" y="32118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5977D974-A907-74B1-8C15-85AB37D4EC20}"/>
              </a:ext>
            </a:extLst>
          </p:cNvPr>
          <p:cNvSpPr txBox="1"/>
          <p:nvPr/>
        </p:nvSpPr>
        <p:spPr>
          <a:xfrm>
            <a:off x="8346359" y="30130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C1080020-ECBB-3FB2-61D4-C665E806DDC0}"/>
              </a:ext>
            </a:extLst>
          </p:cNvPr>
          <p:cNvCxnSpPr/>
          <p:nvPr/>
        </p:nvCxnSpPr>
        <p:spPr>
          <a:xfrm>
            <a:off x="7368050" y="362903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84C47839-2740-BD9E-0A80-9CAB8760158C}"/>
              </a:ext>
            </a:extLst>
          </p:cNvPr>
          <p:cNvSpPr txBox="1"/>
          <p:nvPr/>
        </p:nvSpPr>
        <p:spPr>
          <a:xfrm>
            <a:off x="8346359" y="3430183"/>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A8E1A97A-A116-D245-8492-F2CC5AE88C55}"/>
              </a:ext>
            </a:extLst>
          </p:cNvPr>
          <p:cNvCxnSpPr/>
          <p:nvPr/>
        </p:nvCxnSpPr>
        <p:spPr>
          <a:xfrm>
            <a:off x="7368050" y="405796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3EF44C4A-274C-9723-C55C-980DD275D9E6}"/>
              </a:ext>
            </a:extLst>
          </p:cNvPr>
          <p:cNvSpPr txBox="1"/>
          <p:nvPr/>
        </p:nvSpPr>
        <p:spPr>
          <a:xfrm>
            <a:off x="8346359" y="385911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1FAC5EB9-B928-A257-F8BE-962208967903}"/>
              </a:ext>
            </a:extLst>
          </p:cNvPr>
          <p:cNvCxnSpPr/>
          <p:nvPr/>
        </p:nvCxnSpPr>
        <p:spPr>
          <a:xfrm>
            <a:off x="7368050" y="44583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8F2222AB-0939-3E1B-41A9-AA5EA5EF98A1}"/>
              </a:ext>
            </a:extLst>
          </p:cNvPr>
          <p:cNvSpPr txBox="1"/>
          <p:nvPr/>
        </p:nvSpPr>
        <p:spPr>
          <a:xfrm>
            <a:off x="8346359" y="42595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9EBDF0AC-D6A6-6376-106C-6A9D4E11A286}"/>
              </a:ext>
            </a:extLst>
          </p:cNvPr>
          <p:cNvCxnSpPr/>
          <p:nvPr/>
        </p:nvCxnSpPr>
        <p:spPr>
          <a:xfrm>
            <a:off x="7368050" y="484896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12FA7398-A0D4-54C5-EEC4-2AC69925A6E0}"/>
              </a:ext>
            </a:extLst>
          </p:cNvPr>
          <p:cNvSpPr txBox="1"/>
          <p:nvPr/>
        </p:nvSpPr>
        <p:spPr>
          <a:xfrm>
            <a:off x="8346359" y="465011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906F59AC-6717-475C-4000-89CD94137AB6}"/>
              </a:ext>
            </a:extLst>
          </p:cNvPr>
          <p:cNvSpPr/>
          <p:nvPr/>
        </p:nvSpPr>
        <p:spPr>
          <a:xfrm>
            <a:off x="6389740" y="3522221"/>
            <a:ext cx="978310" cy="148173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106" name="!!Straight Arrow Connector 105">
            <a:extLst>
              <a:ext uri="{FF2B5EF4-FFF2-40B4-BE49-F238E27FC236}">
                <a16:creationId xmlns:a16="http://schemas.microsoft.com/office/drawing/2014/main" id="{D04ABFA7-93CD-8584-1BBA-3F64A690D27A}"/>
              </a:ext>
            </a:extLst>
          </p:cNvPr>
          <p:cNvCxnSpPr/>
          <p:nvPr/>
        </p:nvCxnSpPr>
        <p:spPr>
          <a:xfrm>
            <a:off x="3437051" y="200191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CF4D3780-B49F-F41A-45D8-C66574B7A237}"/>
              </a:ext>
            </a:extLst>
          </p:cNvPr>
          <p:cNvSpPr txBox="1"/>
          <p:nvPr/>
        </p:nvSpPr>
        <p:spPr>
          <a:xfrm>
            <a:off x="2974935" y="181018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08" name="!!Straight Arrow Connector 107">
            <a:extLst>
              <a:ext uri="{FF2B5EF4-FFF2-40B4-BE49-F238E27FC236}">
                <a16:creationId xmlns:a16="http://schemas.microsoft.com/office/drawing/2014/main" id="{EDBCDCB3-1C61-8789-4381-174E20B7CC8E}"/>
              </a:ext>
            </a:extLst>
          </p:cNvPr>
          <p:cNvCxnSpPr/>
          <p:nvPr/>
        </p:nvCxnSpPr>
        <p:spPr>
          <a:xfrm>
            <a:off x="3437051" y="23853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996E1488-67B2-3823-6062-B049DB2D9B9C}"/>
              </a:ext>
            </a:extLst>
          </p:cNvPr>
          <p:cNvSpPr txBox="1"/>
          <p:nvPr/>
        </p:nvSpPr>
        <p:spPr>
          <a:xfrm>
            <a:off x="2974935" y="21936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0" name="!!Straight Arrow Connector 109">
            <a:extLst>
              <a:ext uri="{FF2B5EF4-FFF2-40B4-BE49-F238E27FC236}">
                <a16:creationId xmlns:a16="http://schemas.microsoft.com/office/drawing/2014/main" id="{CD6AED5D-6730-4E65-AF67-FEA65984DBC4}"/>
              </a:ext>
            </a:extLst>
          </p:cNvPr>
          <p:cNvCxnSpPr/>
          <p:nvPr/>
        </p:nvCxnSpPr>
        <p:spPr>
          <a:xfrm>
            <a:off x="3437051" y="276882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D9840F06-2193-268F-FF26-D0C95F274C5F}"/>
              </a:ext>
            </a:extLst>
          </p:cNvPr>
          <p:cNvSpPr txBox="1"/>
          <p:nvPr/>
        </p:nvSpPr>
        <p:spPr>
          <a:xfrm>
            <a:off x="2974935" y="257709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2" name="!!Straight Arrow Connector 111">
            <a:extLst>
              <a:ext uri="{FF2B5EF4-FFF2-40B4-BE49-F238E27FC236}">
                <a16:creationId xmlns:a16="http://schemas.microsoft.com/office/drawing/2014/main" id="{3C2D011A-B60D-1AC4-3544-157DF0B582B9}"/>
              </a:ext>
            </a:extLst>
          </p:cNvPr>
          <p:cNvCxnSpPr/>
          <p:nvPr/>
        </p:nvCxnSpPr>
        <p:spPr>
          <a:xfrm>
            <a:off x="3437051" y="32190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13DCC8BF-6F84-2059-A6B1-E7F3250D017F}"/>
              </a:ext>
            </a:extLst>
          </p:cNvPr>
          <p:cNvSpPr txBox="1"/>
          <p:nvPr/>
        </p:nvSpPr>
        <p:spPr>
          <a:xfrm>
            <a:off x="2974935" y="30272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14" name="!!Straight Arrow Connector 113">
            <a:extLst>
              <a:ext uri="{FF2B5EF4-FFF2-40B4-BE49-F238E27FC236}">
                <a16:creationId xmlns:a16="http://schemas.microsoft.com/office/drawing/2014/main" id="{051253DC-3FC4-E69A-822E-DC0B3A71C112}"/>
              </a:ext>
            </a:extLst>
          </p:cNvPr>
          <p:cNvCxnSpPr/>
          <p:nvPr/>
        </p:nvCxnSpPr>
        <p:spPr>
          <a:xfrm>
            <a:off x="3437051" y="363616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BCF00F3E-C54D-C175-C5FB-8CFDCDB06DD2}"/>
              </a:ext>
            </a:extLst>
          </p:cNvPr>
          <p:cNvSpPr txBox="1"/>
          <p:nvPr/>
        </p:nvSpPr>
        <p:spPr>
          <a:xfrm>
            <a:off x="2974935" y="344443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16" name="!!Straight Arrow Connector 115">
            <a:extLst>
              <a:ext uri="{FF2B5EF4-FFF2-40B4-BE49-F238E27FC236}">
                <a16:creationId xmlns:a16="http://schemas.microsoft.com/office/drawing/2014/main" id="{F3A9E855-AA70-1F57-EBD4-0285B8C95320}"/>
              </a:ext>
            </a:extLst>
          </p:cNvPr>
          <p:cNvCxnSpPr/>
          <p:nvPr/>
        </p:nvCxnSpPr>
        <p:spPr>
          <a:xfrm>
            <a:off x="3437051" y="406509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B4C25CE8-1F71-08D5-9B90-C8D0C4AF6F8C}"/>
              </a:ext>
            </a:extLst>
          </p:cNvPr>
          <p:cNvSpPr txBox="1"/>
          <p:nvPr/>
        </p:nvSpPr>
        <p:spPr>
          <a:xfrm>
            <a:off x="2974935" y="387336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18" name="!!Straight Arrow Connector 117">
            <a:extLst>
              <a:ext uri="{FF2B5EF4-FFF2-40B4-BE49-F238E27FC236}">
                <a16:creationId xmlns:a16="http://schemas.microsoft.com/office/drawing/2014/main" id="{050398A7-F77D-2B0C-EA2C-CE93C6E8C053}"/>
              </a:ext>
            </a:extLst>
          </p:cNvPr>
          <p:cNvCxnSpPr/>
          <p:nvPr/>
        </p:nvCxnSpPr>
        <p:spPr>
          <a:xfrm>
            <a:off x="3437051" y="44655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B369A136-9BDC-A467-0406-9A3DE84F567A}"/>
              </a:ext>
            </a:extLst>
          </p:cNvPr>
          <p:cNvSpPr txBox="1"/>
          <p:nvPr/>
        </p:nvSpPr>
        <p:spPr>
          <a:xfrm>
            <a:off x="2974935" y="42737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0" name="!!Straight Arrow Connector 119">
            <a:extLst>
              <a:ext uri="{FF2B5EF4-FFF2-40B4-BE49-F238E27FC236}">
                <a16:creationId xmlns:a16="http://schemas.microsoft.com/office/drawing/2014/main" id="{50DC7A0B-3691-FF73-A7FA-D0E334EA534C}"/>
              </a:ext>
            </a:extLst>
          </p:cNvPr>
          <p:cNvCxnSpPr/>
          <p:nvPr/>
        </p:nvCxnSpPr>
        <p:spPr>
          <a:xfrm>
            <a:off x="3437051" y="485608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8C82EE48-5A72-EA4C-2996-4D27F0C27CDC}"/>
              </a:ext>
            </a:extLst>
          </p:cNvPr>
          <p:cNvSpPr txBox="1"/>
          <p:nvPr/>
        </p:nvSpPr>
        <p:spPr>
          <a:xfrm>
            <a:off x="2974935" y="466436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sp>
        <p:nvSpPr>
          <p:cNvPr id="123" name="!!Rectangle 122">
            <a:extLst>
              <a:ext uri="{FF2B5EF4-FFF2-40B4-BE49-F238E27FC236}">
                <a16:creationId xmlns:a16="http://schemas.microsoft.com/office/drawing/2014/main" id="{C73BA7A9-86A6-167D-DFED-A9B225562A00}"/>
              </a:ext>
            </a:extLst>
          </p:cNvPr>
          <p:cNvSpPr/>
          <p:nvPr/>
        </p:nvSpPr>
        <p:spPr>
          <a:xfrm>
            <a:off x="4351452" y="1774913"/>
            <a:ext cx="1119343"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sp>
        <p:nvSpPr>
          <p:cNvPr id="125" name="!!Rectangle 124">
            <a:extLst>
              <a:ext uri="{FF2B5EF4-FFF2-40B4-BE49-F238E27FC236}">
                <a16:creationId xmlns:a16="http://schemas.microsoft.com/office/drawing/2014/main" id="{12067903-AEBA-071A-F7D9-DEC5C112BEA2}"/>
              </a:ext>
            </a:extLst>
          </p:cNvPr>
          <p:cNvSpPr/>
          <p:nvPr/>
        </p:nvSpPr>
        <p:spPr>
          <a:xfrm>
            <a:off x="2762759" y="1614326"/>
            <a:ext cx="6284146"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356B1060-8D4C-C576-9B31-496F5058D54F}"/>
              </a:ext>
            </a:extLst>
          </p:cNvPr>
          <p:cNvSpPr txBox="1"/>
          <p:nvPr/>
        </p:nvSpPr>
        <p:spPr>
          <a:xfrm>
            <a:off x="3365766" y="846021"/>
            <a:ext cx="1312608" cy="774571"/>
          </a:xfrm>
          <a:prstGeom prst="rect">
            <a:avLst/>
          </a:prstGeom>
          <a:noFill/>
        </p:spPr>
        <p:txBody>
          <a:bodyPr wrap="square">
            <a:spAutoFit/>
          </a:bodyPr>
          <a:lstStyle/>
          <a:p>
            <a:pPr defTabSz="457200">
              <a:spcBef>
                <a:spcPts val="1000"/>
              </a:spcBef>
              <a:buClr>
                <a:srgbClr val="1E4056"/>
              </a:buClr>
              <a:buSzPct val="75000"/>
            </a:pPr>
            <a:r>
              <a:rPr lang="en-US" b="1" dirty="0"/>
              <a:t>1 Problem </a:t>
            </a:r>
          </a:p>
          <a:p>
            <a:pPr defTabSz="457200">
              <a:spcBef>
                <a:spcPts val="1000"/>
              </a:spcBef>
              <a:buClr>
                <a:srgbClr val="1E4056"/>
              </a:buClr>
              <a:buSzPct val="75000"/>
            </a:pPr>
            <a:r>
              <a:rPr lang="en-US" b="1" dirty="0"/>
              <a:t>8-point</a:t>
            </a:r>
          </a:p>
        </p:txBody>
      </p:sp>
      <p:sp>
        <p:nvSpPr>
          <p:cNvPr id="8" name="!!TextBox 7">
            <a:extLst>
              <a:ext uri="{FF2B5EF4-FFF2-40B4-BE49-F238E27FC236}">
                <a16:creationId xmlns:a16="http://schemas.microsoft.com/office/drawing/2014/main" id="{490AFBA6-A3AC-2AFD-D8CC-D021E8E8666F}"/>
              </a:ext>
            </a:extLst>
          </p:cNvPr>
          <p:cNvSpPr txBox="1"/>
          <p:nvPr/>
        </p:nvSpPr>
        <p:spPr>
          <a:xfrm>
            <a:off x="5406159" y="879087"/>
            <a:ext cx="3227441" cy="774571"/>
          </a:xfrm>
          <a:prstGeom prst="rect">
            <a:avLst/>
          </a:prstGeom>
          <a:noFill/>
        </p:spPr>
        <p:txBody>
          <a:bodyPr wrap="square">
            <a:spAutoFit/>
          </a:bodyPr>
          <a:lstStyle/>
          <a:p>
            <a:pPr defTabSz="457200">
              <a:spcBef>
                <a:spcPts val="1000"/>
              </a:spcBef>
              <a:buClr>
                <a:srgbClr val="1E4056"/>
              </a:buClr>
              <a:buSzPct val="75000"/>
            </a:pPr>
            <a:r>
              <a:rPr lang="en-US" b="1" dirty="0"/>
              <a:t>2 independent Problems </a:t>
            </a:r>
          </a:p>
          <a:p>
            <a:pPr defTabSz="457200">
              <a:spcBef>
                <a:spcPts val="1000"/>
              </a:spcBef>
              <a:buClr>
                <a:srgbClr val="1E4056"/>
              </a:buClr>
              <a:buSzPct val="75000"/>
            </a:pPr>
            <a:r>
              <a:rPr lang="en-US" b="1" dirty="0"/>
              <a:t>4-point</a:t>
            </a:r>
          </a:p>
        </p:txBody>
      </p:sp>
      <p:cxnSp>
        <p:nvCxnSpPr>
          <p:cNvPr id="22" name="!!Straight Connector 21">
            <a:extLst>
              <a:ext uri="{FF2B5EF4-FFF2-40B4-BE49-F238E27FC236}">
                <a16:creationId xmlns:a16="http://schemas.microsoft.com/office/drawing/2014/main" id="{436E25C9-F05D-FD5A-8B62-E4021897F4A5}"/>
              </a:ext>
            </a:extLst>
          </p:cNvPr>
          <p:cNvCxnSpPr>
            <a:cxnSpLocks/>
          </p:cNvCxnSpPr>
          <p:nvPr/>
        </p:nvCxnSpPr>
        <p:spPr>
          <a:xfrm flipV="1">
            <a:off x="5470795" y="3388553"/>
            <a:ext cx="6378305" cy="0"/>
          </a:xfrm>
          <a:prstGeom prst="line">
            <a:avLst/>
          </a:prstGeom>
          <a:ln w="28575">
            <a:solidFill>
              <a:schemeClr val="tx1"/>
            </a:solidFill>
            <a:prstDash val="lgDash"/>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F0917F9-CC26-A8A9-3AA4-196BD71A2FE7}"/>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7266A8DF-FB49-D76F-3D95-D04881C45A8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016ABD8A-3BB8-D7AB-3101-BBA8BB574BF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48A09EDD-E00B-03E2-EBD2-7A9991C530C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2" name="TextBox 11">
            <a:extLst>
              <a:ext uri="{FF2B5EF4-FFF2-40B4-BE49-F238E27FC236}">
                <a16:creationId xmlns:a16="http://schemas.microsoft.com/office/drawing/2014/main" id="{A0607C59-06CE-A8D7-A438-8E40E11F9D4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1821277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676FD-79D2-1D49-E9A2-E71F4506BB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064FA4-7B36-A80B-C692-E9C9086B484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9F335919-73E4-66A2-ABB6-5BEA58AE8AA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4A4F8B7-CB6C-F68D-1B3F-4528BBE1BF58}"/>
              </a:ext>
            </a:extLst>
          </p:cNvPr>
          <p:cNvSpPr>
            <a:spLocks noGrp="1"/>
          </p:cNvSpPr>
          <p:nvPr>
            <p:ph type="sldNum" sz="quarter" idx="4"/>
          </p:nvPr>
        </p:nvSpPr>
        <p:spPr/>
        <p:txBody>
          <a:bodyPr/>
          <a:lstStyle/>
          <a:p>
            <a:pPr>
              <a:defRPr/>
            </a:pPr>
            <a:fld id="{A9CE67A1-BA7F-A74E-B5D7-615746DEEC2B}" type="slidenum">
              <a:rPr lang="en-US" smtClean="0"/>
              <a:pPr>
                <a:defRPr/>
              </a:pPr>
              <a:t>16</a:t>
            </a:fld>
            <a:endParaRPr lang="en-US" baseline="-11000" dirty="0"/>
          </a:p>
        </p:txBody>
      </p:sp>
      <p:sp>
        <p:nvSpPr>
          <p:cNvPr id="6" name="Date Placeholder 5">
            <a:extLst>
              <a:ext uri="{FF2B5EF4-FFF2-40B4-BE49-F238E27FC236}">
                <a16:creationId xmlns:a16="http://schemas.microsoft.com/office/drawing/2014/main" id="{6FE6CEA6-F5FE-5D74-A92F-C4B4CE00938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26" name="TextBox 125">
            <a:extLst>
              <a:ext uri="{FF2B5EF4-FFF2-40B4-BE49-F238E27FC236}">
                <a16:creationId xmlns:a16="http://schemas.microsoft.com/office/drawing/2014/main" id="{0BD5F030-21C8-2323-A4F3-696DF1779A14}"/>
              </a:ext>
            </a:extLst>
          </p:cNvPr>
          <p:cNvSpPr txBox="1"/>
          <p:nvPr/>
        </p:nvSpPr>
        <p:spPr>
          <a:xfrm>
            <a:off x="239662" y="863687"/>
            <a:ext cx="8495071" cy="369332"/>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So, we could generalize it to be :</a:t>
            </a:r>
            <a:endParaRPr lang="en-US" dirty="0"/>
          </a:p>
        </p:txBody>
      </p:sp>
      <p:sp>
        <p:nvSpPr>
          <p:cNvPr id="102" name="Rectangle 101">
            <a:extLst>
              <a:ext uri="{FF2B5EF4-FFF2-40B4-BE49-F238E27FC236}">
                <a16:creationId xmlns:a16="http://schemas.microsoft.com/office/drawing/2014/main" id="{E91F22E9-8C73-DD02-12DF-EC35251D9F2A}"/>
              </a:ext>
            </a:extLst>
          </p:cNvPr>
          <p:cNvSpPr/>
          <p:nvPr/>
        </p:nvSpPr>
        <p:spPr>
          <a:xfrm>
            <a:off x="3525228" y="1561313"/>
            <a:ext cx="978309" cy="1320132"/>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N-point FFT</a:t>
            </a:r>
          </a:p>
        </p:txBody>
      </p: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2A0CAEE1-9920-7AF9-EB23-BC7C9FF9EB2B}"/>
                  </a:ext>
                </a:extLst>
              </p:cNvPr>
              <p:cNvSpPr txBox="1"/>
              <p:nvPr/>
            </p:nvSpPr>
            <p:spPr>
              <a:xfrm>
                <a:off x="4667714" y="1854107"/>
                <a:ext cx="1498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m:t>
                      </m:r>
                    </m:oMath>
                  </m:oMathPara>
                </a14:m>
                <a:endParaRPr lang="en-US" sz="4000" b="1" dirty="0">
                  <a:solidFill>
                    <a:srgbClr val="000000"/>
                  </a:solidFill>
                </a:endParaRPr>
              </a:p>
            </p:txBody>
          </p:sp>
        </mc:Choice>
        <mc:Fallback xmlns="">
          <p:sp>
            <p:nvSpPr>
              <p:cNvPr id="134" name="TextBox 133">
                <a:extLst>
                  <a:ext uri="{FF2B5EF4-FFF2-40B4-BE49-F238E27FC236}">
                    <a16:creationId xmlns:a16="http://schemas.microsoft.com/office/drawing/2014/main" id="{2A0CAEE1-9920-7AF9-EB23-BC7C9FF9EB2B}"/>
                  </a:ext>
                </a:extLst>
              </p:cNvPr>
              <p:cNvSpPr txBox="1">
                <a:spLocks noRot="1" noChangeAspect="1" noMove="1" noResize="1" noEditPoints="1" noAdjustHandles="1" noChangeArrowheads="1" noChangeShapeType="1" noTextEdit="1"/>
              </p:cNvSpPr>
              <p:nvPr/>
            </p:nvSpPr>
            <p:spPr>
              <a:xfrm>
                <a:off x="4667714" y="1854107"/>
                <a:ext cx="1498192" cy="914400"/>
              </a:xfrm>
              <a:prstGeom prst="rect">
                <a:avLst/>
              </a:prstGeom>
              <a:blipFill>
                <a:blip r:embed="rId2"/>
                <a:stretch>
                  <a:fillRect/>
                </a:stretch>
              </a:blipFill>
            </p:spPr>
            <p:txBody>
              <a:bodyPr/>
              <a:lstStyle/>
              <a:p>
                <a:r>
                  <a:rPr lang="en-US">
                    <a:noFill/>
                  </a:rPr>
                  <a:t> </a:t>
                </a:r>
              </a:p>
            </p:txBody>
          </p:sp>
        </mc:Fallback>
      </mc:AlternateContent>
      <p:grpSp>
        <p:nvGrpSpPr>
          <p:cNvPr id="150" name="Group 149">
            <a:extLst>
              <a:ext uri="{FF2B5EF4-FFF2-40B4-BE49-F238E27FC236}">
                <a16:creationId xmlns:a16="http://schemas.microsoft.com/office/drawing/2014/main" id="{83AA27E7-6006-C6AA-68AC-7C5E380DA68D}"/>
              </a:ext>
            </a:extLst>
          </p:cNvPr>
          <p:cNvGrpSpPr/>
          <p:nvPr/>
        </p:nvGrpSpPr>
        <p:grpSpPr>
          <a:xfrm>
            <a:off x="6233651" y="1364109"/>
            <a:ext cx="3015856" cy="1696364"/>
            <a:chOff x="6912077" y="1406352"/>
            <a:chExt cx="3015856" cy="1696364"/>
          </a:xfrm>
        </p:grpSpPr>
        <mc:AlternateContent xmlns:mc="http://schemas.openxmlformats.org/markup-compatibility/2006" xmlns:a14="http://schemas.microsoft.com/office/drawing/2010/main">
          <mc:Choice Requires="a14">
            <p:sp>
              <p:nvSpPr>
                <p:cNvPr id="133" name="Rectangle 132">
                  <a:extLst>
                    <a:ext uri="{FF2B5EF4-FFF2-40B4-BE49-F238E27FC236}">
                      <a16:creationId xmlns:a16="http://schemas.microsoft.com/office/drawing/2014/main" id="{C8A08DC4-F32E-62CC-A737-D7D9DF4F5908}"/>
                    </a:ext>
                  </a:extLst>
                </p:cNvPr>
                <p:cNvSpPr/>
                <p:nvPr/>
              </p:nvSpPr>
              <p:spPr>
                <a:xfrm>
                  <a:off x="8855495" y="1615642"/>
                  <a:ext cx="914401" cy="58451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14:m>
                    <m:oMath xmlns:m="http://schemas.openxmlformats.org/officeDocument/2006/math">
                      <m:f>
                        <m:fPr>
                          <m:ctrlPr>
                            <a:rPr lang="en-US" sz="1400" b="1" i="1" smtClean="0">
                              <a:solidFill>
                                <a:schemeClr val="tx1"/>
                              </a:solidFill>
                              <a:latin typeface="Cambria Math" panose="02040503050406030204" pitchFamily="18" charset="0"/>
                            </a:rPr>
                          </m:ctrlPr>
                        </m:fPr>
                        <m:num>
                          <m:r>
                            <a:rPr lang="en-US" sz="1400" b="1" i="1" smtClean="0">
                              <a:solidFill>
                                <a:schemeClr val="tx1"/>
                              </a:solidFill>
                              <a:latin typeface="Cambria Math" panose="02040503050406030204" pitchFamily="18" charset="0"/>
                            </a:rPr>
                            <m:t>𝑵</m:t>
                          </m:r>
                        </m:num>
                        <m:den>
                          <m:r>
                            <a:rPr lang="en-US" sz="1400" b="1" i="1" smtClean="0">
                              <a:solidFill>
                                <a:schemeClr val="tx1"/>
                              </a:solidFill>
                              <a:latin typeface="Cambria Math" panose="02040503050406030204" pitchFamily="18" charset="0"/>
                            </a:rPr>
                            <m:t>𝟐</m:t>
                          </m:r>
                        </m:den>
                      </m:f>
                    </m:oMath>
                  </a14:m>
                  <a:r>
                    <a:rPr lang="en-US" sz="1400" b="1" dirty="0">
                      <a:solidFill>
                        <a:schemeClr val="tx1"/>
                      </a:solidFill>
                    </a:rPr>
                    <a:t> - point FFT</a:t>
                  </a:r>
                </a:p>
              </p:txBody>
            </p:sp>
          </mc:Choice>
          <mc:Fallback xmlns="">
            <p:sp>
              <p:nvSpPr>
                <p:cNvPr id="133" name="Rectangle 132">
                  <a:extLst>
                    <a:ext uri="{FF2B5EF4-FFF2-40B4-BE49-F238E27FC236}">
                      <a16:creationId xmlns:a16="http://schemas.microsoft.com/office/drawing/2014/main" id="{C8A08DC4-F32E-62CC-A737-D7D9DF4F5908}"/>
                    </a:ext>
                  </a:extLst>
                </p:cNvPr>
                <p:cNvSpPr>
                  <a:spLocks noRot="1" noChangeAspect="1" noMove="1" noResize="1" noEditPoints="1" noAdjustHandles="1" noChangeArrowheads="1" noChangeShapeType="1" noTextEdit="1"/>
                </p:cNvSpPr>
                <p:nvPr/>
              </p:nvSpPr>
              <p:spPr>
                <a:xfrm>
                  <a:off x="8855495" y="1615642"/>
                  <a:ext cx="914401" cy="584519"/>
                </a:xfrm>
                <a:prstGeom prst="rect">
                  <a:avLst/>
                </a:prstGeom>
                <a:blipFill>
                  <a:blip r:embed="rId3"/>
                  <a:stretch>
                    <a:fillRect r="-654" b="-10101"/>
                  </a:stretch>
                </a:blipFill>
                <a:ln w="19050" cap="flat" cmpd="sng" algn="ctr">
                  <a:solidFill>
                    <a:schemeClr val="tx1"/>
                  </a:solidFill>
                  <a:prstDash val="solid"/>
                  <a:round/>
                  <a:headEnd type="none" w="med" len="med"/>
                  <a:tailEnd type="none" w="med" len="med"/>
                </a:ln>
              </p:spPr>
              <p:txBody>
                <a:bodyPr/>
                <a:lstStyle/>
                <a:p>
                  <a:r>
                    <a:rPr lang="en-US">
                      <a:noFill/>
                    </a:rPr>
                    <a:t> </a:t>
                  </a:r>
                </a:p>
              </p:txBody>
            </p:sp>
          </mc:Fallback>
        </mc:AlternateContent>
        <p:sp>
          <p:nvSpPr>
            <p:cNvPr id="135" name="Rectangle 134">
              <a:extLst>
                <a:ext uri="{FF2B5EF4-FFF2-40B4-BE49-F238E27FC236}">
                  <a16:creationId xmlns:a16="http://schemas.microsoft.com/office/drawing/2014/main" id="{B6D943C6-0C85-E684-9FE7-572CED338C73}"/>
                </a:ext>
              </a:extLst>
            </p:cNvPr>
            <p:cNvSpPr/>
            <p:nvPr/>
          </p:nvSpPr>
          <p:spPr>
            <a:xfrm>
              <a:off x="7114318" y="1530012"/>
              <a:ext cx="1014816" cy="13201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cxnSp>
          <p:nvCxnSpPr>
            <p:cNvPr id="142" name="Straight Arrow Connector 141">
              <a:extLst>
                <a:ext uri="{FF2B5EF4-FFF2-40B4-BE49-F238E27FC236}">
                  <a16:creationId xmlns:a16="http://schemas.microsoft.com/office/drawing/2014/main" id="{6293CA29-DEDC-DEAA-F875-56941577E256}"/>
                </a:ext>
              </a:extLst>
            </p:cNvPr>
            <p:cNvCxnSpPr>
              <a:cxnSpLocks/>
            </p:cNvCxnSpPr>
            <p:nvPr/>
          </p:nvCxnSpPr>
          <p:spPr>
            <a:xfrm flipV="1">
              <a:off x="8129134" y="1690083"/>
              <a:ext cx="72636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3" name="Straight Arrow Connector 142">
              <a:extLst>
                <a:ext uri="{FF2B5EF4-FFF2-40B4-BE49-F238E27FC236}">
                  <a16:creationId xmlns:a16="http://schemas.microsoft.com/office/drawing/2014/main" id="{CEC822C6-5D5E-5174-DB48-DBA102F0B42B}"/>
                </a:ext>
              </a:extLst>
            </p:cNvPr>
            <p:cNvCxnSpPr>
              <a:cxnSpLocks/>
            </p:cNvCxnSpPr>
            <p:nvPr/>
          </p:nvCxnSpPr>
          <p:spPr>
            <a:xfrm>
              <a:off x="8125765" y="2850147"/>
              <a:ext cx="72636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F6B5CF42-F71B-6918-2B31-932736884674}"/>
                    </a:ext>
                  </a:extLst>
                </p:cNvPr>
                <p:cNvSpPr txBox="1"/>
                <p:nvPr/>
              </p:nvSpPr>
              <p:spPr>
                <a:xfrm>
                  <a:off x="8257888" y="205162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rPr>
                          <m:t>⋮</m:t>
                        </m:r>
                      </m:oMath>
                    </m:oMathPara>
                  </a14:m>
                  <a:endParaRPr lang="en-US" sz="2000" dirty="0">
                    <a:solidFill>
                      <a:srgbClr val="000000"/>
                    </a:solidFill>
                  </a:endParaRPr>
                </a:p>
              </p:txBody>
            </p:sp>
          </mc:Choice>
          <mc:Fallback xmlns="">
            <p:sp>
              <p:nvSpPr>
                <p:cNvPr id="147" name="TextBox 146">
                  <a:extLst>
                    <a:ext uri="{FF2B5EF4-FFF2-40B4-BE49-F238E27FC236}">
                      <a16:creationId xmlns:a16="http://schemas.microsoft.com/office/drawing/2014/main" id="{F6B5CF42-F71B-6918-2B31-932736884674}"/>
                    </a:ext>
                  </a:extLst>
                </p:cNvPr>
                <p:cNvSpPr txBox="1">
                  <a:spLocks noRot="1" noChangeAspect="1" noMove="1" noResize="1" noEditPoints="1" noAdjustHandles="1" noChangeArrowheads="1" noChangeShapeType="1" noTextEdit="1"/>
                </p:cNvSpPr>
                <p:nvPr/>
              </p:nvSpPr>
              <p:spPr>
                <a:xfrm>
                  <a:off x="8257888" y="2051626"/>
                  <a:ext cx="462116" cy="38345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Rectangle 147">
                  <a:extLst>
                    <a:ext uri="{FF2B5EF4-FFF2-40B4-BE49-F238E27FC236}">
                      <a16:creationId xmlns:a16="http://schemas.microsoft.com/office/drawing/2014/main" id="{0F1C735D-086C-5D21-502C-C53C58C55D51}"/>
                    </a:ext>
                  </a:extLst>
                </p:cNvPr>
                <p:cNvSpPr/>
                <p:nvPr/>
              </p:nvSpPr>
              <p:spPr>
                <a:xfrm>
                  <a:off x="8852126" y="2265631"/>
                  <a:ext cx="914401" cy="58451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14:m>
                    <m:oMath xmlns:m="http://schemas.openxmlformats.org/officeDocument/2006/math">
                      <m:f>
                        <m:fPr>
                          <m:ctrlPr>
                            <a:rPr lang="en-US" sz="1400" b="1" i="1" smtClean="0">
                              <a:solidFill>
                                <a:schemeClr val="tx1"/>
                              </a:solidFill>
                              <a:latin typeface="Cambria Math" panose="02040503050406030204" pitchFamily="18" charset="0"/>
                            </a:rPr>
                          </m:ctrlPr>
                        </m:fPr>
                        <m:num>
                          <m:r>
                            <a:rPr lang="en-US" sz="1400" b="1" i="1" smtClean="0">
                              <a:solidFill>
                                <a:schemeClr val="tx1"/>
                              </a:solidFill>
                              <a:latin typeface="Cambria Math" panose="02040503050406030204" pitchFamily="18" charset="0"/>
                            </a:rPr>
                            <m:t>𝑵</m:t>
                          </m:r>
                        </m:num>
                        <m:den>
                          <m:r>
                            <a:rPr lang="en-US" sz="1400" b="1" i="1" smtClean="0">
                              <a:solidFill>
                                <a:schemeClr val="tx1"/>
                              </a:solidFill>
                              <a:latin typeface="Cambria Math" panose="02040503050406030204" pitchFamily="18" charset="0"/>
                            </a:rPr>
                            <m:t>𝟐</m:t>
                          </m:r>
                        </m:den>
                      </m:f>
                    </m:oMath>
                  </a14:m>
                  <a:r>
                    <a:rPr lang="en-US" sz="1400" b="1" dirty="0">
                      <a:solidFill>
                        <a:schemeClr val="tx1"/>
                      </a:solidFill>
                    </a:rPr>
                    <a:t> - point FFT</a:t>
                  </a:r>
                </a:p>
              </p:txBody>
            </p:sp>
          </mc:Choice>
          <mc:Fallback xmlns="">
            <p:sp>
              <p:nvSpPr>
                <p:cNvPr id="148" name="Rectangle 147">
                  <a:extLst>
                    <a:ext uri="{FF2B5EF4-FFF2-40B4-BE49-F238E27FC236}">
                      <a16:creationId xmlns:a16="http://schemas.microsoft.com/office/drawing/2014/main" id="{0F1C735D-086C-5D21-502C-C53C58C55D51}"/>
                    </a:ext>
                  </a:extLst>
                </p:cNvPr>
                <p:cNvSpPr>
                  <a:spLocks noRot="1" noChangeAspect="1" noMove="1" noResize="1" noEditPoints="1" noAdjustHandles="1" noChangeArrowheads="1" noChangeShapeType="1" noTextEdit="1"/>
                </p:cNvSpPr>
                <p:nvPr/>
              </p:nvSpPr>
              <p:spPr>
                <a:xfrm>
                  <a:off x="8852126" y="2265631"/>
                  <a:ext cx="914401" cy="584519"/>
                </a:xfrm>
                <a:prstGeom prst="rect">
                  <a:avLst/>
                </a:prstGeom>
                <a:blipFill>
                  <a:blip r:embed="rId3"/>
                  <a:stretch>
                    <a:fillRect r="-654" b="-10101"/>
                  </a:stretch>
                </a:blipFill>
                <a:ln w="19050" cap="flat" cmpd="sng" algn="ctr">
                  <a:solidFill>
                    <a:schemeClr val="tx1"/>
                  </a:solidFill>
                  <a:prstDash val="solid"/>
                  <a:round/>
                  <a:headEnd type="none" w="med" len="med"/>
                  <a:tailEnd type="none" w="med" len="med"/>
                </a:ln>
              </p:spPr>
              <p:txBody>
                <a:bodyPr/>
                <a:lstStyle/>
                <a:p>
                  <a:r>
                    <a:rPr lang="en-US">
                      <a:noFill/>
                    </a:rPr>
                    <a:t> </a:t>
                  </a:r>
                </a:p>
              </p:txBody>
            </p:sp>
          </mc:Fallback>
        </mc:AlternateContent>
        <p:sp>
          <p:nvSpPr>
            <p:cNvPr id="149" name="Rectangle 148">
              <a:extLst>
                <a:ext uri="{FF2B5EF4-FFF2-40B4-BE49-F238E27FC236}">
                  <a16:creationId xmlns:a16="http://schemas.microsoft.com/office/drawing/2014/main" id="{95E07763-400A-508A-2FCF-5F5FFB2AE610}"/>
                </a:ext>
              </a:extLst>
            </p:cNvPr>
            <p:cNvSpPr/>
            <p:nvPr/>
          </p:nvSpPr>
          <p:spPr>
            <a:xfrm>
              <a:off x="6912077" y="1406352"/>
              <a:ext cx="3015856" cy="1696364"/>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52" name="TextBox 151">
            <a:extLst>
              <a:ext uri="{FF2B5EF4-FFF2-40B4-BE49-F238E27FC236}">
                <a16:creationId xmlns:a16="http://schemas.microsoft.com/office/drawing/2014/main" id="{CBD672E7-03A1-6C0E-AD67-788B6386A978}"/>
              </a:ext>
            </a:extLst>
          </p:cNvPr>
          <p:cNvSpPr txBox="1"/>
          <p:nvPr/>
        </p:nvSpPr>
        <p:spPr>
          <a:xfrm>
            <a:off x="239662" y="3034662"/>
            <a:ext cx="10752803" cy="1179810"/>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So , when should we stop ? </a:t>
            </a:r>
          </a:p>
          <a:p>
            <a:pPr defTabSz="457200">
              <a:spcBef>
                <a:spcPts val="1000"/>
              </a:spcBef>
              <a:buClr>
                <a:srgbClr val="1E4056"/>
              </a:buClr>
              <a:buSzPct val="75000"/>
            </a:pPr>
            <a:r>
              <a:rPr lang="en-US" b="1" dirty="0">
                <a:latin typeface="Barlow (Body)"/>
              </a:rPr>
              <a:t>It depends on the radix . Since we are working with radix-2 , we should stop at 2-point calculation</a:t>
            </a:r>
          </a:p>
          <a:p>
            <a:pPr defTabSz="457200">
              <a:spcBef>
                <a:spcPts val="1000"/>
              </a:spcBef>
              <a:buClr>
                <a:srgbClr val="1E4056"/>
              </a:buClr>
              <a:buSzPct val="75000"/>
            </a:pPr>
            <a:endParaRPr lang="en-US" b="1" dirty="0">
              <a:latin typeface="Barlow (Body)"/>
            </a:endParaRPr>
          </a:p>
        </p:txBody>
      </p:sp>
      <p:sp>
        <p:nvSpPr>
          <p:cNvPr id="154" name="TextBox 153">
            <a:extLst>
              <a:ext uri="{FF2B5EF4-FFF2-40B4-BE49-F238E27FC236}">
                <a16:creationId xmlns:a16="http://schemas.microsoft.com/office/drawing/2014/main" id="{C667884C-D198-2C7C-E166-B301BC33D5CB}"/>
              </a:ext>
            </a:extLst>
          </p:cNvPr>
          <p:cNvSpPr txBox="1"/>
          <p:nvPr/>
        </p:nvSpPr>
        <p:spPr>
          <a:xfrm>
            <a:off x="4852835" y="4052472"/>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cxnSp>
        <p:nvCxnSpPr>
          <p:cNvPr id="156" name="Straight Arrow Connector 155">
            <a:extLst>
              <a:ext uri="{FF2B5EF4-FFF2-40B4-BE49-F238E27FC236}">
                <a16:creationId xmlns:a16="http://schemas.microsoft.com/office/drawing/2014/main" id="{F4E5B921-5CD9-0206-E157-CC3BFB8FA935}"/>
              </a:ext>
            </a:extLst>
          </p:cNvPr>
          <p:cNvCxnSpPr>
            <a:cxnSpLocks/>
          </p:cNvCxnSpPr>
          <p:nvPr/>
        </p:nvCxnSpPr>
        <p:spPr>
          <a:xfrm flipH="1">
            <a:off x="4036141" y="4354138"/>
            <a:ext cx="1273894" cy="68071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4" name="TextBox 163">
            <a:extLst>
              <a:ext uri="{FF2B5EF4-FFF2-40B4-BE49-F238E27FC236}">
                <a16:creationId xmlns:a16="http://schemas.microsoft.com/office/drawing/2014/main" id="{70FAB350-7C87-CC61-29C8-D1B236340AF1}"/>
              </a:ext>
            </a:extLst>
          </p:cNvPr>
          <p:cNvSpPr txBox="1"/>
          <p:nvPr/>
        </p:nvSpPr>
        <p:spPr>
          <a:xfrm>
            <a:off x="3534084" y="5036843"/>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165" name="TextBox 164">
            <a:extLst>
              <a:ext uri="{FF2B5EF4-FFF2-40B4-BE49-F238E27FC236}">
                <a16:creationId xmlns:a16="http://schemas.microsoft.com/office/drawing/2014/main" id="{26883C00-DB5A-801D-40D5-7EF8BB873DE1}"/>
              </a:ext>
            </a:extLst>
          </p:cNvPr>
          <p:cNvSpPr txBox="1"/>
          <p:nvPr/>
        </p:nvSpPr>
        <p:spPr>
          <a:xfrm>
            <a:off x="6421539" y="5005350"/>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cxnSp>
        <p:nvCxnSpPr>
          <p:cNvPr id="166" name="Straight Arrow Connector 165">
            <a:extLst>
              <a:ext uri="{FF2B5EF4-FFF2-40B4-BE49-F238E27FC236}">
                <a16:creationId xmlns:a16="http://schemas.microsoft.com/office/drawing/2014/main" id="{38864F0E-2E7B-1CC0-6DEB-4D277D0153C2}"/>
              </a:ext>
            </a:extLst>
          </p:cNvPr>
          <p:cNvCxnSpPr>
            <a:cxnSpLocks/>
          </p:cNvCxnSpPr>
          <p:nvPr/>
        </p:nvCxnSpPr>
        <p:spPr>
          <a:xfrm flipH="1">
            <a:off x="3299184" y="5354832"/>
            <a:ext cx="600538" cy="362723"/>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7" name="Straight Arrow Connector 166">
            <a:extLst>
              <a:ext uri="{FF2B5EF4-FFF2-40B4-BE49-F238E27FC236}">
                <a16:creationId xmlns:a16="http://schemas.microsoft.com/office/drawing/2014/main" id="{1CC2F168-BC12-E380-F986-A522380D6406}"/>
              </a:ext>
            </a:extLst>
          </p:cNvPr>
          <p:cNvCxnSpPr>
            <a:cxnSpLocks/>
          </p:cNvCxnSpPr>
          <p:nvPr/>
        </p:nvCxnSpPr>
        <p:spPr>
          <a:xfrm>
            <a:off x="3899722" y="5354832"/>
            <a:ext cx="578874" cy="374254"/>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8" name="TextBox 167">
            <a:extLst>
              <a:ext uri="{FF2B5EF4-FFF2-40B4-BE49-F238E27FC236}">
                <a16:creationId xmlns:a16="http://schemas.microsoft.com/office/drawing/2014/main" id="{8F1BD2B9-3D80-310A-D445-1919FD3B362F}"/>
              </a:ext>
            </a:extLst>
          </p:cNvPr>
          <p:cNvSpPr txBox="1"/>
          <p:nvPr/>
        </p:nvSpPr>
        <p:spPr>
          <a:xfrm>
            <a:off x="2906966" y="575820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169" name="TextBox 168">
            <a:extLst>
              <a:ext uri="{FF2B5EF4-FFF2-40B4-BE49-F238E27FC236}">
                <a16:creationId xmlns:a16="http://schemas.microsoft.com/office/drawing/2014/main" id="{BA61B8EF-819C-9C4D-59E2-A291330A95FA}"/>
              </a:ext>
            </a:extLst>
          </p:cNvPr>
          <p:cNvSpPr txBox="1"/>
          <p:nvPr/>
        </p:nvSpPr>
        <p:spPr>
          <a:xfrm>
            <a:off x="4036141" y="575820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cxnSp>
        <p:nvCxnSpPr>
          <p:cNvPr id="171" name="Straight Arrow Connector 170">
            <a:extLst>
              <a:ext uri="{FF2B5EF4-FFF2-40B4-BE49-F238E27FC236}">
                <a16:creationId xmlns:a16="http://schemas.microsoft.com/office/drawing/2014/main" id="{4E97BFD4-EA95-8E07-ECD3-7918DAAF35C0}"/>
              </a:ext>
            </a:extLst>
          </p:cNvPr>
          <p:cNvCxnSpPr>
            <a:cxnSpLocks/>
          </p:cNvCxnSpPr>
          <p:nvPr/>
        </p:nvCxnSpPr>
        <p:spPr>
          <a:xfrm>
            <a:off x="5310035" y="4354138"/>
            <a:ext cx="1493888" cy="68071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8" name="Straight Arrow Connector 187">
            <a:extLst>
              <a:ext uri="{FF2B5EF4-FFF2-40B4-BE49-F238E27FC236}">
                <a16:creationId xmlns:a16="http://schemas.microsoft.com/office/drawing/2014/main" id="{7610AA16-5F6A-2E67-C42F-5DDD15D915D3}"/>
              </a:ext>
            </a:extLst>
          </p:cNvPr>
          <p:cNvCxnSpPr>
            <a:cxnSpLocks/>
          </p:cNvCxnSpPr>
          <p:nvPr/>
        </p:nvCxnSpPr>
        <p:spPr>
          <a:xfrm flipH="1">
            <a:off x="6302938" y="5314182"/>
            <a:ext cx="600538" cy="362723"/>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9" name="Straight Arrow Connector 188">
            <a:extLst>
              <a:ext uri="{FF2B5EF4-FFF2-40B4-BE49-F238E27FC236}">
                <a16:creationId xmlns:a16="http://schemas.microsoft.com/office/drawing/2014/main" id="{542C651D-83BF-86FC-C44C-D3A808A6F5C2}"/>
              </a:ext>
            </a:extLst>
          </p:cNvPr>
          <p:cNvCxnSpPr>
            <a:cxnSpLocks/>
          </p:cNvCxnSpPr>
          <p:nvPr/>
        </p:nvCxnSpPr>
        <p:spPr>
          <a:xfrm>
            <a:off x="6903476" y="5314182"/>
            <a:ext cx="578874" cy="374254"/>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0" name="TextBox 189">
            <a:extLst>
              <a:ext uri="{FF2B5EF4-FFF2-40B4-BE49-F238E27FC236}">
                <a16:creationId xmlns:a16="http://schemas.microsoft.com/office/drawing/2014/main" id="{6703BAD8-CA88-C93D-62D6-F20B52B7C597}"/>
              </a:ext>
            </a:extLst>
          </p:cNvPr>
          <p:cNvSpPr txBox="1"/>
          <p:nvPr/>
        </p:nvSpPr>
        <p:spPr>
          <a:xfrm>
            <a:off x="5910720" y="571755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191" name="TextBox 190">
            <a:extLst>
              <a:ext uri="{FF2B5EF4-FFF2-40B4-BE49-F238E27FC236}">
                <a16:creationId xmlns:a16="http://schemas.microsoft.com/office/drawing/2014/main" id="{55F82115-D5BD-BD46-E392-655F42F02A01}"/>
              </a:ext>
            </a:extLst>
          </p:cNvPr>
          <p:cNvSpPr txBox="1"/>
          <p:nvPr/>
        </p:nvSpPr>
        <p:spPr>
          <a:xfrm>
            <a:off x="7039895" y="571755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2" name="TextBox 1">
            <a:extLst>
              <a:ext uri="{FF2B5EF4-FFF2-40B4-BE49-F238E27FC236}">
                <a16:creationId xmlns:a16="http://schemas.microsoft.com/office/drawing/2014/main" id="{10F88F71-04DC-FA1C-1763-62B88C902C3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24CD051-AF54-CE17-C5FC-AE6B28DFEEC2}"/>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F18F961B-E6A1-A0F8-E192-6B5C659DD564}"/>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850D19F-486E-A189-58B4-BC22F13817B6}"/>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50977A04-9BDC-3BEF-DA7B-8112E50C2FEA}"/>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9134337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500"/>
                                        <p:tgtEl>
                                          <p:spTgt spid="1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4"/>
                                        </p:tgtEl>
                                        <p:attrNameLst>
                                          <p:attrName>style.visibility</p:attrName>
                                        </p:attrNameLst>
                                      </p:cBhvr>
                                      <p:to>
                                        <p:strVal val="visible"/>
                                      </p:to>
                                    </p:set>
                                    <p:animEffect transition="in" filter="fade">
                                      <p:cBhvr>
                                        <p:cTn id="12" dur="500"/>
                                        <p:tgtEl>
                                          <p:spTgt spid="154"/>
                                        </p:tgtEl>
                                      </p:cBhvr>
                                    </p:animEffect>
                                  </p:childTnLst>
                                </p:cTn>
                              </p:par>
                              <p:par>
                                <p:cTn id="13" presetID="10" presetClass="entr" presetSubtype="0" fill="hold" nodeType="withEffect">
                                  <p:stCondLst>
                                    <p:cond delay="0"/>
                                  </p:stCondLst>
                                  <p:childTnLst>
                                    <p:set>
                                      <p:cBhvr>
                                        <p:cTn id="14" dur="1" fill="hold">
                                          <p:stCondLst>
                                            <p:cond delay="0"/>
                                          </p:stCondLst>
                                        </p:cTn>
                                        <p:tgtEl>
                                          <p:spTgt spid="156"/>
                                        </p:tgtEl>
                                        <p:attrNameLst>
                                          <p:attrName>style.visibility</p:attrName>
                                        </p:attrNameLst>
                                      </p:cBhvr>
                                      <p:to>
                                        <p:strVal val="visible"/>
                                      </p:to>
                                    </p:set>
                                    <p:animEffect transition="in" filter="fade">
                                      <p:cBhvr>
                                        <p:cTn id="15" dur="500"/>
                                        <p:tgtEl>
                                          <p:spTgt spid="15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4"/>
                                        </p:tgtEl>
                                        <p:attrNameLst>
                                          <p:attrName>style.visibility</p:attrName>
                                        </p:attrNameLst>
                                      </p:cBhvr>
                                      <p:to>
                                        <p:strVal val="visible"/>
                                      </p:to>
                                    </p:set>
                                    <p:animEffect transition="in" filter="fade">
                                      <p:cBhvr>
                                        <p:cTn id="18" dur="500"/>
                                        <p:tgtEl>
                                          <p:spTgt spid="16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5"/>
                                        </p:tgtEl>
                                        <p:attrNameLst>
                                          <p:attrName>style.visibility</p:attrName>
                                        </p:attrNameLst>
                                      </p:cBhvr>
                                      <p:to>
                                        <p:strVal val="visible"/>
                                      </p:to>
                                    </p:set>
                                    <p:animEffect transition="in" filter="fade">
                                      <p:cBhvr>
                                        <p:cTn id="21" dur="500"/>
                                        <p:tgtEl>
                                          <p:spTgt spid="165"/>
                                        </p:tgtEl>
                                      </p:cBhvr>
                                    </p:animEffect>
                                  </p:childTnLst>
                                </p:cTn>
                              </p:par>
                              <p:par>
                                <p:cTn id="22" presetID="10" presetClass="entr" presetSubtype="0" fill="hold" nodeType="withEffect">
                                  <p:stCondLst>
                                    <p:cond delay="0"/>
                                  </p:stCondLst>
                                  <p:childTnLst>
                                    <p:set>
                                      <p:cBhvr>
                                        <p:cTn id="23" dur="1" fill="hold">
                                          <p:stCondLst>
                                            <p:cond delay="0"/>
                                          </p:stCondLst>
                                        </p:cTn>
                                        <p:tgtEl>
                                          <p:spTgt spid="166"/>
                                        </p:tgtEl>
                                        <p:attrNameLst>
                                          <p:attrName>style.visibility</p:attrName>
                                        </p:attrNameLst>
                                      </p:cBhvr>
                                      <p:to>
                                        <p:strVal val="visible"/>
                                      </p:to>
                                    </p:set>
                                    <p:animEffect transition="in" filter="fade">
                                      <p:cBhvr>
                                        <p:cTn id="24" dur="500"/>
                                        <p:tgtEl>
                                          <p:spTgt spid="166"/>
                                        </p:tgtEl>
                                      </p:cBhvr>
                                    </p:animEffect>
                                  </p:childTnLst>
                                </p:cTn>
                              </p:par>
                              <p:par>
                                <p:cTn id="25" presetID="10" presetClass="entr" presetSubtype="0" fill="hold" nodeType="withEffect">
                                  <p:stCondLst>
                                    <p:cond delay="0"/>
                                  </p:stCondLst>
                                  <p:childTnLst>
                                    <p:set>
                                      <p:cBhvr>
                                        <p:cTn id="26" dur="1" fill="hold">
                                          <p:stCondLst>
                                            <p:cond delay="0"/>
                                          </p:stCondLst>
                                        </p:cTn>
                                        <p:tgtEl>
                                          <p:spTgt spid="167"/>
                                        </p:tgtEl>
                                        <p:attrNameLst>
                                          <p:attrName>style.visibility</p:attrName>
                                        </p:attrNameLst>
                                      </p:cBhvr>
                                      <p:to>
                                        <p:strVal val="visible"/>
                                      </p:to>
                                    </p:set>
                                    <p:animEffect transition="in" filter="fade">
                                      <p:cBhvr>
                                        <p:cTn id="27" dur="500"/>
                                        <p:tgtEl>
                                          <p:spTgt spid="16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8"/>
                                        </p:tgtEl>
                                        <p:attrNameLst>
                                          <p:attrName>style.visibility</p:attrName>
                                        </p:attrNameLst>
                                      </p:cBhvr>
                                      <p:to>
                                        <p:strVal val="visible"/>
                                      </p:to>
                                    </p:set>
                                    <p:animEffect transition="in" filter="fade">
                                      <p:cBhvr>
                                        <p:cTn id="30" dur="500"/>
                                        <p:tgtEl>
                                          <p:spTgt spid="16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9"/>
                                        </p:tgtEl>
                                        <p:attrNameLst>
                                          <p:attrName>style.visibility</p:attrName>
                                        </p:attrNameLst>
                                      </p:cBhvr>
                                      <p:to>
                                        <p:strVal val="visible"/>
                                      </p:to>
                                    </p:set>
                                    <p:animEffect transition="in" filter="fade">
                                      <p:cBhvr>
                                        <p:cTn id="33" dur="500"/>
                                        <p:tgtEl>
                                          <p:spTgt spid="169"/>
                                        </p:tgtEl>
                                      </p:cBhvr>
                                    </p:animEffect>
                                  </p:childTnLst>
                                </p:cTn>
                              </p:par>
                              <p:par>
                                <p:cTn id="34" presetID="10" presetClass="entr" presetSubtype="0" fill="hold" nodeType="withEffect">
                                  <p:stCondLst>
                                    <p:cond delay="0"/>
                                  </p:stCondLst>
                                  <p:childTnLst>
                                    <p:set>
                                      <p:cBhvr>
                                        <p:cTn id="35" dur="1" fill="hold">
                                          <p:stCondLst>
                                            <p:cond delay="0"/>
                                          </p:stCondLst>
                                        </p:cTn>
                                        <p:tgtEl>
                                          <p:spTgt spid="188"/>
                                        </p:tgtEl>
                                        <p:attrNameLst>
                                          <p:attrName>style.visibility</p:attrName>
                                        </p:attrNameLst>
                                      </p:cBhvr>
                                      <p:to>
                                        <p:strVal val="visible"/>
                                      </p:to>
                                    </p:set>
                                    <p:animEffect transition="in" filter="fade">
                                      <p:cBhvr>
                                        <p:cTn id="36" dur="500"/>
                                        <p:tgtEl>
                                          <p:spTgt spid="188"/>
                                        </p:tgtEl>
                                      </p:cBhvr>
                                    </p:animEffect>
                                  </p:childTnLst>
                                </p:cTn>
                              </p:par>
                              <p:par>
                                <p:cTn id="37" presetID="10" presetClass="entr" presetSubtype="0" fill="hold" nodeType="withEffect">
                                  <p:stCondLst>
                                    <p:cond delay="0"/>
                                  </p:stCondLst>
                                  <p:childTnLst>
                                    <p:set>
                                      <p:cBhvr>
                                        <p:cTn id="38" dur="1" fill="hold">
                                          <p:stCondLst>
                                            <p:cond delay="0"/>
                                          </p:stCondLst>
                                        </p:cTn>
                                        <p:tgtEl>
                                          <p:spTgt spid="189"/>
                                        </p:tgtEl>
                                        <p:attrNameLst>
                                          <p:attrName>style.visibility</p:attrName>
                                        </p:attrNameLst>
                                      </p:cBhvr>
                                      <p:to>
                                        <p:strVal val="visible"/>
                                      </p:to>
                                    </p:set>
                                    <p:animEffect transition="in" filter="fade">
                                      <p:cBhvr>
                                        <p:cTn id="39" dur="500"/>
                                        <p:tgtEl>
                                          <p:spTgt spid="18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0"/>
                                        </p:tgtEl>
                                        <p:attrNameLst>
                                          <p:attrName>style.visibility</p:attrName>
                                        </p:attrNameLst>
                                      </p:cBhvr>
                                      <p:to>
                                        <p:strVal val="visible"/>
                                      </p:to>
                                    </p:set>
                                    <p:animEffect transition="in" filter="fade">
                                      <p:cBhvr>
                                        <p:cTn id="42" dur="500"/>
                                        <p:tgtEl>
                                          <p:spTgt spid="19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1"/>
                                        </p:tgtEl>
                                        <p:attrNameLst>
                                          <p:attrName>style.visibility</p:attrName>
                                        </p:attrNameLst>
                                      </p:cBhvr>
                                      <p:to>
                                        <p:strVal val="visible"/>
                                      </p:to>
                                    </p:set>
                                    <p:animEffect transition="in" filter="fade">
                                      <p:cBhvr>
                                        <p:cTn id="45" dur="500"/>
                                        <p:tgtEl>
                                          <p:spTgt spid="191"/>
                                        </p:tgtEl>
                                      </p:cBhvr>
                                    </p:animEffect>
                                  </p:childTnLst>
                                </p:cTn>
                              </p:par>
                              <p:par>
                                <p:cTn id="46" presetID="10" presetClass="entr" presetSubtype="0" fill="hold" nodeType="withEffect">
                                  <p:stCondLst>
                                    <p:cond delay="0"/>
                                  </p:stCondLst>
                                  <p:childTnLst>
                                    <p:set>
                                      <p:cBhvr>
                                        <p:cTn id="47" dur="1" fill="hold">
                                          <p:stCondLst>
                                            <p:cond delay="0"/>
                                          </p:stCondLst>
                                        </p:cTn>
                                        <p:tgtEl>
                                          <p:spTgt spid="171"/>
                                        </p:tgtEl>
                                        <p:attrNameLst>
                                          <p:attrName>style.visibility</p:attrName>
                                        </p:attrNameLst>
                                      </p:cBhvr>
                                      <p:to>
                                        <p:strVal val="visible"/>
                                      </p:to>
                                    </p:set>
                                    <p:animEffect transition="in" filter="fade">
                                      <p:cBhvr>
                                        <p:cTn id="48"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p:bldP spid="154" grpId="0"/>
      <p:bldP spid="164" grpId="0"/>
      <p:bldP spid="165" grpId="0"/>
      <p:bldP spid="168" grpId="0"/>
      <p:bldP spid="169" grpId="0"/>
      <p:bldP spid="190" grpId="0"/>
      <p:bldP spid="19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CC4A8-8939-BC35-039B-57FEF6E636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1625B5-A0C4-B92C-6882-5A33E36DE18A}"/>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57223DE-0801-00D4-CD1C-CA339BF95AF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EAE3BE2-BECA-A4B7-AAD8-700877B4C093}"/>
              </a:ext>
            </a:extLst>
          </p:cNvPr>
          <p:cNvSpPr>
            <a:spLocks noGrp="1"/>
          </p:cNvSpPr>
          <p:nvPr>
            <p:ph type="sldNum" sz="quarter" idx="4"/>
          </p:nvPr>
        </p:nvSpPr>
        <p:spPr/>
        <p:txBody>
          <a:bodyPr/>
          <a:lstStyle/>
          <a:p>
            <a:pPr>
              <a:defRPr/>
            </a:pPr>
            <a:fld id="{A9CE67A1-BA7F-A74E-B5D7-615746DEEC2B}" type="slidenum">
              <a:rPr lang="en-US" smtClean="0"/>
              <a:pPr>
                <a:defRPr/>
              </a:pPr>
              <a:t>17</a:t>
            </a:fld>
            <a:endParaRPr lang="en-US" baseline="-11000" dirty="0"/>
          </a:p>
        </p:txBody>
      </p:sp>
      <p:sp>
        <p:nvSpPr>
          <p:cNvPr id="6" name="Date Placeholder 5">
            <a:extLst>
              <a:ext uri="{FF2B5EF4-FFF2-40B4-BE49-F238E27FC236}">
                <a16:creationId xmlns:a16="http://schemas.microsoft.com/office/drawing/2014/main" id="{3FB9D966-24B7-D1AC-E2A3-AEE107663009}"/>
              </a:ext>
            </a:extLst>
          </p:cNvPr>
          <p:cNvSpPr>
            <a:spLocks noGrp="1"/>
          </p:cNvSpPr>
          <p:nvPr>
            <p:ph type="dt" sz="half" idx="2"/>
          </p:nvPr>
        </p:nvSpPr>
        <p:spPr/>
        <p:txBody>
          <a:bodyPr/>
          <a:lstStyle/>
          <a:p>
            <a:fld id="{EAFD7BB1-AB7F-4336-A8B3-6627E5D36FE4}" type="datetime3">
              <a:rPr lang="en-US" smtClean="0"/>
              <a:t>19 March 2026</a:t>
            </a:fld>
            <a:endParaRPr lang="en-US" dirty="0"/>
          </a:p>
        </p:txBody>
      </p:sp>
      <p:cxnSp>
        <p:nvCxnSpPr>
          <p:cNvPr id="8" name="Straight Arrow Connector 7">
            <a:extLst>
              <a:ext uri="{FF2B5EF4-FFF2-40B4-BE49-F238E27FC236}">
                <a16:creationId xmlns:a16="http://schemas.microsoft.com/office/drawing/2014/main" id="{D953F31F-31A0-AAD4-1650-AA7B7F4E3346}"/>
              </a:ext>
            </a:extLst>
          </p:cNvPr>
          <p:cNvCxnSpPr>
            <a:cxnSpLocks/>
          </p:cNvCxnSpPr>
          <p:nvPr/>
        </p:nvCxnSpPr>
        <p:spPr>
          <a:xfrm>
            <a:off x="5672279" y="2361316"/>
            <a:ext cx="551541"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9F953D-DF66-6BA1-59A5-CF3427FB1298}"/>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1F9F953D-DF66-6BA1-59A5-CF3427FB1298}"/>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7"/>
                <a:stretch>
                  <a:fillRect b="-19048"/>
                </a:stretch>
              </a:blipFill>
            </p:spPr>
            <p:txBody>
              <a:bodyPr/>
              <a:lstStyle/>
              <a:p>
                <a:r>
                  <a:rPr lang="en-US">
                    <a:noFill/>
                  </a:rPr>
                  <a:t> </a:t>
                </a:r>
              </a:p>
            </p:txBody>
          </p:sp>
        </mc:Fallback>
      </mc:AlternateContent>
      <p:cxnSp>
        <p:nvCxnSpPr>
          <p:cNvPr id="83" name="Straight Arrow Connector 82">
            <a:extLst>
              <a:ext uri="{FF2B5EF4-FFF2-40B4-BE49-F238E27FC236}">
                <a16:creationId xmlns:a16="http://schemas.microsoft.com/office/drawing/2014/main" id="{81DD1460-4921-5F26-7D40-650E8A0618FE}"/>
              </a:ext>
            </a:extLst>
          </p:cNvPr>
          <p:cNvCxnSpPr>
            <a:cxnSpLocks/>
          </p:cNvCxnSpPr>
          <p:nvPr/>
        </p:nvCxnSpPr>
        <p:spPr>
          <a:xfrm>
            <a:off x="5672279" y="5011110"/>
            <a:ext cx="551541"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789BCD8C-2ECF-CE15-786E-B71BC351BEEB}"/>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15A61A43-107A-0526-705C-7CF6A147FA19}"/>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0088730A-626C-3E90-D1FD-07CF66F2EC1D}"/>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67449F1C-6463-E398-2A2E-888C1D151890}"/>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4" name="!!Freeform: Shape 10">
            <a:extLst>
              <a:ext uri="{FF2B5EF4-FFF2-40B4-BE49-F238E27FC236}">
                <a16:creationId xmlns:a16="http://schemas.microsoft.com/office/drawing/2014/main" id="{C5DCF63B-82DB-94B2-F3C8-737D20F61479}"/>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 name="TextBox 1">
            <a:extLst>
              <a:ext uri="{FF2B5EF4-FFF2-40B4-BE49-F238E27FC236}">
                <a16:creationId xmlns:a16="http://schemas.microsoft.com/office/drawing/2014/main" id="{CF2C5BF9-F15D-3945-BE8D-0ADB05C753F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7EB7A63-D8CF-9436-BA63-FE8234FBD7C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9" name="TextBox 8">
            <a:extLst>
              <a:ext uri="{FF2B5EF4-FFF2-40B4-BE49-F238E27FC236}">
                <a16:creationId xmlns:a16="http://schemas.microsoft.com/office/drawing/2014/main" id="{884AECED-3DD6-6B4C-13A2-7C6F5BF8C907}"/>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0" name="TextBox 9">
            <a:extLst>
              <a:ext uri="{FF2B5EF4-FFF2-40B4-BE49-F238E27FC236}">
                <a16:creationId xmlns:a16="http://schemas.microsoft.com/office/drawing/2014/main" id="{BDDC0D86-1AEE-FD4D-8F3F-C235F2AFD300}"/>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1" name="TextBox 10">
            <a:extLst>
              <a:ext uri="{FF2B5EF4-FFF2-40B4-BE49-F238E27FC236}">
                <a16:creationId xmlns:a16="http://schemas.microsoft.com/office/drawing/2014/main" id="{CC7013DA-D62F-93BA-40D6-1FAE0B48997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1523696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7889-75AE-1C82-981D-8964918A62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B71FFD-2023-C73F-0769-AEFF2DEBA09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34B8427-9223-C99D-6D51-621B864CD64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23D6B42-5007-918D-ED65-950FCB7FC648}"/>
              </a:ext>
            </a:extLst>
          </p:cNvPr>
          <p:cNvSpPr>
            <a:spLocks noGrp="1"/>
          </p:cNvSpPr>
          <p:nvPr>
            <p:ph type="sldNum" sz="quarter" idx="4"/>
          </p:nvPr>
        </p:nvSpPr>
        <p:spPr/>
        <p:txBody>
          <a:bodyPr/>
          <a:lstStyle/>
          <a:p>
            <a:pPr>
              <a:defRPr/>
            </a:pPr>
            <a:fld id="{A9CE67A1-BA7F-A74E-B5D7-615746DEEC2B}" type="slidenum">
              <a:rPr lang="en-US" smtClean="0"/>
              <a:pPr>
                <a:defRPr/>
              </a:pPr>
              <a:t>18</a:t>
            </a:fld>
            <a:endParaRPr lang="en-US" baseline="-11000" dirty="0"/>
          </a:p>
        </p:txBody>
      </p:sp>
      <p:sp>
        <p:nvSpPr>
          <p:cNvPr id="6" name="Date Placeholder 5">
            <a:extLst>
              <a:ext uri="{FF2B5EF4-FFF2-40B4-BE49-F238E27FC236}">
                <a16:creationId xmlns:a16="http://schemas.microsoft.com/office/drawing/2014/main" id="{D84DD8A4-E4F5-2794-6925-C38CCDC0FE4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5" name="!!TextBox 84">
            <a:extLst>
              <a:ext uri="{FF2B5EF4-FFF2-40B4-BE49-F238E27FC236}">
                <a16:creationId xmlns:a16="http://schemas.microsoft.com/office/drawing/2014/main" id="{13FA14B2-9D7C-61AF-24BB-2A1C0C5C3D83}"/>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86" name="Rectangle 85">
            <a:extLst>
              <a:ext uri="{FF2B5EF4-FFF2-40B4-BE49-F238E27FC236}">
                <a16:creationId xmlns:a16="http://schemas.microsoft.com/office/drawing/2014/main" id="{41402852-3737-1A3C-6A56-6A26827BD8FC}"/>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Freeform: Shape 8">
            <a:extLst>
              <a:ext uri="{FF2B5EF4-FFF2-40B4-BE49-F238E27FC236}">
                <a16:creationId xmlns:a16="http://schemas.microsoft.com/office/drawing/2014/main" id="{461B4CD3-06AF-EA43-D6E5-7618BF1D376B}"/>
              </a:ext>
            </a:extLst>
          </p:cNvPr>
          <p:cNvSpPr/>
          <p:nvPr/>
        </p:nvSpPr>
        <p:spPr>
          <a:xfrm>
            <a:off x="-7828115" y="1480735"/>
            <a:ext cx="6439264" cy="9008722"/>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14" name="!!Diagram 1">
            <a:extLst>
              <a:ext uri="{FF2B5EF4-FFF2-40B4-BE49-F238E27FC236}">
                <a16:creationId xmlns:a16="http://schemas.microsoft.com/office/drawing/2014/main" id="{AAAE91DE-057D-1CB0-BD2D-CAC3B137DAF2}"/>
              </a:ext>
            </a:extLst>
          </p:cNvPr>
          <p:cNvSpPr/>
          <p:nvPr/>
        </p:nvSpPr>
        <p:spPr>
          <a:xfrm>
            <a:off x="2880220" y="1490960"/>
            <a:ext cx="6439264" cy="4110480"/>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15" name="!!Freeform: Shape 10">
            <a:extLst>
              <a:ext uri="{FF2B5EF4-FFF2-40B4-BE49-F238E27FC236}">
                <a16:creationId xmlns:a16="http://schemas.microsoft.com/office/drawing/2014/main" id="{CBCA31E2-FA4C-DB4B-F185-2D055C74FEE9}"/>
              </a:ext>
            </a:extLst>
          </p:cNvPr>
          <p:cNvSpPr/>
          <p:nvPr/>
        </p:nvSpPr>
        <p:spPr>
          <a:xfrm>
            <a:off x="3184313" y="7660903"/>
            <a:ext cx="6432976" cy="4110480"/>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 name="TextBox 1">
            <a:extLst>
              <a:ext uri="{FF2B5EF4-FFF2-40B4-BE49-F238E27FC236}">
                <a16:creationId xmlns:a16="http://schemas.microsoft.com/office/drawing/2014/main" id="{EB40BFD1-FB18-E932-9144-C97C8A386AB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350DBD4-4D14-F651-D939-91A9F380B724}"/>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CF1808DC-3269-EB76-37E9-57588A35980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A6AF793-2A5D-B91C-1397-F82292343C7E}"/>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367E0549-1FF8-1361-71CB-0F245D804B3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85489560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EF67B-D754-42AC-0324-ACC4096E3F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CFABE2-0D58-EA3C-105E-D215E225E867}"/>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56B07838-0E79-7191-30E7-8598D2116EE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E410604-8EE3-1A77-FA1A-EE027DC152A4}"/>
              </a:ext>
            </a:extLst>
          </p:cNvPr>
          <p:cNvSpPr>
            <a:spLocks noGrp="1"/>
          </p:cNvSpPr>
          <p:nvPr>
            <p:ph type="sldNum" sz="quarter" idx="4"/>
          </p:nvPr>
        </p:nvSpPr>
        <p:spPr/>
        <p:txBody>
          <a:bodyPr/>
          <a:lstStyle/>
          <a:p>
            <a:pPr>
              <a:defRPr/>
            </a:pPr>
            <a:fld id="{A9CE67A1-BA7F-A74E-B5D7-615746DEEC2B}" type="slidenum">
              <a:rPr lang="en-US" smtClean="0"/>
              <a:pPr>
                <a:defRPr/>
              </a:pPr>
              <a:t>19</a:t>
            </a:fld>
            <a:endParaRPr lang="en-US" baseline="-11000" dirty="0"/>
          </a:p>
        </p:txBody>
      </p:sp>
      <p:sp>
        <p:nvSpPr>
          <p:cNvPr id="6" name="Date Placeholder 5">
            <a:extLst>
              <a:ext uri="{FF2B5EF4-FFF2-40B4-BE49-F238E27FC236}">
                <a16:creationId xmlns:a16="http://schemas.microsoft.com/office/drawing/2014/main" id="{24DAF50E-4E77-8882-041B-1E6341DBA396}"/>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5" name="!!TextBox 84">
            <a:extLst>
              <a:ext uri="{FF2B5EF4-FFF2-40B4-BE49-F238E27FC236}">
                <a16:creationId xmlns:a16="http://schemas.microsoft.com/office/drawing/2014/main" id="{FC4EEEBC-C5CA-5495-1146-A0E419731CAC}"/>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86" name="Rectangle 85">
            <a:extLst>
              <a:ext uri="{FF2B5EF4-FFF2-40B4-BE49-F238E27FC236}">
                <a16:creationId xmlns:a16="http://schemas.microsoft.com/office/drawing/2014/main" id="{25FE8218-8447-489A-AB37-49B48D3A4EC6}"/>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Freeform: Shape 8">
            <a:extLst>
              <a:ext uri="{FF2B5EF4-FFF2-40B4-BE49-F238E27FC236}">
                <a16:creationId xmlns:a16="http://schemas.microsoft.com/office/drawing/2014/main" id="{8E2BD757-26B2-AC5E-E8FA-A071CD6A0829}"/>
              </a:ext>
            </a:extLst>
          </p:cNvPr>
          <p:cNvSpPr/>
          <p:nvPr/>
        </p:nvSpPr>
        <p:spPr>
          <a:xfrm>
            <a:off x="-7828115" y="1480735"/>
            <a:ext cx="6439264" cy="9008722"/>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14" name="!!Diagram 1">
            <a:extLst>
              <a:ext uri="{FF2B5EF4-FFF2-40B4-BE49-F238E27FC236}">
                <a16:creationId xmlns:a16="http://schemas.microsoft.com/office/drawing/2014/main" id="{5A89E956-94E9-988D-DDD2-BC3BBA4E43DE}"/>
              </a:ext>
            </a:extLst>
          </p:cNvPr>
          <p:cNvSpPr/>
          <p:nvPr/>
        </p:nvSpPr>
        <p:spPr>
          <a:xfrm>
            <a:off x="2880220" y="1490960"/>
            <a:ext cx="6439264" cy="4110480"/>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15" name="!!Freeform: Shape 10">
            <a:extLst>
              <a:ext uri="{FF2B5EF4-FFF2-40B4-BE49-F238E27FC236}">
                <a16:creationId xmlns:a16="http://schemas.microsoft.com/office/drawing/2014/main" id="{88BEAC0D-B56C-329E-0FA4-A9E0620EFAF3}"/>
              </a:ext>
            </a:extLst>
          </p:cNvPr>
          <p:cNvSpPr/>
          <p:nvPr/>
        </p:nvSpPr>
        <p:spPr>
          <a:xfrm>
            <a:off x="3184313" y="7660903"/>
            <a:ext cx="6432976" cy="4110480"/>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graphicFrame>
        <p:nvGraphicFramePr>
          <p:cNvPr id="16" name="Diagram 15">
            <a:extLst>
              <a:ext uri="{FF2B5EF4-FFF2-40B4-BE49-F238E27FC236}">
                <a16:creationId xmlns:a16="http://schemas.microsoft.com/office/drawing/2014/main" id="{DDBE98DC-4256-EAD6-DD6C-F54ED0DB9B06}"/>
              </a:ext>
            </a:extLst>
          </p:cNvPr>
          <p:cNvGraphicFramePr/>
          <p:nvPr>
            <p:extLst>
              <p:ext uri="{D42A27DB-BD31-4B8C-83A1-F6EECF244321}">
                <p14:modId xmlns:p14="http://schemas.microsoft.com/office/powerpoint/2010/main" val="3129515813"/>
              </p:ext>
            </p:extLst>
          </p:nvPr>
        </p:nvGraphicFramePr>
        <p:xfrm>
          <a:off x="3184313" y="1841177"/>
          <a:ext cx="5949285" cy="3525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7" name="Straight Arrow Connector 16">
            <a:extLst>
              <a:ext uri="{FF2B5EF4-FFF2-40B4-BE49-F238E27FC236}">
                <a16:creationId xmlns:a16="http://schemas.microsoft.com/office/drawing/2014/main" id="{F89D77B1-FF93-0A2F-C14A-5F531C92D9F0}"/>
              </a:ext>
            </a:extLst>
          </p:cNvPr>
          <p:cNvCxnSpPr>
            <a:cxnSpLocks/>
          </p:cNvCxnSpPr>
          <p:nvPr/>
        </p:nvCxnSpPr>
        <p:spPr>
          <a:xfrm>
            <a:off x="5962309" y="2644826"/>
            <a:ext cx="37899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FF3D382-2FCB-5C0D-36CE-D9B48BCF949B}"/>
                  </a:ext>
                </a:extLst>
              </p:cNvPr>
              <p:cNvSpPr txBox="1"/>
              <p:nvPr/>
            </p:nvSpPr>
            <p:spPr>
              <a:xfrm>
                <a:off x="5672973" y="3429000"/>
                <a:ext cx="957662" cy="919467"/>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8" name="TextBox 17">
                <a:extLst>
                  <a:ext uri="{FF2B5EF4-FFF2-40B4-BE49-F238E27FC236}">
                    <a16:creationId xmlns:a16="http://schemas.microsoft.com/office/drawing/2014/main" id="{AFF3D382-2FCB-5C0D-36CE-D9B48BCF949B}"/>
                  </a:ext>
                </a:extLst>
              </p:cNvPr>
              <p:cNvSpPr txBox="1">
                <a:spLocks noRot="1" noChangeAspect="1" noMove="1" noResize="1" noEditPoints="1" noAdjustHandles="1" noChangeArrowheads="1" noChangeShapeType="1" noTextEdit="1"/>
              </p:cNvSpPr>
              <p:nvPr/>
            </p:nvSpPr>
            <p:spPr>
              <a:xfrm>
                <a:off x="5672973" y="3429000"/>
                <a:ext cx="957662" cy="919467"/>
              </a:xfrm>
              <a:prstGeom prst="rect">
                <a:avLst/>
              </a:prstGeom>
              <a:blipFill>
                <a:blip r:embed="rId7"/>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7B1B3DE3-584C-6915-916D-9D54F872A65F}"/>
              </a:ext>
            </a:extLst>
          </p:cNvPr>
          <p:cNvCxnSpPr>
            <a:cxnSpLocks/>
          </p:cNvCxnSpPr>
          <p:nvPr/>
        </p:nvCxnSpPr>
        <p:spPr>
          <a:xfrm>
            <a:off x="5962309" y="4490017"/>
            <a:ext cx="37899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A67BD1FC-0AB9-E6F0-F93F-B351D78CB74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8157A6B6-5A66-EB93-46BF-4DC230E5A6B5}"/>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EDD720FC-2006-B5F6-B213-BCD44AE67C0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2E3CE6F0-739B-CA08-9E42-27724D289DFA}"/>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DE9CC2E9-AE80-EBC1-C7E8-4E5C751C9BC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375166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B579-A27C-35EB-27A2-4BC0F3899A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146AC6-86DB-AC26-B280-FB34C440FD8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2BE9B834-75AE-9C2A-5E04-CCF5E313C3F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1669801-9681-5DEF-B127-F6683F0FE5CA}"/>
              </a:ext>
            </a:extLst>
          </p:cNvPr>
          <p:cNvSpPr>
            <a:spLocks noGrp="1"/>
          </p:cNvSpPr>
          <p:nvPr>
            <p:ph type="sldNum" sz="quarter" idx="4"/>
          </p:nvPr>
        </p:nvSpPr>
        <p:spPr/>
        <p:txBody>
          <a:bodyPr/>
          <a:lstStyle/>
          <a:p>
            <a:pPr>
              <a:defRPr/>
            </a:pPr>
            <a:fld id="{A9CE67A1-BA7F-A74E-B5D7-615746DEEC2B}" type="slidenum">
              <a:rPr lang="en-US" smtClean="0"/>
              <a:pPr>
                <a:defRPr/>
              </a:pPr>
              <a:t>20</a:t>
            </a:fld>
            <a:endParaRPr lang="en-US" baseline="-11000" dirty="0"/>
          </a:p>
        </p:txBody>
      </p:sp>
      <p:sp>
        <p:nvSpPr>
          <p:cNvPr id="6" name="Date Placeholder 5">
            <a:extLst>
              <a:ext uri="{FF2B5EF4-FFF2-40B4-BE49-F238E27FC236}">
                <a16:creationId xmlns:a16="http://schemas.microsoft.com/office/drawing/2014/main" id="{16FF879A-FA4F-D661-AC50-EA453AD65C63}"/>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E0A3F20-1FBC-75FA-402A-455227C544DE}"/>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CE0A3F20-1FBC-75FA-402A-455227C544DE}"/>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FAB7F5D6-99A1-0D9D-D96F-938A6F4E2529}"/>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234DB44A-BDEE-D13C-8EAA-C2683CC017CE}"/>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78316B7D-4B5F-7533-50B1-9289BAD994A2}"/>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279CEDE2-D5F0-1664-EC07-66AF9001811F}"/>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4" name="!!Freeform: Shape 10">
            <a:extLst>
              <a:ext uri="{FF2B5EF4-FFF2-40B4-BE49-F238E27FC236}">
                <a16:creationId xmlns:a16="http://schemas.microsoft.com/office/drawing/2014/main" id="{43FB882A-EA58-C849-FA98-0A48A14652C8}"/>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cxnSp>
        <p:nvCxnSpPr>
          <p:cNvPr id="2" name="Straight Arrow Connector 1">
            <a:extLst>
              <a:ext uri="{FF2B5EF4-FFF2-40B4-BE49-F238E27FC236}">
                <a16:creationId xmlns:a16="http://schemas.microsoft.com/office/drawing/2014/main" id="{AF1BC59D-4A48-5A52-F642-F83E140A293C}"/>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0748336-C116-14C9-A0C0-2CB77DB3B406}"/>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44D11A3-3A81-A5F9-EC77-97980E5B6C87}"/>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930D1AE4-F602-0EBE-9F66-0EAD398EEC92}"/>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5330547B-A6B2-1247-18E5-12418F546107}"/>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31D0CDF0-2A2D-B078-32B2-F300F32D78BC}"/>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2" name="TextBox 11">
            <a:extLst>
              <a:ext uri="{FF2B5EF4-FFF2-40B4-BE49-F238E27FC236}">
                <a16:creationId xmlns:a16="http://schemas.microsoft.com/office/drawing/2014/main" id="{D79674E3-8440-003A-9502-8A4DC17736E3}"/>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5623350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7E96D-1A85-9162-5711-C7E2FE4C14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9185C4-568E-FFEF-F069-9101F6F787D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E0EA7F81-89C5-95BA-D8A1-E58117C93EC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F38D406-8581-3A47-E5CF-EA487C2AC21D}"/>
              </a:ext>
            </a:extLst>
          </p:cNvPr>
          <p:cNvSpPr>
            <a:spLocks noGrp="1"/>
          </p:cNvSpPr>
          <p:nvPr>
            <p:ph type="sldNum" sz="quarter" idx="4"/>
          </p:nvPr>
        </p:nvSpPr>
        <p:spPr/>
        <p:txBody>
          <a:bodyPr/>
          <a:lstStyle/>
          <a:p>
            <a:pPr>
              <a:defRPr/>
            </a:pPr>
            <a:fld id="{A9CE67A1-BA7F-A74E-B5D7-615746DEEC2B}" type="slidenum">
              <a:rPr lang="en-US" smtClean="0"/>
              <a:pPr>
                <a:defRPr/>
              </a:pPr>
              <a:t>21</a:t>
            </a:fld>
            <a:endParaRPr lang="en-US" baseline="-11000" dirty="0"/>
          </a:p>
        </p:txBody>
      </p:sp>
      <p:sp>
        <p:nvSpPr>
          <p:cNvPr id="6" name="Date Placeholder 5">
            <a:extLst>
              <a:ext uri="{FF2B5EF4-FFF2-40B4-BE49-F238E27FC236}">
                <a16:creationId xmlns:a16="http://schemas.microsoft.com/office/drawing/2014/main" id="{4F0BED2D-365B-0E78-1372-52037606D425}"/>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4AA0483-5A4A-AD9B-907B-4FF3AAF6E616}"/>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64AA0483-5A4A-AD9B-907B-4FF3AAF6E616}"/>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4923E831-B16A-0B83-D4D8-EF2B18D94645}"/>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F4EAEB6B-669C-7393-C6CC-4EF1CB091A22}"/>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F568F1F8-2D17-C3F7-E9EE-472DB39F920D}"/>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C4EE82C6-2411-E419-3901-C2A427FA5387}"/>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4" name="!!Freeform: Shape 10">
            <a:extLst>
              <a:ext uri="{FF2B5EF4-FFF2-40B4-BE49-F238E27FC236}">
                <a16:creationId xmlns:a16="http://schemas.microsoft.com/office/drawing/2014/main" id="{6F58FA0A-8357-C438-CDFD-5FB0E01ED24C}"/>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 name="TextBox 1">
            <a:extLst>
              <a:ext uri="{FF2B5EF4-FFF2-40B4-BE49-F238E27FC236}">
                <a16:creationId xmlns:a16="http://schemas.microsoft.com/office/drawing/2014/main" id="{BC722E57-1B49-6808-C883-E1A867843A0A}"/>
              </a:ext>
            </a:extLst>
          </p:cNvPr>
          <p:cNvSpPr txBox="1"/>
          <p:nvPr/>
        </p:nvSpPr>
        <p:spPr>
          <a:xfrm>
            <a:off x="7383500" y="1265623"/>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sp>
        <p:nvSpPr>
          <p:cNvPr id="7" name="TextBox 6">
            <a:extLst>
              <a:ext uri="{FF2B5EF4-FFF2-40B4-BE49-F238E27FC236}">
                <a16:creationId xmlns:a16="http://schemas.microsoft.com/office/drawing/2014/main" id="{004BC477-956A-3FF2-C9A1-3C79E00071A6}"/>
              </a:ext>
            </a:extLst>
          </p:cNvPr>
          <p:cNvSpPr txBox="1"/>
          <p:nvPr/>
        </p:nvSpPr>
        <p:spPr>
          <a:xfrm>
            <a:off x="7383499" y="359343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graphicFrame>
        <p:nvGraphicFramePr>
          <p:cNvPr id="9" name="Diagram 8">
            <a:extLst>
              <a:ext uri="{FF2B5EF4-FFF2-40B4-BE49-F238E27FC236}">
                <a16:creationId xmlns:a16="http://schemas.microsoft.com/office/drawing/2014/main" id="{EFA92E68-DF4C-B8D3-2B2B-8CD62D155D38}"/>
              </a:ext>
            </a:extLst>
          </p:cNvPr>
          <p:cNvGraphicFramePr/>
          <p:nvPr/>
        </p:nvGraphicFramePr>
        <p:xfrm>
          <a:off x="6255647" y="1832315"/>
          <a:ext cx="2870805" cy="147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a:extLst>
              <a:ext uri="{FF2B5EF4-FFF2-40B4-BE49-F238E27FC236}">
                <a16:creationId xmlns:a16="http://schemas.microsoft.com/office/drawing/2014/main" id="{4F35E099-1081-F15D-2DCA-89C0984E7ECE}"/>
              </a:ext>
            </a:extLst>
          </p:cNvPr>
          <p:cNvGraphicFramePr/>
          <p:nvPr/>
        </p:nvGraphicFramePr>
        <p:xfrm>
          <a:off x="6255647" y="4106299"/>
          <a:ext cx="2870805" cy="14704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11" name="Straight Arrow Connector 10">
            <a:extLst>
              <a:ext uri="{FF2B5EF4-FFF2-40B4-BE49-F238E27FC236}">
                <a16:creationId xmlns:a16="http://schemas.microsoft.com/office/drawing/2014/main" id="{83B45A60-BA2D-D785-56DA-0CFF4758DB6E}"/>
              </a:ext>
            </a:extLst>
          </p:cNvPr>
          <p:cNvCxnSpPr>
            <a:cxnSpLocks/>
          </p:cNvCxnSpPr>
          <p:nvPr/>
        </p:nvCxnSpPr>
        <p:spPr>
          <a:xfrm>
            <a:off x="7606540" y="2199083"/>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B07689F-8FA0-BB64-0F1D-BF18E667976F}"/>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2" name="TextBox 11">
                <a:extLst>
                  <a:ext uri="{FF2B5EF4-FFF2-40B4-BE49-F238E27FC236}">
                    <a16:creationId xmlns:a16="http://schemas.microsoft.com/office/drawing/2014/main" id="{2B07689F-8FA0-BB64-0F1D-BF18E667976F}"/>
                  </a:ext>
                </a:extLst>
              </p:cNvPr>
              <p:cNvSpPr txBox="1">
                <a:spLocks noRot="1" noChangeAspect="1" noMove="1" noResize="1" noEditPoints="1" noAdjustHandles="1" noChangeArrowheads="1" noChangeShapeType="1" noTextEdit="1"/>
              </p:cNvSpPr>
              <p:nvPr/>
            </p:nvSpPr>
            <p:spPr>
              <a:xfrm>
                <a:off x="7459991" y="2447350"/>
                <a:ext cx="462116" cy="383458"/>
              </a:xfrm>
              <a:prstGeom prst="rect">
                <a:avLst/>
              </a:prstGeom>
              <a:blipFill>
                <a:blip r:embed="rId13"/>
                <a:stretch>
                  <a:fillRect b="-4762"/>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B93FC417-0860-6DC0-667F-B94FA8B867B3}"/>
              </a:ext>
            </a:extLst>
          </p:cNvPr>
          <p:cNvCxnSpPr>
            <a:cxnSpLocks/>
          </p:cNvCxnSpPr>
          <p:nvPr/>
        </p:nvCxnSpPr>
        <p:spPr>
          <a:xfrm>
            <a:off x="7621291" y="3079074"/>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B4FB152-697E-6B0B-6809-A118103963C2}"/>
              </a:ext>
            </a:extLst>
          </p:cNvPr>
          <p:cNvCxnSpPr>
            <a:cxnSpLocks/>
          </p:cNvCxnSpPr>
          <p:nvPr/>
        </p:nvCxnSpPr>
        <p:spPr>
          <a:xfrm>
            <a:off x="7606540" y="4473067"/>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DC406B1-0DD9-2C95-530A-855928B967C0}"/>
                  </a:ext>
                </a:extLst>
              </p:cNvPr>
              <p:cNvSpPr txBox="1"/>
              <p:nvPr/>
            </p:nvSpPr>
            <p:spPr>
              <a:xfrm>
                <a:off x="7459991" y="47213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5" name="TextBox 14">
                <a:extLst>
                  <a:ext uri="{FF2B5EF4-FFF2-40B4-BE49-F238E27FC236}">
                    <a16:creationId xmlns:a16="http://schemas.microsoft.com/office/drawing/2014/main" id="{8DC406B1-0DD9-2C95-530A-855928B967C0}"/>
                  </a:ext>
                </a:extLst>
              </p:cNvPr>
              <p:cNvSpPr txBox="1">
                <a:spLocks noRot="1" noChangeAspect="1" noMove="1" noResize="1" noEditPoints="1" noAdjustHandles="1" noChangeArrowheads="1" noChangeShapeType="1" noTextEdit="1"/>
              </p:cNvSpPr>
              <p:nvPr/>
            </p:nvSpPr>
            <p:spPr>
              <a:xfrm>
                <a:off x="7459991" y="4721334"/>
                <a:ext cx="462116" cy="383458"/>
              </a:xfrm>
              <a:prstGeom prst="rect">
                <a:avLst/>
              </a:prstGeom>
              <a:blipFill>
                <a:blip r:embed="rId14"/>
                <a:stretch>
                  <a:fillRect b="-4762"/>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FC506D93-FB15-2D23-8E0B-59EBED781422}"/>
              </a:ext>
            </a:extLst>
          </p:cNvPr>
          <p:cNvCxnSpPr>
            <a:cxnSpLocks/>
          </p:cNvCxnSpPr>
          <p:nvPr/>
        </p:nvCxnSpPr>
        <p:spPr>
          <a:xfrm>
            <a:off x="7621291" y="5353058"/>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8D241BF-49BD-139B-A792-225BE6FFB952}"/>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B4C2C6B-7351-339E-8AE5-7D0C22D63568}"/>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1919AF1B-7397-72DE-15DB-055702E663C8}"/>
              </a:ext>
            </a:extLst>
          </p:cNvPr>
          <p:cNvSpPr/>
          <p:nvPr/>
        </p:nvSpPr>
        <p:spPr>
          <a:xfrm>
            <a:off x="6096001" y="1490367"/>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35CE7F8A-543A-14D7-AE3B-653211A79E99}"/>
              </a:ext>
            </a:extLst>
          </p:cNvPr>
          <p:cNvSpPr/>
          <p:nvPr/>
        </p:nvSpPr>
        <p:spPr>
          <a:xfrm>
            <a:off x="6096000" y="3818183"/>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B47C72F3-8EA4-632F-3F84-5EABAA05DAD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5" name="TextBox 24">
            <a:extLst>
              <a:ext uri="{FF2B5EF4-FFF2-40B4-BE49-F238E27FC236}">
                <a16:creationId xmlns:a16="http://schemas.microsoft.com/office/drawing/2014/main" id="{D25A3543-7996-06BE-7B3C-6940BB5601F9}"/>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6" name="TextBox 25">
            <a:extLst>
              <a:ext uri="{FF2B5EF4-FFF2-40B4-BE49-F238E27FC236}">
                <a16:creationId xmlns:a16="http://schemas.microsoft.com/office/drawing/2014/main" id="{055AD0CE-8956-D0F7-108E-CE1F0EF7DB3D}"/>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7" name="TextBox 26">
            <a:extLst>
              <a:ext uri="{FF2B5EF4-FFF2-40B4-BE49-F238E27FC236}">
                <a16:creationId xmlns:a16="http://schemas.microsoft.com/office/drawing/2014/main" id="{2A0DC00D-DE6A-8E75-820B-1A3881D388CC}"/>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8" name="TextBox 27">
            <a:extLst>
              <a:ext uri="{FF2B5EF4-FFF2-40B4-BE49-F238E27FC236}">
                <a16:creationId xmlns:a16="http://schemas.microsoft.com/office/drawing/2014/main" id="{85B52A0B-2B8E-F813-EF6B-AB920DFF651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013182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A9866-A93A-413F-3EE9-F0D9A2F06F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6D2B77D-5444-37EA-0C39-86AED7B30DBC}"/>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8C7A8593-2746-4417-CD82-9E77C22D8D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51FCBDD-5695-7644-5A4C-3DA7B5BC5698}"/>
              </a:ext>
            </a:extLst>
          </p:cNvPr>
          <p:cNvSpPr>
            <a:spLocks noGrp="1"/>
          </p:cNvSpPr>
          <p:nvPr>
            <p:ph type="sldNum" sz="quarter" idx="4"/>
          </p:nvPr>
        </p:nvSpPr>
        <p:spPr/>
        <p:txBody>
          <a:bodyPr/>
          <a:lstStyle/>
          <a:p>
            <a:pPr>
              <a:defRPr/>
            </a:pPr>
            <a:fld id="{A9CE67A1-BA7F-A74E-B5D7-615746DEEC2B}" type="slidenum">
              <a:rPr lang="en-US" smtClean="0"/>
              <a:pPr>
                <a:defRPr/>
              </a:pPr>
              <a:t>22</a:t>
            </a:fld>
            <a:endParaRPr lang="en-US" baseline="-11000" dirty="0"/>
          </a:p>
        </p:txBody>
      </p:sp>
      <p:sp>
        <p:nvSpPr>
          <p:cNvPr id="6" name="Date Placeholder 5">
            <a:extLst>
              <a:ext uri="{FF2B5EF4-FFF2-40B4-BE49-F238E27FC236}">
                <a16:creationId xmlns:a16="http://schemas.microsoft.com/office/drawing/2014/main" id="{2F21ADB5-CF06-B07A-7E29-B8AAE6F5469E}"/>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E11B33A-DD80-629E-88EC-8EFA1A937B6A}"/>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CE11B33A-DD80-629E-88EC-8EFA1A937B6A}"/>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4B811302-03F1-0DC5-8CF5-16C109F1B9FD}"/>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CF57F90F-563D-FC20-28F5-B6CF3CF61043}"/>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Diagram 1">
            <a:extLst>
              <a:ext uri="{FF2B5EF4-FFF2-40B4-BE49-F238E27FC236}">
                <a16:creationId xmlns:a16="http://schemas.microsoft.com/office/drawing/2014/main" id="{EA734DDE-E29A-83E6-88A0-CF0E1AC7E17E}"/>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4" name="!!Freeform: Shape 10">
            <a:extLst>
              <a:ext uri="{FF2B5EF4-FFF2-40B4-BE49-F238E27FC236}">
                <a16:creationId xmlns:a16="http://schemas.microsoft.com/office/drawing/2014/main" id="{E04F09F3-0FAB-2682-E8A9-8D24EDC2B74D}"/>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 name="TextBox 1">
            <a:extLst>
              <a:ext uri="{FF2B5EF4-FFF2-40B4-BE49-F238E27FC236}">
                <a16:creationId xmlns:a16="http://schemas.microsoft.com/office/drawing/2014/main" id="{607CBC9E-8CEF-3AEF-DEB5-7573B5CF64EF}"/>
              </a:ext>
            </a:extLst>
          </p:cNvPr>
          <p:cNvSpPr txBox="1"/>
          <p:nvPr/>
        </p:nvSpPr>
        <p:spPr>
          <a:xfrm>
            <a:off x="7383500" y="1265623"/>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sp>
        <p:nvSpPr>
          <p:cNvPr id="7" name="TextBox 6">
            <a:extLst>
              <a:ext uri="{FF2B5EF4-FFF2-40B4-BE49-F238E27FC236}">
                <a16:creationId xmlns:a16="http://schemas.microsoft.com/office/drawing/2014/main" id="{8AB57B95-5DD3-1496-0E42-2161915012C8}"/>
              </a:ext>
            </a:extLst>
          </p:cNvPr>
          <p:cNvSpPr txBox="1"/>
          <p:nvPr/>
        </p:nvSpPr>
        <p:spPr>
          <a:xfrm>
            <a:off x="7383499" y="359343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graphicFrame>
        <p:nvGraphicFramePr>
          <p:cNvPr id="9" name="Diagram 8">
            <a:extLst>
              <a:ext uri="{FF2B5EF4-FFF2-40B4-BE49-F238E27FC236}">
                <a16:creationId xmlns:a16="http://schemas.microsoft.com/office/drawing/2014/main" id="{44239229-F22A-0F6E-D638-2E20E19E2300}"/>
              </a:ext>
            </a:extLst>
          </p:cNvPr>
          <p:cNvGraphicFramePr/>
          <p:nvPr/>
        </p:nvGraphicFramePr>
        <p:xfrm>
          <a:off x="6255647" y="1832315"/>
          <a:ext cx="2870805" cy="147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a:extLst>
              <a:ext uri="{FF2B5EF4-FFF2-40B4-BE49-F238E27FC236}">
                <a16:creationId xmlns:a16="http://schemas.microsoft.com/office/drawing/2014/main" id="{012B0838-3267-2D02-5CCF-88A8F1F85D9F}"/>
              </a:ext>
            </a:extLst>
          </p:cNvPr>
          <p:cNvGraphicFramePr/>
          <p:nvPr/>
        </p:nvGraphicFramePr>
        <p:xfrm>
          <a:off x="6255647" y="4106299"/>
          <a:ext cx="2870805" cy="14704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11" name="Straight Arrow Connector 10">
            <a:extLst>
              <a:ext uri="{FF2B5EF4-FFF2-40B4-BE49-F238E27FC236}">
                <a16:creationId xmlns:a16="http://schemas.microsoft.com/office/drawing/2014/main" id="{6FEB2F4D-3A61-CFAD-B43C-5F69546FFEC9}"/>
              </a:ext>
            </a:extLst>
          </p:cNvPr>
          <p:cNvCxnSpPr>
            <a:cxnSpLocks/>
          </p:cNvCxnSpPr>
          <p:nvPr/>
        </p:nvCxnSpPr>
        <p:spPr>
          <a:xfrm>
            <a:off x="7606540" y="2199083"/>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97FE7E5-DB22-3C81-BC38-AB500ACF4939}"/>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2" name="TextBox 11">
                <a:extLst>
                  <a:ext uri="{FF2B5EF4-FFF2-40B4-BE49-F238E27FC236}">
                    <a16:creationId xmlns:a16="http://schemas.microsoft.com/office/drawing/2014/main" id="{897FE7E5-DB22-3C81-BC38-AB500ACF4939}"/>
                  </a:ext>
                </a:extLst>
              </p:cNvPr>
              <p:cNvSpPr txBox="1">
                <a:spLocks noRot="1" noChangeAspect="1" noMove="1" noResize="1" noEditPoints="1" noAdjustHandles="1" noChangeArrowheads="1" noChangeShapeType="1" noTextEdit="1"/>
              </p:cNvSpPr>
              <p:nvPr/>
            </p:nvSpPr>
            <p:spPr>
              <a:xfrm>
                <a:off x="7459991" y="2447350"/>
                <a:ext cx="462116" cy="383458"/>
              </a:xfrm>
              <a:prstGeom prst="rect">
                <a:avLst/>
              </a:prstGeom>
              <a:blipFill>
                <a:blip r:embed="rId13"/>
                <a:stretch>
                  <a:fillRect b="-4762"/>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3E40E76E-C8D0-16BF-2E57-15B9E8A33B03}"/>
              </a:ext>
            </a:extLst>
          </p:cNvPr>
          <p:cNvCxnSpPr>
            <a:cxnSpLocks/>
          </p:cNvCxnSpPr>
          <p:nvPr/>
        </p:nvCxnSpPr>
        <p:spPr>
          <a:xfrm>
            <a:off x="7621291" y="3079074"/>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360A0F1-DB1C-C6FA-0A22-0D7C164CE586}"/>
              </a:ext>
            </a:extLst>
          </p:cNvPr>
          <p:cNvCxnSpPr>
            <a:cxnSpLocks/>
          </p:cNvCxnSpPr>
          <p:nvPr/>
        </p:nvCxnSpPr>
        <p:spPr>
          <a:xfrm>
            <a:off x="7606540" y="4473067"/>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F166330-4011-DDDC-C162-89777453E341}"/>
                  </a:ext>
                </a:extLst>
              </p:cNvPr>
              <p:cNvSpPr txBox="1"/>
              <p:nvPr/>
            </p:nvSpPr>
            <p:spPr>
              <a:xfrm>
                <a:off x="7459991" y="47213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5" name="TextBox 14">
                <a:extLst>
                  <a:ext uri="{FF2B5EF4-FFF2-40B4-BE49-F238E27FC236}">
                    <a16:creationId xmlns:a16="http://schemas.microsoft.com/office/drawing/2014/main" id="{0F166330-4011-DDDC-C162-89777453E341}"/>
                  </a:ext>
                </a:extLst>
              </p:cNvPr>
              <p:cNvSpPr txBox="1">
                <a:spLocks noRot="1" noChangeAspect="1" noMove="1" noResize="1" noEditPoints="1" noAdjustHandles="1" noChangeArrowheads="1" noChangeShapeType="1" noTextEdit="1"/>
              </p:cNvSpPr>
              <p:nvPr/>
            </p:nvSpPr>
            <p:spPr>
              <a:xfrm>
                <a:off x="7459991" y="4721334"/>
                <a:ext cx="462116" cy="383458"/>
              </a:xfrm>
              <a:prstGeom prst="rect">
                <a:avLst/>
              </a:prstGeom>
              <a:blipFill>
                <a:blip r:embed="rId14"/>
                <a:stretch>
                  <a:fillRect b="-4762"/>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431626A2-E550-2B10-2F11-F2A891AD0E4B}"/>
              </a:ext>
            </a:extLst>
          </p:cNvPr>
          <p:cNvCxnSpPr>
            <a:cxnSpLocks/>
          </p:cNvCxnSpPr>
          <p:nvPr/>
        </p:nvCxnSpPr>
        <p:spPr>
          <a:xfrm>
            <a:off x="7621291" y="5353058"/>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611969C-BBE9-F45A-9C4B-CDDDA243BC2F}"/>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84AC740-F82E-4099-63BB-8EC5362CD4F3}"/>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99491A2E-552B-4AE5-BD82-A2655044DF69}"/>
              </a:ext>
            </a:extLst>
          </p:cNvPr>
          <p:cNvSpPr/>
          <p:nvPr/>
        </p:nvSpPr>
        <p:spPr>
          <a:xfrm>
            <a:off x="6096001" y="1490367"/>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E828D447-2369-7BCB-2DDA-57E497A79DD2}"/>
              </a:ext>
            </a:extLst>
          </p:cNvPr>
          <p:cNvSpPr/>
          <p:nvPr/>
        </p:nvSpPr>
        <p:spPr>
          <a:xfrm>
            <a:off x="6096000" y="3818183"/>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608FECE6-57D5-C27B-5C0D-8E92D562BB74}"/>
              </a:ext>
            </a:extLst>
          </p:cNvPr>
          <p:cNvPicPr>
            <a:picLocks noChangeAspect="1"/>
          </p:cNvPicPr>
          <p:nvPr/>
        </p:nvPicPr>
        <p:blipFill>
          <a:blip r:embed="rId15">
            <a:extLst>
              <a:ext uri="{28A0092B-C50C-407E-A947-70E740481C1C}">
                <a14:useLocalDpi xmlns:a14="http://schemas.microsoft.com/office/drawing/2010/main" val="0"/>
              </a:ext>
            </a:extLst>
          </a:blip>
          <a:srcRect t="1111" r="53573"/>
          <a:stretch>
            <a:fillRect/>
          </a:stretch>
        </p:blipFill>
        <p:spPr>
          <a:xfrm>
            <a:off x="2666990" y="1485727"/>
            <a:ext cx="3097308" cy="4331917"/>
          </a:xfrm>
          <a:prstGeom prst="rect">
            <a:avLst/>
          </a:prstGeom>
        </p:spPr>
      </p:pic>
      <p:sp>
        <p:nvSpPr>
          <p:cNvPr id="21" name="TextBox 20">
            <a:extLst>
              <a:ext uri="{FF2B5EF4-FFF2-40B4-BE49-F238E27FC236}">
                <a16:creationId xmlns:a16="http://schemas.microsoft.com/office/drawing/2014/main" id="{665559F9-4E20-9A18-271B-B226D235792E}"/>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5" name="TextBox 24">
            <a:extLst>
              <a:ext uri="{FF2B5EF4-FFF2-40B4-BE49-F238E27FC236}">
                <a16:creationId xmlns:a16="http://schemas.microsoft.com/office/drawing/2014/main" id="{FA17E1B1-047E-CDDE-C510-D2A713E8962A}"/>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6" name="TextBox 25">
            <a:extLst>
              <a:ext uri="{FF2B5EF4-FFF2-40B4-BE49-F238E27FC236}">
                <a16:creationId xmlns:a16="http://schemas.microsoft.com/office/drawing/2014/main" id="{A7573F3A-9824-A44F-AAC1-6C34EC96E99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7" name="TextBox 26">
            <a:extLst>
              <a:ext uri="{FF2B5EF4-FFF2-40B4-BE49-F238E27FC236}">
                <a16:creationId xmlns:a16="http://schemas.microsoft.com/office/drawing/2014/main" id="{FD2270A8-44AB-7147-419F-CF794AD6B9E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8" name="TextBox 27">
            <a:extLst>
              <a:ext uri="{FF2B5EF4-FFF2-40B4-BE49-F238E27FC236}">
                <a16:creationId xmlns:a16="http://schemas.microsoft.com/office/drawing/2014/main" id="{2934B0E7-FE6B-500F-2049-2CDB34C3271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53846354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FC162-A6F0-93BA-2171-55A435493F7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67C0452-41C8-848A-F453-F52EBB45E2EA}"/>
              </a:ext>
            </a:extLst>
          </p:cNvPr>
          <p:cNvPicPr>
            <a:picLocks noChangeAspect="1"/>
          </p:cNvPicPr>
          <p:nvPr/>
        </p:nvPicPr>
        <p:blipFill>
          <a:blip r:embed="rId2">
            <a:extLst>
              <a:ext uri="{28A0092B-C50C-407E-A947-70E740481C1C}">
                <a14:useLocalDpi xmlns:a14="http://schemas.microsoft.com/office/drawing/2010/main" val="0"/>
              </a:ext>
            </a:extLst>
          </a:blip>
          <a:srcRect t="1567"/>
          <a:stretch>
            <a:fillRect/>
          </a:stretch>
        </p:blipFill>
        <p:spPr>
          <a:xfrm>
            <a:off x="2615878" y="1490959"/>
            <a:ext cx="6671336" cy="4311919"/>
          </a:xfrm>
          <a:prstGeom prst="rect">
            <a:avLst/>
          </a:prstGeom>
        </p:spPr>
      </p:pic>
      <p:sp>
        <p:nvSpPr>
          <p:cNvPr id="3" name="Title 2">
            <a:extLst>
              <a:ext uri="{FF2B5EF4-FFF2-40B4-BE49-F238E27FC236}">
                <a16:creationId xmlns:a16="http://schemas.microsoft.com/office/drawing/2014/main" id="{0DE8F62D-0145-1EA9-A7F8-C9FE0F39164E}"/>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B4A57B8F-319F-11F3-C6A6-E69F4A9DC19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B01A8A7-4EAB-4B76-AC6A-2BB8FDAC32E9}"/>
              </a:ext>
            </a:extLst>
          </p:cNvPr>
          <p:cNvSpPr>
            <a:spLocks noGrp="1"/>
          </p:cNvSpPr>
          <p:nvPr>
            <p:ph type="sldNum" sz="quarter" idx="4"/>
          </p:nvPr>
        </p:nvSpPr>
        <p:spPr/>
        <p:txBody>
          <a:bodyPr/>
          <a:lstStyle/>
          <a:p>
            <a:pPr>
              <a:defRPr/>
            </a:pPr>
            <a:fld id="{A9CE67A1-BA7F-A74E-B5D7-615746DEEC2B}" type="slidenum">
              <a:rPr lang="en-US" smtClean="0"/>
              <a:pPr>
                <a:defRPr/>
              </a:pPr>
              <a:t>23</a:t>
            </a:fld>
            <a:endParaRPr lang="en-US" baseline="-11000" dirty="0"/>
          </a:p>
        </p:txBody>
      </p:sp>
      <p:sp>
        <p:nvSpPr>
          <p:cNvPr id="6" name="Date Placeholder 5">
            <a:extLst>
              <a:ext uri="{FF2B5EF4-FFF2-40B4-BE49-F238E27FC236}">
                <a16:creationId xmlns:a16="http://schemas.microsoft.com/office/drawing/2014/main" id="{B4C7DE5B-CCAB-003A-FDB0-DD3CAD361AF5}"/>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aphicFrame>
        <p:nvGraphicFramePr>
          <p:cNvPr id="2" name="Diagram 1">
            <a:extLst>
              <a:ext uri="{FF2B5EF4-FFF2-40B4-BE49-F238E27FC236}">
                <a16:creationId xmlns:a16="http://schemas.microsoft.com/office/drawing/2014/main" id="{7E713D25-92AC-AD0C-EA86-446299F6BDB1}"/>
              </a:ext>
            </a:extLst>
          </p:cNvPr>
          <p:cNvGraphicFramePr/>
          <p:nvPr>
            <p:extLst>
              <p:ext uri="{D42A27DB-BD31-4B8C-83A1-F6EECF244321}">
                <p14:modId xmlns:p14="http://schemas.microsoft.com/office/powerpoint/2010/main" val="1177781919"/>
              </p:ext>
            </p:extLst>
          </p:nvPr>
        </p:nvGraphicFramePr>
        <p:xfrm>
          <a:off x="2700099" y="1539027"/>
          <a:ext cx="6502894" cy="4109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00CC7062-AD47-01D9-07B9-23774C7A4F47}"/>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endParaRPr lang="en-US" sz="2400" dirty="0">
              <a:solidFill>
                <a:srgbClr val="000000"/>
              </a:solidFill>
            </a:endParaRPr>
          </a:p>
        </p:txBody>
      </p:sp>
      <p:sp>
        <p:nvSpPr>
          <p:cNvPr id="21" name="Rectangle 20">
            <a:extLst>
              <a:ext uri="{FF2B5EF4-FFF2-40B4-BE49-F238E27FC236}">
                <a16:creationId xmlns:a16="http://schemas.microsoft.com/office/drawing/2014/main" id="{A762B85D-B955-4ECD-B78F-81B99E15C9AC}"/>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84">
            <a:extLst>
              <a:ext uri="{FF2B5EF4-FFF2-40B4-BE49-F238E27FC236}">
                <a16:creationId xmlns:a16="http://schemas.microsoft.com/office/drawing/2014/main" id="{F70DED65-06DB-74DF-8E81-8DA3823A54E2}"/>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24" name="!!Rectangle 233">
            <a:extLst>
              <a:ext uri="{FF2B5EF4-FFF2-40B4-BE49-F238E27FC236}">
                <a16:creationId xmlns:a16="http://schemas.microsoft.com/office/drawing/2014/main" id="{75E37CE3-41FF-CA2A-6588-4CFE33B56656}"/>
              </a:ext>
            </a:extLst>
          </p:cNvPr>
          <p:cNvSpPr/>
          <p:nvPr/>
        </p:nvSpPr>
        <p:spPr>
          <a:xfrm>
            <a:off x="5732206" y="1539239"/>
            <a:ext cx="1966452" cy="2012599"/>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4D2B170F-BC07-BB66-1811-F8A241DD7B48}"/>
              </a:ext>
            </a:extLst>
          </p:cNvPr>
          <p:cNvSpPr txBox="1"/>
          <p:nvPr/>
        </p:nvSpPr>
        <p:spPr>
          <a:xfrm>
            <a:off x="4104453" y="127594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11" name="!!Rectangle 1022">
            <a:extLst>
              <a:ext uri="{FF2B5EF4-FFF2-40B4-BE49-F238E27FC236}">
                <a16:creationId xmlns:a16="http://schemas.microsoft.com/office/drawing/2014/main" id="{889692CA-2300-B390-0395-0022FF28C75F}"/>
              </a:ext>
            </a:extLst>
          </p:cNvPr>
          <p:cNvSpPr/>
          <p:nvPr/>
        </p:nvSpPr>
        <p:spPr>
          <a:xfrm>
            <a:off x="5724597" y="3777032"/>
            <a:ext cx="1966452" cy="206920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Rectangle 110">
            <a:extLst>
              <a:ext uri="{FF2B5EF4-FFF2-40B4-BE49-F238E27FC236}">
                <a16:creationId xmlns:a16="http://schemas.microsoft.com/office/drawing/2014/main" id="{9EF29C72-0B56-D824-79D4-16A61E797E39}"/>
              </a:ext>
            </a:extLst>
          </p:cNvPr>
          <p:cNvSpPr/>
          <p:nvPr/>
        </p:nvSpPr>
        <p:spPr>
          <a:xfrm>
            <a:off x="3213802" y="1539027"/>
            <a:ext cx="2426574" cy="4307205"/>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B29133E3-124F-B153-E8EA-33274EFBA6F4}"/>
              </a:ext>
            </a:extLst>
          </p:cNvPr>
          <p:cNvSpPr txBox="1"/>
          <p:nvPr/>
        </p:nvSpPr>
        <p:spPr>
          <a:xfrm>
            <a:off x="6309512" y="1281794"/>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27" name="TextBox 26">
            <a:extLst>
              <a:ext uri="{FF2B5EF4-FFF2-40B4-BE49-F238E27FC236}">
                <a16:creationId xmlns:a16="http://schemas.microsoft.com/office/drawing/2014/main" id="{833CF06A-15B0-739C-B0F1-267568C49414}"/>
              </a:ext>
            </a:extLst>
          </p:cNvPr>
          <p:cNvSpPr txBox="1"/>
          <p:nvPr/>
        </p:nvSpPr>
        <p:spPr>
          <a:xfrm>
            <a:off x="6301903" y="3562638"/>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31" name="TextBox 30">
            <a:extLst>
              <a:ext uri="{FF2B5EF4-FFF2-40B4-BE49-F238E27FC236}">
                <a16:creationId xmlns:a16="http://schemas.microsoft.com/office/drawing/2014/main" id="{DCAA5E29-50EC-1E66-46B9-484C730009B5}"/>
              </a:ext>
            </a:extLst>
          </p:cNvPr>
          <p:cNvSpPr txBox="1"/>
          <p:nvPr/>
        </p:nvSpPr>
        <p:spPr>
          <a:xfrm>
            <a:off x="7894729" y="137750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4" name="TextBox 33">
            <a:extLst>
              <a:ext uri="{FF2B5EF4-FFF2-40B4-BE49-F238E27FC236}">
                <a16:creationId xmlns:a16="http://schemas.microsoft.com/office/drawing/2014/main" id="{40B571DB-7A6B-00EA-C280-183248523059}"/>
              </a:ext>
            </a:extLst>
          </p:cNvPr>
          <p:cNvSpPr txBox="1"/>
          <p:nvPr/>
        </p:nvSpPr>
        <p:spPr>
          <a:xfrm>
            <a:off x="7879511" y="2526327"/>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6" name="TextBox 35">
            <a:extLst>
              <a:ext uri="{FF2B5EF4-FFF2-40B4-BE49-F238E27FC236}">
                <a16:creationId xmlns:a16="http://schemas.microsoft.com/office/drawing/2014/main" id="{DD2DD246-3C24-E04D-867F-7E2F7184C9DB}"/>
              </a:ext>
            </a:extLst>
          </p:cNvPr>
          <p:cNvSpPr txBox="1"/>
          <p:nvPr/>
        </p:nvSpPr>
        <p:spPr>
          <a:xfrm>
            <a:off x="7879511" y="3633437"/>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8" name="TextBox 37">
            <a:extLst>
              <a:ext uri="{FF2B5EF4-FFF2-40B4-BE49-F238E27FC236}">
                <a16:creationId xmlns:a16="http://schemas.microsoft.com/office/drawing/2014/main" id="{5C6286A9-D218-7D41-6268-42995698F7B0}"/>
              </a:ext>
            </a:extLst>
          </p:cNvPr>
          <p:cNvSpPr txBox="1"/>
          <p:nvPr/>
        </p:nvSpPr>
        <p:spPr>
          <a:xfrm>
            <a:off x="7879511" y="4705981"/>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7" name="!!Rectangle 233">
            <a:extLst>
              <a:ext uri="{FF2B5EF4-FFF2-40B4-BE49-F238E27FC236}">
                <a16:creationId xmlns:a16="http://schemas.microsoft.com/office/drawing/2014/main" id="{A4638739-C898-0396-1DF0-BDA6952F5456}"/>
              </a:ext>
            </a:extLst>
          </p:cNvPr>
          <p:cNvSpPr/>
          <p:nvPr/>
        </p:nvSpPr>
        <p:spPr>
          <a:xfrm>
            <a:off x="7745073" y="1598465"/>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Rectangle 233">
            <a:extLst>
              <a:ext uri="{FF2B5EF4-FFF2-40B4-BE49-F238E27FC236}">
                <a16:creationId xmlns:a16="http://schemas.microsoft.com/office/drawing/2014/main" id="{72AD54E8-0170-E0FF-7B2B-396B054327E9}"/>
              </a:ext>
            </a:extLst>
          </p:cNvPr>
          <p:cNvSpPr/>
          <p:nvPr/>
        </p:nvSpPr>
        <p:spPr>
          <a:xfrm>
            <a:off x="7745073" y="2697982"/>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233">
            <a:extLst>
              <a:ext uri="{FF2B5EF4-FFF2-40B4-BE49-F238E27FC236}">
                <a16:creationId xmlns:a16="http://schemas.microsoft.com/office/drawing/2014/main" id="{7F6364F0-ABE1-A51D-8787-8B0E04117723}"/>
              </a:ext>
            </a:extLst>
          </p:cNvPr>
          <p:cNvSpPr/>
          <p:nvPr/>
        </p:nvSpPr>
        <p:spPr>
          <a:xfrm>
            <a:off x="7745073" y="3829750"/>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Rectangle 233">
            <a:extLst>
              <a:ext uri="{FF2B5EF4-FFF2-40B4-BE49-F238E27FC236}">
                <a16:creationId xmlns:a16="http://schemas.microsoft.com/office/drawing/2014/main" id="{599DB84F-4C5D-4D9C-220C-3DEB602D9BDE}"/>
              </a:ext>
            </a:extLst>
          </p:cNvPr>
          <p:cNvSpPr/>
          <p:nvPr/>
        </p:nvSpPr>
        <p:spPr>
          <a:xfrm>
            <a:off x="7740261" y="4983185"/>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8F7E993F-26C4-DFD0-9494-AA6057D354B7}"/>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7" name="TextBox 16">
            <a:extLst>
              <a:ext uri="{FF2B5EF4-FFF2-40B4-BE49-F238E27FC236}">
                <a16:creationId xmlns:a16="http://schemas.microsoft.com/office/drawing/2014/main" id="{D1107BF4-12C7-E6F7-CA2D-882A20E431E8}"/>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8" name="TextBox 17">
            <a:extLst>
              <a:ext uri="{FF2B5EF4-FFF2-40B4-BE49-F238E27FC236}">
                <a16:creationId xmlns:a16="http://schemas.microsoft.com/office/drawing/2014/main" id="{02FCD960-4D51-2854-1B16-C162D0D4DD1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9" name="TextBox 18">
            <a:extLst>
              <a:ext uri="{FF2B5EF4-FFF2-40B4-BE49-F238E27FC236}">
                <a16:creationId xmlns:a16="http://schemas.microsoft.com/office/drawing/2014/main" id="{CFADE15B-C957-A34D-678C-4910E360BE0F}"/>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0" name="TextBox 19">
            <a:extLst>
              <a:ext uri="{FF2B5EF4-FFF2-40B4-BE49-F238E27FC236}">
                <a16:creationId xmlns:a16="http://schemas.microsoft.com/office/drawing/2014/main" id="{768DC337-4927-B340-0423-E162F7592430}"/>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3443049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F19E4-FBB3-5796-85E7-81B3FE3C85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FA8002-D3A1-07BD-A983-D37831DCC238}"/>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9E54A215-7C1E-50C1-1474-B1E772CB327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1E2CC70-A7D5-F836-DD18-FA0042C8A4C7}"/>
              </a:ext>
            </a:extLst>
          </p:cNvPr>
          <p:cNvSpPr>
            <a:spLocks noGrp="1"/>
          </p:cNvSpPr>
          <p:nvPr>
            <p:ph type="sldNum" sz="quarter" idx="4"/>
          </p:nvPr>
        </p:nvSpPr>
        <p:spPr/>
        <p:txBody>
          <a:bodyPr/>
          <a:lstStyle/>
          <a:p>
            <a:pPr>
              <a:defRPr/>
            </a:pPr>
            <a:fld id="{A9CE67A1-BA7F-A74E-B5D7-615746DEEC2B}" type="slidenum">
              <a:rPr lang="en-US" smtClean="0"/>
              <a:pPr>
                <a:defRPr/>
              </a:pPr>
              <a:t>24</a:t>
            </a:fld>
            <a:endParaRPr lang="en-US" baseline="-11000" dirty="0"/>
          </a:p>
        </p:txBody>
      </p:sp>
      <p:sp>
        <p:nvSpPr>
          <p:cNvPr id="6" name="Date Placeholder 5">
            <a:extLst>
              <a:ext uri="{FF2B5EF4-FFF2-40B4-BE49-F238E27FC236}">
                <a16:creationId xmlns:a16="http://schemas.microsoft.com/office/drawing/2014/main" id="{C08DDC84-8887-14D6-226B-A863CD034D0C}"/>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AECAC71-BBCD-F8F4-5B86-58ECF0AFD8A3}"/>
                  </a:ext>
                </a:extLst>
              </p:cNvPr>
              <p:cNvSpPr txBox="1"/>
              <p:nvPr/>
            </p:nvSpPr>
            <p:spPr>
              <a:xfrm>
                <a:off x="237818" y="871566"/>
                <a:ext cx="11611281" cy="231569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Complexity calculation :</a:t>
                </a:r>
              </a:p>
              <a:p>
                <a:r>
                  <a:rPr lang="en-US" dirty="0"/>
                  <a:t>Because we are continuously dividing by 2, we can determine the exact number of operations based on two factors: </a:t>
                </a:r>
              </a:p>
              <a:p>
                <a:r>
                  <a:rPr lang="en-US" b="1" dirty="0"/>
                  <a:t>         Number of Stages:</a:t>
                </a:r>
                <a:r>
                  <a:rPr lang="en-US" dirty="0"/>
                  <a:t> Since we divide the sequence in half at each step until we reach 2 points</a:t>
                </a:r>
              </a:p>
              <a:p>
                <a:r>
                  <a:rPr lang="en-US" dirty="0"/>
                  <a:t>         the total number of stages is equal to </a:t>
                </a:r>
                <a14:m>
                  <m:oMath xmlns:m="http://schemas.openxmlformats.org/officeDocument/2006/math">
                    <m:r>
                      <a:rPr lang="en-US" b="1" i="1" smtClean="0">
                        <a:latin typeface="Cambria Math" panose="02040503050406030204" pitchFamily="18" charset="0"/>
                      </a:rPr>
                      <m:t>𝑳𝒐</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𝒈</m:t>
                        </m:r>
                      </m:e>
                      <m:sub>
                        <m:r>
                          <a:rPr lang="en-US" b="1" i="1" smtClean="0">
                            <a:latin typeface="Cambria Math" panose="02040503050406030204" pitchFamily="18" charset="0"/>
                          </a:rPr>
                          <m:t>𝟐</m:t>
                        </m:r>
                      </m:sub>
                    </m:sSub>
                    <m:r>
                      <a:rPr lang="en-US" b="1" i="1" smtClean="0">
                        <a:latin typeface="Cambria Math" panose="02040503050406030204" pitchFamily="18" charset="0"/>
                      </a:rPr>
                      <m:t>(</m:t>
                    </m:r>
                    <m:r>
                      <a:rPr lang="en-US" b="1" i="1" smtClean="0">
                        <a:latin typeface="Cambria Math" panose="02040503050406030204" pitchFamily="18" charset="0"/>
                      </a:rPr>
                      <m:t>𝑵</m:t>
                    </m:r>
                    <m:r>
                      <a:rPr lang="en-US" b="1" i="1" smtClean="0">
                        <a:latin typeface="Cambria Math" panose="02040503050406030204" pitchFamily="18" charset="0"/>
                      </a:rPr>
                      <m:t>)</m:t>
                    </m:r>
                  </m:oMath>
                </a14:m>
                <a:r>
                  <a:rPr lang="en-US" b="1" dirty="0"/>
                  <a:t> </a:t>
                </a:r>
              </a:p>
              <a:p>
                <a:pPr lvl="1"/>
                <a:r>
                  <a:rPr lang="en-US" b="1" dirty="0"/>
                  <a:t>multiplication per Stage:</a:t>
                </a:r>
                <a:r>
                  <a:rPr lang="en-US" dirty="0"/>
                  <a:t> In every stage, we do </a:t>
                </a:r>
                <a14:m>
                  <m:oMath xmlns:m="http://schemas.openxmlformats.org/officeDocument/2006/math">
                    <m:f>
                      <m:fPr>
                        <m:ctrlPr>
                          <a:rPr lang="en-US" b="1" i="1" smtClean="0">
                            <a:latin typeface="Cambria Math" panose="02040503050406030204" pitchFamily="18" charset="0"/>
                          </a:rPr>
                        </m:ctrlPr>
                      </m:fPr>
                      <m:num>
                        <m:r>
                          <a:rPr lang="en-US" b="1" i="1" smtClean="0">
                            <a:latin typeface="Cambria Math" panose="02040503050406030204" pitchFamily="18" charset="0"/>
                          </a:rPr>
                          <m:t>𝑵</m:t>
                        </m:r>
                      </m:num>
                      <m:den>
                        <m:r>
                          <a:rPr lang="en-US" b="1" i="1" smtClean="0">
                            <a:latin typeface="Cambria Math" panose="02040503050406030204" pitchFamily="18" charset="0"/>
                          </a:rPr>
                          <m:t>𝟐</m:t>
                        </m:r>
                      </m:den>
                    </m:f>
                    <m:r>
                      <a:rPr lang="en-US" b="1" i="1" smtClean="0">
                        <a:latin typeface="Cambria Math" panose="02040503050406030204" pitchFamily="18" charset="0"/>
                      </a:rPr>
                      <m:t> </m:t>
                    </m:r>
                    <m:r>
                      <a:rPr lang="en-US" b="1" i="1" smtClean="0">
                        <a:latin typeface="Cambria Math" panose="02040503050406030204" pitchFamily="18" charset="0"/>
                      </a:rPr>
                      <m:t>𝒎𝒖𝒍𝒕𝒊𝒑𝒍𝒊𝒄𝒂𝒕𝒊𝒐𝒏𝒔</m:t>
                    </m:r>
                    <m:r>
                      <a:rPr lang="en-US" b="1" i="1" smtClean="0">
                        <a:latin typeface="Cambria Math" panose="02040503050406030204" pitchFamily="18" charset="0"/>
                      </a:rPr>
                      <m:t> </m:t>
                    </m:r>
                  </m:oMath>
                </a14:m>
                <a:endParaRPr lang="en-US" b="1" dirty="0"/>
              </a:p>
              <a:p>
                <a:r>
                  <a:rPr lang="en-US" b="1" dirty="0"/>
                  <a:t>The Final Complexity Formulas : </a:t>
                </a:r>
                <a14:m>
                  <m:oMath xmlns:m="http://schemas.openxmlformats.org/officeDocument/2006/math">
                    <m:r>
                      <a:rPr lang="en-US" b="1" i="1" smtClean="0">
                        <a:latin typeface="Cambria Math" panose="02040503050406030204" pitchFamily="18" charset="0"/>
                      </a:rPr>
                      <m:t>𝑶</m:t>
                    </m:r>
                    <m:d>
                      <m:dPr>
                        <m:ctrlPr>
                          <a:rPr lang="en-US" b="1" i="1" smtClean="0">
                            <a:latin typeface="Cambria Math" panose="02040503050406030204" pitchFamily="18" charset="0"/>
                          </a:rPr>
                        </m:ctrlPr>
                      </m:dPr>
                      <m:e>
                        <m:r>
                          <a:rPr lang="en-US" b="1" i="1" smtClean="0">
                            <a:latin typeface="Cambria Math" panose="02040503050406030204" pitchFamily="18" charset="0"/>
                          </a:rPr>
                          <m:t>𝑵</m:t>
                        </m:r>
                        <m:r>
                          <a:rPr lang="en-US" b="1" i="1" smtClean="0">
                            <a:latin typeface="Cambria Math" panose="02040503050406030204" pitchFamily="18" charset="0"/>
                          </a:rPr>
                          <m:t> </m:t>
                        </m:r>
                        <m:r>
                          <a:rPr lang="en-US" b="1" i="1" smtClean="0">
                            <a:latin typeface="Cambria Math" panose="02040503050406030204" pitchFamily="18" charset="0"/>
                          </a:rPr>
                          <m:t>𝑳𝒐</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𝒈</m:t>
                            </m:r>
                          </m:e>
                          <m:sub>
                            <m:r>
                              <a:rPr lang="en-US" b="1" i="1" smtClean="0">
                                <a:latin typeface="Cambria Math" panose="02040503050406030204" pitchFamily="18" charset="0"/>
                              </a:rPr>
                              <m:t>𝟐</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𝑵</m:t>
                            </m:r>
                          </m:e>
                        </m:d>
                      </m:e>
                    </m:d>
                  </m:oMath>
                </a14:m>
                <a:endParaRPr lang="en-US" b="1" dirty="0"/>
              </a:p>
              <a:p>
                <a:pPr defTabSz="457200">
                  <a:spcBef>
                    <a:spcPts val="1000"/>
                  </a:spcBef>
                  <a:buClr>
                    <a:srgbClr val="1E4056"/>
                  </a:buClr>
                  <a:buSzPct val="75000"/>
                </a:pPr>
                <a:endParaRPr lang="en-US" b="1" dirty="0">
                  <a:latin typeface="Barlow (Body)"/>
                </a:endParaRPr>
              </a:p>
            </p:txBody>
          </p:sp>
        </mc:Choice>
        <mc:Fallback xmlns="">
          <p:sp>
            <p:nvSpPr>
              <p:cNvPr id="7" name="TextBox 6">
                <a:extLst>
                  <a:ext uri="{FF2B5EF4-FFF2-40B4-BE49-F238E27FC236}">
                    <a16:creationId xmlns:a16="http://schemas.microsoft.com/office/drawing/2014/main" id="{0AECAC71-BBCD-F8F4-5B86-58ECF0AFD8A3}"/>
                  </a:ext>
                </a:extLst>
              </p:cNvPr>
              <p:cNvSpPr txBox="1">
                <a:spLocks noRot="1" noChangeAspect="1" noMove="1" noResize="1" noEditPoints="1" noAdjustHandles="1" noChangeArrowheads="1" noChangeShapeType="1" noTextEdit="1"/>
              </p:cNvSpPr>
              <p:nvPr/>
            </p:nvSpPr>
            <p:spPr>
              <a:xfrm>
                <a:off x="237818" y="871566"/>
                <a:ext cx="11611281" cy="2315699"/>
              </a:xfrm>
              <a:prstGeom prst="rect">
                <a:avLst/>
              </a:prstGeom>
              <a:blipFill>
                <a:blip r:embed="rId2"/>
                <a:stretch>
                  <a:fillRect l="-420" t="-1316" r="-315"/>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F55C72B3-59BF-C418-DBC4-E3261E03679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36CFB526-CFFB-9D07-E0B4-1716D925DCEF}"/>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9" name="TextBox 8">
            <a:extLst>
              <a:ext uri="{FF2B5EF4-FFF2-40B4-BE49-F238E27FC236}">
                <a16:creationId xmlns:a16="http://schemas.microsoft.com/office/drawing/2014/main" id="{01F82AE2-7D18-2CBD-7F57-EFA268FB2BD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0" name="TextBox 9">
            <a:extLst>
              <a:ext uri="{FF2B5EF4-FFF2-40B4-BE49-F238E27FC236}">
                <a16:creationId xmlns:a16="http://schemas.microsoft.com/office/drawing/2014/main" id="{E87FBAC3-6131-ED33-D38F-04ACC0FB049F}"/>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1" name="TextBox 10">
            <a:extLst>
              <a:ext uri="{FF2B5EF4-FFF2-40B4-BE49-F238E27FC236}">
                <a16:creationId xmlns:a16="http://schemas.microsoft.com/office/drawing/2014/main" id="{1717F82E-67E5-0A72-F610-332A3C10C63C}"/>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741348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5ABD8-90BC-051C-9487-DC01A847D5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013339C-68CC-C156-2059-D25781BE65C9}"/>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35E840FF-0F6C-8AB7-5A85-C2FDFE88671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B3336059-DAFF-BF67-AEE7-62597E5209C0}"/>
              </a:ext>
            </a:extLst>
          </p:cNvPr>
          <p:cNvSpPr>
            <a:spLocks noGrp="1"/>
          </p:cNvSpPr>
          <p:nvPr>
            <p:ph type="sldNum" sz="quarter" idx="4"/>
          </p:nvPr>
        </p:nvSpPr>
        <p:spPr/>
        <p:txBody>
          <a:bodyPr/>
          <a:lstStyle/>
          <a:p>
            <a:pPr>
              <a:defRPr/>
            </a:pPr>
            <a:fld id="{A9CE67A1-BA7F-A74E-B5D7-615746DEEC2B}" type="slidenum">
              <a:rPr lang="en-US" smtClean="0"/>
              <a:pPr>
                <a:defRPr/>
              </a:pPr>
              <a:t>25</a:t>
            </a:fld>
            <a:endParaRPr lang="en-US" baseline="-11000" dirty="0"/>
          </a:p>
        </p:txBody>
      </p:sp>
      <p:sp>
        <p:nvSpPr>
          <p:cNvPr id="6" name="Date Placeholder 5">
            <a:extLst>
              <a:ext uri="{FF2B5EF4-FFF2-40B4-BE49-F238E27FC236}">
                <a16:creationId xmlns:a16="http://schemas.microsoft.com/office/drawing/2014/main" id="{C965ACBA-0555-468C-0427-0A2A4C261741}"/>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مستطيل 6">
            <a:extLst>
              <a:ext uri="{FF2B5EF4-FFF2-40B4-BE49-F238E27FC236}">
                <a16:creationId xmlns:a16="http://schemas.microsoft.com/office/drawing/2014/main" id="{5DEB9015-64B4-3752-2DE3-99002870275C}"/>
              </a:ext>
            </a:extLst>
          </p:cNvPr>
          <p:cNvSpPr/>
          <p:nvPr/>
        </p:nvSpPr>
        <p:spPr>
          <a:xfrm>
            <a:off x="454521" y="832931"/>
            <a:ext cx="2281586" cy="523220"/>
          </a:xfrm>
          <a:prstGeom prst="rect">
            <a:avLst/>
          </a:prstGeom>
          <a:noFill/>
          <a:ln>
            <a:noFill/>
          </a:ln>
        </p:spPr>
        <p:txBody>
          <a:bodyPr wrap="none" lIns="91440" tIns="45720" rIns="91440" bIns="45720">
            <a:spAutoFit/>
          </a:bodyPr>
          <a:lstStyle/>
          <a:p>
            <a:pPr marL="571500" indent="-571500" algn="ctr">
              <a:buFont typeface="Wingdings" panose="05000000000000000000" pitchFamily="2" charset="2"/>
              <a:buChar char="Ø"/>
            </a:pPr>
            <a:r>
              <a:rPr lang="en-US" sz="2800" b="0" cap="none" spc="0" dirty="0">
                <a:ln w="0"/>
                <a:solidFill>
                  <a:schemeClr val="tx1"/>
                </a:solidFill>
                <a:effectLst>
                  <a:outerShdw blurRad="38100" dist="19050" dir="2700000" algn="tl" rotWithShape="0">
                    <a:schemeClr val="dk1">
                      <a:alpha val="40000"/>
                    </a:schemeClr>
                  </a:outerShdw>
                </a:effectLst>
              </a:rPr>
              <a:t>Code Flow</a:t>
            </a:r>
            <a:endParaRPr lang="ar-SA" sz="3600" b="0" cap="none" spc="0" dirty="0">
              <a:ln w="0"/>
              <a:solidFill>
                <a:schemeClr val="tx1"/>
              </a:solidFill>
              <a:effectLst>
                <a:outerShdw blurRad="38100" dist="19050" dir="2700000" algn="tl" rotWithShape="0">
                  <a:schemeClr val="dk1">
                    <a:alpha val="40000"/>
                  </a:schemeClr>
                </a:outerShdw>
              </a:effectLst>
            </a:endParaRPr>
          </a:p>
        </p:txBody>
      </p:sp>
      <p:sp>
        <p:nvSpPr>
          <p:cNvPr id="7" name="مستطيل: زوايا مستديرة 11">
            <a:extLst>
              <a:ext uri="{FF2B5EF4-FFF2-40B4-BE49-F238E27FC236}">
                <a16:creationId xmlns:a16="http://schemas.microsoft.com/office/drawing/2014/main" id="{D4C85A3A-9A8A-6814-A7BE-F59550C315FC}"/>
              </a:ext>
            </a:extLst>
          </p:cNvPr>
          <p:cNvSpPr/>
          <p:nvPr/>
        </p:nvSpPr>
        <p:spPr>
          <a:xfrm>
            <a:off x="4728394" y="1489723"/>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Generate bits</a:t>
            </a:r>
          </a:p>
        </p:txBody>
      </p:sp>
      <p:sp>
        <p:nvSpPr>
          <p:cNvPr id="8" name="مستطيل: زوايا مستديرة 13">
            <a:extLst>
              <a:ext uri="{FF2B5EF4-FFF2-40B4-BE49-F238E27FC236}">
                <a16:creationId xmlns:a16="http://schemas.microsoft.com/office/drawing/2014/main" id="{8A907240-86AC-F1E3-5EAD-1457739C6637}"/>
              </a:ext>
            </a:extLst>
          </p:cNvPr>
          <p:cNvSpPr/>
          <p:nvPr/>
        </p:nvSpPr>
        <p:spPr>
          <a:xfrm>
            <a:off x="3163754" y="2640026"/>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Call FFT </a:t>
            </a:r>
          </a:p>
        </p:txBody>
      </p:sp>
      <p:cxnSp>
        <p:nvCxnSpPr>
          <p:cNvPr id="9" name="موصل: على شكل مرفق 15">
            <a:extLst>
              <a:ext uri="{FF2B5EF4-FFF2-40B4-BE49-F238E27FC236}">
                <a16:creationId xmlns:a16="http://schemas.microsoft.com/office/drawing/2014/main" id="{E63CD4C4-6EEB-AACF-7B92-19D141FB7B08}"/>
              </a:ext>
            </a:extLst>
          </p:cNvPr>
          <p:cNvCxnSpPr/>
          <p:nvPr/>
        </p:nvCxnSpPr>
        <p:spPr>
          <a:xfrm rot="5400000">
            <a:off x="4763875" y="1585192"/>
            <a:ext cx="545027" cy="156464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10" name="مستطيل: زوايا مستديرة 16">
            <a:extLst>
              <a:ext uri="{FF2B5EF4-FFF2-40B4-BE49-F238E27FC236}">
                <a16:creationId xmlns:a16="http://schemas.microsoft.com/office/drawing/2014/main" id="{4098140C-F276-EE06-1199-E5CBE4E2DAC4}"/>
              </a:ext>
            </a:extLst>
          </p:cNvPr>
          <p:cNvSpPr/>
          <p:nvPr/>
        </p:nvSpPr>
        <p:spPr>
          <a:xfrm>
            <a:off x="6221914" y="2640026"/>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Call DFT</a:t>
            </a:r>
          </a:p>
        </p:txBody>
      </p:sp>
      <p:cxnSp>
        <p:nvCxnSpPr>
          <p:cNvPr id="12" name="موصل: على شكل مرفق 17">
            <a:extLst>
              <a:ext uri="{FF2B5EF4-FFF2-40B4-BE49-F238E27FC236}">
                <a16:creationId xmlns:a16="http://schemas.microsoft.com/office/drawing/2014/main" id="{633D9602-9C5D-F1FB-A910-F922A1AC0703}"/>
              </a:ext>
            </a:extLst>
          </p:cNvPr>
          <p:cNvCxnSpPr>
            <a:cxnSpLocks/>
          </p:cNvCxnSpPr>
          <p:nvPr/>
        </p:nvCxnSpPr>
        <p:spPr>
          <a:xfrm rot="16200000" flipH="1">
            <a:off x="6292955" y="1620752"/>
            <a:ext cx="545027" cy="149352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4" name="موصل: على شكل مرفق 22">
            <a:extLst>
              <a:ext uri="{FF2B5EF4-FFF2-40B4-BE49-F238E27FC236}">
                <a16:creationId xmlns:a16="http://schemas.microsoft.com/office/drawing/2014/main" id="{52C2A6D5-D080-1959-1361-14A4377F850F}"/>
              </a:ext>
            </a:extLst>
          </p:cNvPr>
          <p:cNvCxnSpPr>
            <a:cxnSpLocks/>
          </p:cNvCxnSpPr>
          <p:nvPr/>
        </p:nvCxnSpPr>
        <p:spPr>
          <a:xfrm rot="16200000" flipH="1">
            <a:off x="4763875" y="2735495"/>
            <a:ext cx="545027" cy="156464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5" name="موصل: على شكل مرفق 25">
            <a:extLst>
              <a:ext uri="{FF2B5EF4-FFF2-40B4-BE49-F238E27FC236}">
                <a16:creationId xmlns:a16="http://schemas.microsoft.com/office/drawing/2014/main" id="{E2F0E429-70BD-017E-0031-C4DFE625D9E7}"/>
              </a:ext>
            </a:extLst>
          </p:cNvPr>
          <p:cNvCxnSpPr>
            <a:cxnSpLocks/>
          </p:cNvCxnSpPr>
          <p:nvPr/>
        </p:nvCxnSpPr>
        <p:spPr>
          <a:xfrm rot="5400000">
            <a:off x="6292955" y="2771055"/>
            <a:ext cx="545027" cy="149352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6" name="مستطيل: زوايا مستديرة 28">
            <a:extLst>
              <a:ext uri="{FF2B5EF4-FFF2-40B4-BE49-F238E27FC236}">
                <a16:creationId xmlns:a16="http://schemas.microsoft.com/office/drawing/2014/main" id="{7DB685E1-C9B4-9C3C-B584-28E4F0AF74A0}"/>
              </a:ext>
            </a:extLst>
          </p:cNvPr>
          <p:cNvSpPr/>
          <p:nvPr/>
        </p:nvSpPr>
        <p:spPr>
          <a:xfrm>
            <a:off x="4254067" y="3790329"/>
            <a:ext cx="316928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Comparing the performance</a:t>
            </a:r>
          </a:p>
        </p:txBody>
      </p:sp>
      <p:sp>
        <p:nvSpPr>
          <p:cNvPr id="11" name="TextBox 10">
            <a:extLst>
              <a:ext uri="{FF2B5EF4-FFF2-40B4-BE49-F238E27FC236}">
                <a16:creationId xmlns:a16="http://schemas.microsoft.com/office/drawing/2014/main" id="{603777C7-D4F1-ADB0-B03B-ABFF97A5ED7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3" name="TextBox 12">
            <a:extLst>
              <a:ext uri="{FF2B5EF4-FFF2-40B4-BE49-F238E27FC236}">
                <a16:creationId xmlns:a16="http://schemas.microsoft.com/office/drawing/2014/main" id="{7E162F05-B080-1CCB-19E1-9E74A1B7EA22}"/>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7" name="TextBox 16">
            <a:extLst>
              <a:ext uri="{FF2B5EF4-FFF2-40B4-BE49-F238E27FC236}">
                <a16:creationId xmlns:a16="http://schemas.microsoft.com/office/drawing/2014/main" id="{1ABDB213-AD2C-0268-B7CC-B8D24512FCB7}"/>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8" name="TextBox 17">
            <a:extLst>
              <a:ext uri="{FF2B5EF4-FFF2-40B4-BE49-F238E27FC236}">
                <a16:creationId xmlns:a16="http://schemas.microsoft.com/office/drawing/2014/main" id="{DF52E4F7-6D9D-486F-0912-9C7647A6126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9" name="TextBox 18">
            <a:extLst>
              <a:ext uri="{FF2B5EF4-FFF2-40B4-BE49-F238E27FC236}">
                <a16:creationId xmlns:a16="http://schemas.microsoft.com/office/drawing/2014/main" id="{ECD04D86-9BAD-BEA9-A25F-A2B3339EA5BB}"/>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0748204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B627C-C28C-4686-00DA-BB45465710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9BB00A-93F2-DBD2-C054-020316C7BFA6}"/>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C917E0D5-1F66-A76F-632E-CB397C22301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E0439F6-0DCF-8A7E-EF11-B9E6C33C7F21}"/>
              </a:ext>
            </a:extLst>
          </p:cNvPr>
          <p:cNvSpPr>
            <a:spLocks noGrp="1"/>
          </p:cNvSpPr>
          <p:nvPr>
            <p:ph type="sldNum" sz="quarter" idx="4"/>
          </p:nvPr>
        </p:nvSpPr>
        <p:spPr/>
        <p:txBody>
          <a:bodyPr/>
          <a:lstStyle/>
          <a:p>
            <a:pPr>
              <a:defRPr/>
            </a:pPr>
            <a:fld id="{A9CE67A1-BA7F-A74E-B5D7-615746DEEC2B}" type="slidenum">
              <a:rPr lang="en-US" smtClean="0"/>
              <a:pPr>
                <a:defRPr/>
              </a:pPr>
              <a:t>26</a:t>
            </a:fld>
            <a:endParaRPr lang="en-US" baseline="-11000" dirty="0"/>
          </a:p>
        </p:txBody>
      </p:sp>
      <p:sp>
        <p:nvSpPr>
          <p:cNvPr id="6" name="Date Placeholder 5">
            <a:extLst>
              <a:ext uri="{FF2B5EF4-FFF2-40B4-BE49-F238E27FC236}">
                <a16:creationId xmlns:a16="http://schemas.microsoft.com/office/drawing/2014/main" id="{A1CB0FCF-E148-90DB-EE7D-01CA2EC5343F}"/>
              </a:ext>
            </a:extLst>
          </p:cNvPr>
          <p:cNvSpPr>
            <a:spLocks noGrp="1"/>
          </p:cNvSpPr>
          <p:nvPr>
            <p:ph type="dt" sz="half" idx="2"/>
          </p:nvPr>
        </p:nvSpPr>
        <p:spPr/>
        <p:txBody>
          <a:bodyPr/>
          <a:lstStyle/>
          <a:p>
            <a:fld id="{EAFD7BB1-AB7F-4336-A8B3-6627E5D36FE4}" type="datetime3">
              <a:rPr lang="en-US" smtClean="0"/>
              <a:t>19 March 2026</a:t>
            </a:fld>
            <a:endParaRPr lang="en-US" dirty="0"/>
          </a:p>
        </p:txBody>
      </p:sp>
      <p:pic>
        <p:nvPicPr>
          <p:cNvPr id="18" name="Picture 17">
            <a:extLst>
              <a:ext uri="{FF2B5EF4-FFF2-40B4-BE49-F238E27FC236}">
                <a16:creationId xmlns:a16="http://schemas.microsoft.com/office/drawing/2014/main" id="{743A216F-9F3E-073E-F219-7597AF89D3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825" y="865889"/>
            <a:ext cx="7972253" cy="5126221"/>
          </a:xfrm>
          <a:prstGeom prst="rect">
            <a:avLst/>
          </a:prstGeom>
          <a:ln>
            <a:solidFill>
              <a:schemeClr val="tx1"/>
            </a:solidFill>
          </a:ln>
        </p:spPr>
      </p:pic>
      <p:sp>
        <p:nvSpPr>
          <p:cNvPr id="2" name="TextBox 1">
            <a:extLst>
              <a:ext uri="{FF2B5EF4-FFF2-40B4-BE49-F238E27FC236}">
                <a16:creationId xmlns:a16="http://schemas.microsoft.com/office/drawing/2014/main" id="{A38194C7-528C-E922-1BDE-56FB04CBE605}"/>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C97D2539-285F-549B-631F-22371935E6F6}"/>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3DFF8CCD-85DB-4B7C-12AB-EF31783A2AF9}"/>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3C96006-3D68-A64B-F3A8-F9DCA336EA06}"/>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0" name="TextBox 9">
            <a:extLst>
              <a:ext uri="{FF2B5EF4-FFF2-40B4-BE49-F238E27FC236}">
                <a16:creationId xmlns:a16="http://schemas.microsoft.com/office/drawing/2014/main" id="{D186905F-D132-4206-3193-8E30DC9EE0A1}"/>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3863102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01605-A7A9-0261-A372-1B84D11AD4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56F748-6A19-C7C0-4044-E0A96D8EF60D}"/>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C78BFA72-E0EA-F900-A406-AF1DB86465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8B27631-4FE9-BEBB-33E0-38E3CDF5275B}"/>
              </a:ext>
            </a:extLst>
          </p:cNvPr>
          <p:cNvSpPr>
            <a:spLocks noGrp="1"/>
          </p:cNvSpPr>
          <p:nvPr>
            <p:ph type="sldNum" sz="quarter" idx="4"/>
          </p:nvPr>
        </p:nvSpPr>
        <p:spPr/>
        <p:txBody>
          <a:bodyPr/>
          <a:lstStyle/>
          <a:p>
            <a:pPr>
              <a:defRPr/>
            </a:pPr>
            <a:fld id="{A9CE67A1-BA7F-A74E-B5D7-615746DEEC2B}" type="slidenum">
              <a:rPr lang="en-US" smtClean="0"/>
              <a:pPr>
                <a:defRPr/>
              </a:pPr>
              <a:t>27</a:t>
            </a:fld>
            <a:endParaRPr lang="en-US" baseline="-11000" dirty="0"/>
          </a:p>
        </p:txBody>
      </p:sp>
      <p:sp>
        <p:nvSpPr>
          <p:cNvPr id="6" name="Date Placeholder 5">
            <a:extLst>
              <a:ext uri="{FF2B5EF4-FFF2-40B4-BE49-F238E27FC236}">
                <a16:creationId xmlns:a16="http://schemas.microsoft.com/office/drawing/2014/main" id="{1ADED20A-D51C-ECA4-AC86-8B8B2D148E26}"/>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مستطيل 6">
            <a:extLst>
              <a:ext uri="{FF2B5EF4-FFF2-40B4-BE49-F238E27FC236}">
                <a16:creationId xmlns:a16="http://schemas.microsoft.com/office/drawing/2014/main" id="{9B2824A4-FC7A-1DD0-F3B1-13321B5D3A46}"/>
              </a:ext>
            </a:extLst>
          </p:cNvPr>
          <p:cNvSpPr/>
          <p:nvPr/>
        </p:nvSpPr>
        <p:spPr>
          <a:xfrm>
            <a:off x="354769" y="857326"/>
            <a:ext cx="2553777" cy="461665"/>
          </a:xfrm>
          <a:prstGeom prst="rect">
            <a:avLst/>
          </a:prstGeom>
          <a:noFill/>
          <a:ln>
            <a:noFill/>
          </a:ln>
        </p:spPr>
        <p:txBody>
          <a:bodyPr wrap="none" lIns="91440" tIns="45720" rIns="91440" bIns="45720">
            <a:spAutoFit/>
          </a:bodyPr>
          <a:lstStyle/>
          <a:p>
            <a:pPr marL="457200" indent="-457200" algn="ctr">
              <a:buFont typeface="Wingdings" panose="05000000000000000000" pitchFamily="2" charset="2"/>
              <a:buChar char="Ø"/>
            </a:pPr>
            <a:r>
              <a:rPr lang="en-US" sz="2400" b="0" cap="none" spc="0" dirty="0">
                <a:ln w="0"/>
                <a:effectLst>
                  <a:outerShdw blurRad="38100" dist="19050" dir="2700000" algn="tl" rotWithShape="0">
                    <a:schemeClr val="dk1">
                      <a:alpha val="40000"/>
                    </a:schemeClr>
                  </a:outerShdw>
                </a:effectLst>
              </a:rPr>
              <a:t>Execution Time</a:t>
            </a:r>
            <a:endParaRPr lang="ar-SA" sz="3200" b="0" cap="none" spc="0" dirty="0">
              <a:ln w="0"/>
              <a:effectLst>
                <a:outerShdw blurRad="38100" dist="19050" dir="2700000" algn="tl" rotWithShape="0">
                  <a:schemeClr val="dk1">
                    <a:alpha val="40000"/>
                  </a:schemeClr>
                </a:outerShdw>
              </a:effectLst>
            </a:endParaRPr>
          </a:p>
        </p:txBody>
      </p:sp>
      <p:pic>
        <p:nvPicPr>
          <p:cNvPr id="7" name="صورة 3">
            <a:extLst>
              <a:ext uri="{FF2B5EF4-FFF2-40B4-BE49-F238E27FC236}">
                <a16:creationId xmlns:a16="http://schemas.microsoft.com/office/drawing/2014/main" id="{85FC2875-FC00-CA9E-CF30-8DCE85FFE5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4108" y="1745318"/>
            <a:ext cx="7755841" cy="966962"/>
          </a:xfrm>
          <a:prstGeom prst="rect">
            <a:avLst/>
          </a:prstGeom>
          <a:ln>
            <a:solidFill>
              <a:schemeClr val="tx1"/>
            </a:solidFill>
          </a:ln>
        </p:spPr>
      </p:pic>
      <p:pic>
        <p:nvPicPr>
          <p:cNvPr id="8" name="صورة 11" descr="صورة تحتوي على نص, الخط, لقطة شاشة, خط&#10;&#10;قد يكون المحتوى الذي تم إنشاؤه بواسطة الذكاء الاصطناعي غير صحيح.">
            <a:extLst>
              <a:ext uri="{FF2B5EF4-FFF2-40B4-BE49-F238E27FC236}">
                <a16:creationId xmlns:a16="http://schemas.microsoft.com/office/drawing/2014/main" id="{F5898D06-C0F9-3F06-A984-EC6639DD56B7}"/>
              </a:ext>
            </a:extLst>
          </p:cNvPr>
          <p:cNvPicPr>
            <a:picLocks noChangeAspect="1"/>
          </p:cNvPicPr>
          <p:nvPr/>
        </p:nvPicPr>
        <p:blipFill>
          <a:blip r:embed="rId3"/>
          <a:srcRect t="6561" b="11846"/>
          <a:stretch>
            <a:fillRect/>
          </a:stretch>
        </p:blipFill>
        <p:spPr>
          <a:xfrm>
            <a:off x="2744108" y="2924622"/>
            <a:ext cx="7747527" cy="882056"/>
          </a:xfrm>
          <a:prstGeom prst="rect">
            <a:avLst/>
          </a:prstGeom>
          <a:ln>
            <a:solidFill>
              <a:schemeClr val="tx1"/>
            </a:solidFill>
          </a:ln>
        </p:spPr>
      </p:pic>
      <p:sp>
        <p:nvSpPr>
          <p:cNvPr id="9" name="مستطيل 12">
            <a:extLst>
              <a:ext uri="{FF2B5EF4-FFF2-40B4-BE49-F238E27FC236}">
                <a16:creationId xmlns:a16="http://schemas.microsoft.com/office/drawing/2014/main" id="{BAB5059C-A593-54C8-DDA0-69C45B553E85}"/>
              </a:ext>
            </a:extLst>
          </p:cNvPr>
          <p:cNvSpPr/>
          <p:nvPr/>
        </p:nvSpPr>
        <p:spPr>
          <a:xfrm>
            <a:off x="799524" y="2035917"/>
            <a:ext cx="1597745"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b="0" cap="none" spc="0" dirty="0">
                <a:ln w="0"/>
                <a:solidFill>
                  <a:schemeClr val="tx1"/>
                </a:solidFill>
                <a:effectLst>
                  <a:outerShdw blurRad="38100" dist="19050" dir="2700000" algn="tl" rotWithShape="0">
                    <a:schemeClr val="dk1">
                      <a:alpha val="40000"/>
                    </a:schemeClr>
                  </a:outerShdw>
                </a:effectLst>
              </a:rPr>
              <a:t>4096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sp>
        <p:nvSpPr>
          <p:cNvPr id="10" name="مستطيل 13">
            <a:extLst>
              <a:ext uri="{FF2B5EF4-FFF2-40B4-BE49-F238E27FC236}">
                <a16:creationId xmlns:a16="http://schemas.microsoft.com/office/drawing/2014/main" id="{26DE5667-69AB-D8E7-E9FE-8AD75615A515}"/>
              </a:ext>
            </a:extLst>
          </p:cNvPr>
          <p:cNvSpPr/>
          <p:nvPr/>
        </p:nvSpPr>
        <p:spPr>
          <a:xfrm>
            <a:off x="806314" y="4217781"/>
            <a:ext cx="1727588"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dirty="0">
                <a:ln w="0"/>
                <a:effectLst>
                  <a:outerShdw blurRad="38100" dist="19050" dir="2700000" algn="tl" rotWithShape="0">
                    <a:schemeClr val="dk1">
                      <a:alpha val="40000"/>
                    </a:schemeClr>
                  </a:outerShdw>
                </a:effectLst>
              </a:rPr>
              <a:t>32768</a:t>
            </a:r>
            <a:r>
              <a:rPr lang="en-US" sz="2000" b="0" cap="none" spc="0" dirty="0">
                <a:ln w="0"/>
                <a:solidFill>
                  <a:schemeClr val="tx1"/>
                </a:solidFill>
                <a:effectLst>
                  <a:outerShdw blurRad="38100" dist="19050" dir="2700000" algn="tl" rotWithShape="0">
                    <a:schemeClr val="dk1">
                      <a:alpha val="40000"/>
                    </a:schemeClr>
                  </a:outerShdw>
                </a:effectLst>
              </a:rPr>
              <a:t>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sp>
        <p:nvSpPr>
          <p:cNvPr id="11" name="مستطيل 14">
            <a:extLst>
              <a:ext uri="{FF2B5EF4-FFF2-40B4-BE49-F238E27FC236}">
                <a16:creationId xmlns:a16="http://schemas.microsoft.com/office/drawing/2014/main" id="{9BA92F8E-B52B-870A-34BF-23910438F214}"/>
              </a:ext>
            </a:extLst>
          </p:cNvPr>
          <p:cNvSpPr/>
          <p:nvPr/>
        </p:nvSpPr>
        <p:spPr>
          <a:xfrm>
            <a:off x="799524" y="3146263"/>
            <a:ext cx="1727588"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dirty="0">
                <a:ln w="0"/>
                <a:effectLst>
                  <a:outerShdw blurRad="38100" dist="19050" dir="2700000" algn="tl" rotWithShape="0">
                    <a:schemeClr val="dk1">
                      <a:alpha val="40000"/>
                    </a:schemeClr>
                  </a:outerShdw>
                </a:effectLst>
              </a:rPr>
              <a:t>16384</a:t>
            </a:r>
            <a:r>
              <a:rPr lang="en-US" sz="2000" b="0" cap="none" spc="0" dirty="0">
                <a:ln w="0"/>
                <a:solidFill>
                  <a:schemeClr val="tx1"/>
                </a:solidFill>
                <a:effectLst>
                  <a:outerShdw blurRad="38100" dist="19050" dir="2700000" algn="tl" rotWithShape="0">
                    <a:schemeClr val="dk1">
                      <a:alpha val="40000"/>
                    </a:schemeClr>
                  </a:outerShdw>
                </a:effectLst>
              </a:rPr>
              <a:t>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pic>
        <p:nvPicPr>
          <p:cNvPr id="12" name="صورة 16">
            <a:extLst>
              <a:ext uri="{FF2B5EF4-FFF2-40B4-BE49-F238E27FC236}">
                <a16:creationId xmlns:a16="http://schemas.microsoft.com/office/drawing/2014/main" id="{4737E9A3-35BF-D2A2-3939-57E860DA9480}"/>
              </a:ext>
            </a:extLst>
          </p:cNvPr>
          <p:cNvPicPr>
            <a:picLocks noChangeAspect="1"/>
          </p:cNvPicPr>
          <p:nvPr/>
        </p:nvPicPr>
        <p:blipFill>
          <a:blip r:embed="rId4"/>
          <a:srcRect l="808" t="4596" r="3577" b="-1"/>
          <a:stretch>
            <a:fillRect/>
          </a:stretch>
        </p:blipFill>
        <p:spPr>
          <a:xfrm>
            <a:off x="2744106" y="4041952"/>
            <a:ext cx="7755841" cy="890464"/>
          </a:xfrm>
          <a:prstGeom prst="rect">
            <a:avLst/>
          </a:prstGeom>
          <a:ln>
            <a:solidFill>
              <a:schemeClr val="tx1"/>
            </a:solidFill>
          </a:ln>
        </p:spPr>
      </p:pic>
      <p:sp>
        <p:nvSpPr>
          <p:cNvPr id="13" name="TextBox 12">
            <a:extLst>
              <a:ext uri="{FF2B5EF4-FFF2-40B4-BE49-F238E27FC236}">
                <a16:creationId xmlns:a16="http://schemas.microsoft.com/office/drawing/2014/main" id="{72ABE51F-F348-8D34-F3EF-DF22878CA47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4" name="TextBox 13">
            <a:extLst>
              <a:ext uri="{FF2B5EF4-FFF2-40B4-BE49-F238E27FC236}">
                <a16:creationId xmlns:a16="http://schemas.microsoft.com/office/drawing/2014/main" id="{6299D334-556D-9049-8C80-BF17388B03CD}"/>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5" name="TextBox 14">
            <a:extLst>
              <a:ext uri="{FF2B5EF4-FFF2-40B4-BE49-F238E27FC236}">
                <a16:creationId xmlns:a16="http://schemas.microsoft.com/office/drawing/2014/main" id="{D4744F67-F3D7-492E-86C7-3AACE92C41B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6" name="TextBox 15">
            <a:extLst>
              <a:ext uri="{FF2B5EF4-FFF2-40B4-BE49-F238E27FC236}">
                <a16:creationId xmlns:a16="http://schemas.microsoft.com/office/drawing/2014/main" id="{1EC8F5F8-DA9B-19FD-FC80-BFAAFDF7A9D8}"/>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7" name="TextBox 16">
            <a:extLst>
              <a:ext uri="{FF2B5EF4-FFF2-40B4-BE49-F238E27FC236}">
                <a16:creationId xmlns:a16="http://schemas.microsoft.com/office/drawing/2014/main" id="{9DE1FFB2-0965-A006-42EF-C9A91FD1390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054812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0EF9B-87A5-C7F2-F81F-85E9CDA29E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51A0F8-AC9F-7B58-6CE6-7C363FCEE393}"/>
              </a:ext>
            </a:extLst>
          </p:cNvPr>
          <p:cNvSpPr>
            <a:spLocks noGrp="1"/>
          </p:cNvSpPr>
          <p:nvPr>
            <p:ph type="title"/>
          </p:nvPr>
        </p:nvSpPr>
        <p:spPr>
          <a:xfrm>
            <a:off x="342901" y="219456"/>
            <a:ext cx="10287001" cy="470898"/>
          </a:xfrm>
        </p:spPr>
        <p:txBody>
          <a:bodyPr/>
          <a:lstStyle/>
          <a:p>
            <a:r>
              <a:rPr lang="en-US" dirty="0"/>
              <a:t>Introduction :Radix-2 vs Radix-4</a:t>
            </a:r>
          </a:p>
        </p:txBody>
      </p:sp>
      <p:sp>
        <p:nvSpPr>
          <p:cNvPr id="4" name="Footer Placeholder 3">
            <a:extLst>
              <a:ext uri="{FF2B5EF4-FFF2-40B4-BE49-F238E27FC236}">
                <a16:creationId xmlns:a16="http://schemas.microsoft.com/office/drawing/2014/main" id="{9732B64E-275D-4ED3-6F80-289B17BDD82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44B9685-2EB8-2A02-F813-C3C2BB88332E}"/>
              </a:ext>
            </a:extLst>
          </p:cNvPr>
          <p:cNvSpPr>
            <a:spLocks noGrp="1"/>
          </p:cNvSpPr>
          <p:nvPr>
            <p:ph type="sldNum" sz="quarter" idx="4"/>
          </p:nvPr>
        </p:nvSpPr>
        <p:spPr/>
        <p:txBody>
          <a:bodyPr/>
          <a:lstStyle/>
          <a:p>
            <a:pPr>
              <a:defRPr/>
            </a:pPr>
            <a:fld id="{A9CE67A1-BA7F-A74E-B5D7-615746DEEC2B}" type="slidenum">
              <a:rPr lang="en-US" smtClean="0"/>
              <a:pPr>
                <a:defRPr/>
              </a:pPr>
              <a:t>28</a:t>
            </a:fld>
            <a:endParaRPr lang="en-US" baseline="-11000" dirty="0"/>
          </a:p>
        </p:txBody>
      </p:sp>
      <p:sp>
        <p:nvSpPr>
          <p:cNvPr id="6" name="Date Placeholder 5">
            <a:extLst>
              <a:ext uri="{FF2B5EF4-FFF2-40B4-BE49-F238E27FC236}">
                <a16:creationId xmlns:a16="http://schemas.microsoft.com/office/drawing/2014/main" id="{203780DC-010E-E20B-0110-6DE301E66BC7}"/>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EE57413-D435-5360-86C2-0802EAEC5764}"/>
                  </a:ext>
                </a:extLst>
              </p:cNvPr>
              <p:cNvSpPr txBox="1"/>
              <p:nvPr/>
            </p:nvSpPr>
            <p:spPr>
              <a:xfrm>
                <a:off x="236896" y="757599"/>
                <a:ext cx="11718207" cy="2564805"/>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Number of stages:</a:t>
                </a:r>
              </a:p>
              <a:p>
                <a:r>
                  <a:rPr lang="en-US" b="1" dirty="0"/>
                  <a:t>Radix-2: </a:t>
                </a:r>
                <a14:m>
                  <m:oMath xmlns:m="http://schemas.openxmlformats.org/officeDocument/2006/math">
                    <m:r>
                      <a:rPr lang="en-US" b="1" i="1">
                        <a:latin typeface="Cambria Math" panose="02040503050406030204" pitchFamily="18" charset="0"/>
                      </a:rPr>
                      <m:t>𝑳𝒐</m:t>
                    </m:r>
                    <m:sSub>
                      <m:sSubPr>
                        <m:ctrlPr>
                          <a:rPr lang="en-US" b="1" i="1">
                            <a:latin typeface="Cambria Math" panose="02040503050406030204" pitchFamily="18" charset="0"/>
                          </a:rPr>
                        </m:ctrlPr>
                      </m:sSubPr>
                      <m:e>
                        <m:r>
                          <a:rPr lang="en-US" b="1" i="1">
                            <a:latin typeface="Cambria Math" panose="02040503050406030204" pitchFamily="18" charset="0"/>
                          </a:rPr>
                          <m:t>𝒈</m:t>
                        </m:r>
                      </m:e>
                      <m:sub>
                        <m:r>
                          <a:rPr lang="en-US" b="1" i="1">
                            <a:latin typeface="Cambria Math" panose="02040503050406030204" pitchFamily="18" charset="0"/>
                          </a:rPr>
                          <m:t>𝟐</m:t>
                        </m:r>
                      </m:sub>
                    </m:sSub>
                    <m:d>
                      <m:dPr>
                        <m:ctrlPr>
                          <a:rPr lang="en-US" b="1" i="1">
                            <a:latin typeface="Cambria Math" panose="02040503050406030204" pitchFamily="18" charset="0"/>
                          </a:rPr>
                        </m:ctrlPr>
                      </m:dPr>
                      <m:e>
                        <m:r>
                          <a:rPr lang="en-US" b="1" i="1">
                            <a:latin typeface="Cambria Math" panose="02040503050406030204" pitchFamily="18" charset="0"/>
                          </a:rPr>
                          <m:t>𝑵</m:t>
                        </m:r>
                      </m:e>
                    </m:d>
                  </m:oMath>
                </a14:m>
                <a:endParaRPr lang="en-US" b="1" dirty="0"/>
              </a:p>
              <a:p>
                <a:pPr defTabSz="457200">
                  <a:spcBef>
                    <a:spcPts val="1000"/>
                  </a:spcBef>
                  <a:buClr>
                    <a:srgbClr val="1E4056"/>
                  </a:buClr>
                  <a:buSzPct val="75000"/>
                </a:pPr>
                <a:r>
                  <a:rPr lang="en-US" b="1" dirty="0"/>
                  <a:t>Radix-4:</a:t>
                </a:r>
                <a14:m>
                  <m:oMath xmlns:m="http://schemas.openxmlformats.org/officeDocument/2006/math">
                    <m:r>
                      <a:rPr lang="en-US" b="1" i="1">
                        <a:latin typeface="Cambria Math" panose="02040503050406030204" pitchFamily="18" charset="0"/>
                      </a:rPr>
                      <m:t>𝑳𝒐</m:t>
                    </m:r>
                    <m:sSub>
                      <m:sSubPr>
                        <m:ctrlPr>
                          <a:rPr lang="en-US" b="1" i="1">
                            <a:latin typeface="Cambria Math" panose="02040503050406030204" pitchFamily="18" charset="0"/>
                          </a:rPr>
                        </m:ctrlPr>
                      </m:sSubPr>
                      <m:e>
                        <m:r>
                          <a:rPr lang="en-US" b="1" i="1">
                            <a:latin typeface="Cambria Math" panose="02040503050406030204" pitchFamily="18" charset="0"/>
                          </a:rPr>
                          <m:t>𝒈</m:t>
                        </m:r>
                      </m:e>
                      <m:sub>
                        <m:r>
                          <a:rPr lang="en-US" b="1" i="1" smtClean="0">
                            <a:latin typeface="Cambria Math" panose="02040503050406030204" pitchFamily="18" charset="0"/>
                          </a:rPr>
                          <m:t>𝟒</m:t>
                        </m:r>
                      </m:sub>
                    </m:sSub>
                    <m:d>
                      <m:dPr>
                        <m:ctrlPr>
                          <a:rPr lang="en-US" b="1" i="1">
                            <a:latin typeface="Cambria Math" panose="02040503050406030204" pitchFamily="18" charset="0"/>
                          </a:rPr>
                        </m:ctrlPr>
                      </m:dPr>
                      <m:e>
                        <m:r>
                          <a:rPr lang="en-US" b="1" i="1">
                            <a:latin typeface="Cambria Math" panose="02040503050406030204" pitchFamily="18" charset="0"/>
                          </a:rPr>
                          <m:t>𝑵</m:t>
                        </m:r>
                      </m:e>
                    </m:d>
                  </m:oMath>
                </a14:m>
                <a:endParaRPr lang="en-US" b="1" dirty="0"/>
              </a:p>
              <a:p>
                <a:pPr defTabSz="457200">
                  <a:spcBef>
                    <a:spcPts val="1000"/>
                  </a:spcBef>
                  <a:buClr>
                    <a:srgbClr val="1E4056"/>
                  </a:buClr>
                  <a:buSzPct val="75000"/>
                </a:pPr>
                <a:r>
                  <a:rPr lang="en-US" b="1" dirty="0"/>
                  <a:t>So, Radix-4 has fewer stages, but does that mean it is better?</a:t>
                </a:r>
              </a:p>
              <a:p>
                <a:endParaRPr lang="en-US" b="1" dirty="0"/>
              </a:p>
              <a:p>
                <a:r>
                  <a:rPr lang="en-US" b="1" dirty="0"/>
                  <a:t>Software Perspective:</a:t>
                </a:r>
                <a:r>
                  <a:rPr lang="en-US" dirty="0"/>
                  <a:t> The real bottleneck is memory access. The savings come from reducing the number of times the processor has to write intermediate data to the RAM and read it back again. By cutting the stages from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d>
                          <m:dPr>
                            <m:ctrlPr>
                              <a:rPr lang="en-US" b="0" i="1" smtClean="0">
                                <a:latin typeface="Cambria Math" panose="02040503050406030204" pitchFamily="18" charset="0"/>
                              </a:rPr>
                            </m:ctrlPr>
                          </m:dPr>
                          <m:e>
                            <m:r>
                              <a:rPr lang="en-US" b="0" i="1" smtClean="0">
                                <a:latin typeface="Cambria Math" panose="02040503050406030204" pitchFamily="18" charset="0"/>
                              </a:rPr>
                              <m:t>𝑁</m:t>
                            </m:r>
                          </m:e>
                        </m:d>
                        <m:r>
                          <a:rPr lang="en-US" b="0" i="1" smtClean="0">
                            <a:latin typeface="Cambria Math" panose="02040503050406030204" pitchFamily="18" charset="0"/>
                          </a:rPr>
                          <m:t> </m:t>
                        </m:r>
                      </m:e>
                    </m:func>
                  </m:oMath>
                </a14:m>
                <a:r>
                  <a:rPr lang="en-US" dirty="0"/>
                  <a:t> </a:t>
                </a:r>
              </a:p>
              <a:p>
                <a:r>
                  <a:rPr lang="en-US" dirty="0"/>
                  <a:t>down to </a:t>
                </a:r>
                <a14:m>
                  <m:oMath xmlns:m="http://schemas.openxmlformats.org/officeDocument/2006/math">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b="0" i="1" smtClean="0">
                                <a:latin typeface="Cambria Math" panose="02040503050406030204" pitchFamily="18" charset="0"/>
                              </a:rPr>
                              <m:t>4</m:t>
                            </m:r>
                          </m:sub>
                        </m:sSub>
                      </m:fName>
                      <m:e>
                        <m:d>
                          <m:dPr>
                            <m:ctrlPr>
                              <a:rPr lang="en-US" i="1">
                                <a:latin typeface="Cambria Math" panose="02040503050406030204" pitchFamily="18" charset="0"/>
                              </a:rPr>
                            </m:ctrlPr>
                          </m:dPr>
                          <m:e>
                            <m:r>
                              <a:rPr lang="en-US" i="1">
                                <a:latin typeface="Cambria Math" panose="02040503050406030204" pitchFamily="18" charset="0"/>
                              </a:rPr>
                              <m:t>𝑁</m:t>
                            </m:r>
                          </m:e>
                        </m:d>
                        <m:r>
                          <a:rPr lang="en-US" i="1">
                            <a:latin typeface="Cambria Math" panose="02040503050406030204" pitchFamily="18" charset="0"/>
                          </a:rPr>
                          <m:t> </m:t>
                        </m:r>
                      </m:e>
                    </m:func>
                  </m:oMath>
                </a14:m>
                <a:r>
                  <a:rPr lang="en-US" dirty="0"/>
                  <a:t> Radix-4 cuts the most expensive operation in software (cache/RAM access) exactly in half.</a:t>
                </a:r>
              </a:p>
            </p:txBody>
          </p:sp>
        </mc:Choice>
        <mc:Fallback xmlns="">
          <p:sp>
            <p:nvSpPr>
              <p:cNvPr id="7" name="TextBox 6">
                <a:extLst>
                  <a:ext uri="{FF2B5EF4-FFF2-40B4-BE49-F238E27FC236}">
                    <a16:creationId xmlns:a16="http://schemas.microsoft.com/office/drawing/2014/main" id="{CEE57413-D435-5360-86C2-0802EAEC5764}"/>
                  </a:ext>
                </a:extLst>
              </p:cNvPr>
              <p:cNvSpPr txBox="1">
                <a:spLocks noRot="1" noChangeAspect="1" noMove="1" noResize="1" noEditPoints="1" noAdjustHandles="1" noChangeArrowheads="1" noChangeShapeType="1" noTextEdit="1"/>
              </p:cNvSpPr>
              <p:nvPr/>
            </p:nvSpPr>
            <p:spPr>
              <a:xfrm>
                <a:off x="236896" y="757599"/>
                <a:ext cx="11718207" cy="2564805"/>
              </a:xfrm>
              <a:prstGeom prst="rect">
                <a:avLst/>
              </a:prstGeom>
              <a:blipFill>
                <a:blip r:embed="rId2"/>
                <a:stretch>
                  <a:fillRect l="-468" t="-950" r="-156" b="-2613"/>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4234330-E75C-C79B-E7C1-71E8EDDA4068}"/>
              </a:ext>
            </a:extLst>
          </p:cNvPr>
          <p:cNvPicPr>
            <a:picLocks noChangeAspect="1"/>
          </p:cNvPicPr>
          <p:nvPr/>
        </p:nvPicPr>
        <p:blipFill>
          <a:blip r:embed="rId3"/>
          <a:stretch>
            <a:fillRect/>
          </a:stretch>
        </p:blipFill>
        <p:spPr>
          <a:xfrm>
            <a:off x="4179073" y="3389649"/>
            <a:ext cx="3257942" cy="2449508"/>
          </a:xfrm>
          <a:prstGeom prst="rect">
            <a:avLst/>
          </a:prstGeom>
          <a:ln>
            <a:solidFill>
              <a:schemeClr val="tx1"/>
            </a:solidFill>
          </a:ln>
        </p:spPr>
      </p:pic>
      <p:sp>
        <p:nvSpPr>
          <p:cNvPr id="2" name="TextBox 1">
            <a:extLst>
              <a:ext uri="{FF2B5EF4-FFF2-40B4-BE49-F238E27FC236}">
                <a16:creationId xmlns:a16="http://schemas.microsoft.com/office/drawing/2014/main" id="{8728723C-B036-9E83-B05C-F05C91F21EC6}"/>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B5555A34-D7BE-876E-5936-D938674EDD7A}"/>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4BFFF7EE-9702-E85D-09C2-E124B92AFF9B}"/>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797C9BE9-7616-D2DF-7A50-61FA9669577A}"/>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2" name="TextBox 11">
            <a:extLst>
              <a:ext uri="{FF2B5EF4-FFF2-40B4-BE49-F238E27FC236}">
                <a16:creationId xmlns:a16="http://schemas.microsoft.com/office/drawing/2014/main" id="{78112D6E-683B-3667-3B02-F15CC706C4F3}"/>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solidFill>
              </a:rPr>
              <a:t>Radix-2 vs Radix-4</a:t>
            </a:r>
          </a:p>
        </p:txBody>
      </p:sp>
    </p:spTree>
    <p:extLst>
      <p:ext uri="{BB962C8B-B14F-4D97-AF65-F5344CB8AC3E}">
        <p14:creationId xmlns:p14="http://schemas.microsoft.com/office/powerpoint/2010/main" val="3150192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fade">
                                      <p:cBhvr>
                                        <p:cTn id="7" dur="500"/>
                                        <p:tgtEl>
                                          <p:spTgt spid="7">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6" end="6"/>
                                            </p:txEl>
                                          </p:spTgt>
                                        </p:tgtEl>
                                        <p:attrNameLst>
                                          <p:attrName>style.visibility</p:attrName>
                                        </p:attrNameLst>
                                      </p:cBhvr>
                                      <p:to>
                                        <p:strVal val="visible"/>
                                      </p:to>
                                    </p:set>
                                    <p:animEffect transition="in" filter="fade">
                                      <p:cBhvr>
                                        <p:cTn id="10" dur="500"/>
                                        <p:tgtEl>
                                          <p:spTgt spid="7">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786C4-5856-ED1B-9ADE-BE57D063D3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CD5B0C-8DFC-C4BB-E998-8FB96D235BD8}"/>
              </a:ext>
            </a:extLst>
          </p:cNvPr>
          <p:cNvSpPr>
            <a:spLocks noGrp="1"/>
          </p:cNvSpPr>
          <p:nvPr>
            <p:ph type="title"/>
          </p:nvPr>
        </p:nvSpPr>
        <p:spPr>
          <a:xfrm>
            <a:off x="342901" y="219456"/>
            <a:ext cx="10287001" cy="470898"/>
          </a:xfrm>
        </p:spPr>
        <p:txBody>
          <a:bodyPr/>
          <a:lstStyle/>
          <a:p>
            <a:r>
              <a:rPr lang="en-US" dirty="0"/>
              <a:t>Introduction :Radix-2 vs Radix-4</a:t>
            </a:r>
          </a:p>
        </p:txBody>
      </p:sp>
      <p:sp>
        <p:nvSpPr>
          <p:cNvPr id="4" name="Footer Placeholder 3">
            <a:extLst>
              <a:ext uri="{FF2B5EF4-FFF2-40B4-BE49-F238E27FC236}">
                <a16:creationId xmlns:a16="http://schemas.microsoft.com/office/drawing/2014/main" id="{F5577022-EDE1-8695-6AE8-9619E85F4A2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DD2D89D-87F9-68C3-917E-232F758E63BA}"/>
              </a:ext>
            </a:extLst>
          </p:cNvPr>
          <p:cNvSpPr>
            <a:spLocks noGrp="1"/>
          </p:cNvSpPr>
          <p:nvPr>
            <p:ph type="sldNum" sz="quarter" idx="4"/>
          </p:nvPr>
        </p:nvSpPr>
        <p:spPr/>
        <p:txBody>
          <a:bodyPr/>
          <a:lstStyle/>
          <a:p>
            <a:pPr>
              <a:defRPr/>
            </a:pPr>
            <a:fld id="{A9CE67A1-BA7F-A74E-B5D7-615746DEEC2B}" type="slidenum">
              <a:rPr lang="en-US" smtClean="0"/>
              <a:pPr>
                <a:defRPr/>
              </a:pPr>
              <a:t>29</a:t>
            </a:fld>
            <a:endParaRPr lang="en-US" baseline="-11000" dirty="0"/>
          </a:p>
        </p:txBody>
      </p:sp>
      <p:sp>
        <p:nvSpPr>
          <p:cNvPr id="6" name="Date Placeholder 5">
            <a:extLst>
              <a:ext uri="{FF2B5EF4-FFF2-40B4-BE49-F238E27FC236}">
                <a16:creationId xmlns:a16="http://schemas.microsoft.com/office/drawing/2014/main" id="{7DCF5F91-BEBB-CFC6-EEE1-664087A66D06}"/>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985A9ABB-A8B0-2DDB-C02A-B349FB73B49D}"/>
              </a:ext>
            </a:extLst>
          </p:cNvPr>
          <p:cNvSpPr txBox="1"/>
          <p:nvPr/>
        </p:nvSpPr>
        <p:spPr>
          <a:xfrm>
            <a:off x="236896" y="757599"/>
            <a:ext cx="11718207" cy="774571"/>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Hardware perspective : </a:t>
            </a:r>
          </a:p>
          <a:p>
            <a:pPr defTabSz="457200">
              <a:spcBef>
                <a:spcPts val="1000"/>
              </a:spcBef>
              <a:buClr>
                <a:srgbClr val="1E4056"/>
              </a:buClr>
              <a:buSzPct val="75000"/>
            </a:pPr>
            <a:r>
              <a:rPr lang="en-US" b="1" dirty="0">
                <a:latin typeface="Barlow (Body)"/>
              </a:rPr>
              <a:t>The real bottleneck is the stage component</a:t>
            </a:r>
          </a:p>
        </p:txBody>
      </p:sp>
      <p:pic>
        <p:nvPicPr>
          <p:cNvPr id="9" name="Picture 8">
            <a:extLst>
              <a:ext uri="{FF2B5EF4-FFF2-40B4-BE49-F238E27FC236}">
                <a16:creationId xmlns:a16="http://schemas.microsoft.com/office/drawing/2014/main" id="{A8D7BB19-D210-405C-2B29-5F3CD15D5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863" y="1693299"/>
            <a:ext cx="3865305" cy="1946263"/>
          </a:xfrm>
          <a:prstGeom prst="rect">
            <a:avLst/>
          </a:prstGeom>
          <a:ln>
            <a:solidFill>
              <a:schemeClr val="tx1"/>
            </a:solidFill>
          </a:ln>
        </p:spPr>
      </p:pic>
      <p:pic>
        <p:nvPicPr>
          <p:cNvPr id="11" name="Picture 10">
            <a:extLst>
              <a:ext uri="{FF2B5EF4-FFF2-40B4-BE49-F238E27FC236}">
                <a16:creationId xmlns:a16="http://schemas.microsoft.com/office/drawing/2014/main" id="{A357866E-17BA-3C12-5EAE-0F2926DEAC55}"/>
              </a:ext>
            </a:extLst>
          </p:cNvPr>
          <p:cNvPicPr>
            <a:picLocks noChangeAspect="1"/>
          </p:cNvPicPr>
          <p:nvPr/>
        </p:nvPicPr>
        <p:blipFill>
          <a:blip r:embed="rId4">
            <a:extLst>
              <a:ext uri="{28A0092B-C50C-407E-A947-70E740481C1C}">
                <a14:useLocalDpi xmlns:a14="http://schemas.microsoft.com/office/drawing/2010/main" val="0"/>
              </a:ext>
            </a:extLst>
          </a:blip>
          <a:srcRect r="4235"/>
          <a:stretch>
            <a:fillRect/>
          </a:stretch>
        </p:blipFill>
        <p:spPr>
          <a:xfrm>
            <a:off x="5890261" y="1730584"/>
            <a:ext cx="5604876" cy="1871691"/>
          </a:xfrm>
          <a:prstGeom prst="rect">
            <a:avLst/>
          </a:prstGeom>
          <a:ln>
            <a:solidFill>
              <a:schemeClr val="tx1"/>
            </a:solidFill>
          </a:ln>
        </p:spPr>
      </p:pic>
      <p:sp>
        <p:nvSpPr>
          <p:cNvPr id="12" name="TextBox 11">
            <a:extLst>
              <a:ext uri="{FF2B5EF4-FFF2-40B4-BE49-F238E27FC236}">
                <a16:creationId xmlns:a16="http://schemas.microsoft.com/office/drawing/2014/main" id="{C030A41A-FCE4-E3EE-CC45-A8448AE42FEF}"/>
              </a:ext>
            </a:extLst>
          </p:cNvPr>
          <p:cNvSpPr txBox="1"/>
          <p:nvPr/>
        </p:nvSpPr>
        <p:spPr>
          <a:xfrm>
            <a:off x="330579" y="3837976"/>
            <a:ext cx="11119363" cy="1051570"/>
          </a:xfrm>
          <a:prstGeom prst="rect">
            <a:avLst/>
          </a:prstGeom>
          <a:noFill/>
        </p:spPr>
        <p:txBody>
          <a:bodyPr wrap="square">
            <a:spAutoFit/>
          </a:bodyPr>
          <a:lstStyle/>
          <a:p>
            <a:pPr defTabSz="457200">
              <a:spcBef>
                <a:spcPts val="1000"/>
              </a:spcBef>
              <a:buClr>
                <a:srgbClr val="1E4056"/>
              </a:buClr>
              <a:buSzPct val="75000"/>
            </a:pPr>
            <a:r>
              <a:rPr lang="en-US" b="1" dirty="0"/>
              <a:t>In a pipelined FFT architecture, Radix-2 outperforms Radix-4 in maximum frequency because it has a simpler critical path</a:t>
            </a:r>
            <a:endParaRPr lang="ar-EG" b="1" dirty="0"/>
          </a:p>
          <a:p>
            <a:pPr defTabSz="457200">
              <a:spcBef>
                <a:spcPts val="1000"/>
              </a:spcBef>
              <a:buClr>
                <a:srgbClr val="1E4056"/>
              </a:buClr>
              <a:buSzPct val="75000"/>
            </a:pPr>
            <a:endParaRPr lang="en-US" b="1" dirty="0">
              <a:latin typeface="Barlow (Body)"/>
            </a:endParaRPr>
          </a:p>
        </p:txBody>
      </p:sp>
      <p:sp>
        <p:nvSpPr>
          <p:cNvPr id="2" name="TextBox 1">
            <a:extLst>
              <a:ext uri="{FF2B5EF4-FFF2-40B4-BE49-F238E27FC236}">
                <a16:creationId xmlns:a16="http://schemas.microsoft.com/office/drawing/2014/main" id="{F5C5AC05-17D5-D286-5218-BE7FE9D9C25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78ED836A-544E-CF1C-0217-709E2978CC81}"/>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3212BD41-9A8B-1E10-49F3-72AC0FBD139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3" name="TextBox 12">
            <a:extLst>
              <a:ext uri="{FF2B5EF4-FFF2-40B4-BE49-F238E27FC236}">
                <a16:creationId xmlns:a16="http://schemas.microsoft.com/office/drawing/2014/main" id="{F6DE6070-82C7-605D-14D3-5CA61BE66F60}"/>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4" name="TextBox 13">
            <a:extLst>
              <a:ext uri="{FF2B5EF4-FFF2-40B4-BE49-F238E27FC236}">
                <a16:creationId xmlns:a16="http://schemas.microsoft.com/office/drawing/2014/main" id="{F7C46E53-8C5A-5505-FB80-68CE85F920A5}"/>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solidFill>
              </a:rPr>
              <a:t>Radix-2 vs Radix-4</a:t>
            </a:r>
          </a:p>
        </p:txBody>
      </p:sp>
      <mc:AlternateContent xmlns:mc="http://schemas.openxmlformats.org/markup-compatibility/2006" xmlns:a14="http://schemas.microsoft.com/office/drawing/2010/main">
        <mc:Choice Requires="a14">
          <p:sp>
            <p:nvSpPr>
              <p:cNvPr id="16" name="Rectangle 2">
                <a:extLst>
                  <a:ext uri="{FF2B5EF4-FFF2-40B4-BE49-F238E27FC236}">
                    <a16:creationId xmlns:a16="http://schemas.microsoft.com/office/drawing/2014/main" id="{0D1C3A68-EE8C-3DEE-618C-7D1DF62DCB11}"/>
                  </a:ext>
                </a:extLst>
              </p:cNvPr>
              <p:cNvSpPr>
                <a:spLocks noChangeArrowheads="1"/>
              </p:cNvSpPr>
              <p:nvPr/>
            </p:nvSpPr>
            <p:spPr bwMode="auto">
              <a:xfrm>
                <a:off x="236896" y="4409609"/>
                <a:ext cx="10885737" cy="64633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Radix-2 SDF:</a:t>
                </a:r>
                <a:r>
                  <a:rPr kumimoji="0" lang="en-US" altLang="en-US" sz="1800" b="0" i="0" u="none" strike="noStrike" cap="none" normalizeH="0" baseline="0" dirty="0">
                    <a:ln>
                      <a:noFill/>
                    </a:ln>
                    <a:solidFill>
                      <a:schemeClr val="tx1"/>
                    </a:solidFill>
                    <a:effectLst/>
                    <a:latin typeface="Arial" panose="020B0604020202020204" pitchFamily="34" charset="0"/>
                  </a:rPr>
                  <a:t> Shorter critical path → Higher </a:t>
                </a:r>
                <a14:m>
                  <m:oMath xmlns:m="http://schemas.openxmlformats.org/officeDocument/2006/math">
                    <m:r>
                      <a:rPr kumimoji="0" lang="en-US" altLang="en-US" sz="1800" b="0" i="1" u="none" strike="noStrike" cap="none" normalizeH="0" baseline="0" smtClean="0">
                        <a:ln>
                          <a:noFill/>
                        </a:ln>
                        <a:solidFill>
                          <a:schemeClr val="tx1"/>
                        </a:solidFill>
                        <a:effectLst/>
                        <a:latin typeface="Cambria Math" panose="02040503050406030204" pitchFamily="18" charset="0"/>
                      </a:rPr>
                      <m:t>𝐹</m:t>
                    </m:r>
                    <m:r>
                      <a:rPr kumimoji="0" lang="en-US" altLang="en-US" sz="1800" b="0" i="1" u="none" strike="noStrike" cap="none" normalizeH="0" baseline="0" smtClean="0">
                        <a:ln>
                          <a:noFill/>
                        </a:ln>
                        <a:solidFill>
                          <a:schemeClr val="tx1"/>
                        </a:solidFill>
                        <a:effectLst/>
                        <a:latin typeface="Cambria Math" panose="02040503050406030204" pitchFamily="18" charset="0"/>
                      </a:rPr>
                      <m:t>_</m:t>
                    </m:r>
                    <m:func>
                      <m:funcPr>
                        <m:ctrlPr>
                          <a:rPr kumimoji="0" lang="en-US" altLang="en-US" sz="1800" b="0" i="1" u="none" strike="noStrike" cap="none" normalizeH="0" baseline="0" smtClean="0">
                            <a:ln>
                              <a:noFill/>
                            </a:ln>
                            <a:solidFill>
                              <a:schemeClr val="tx1"/>
                            </a:solidFill>
                            <a:effectLst/>
                            <a:latin typeface="Cambria Math" panose="02040503050406030204" pitchFamily="18" charset="0"/>
                          </a:rPr>
                        </m:ctrlPr>
                      </m:funcPr>
                      <m:fName>
                        <m:r>
                          <m:rPr>
                            <m:sty m:val="p"/>
                          </m:rPr>
                          <a:rPr kumimoji="0" lang="en-US" altLang="en-US" sz="1800" b="0" i="0" u="none" strike="noStrike" cap="none" normalizeH="0" baseline="0" smtClean="0">
                            <a:ln>
                              <a:noFill/>
                            </a:ln>
                            <a:solidFill>
                              <a:schemeClr val="tx1"/>
                            </a:solidFill>
                            <a:effectLst/>
                            <a:latin typeface="Cambria Math" panose="02040503050406030204" pitchFamily="18" charset="0"/>
                          </a:rPr>
                          <m:t>max</m:t>
                        </m:r>
                      </m:fName>
                      <m:e>
                        <m:r>
                          <a:rPr kumimoji="0" lang="en-US" altLang="en-US" sz="1800" b="0" i="1" u="none" strike="noStrike" cap="none" normalizeH="0" baseline="0" smtClean="0">
                            <a:ln>
                              <a:noFill/>
                            </a:ln>
                            <a:solidFill>
                              <a:schemeClr val="tx1"/>
                            </a:solidFill>
                            <a:effectLst/>
                            <a:latin typeface="Cambria Math" panose="02040503050406030204" pitchFamily="18" charset="0"/>
                          </a:rPr>
                          <m:t> </m:t>
                        </m:r>
                      </m:e>
                    </m:func>
                  </m:oMath>
                </a14:m>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Higher maximum throughput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Radix-4 SDF:</a:t>
                </a:r>
                <a:r>
                  <a:rPr kumimoji="0" lang="en-US" altLang="en-US" sz="1800" b="0" i="0" u="none" strike="noStrike" cap="none" normalizeH="0" baseline="0" dirty="0">
                    <a:ln>
                      <a:noFill/>
                    </a:ln>
                    <a:solidFill>
                      <a:schemeClr val="tx1"/>
                    </a:solidFill>
                    <a:effectLst/>
                    <a:latin typeface="Arial" panose="020B0604020202020204" pitchFamily="34" charset="0"/>
                  </a:rPr>
                  <a:t> Longer critical path but ≈50% fewer complex multipliers → </a:t>
                </a:r>
                <a:r>
                  <a:rPr kumimoji="0" lang="en-US" altLang="en-US" sz="1800" b="1" i="0" u="none" strike="noStrike" cap="none" normalizeH="0" baseline="0" dirty="0">
                    <a:ln>
                      <a:noFill/>
                    </a:ln>
                    <a:solidFill>
                      <a:schemeClr val="tx1"/>
                    </a:solidFill>
                    <a:effectLst/>
                    <a:latin typeface="Arial" panose="020B0604020202020204" pitchFamily="34" charset="0"/>
                  </a:rPr>
                  <a:t>Better Area/Power efficiency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6" name="Rectangle 2">
                <a:extLst>
                  <a:ext uri="{FF2B5EF4-FFF2-40B4-BE49-F238E27FC236}">
                    <a16:creationId xmlns:a16="http://schemas.microsoft.com/office/drawing/2014/main" id="{0D1C3A68-EE8C-3DEE-618C-7D1DF62DCB11}"/>
                  </a:ext>
                </a:extLst>
              </p:cNvPr>
              <p:cNvSpPr>
                <a:spLocks noRot="1" noChangeAspect="1" noMove="1" noResize="1" noEditPoints="1" noAdjustHandles="1" noChangeArrowheads="1" noChangeShapeType="1" noTextEdit="1"/>
              </p:cNvSpPr>
              <p:nvPr/>
            </p:nvSpPr>
            <p:spPr bwMode="auto">
              <a:xfrm>
                <a:off x="236896" y="4409609"/>
                <a:ext cx="10885737" cy="646331"/>
              </a:xfrm>
              <a:prstGeom prst="rect">
                <a:avLst/>
              </a:prstGeom>
              <a:blipFill>
                <a:blip r:embed="rId5"/>
                <a:stretch>
                  <a:fillRect l="-392" t="-4717" b="-1509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2842675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animEffect transition="in" filter="fade">
                                      <p:cBhvr>
                                        <p:cTn id="22" dur="500"/>
                                        <p:tgtEl>
                                          <p:spTgt spid="1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xEl>
                                              <p:pRg st="1" end="1"/>
                                            </p:txEl>
                                          </p:spTgt>
                                        </p:tgtEl>
                                        <p:attrNameLst>
                                          <p:attrName>style.visibility</p:attrName>
                                        </p:attrNameLst>
                                      </p:cBhvr>
                                      <p:to>
                                        <p:strVal val="visible"/>
                                      </p:to>
                                    </p:set>
                                    <p:animEffect transition="in" filter="fade">
                                      <p:cBhvr>
                                        <p:cTn id="27"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E4667-507C-DD6A-8762-C56BA5B6F9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D936A7-4CC6-6A02-0A18-4159429A3026}"/>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solidFill>
                  <a:srgbClr val="000000">
                    <a:alpha val="20000"/>
                  </a:srgbClr>
                </a:solidFill>
              </a:rPr>
              <a:t>RTL</a:t>
            </a:r>
          </a:p>
          <a:p>
            <a:r>
              <a:rPr lang="en-US" b="1" dirty="0">
                <a:solidFill>
                  <a:srgbClr val="000000">
                    <a:alpha val="20000"/>
                  </a:srgbClr>
                </a:solidFill>
              </a:rPr>
              <a:t>HW/SW Co-design (HW Part)</a:t>
            </a:r>
          </a:p>
          <a:p>
            <a:r>
              <a:rPr lang="en-US" b="1" dirty="0">
                <a:solidFill>
                  <a:srgbClr val="000000">
                    <a:alpha val="20000"/>
                  </a:srgbClr>
                </a:solidFill>
              </a:rPr>
              <a:t>HW/SW Co-design (SW Part)</a:t>
            </a:r>
          </a:p>
          <a:p>
            <a:pPr marL="0" indent="0">
              <a:buNone/>
            </a:pPr>
            <a:endParaRPr lang="en-US" b="1" dirty="0">
              <a:solidFill>
                <a:srgbClr val="000000">
                  <a:alpha val="20000"/>
                </a:srgbClr>
              </a:solidFill>
            </a:endParaRP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D79C41D9-FEC4-98A8-8D9D-6E72ED24284D}"/>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9C493A25-76D3-2128-EE8F-2C621257922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AA2F3A5-6151-6C8B-7F11-0A360565FE4E}"/>
              </a:ext>
            </a:extLst>
          </p:cNvPr>
          <p:cNvSpPr>
            <a:spLocks noGrp="1"/>
          </p:cNvSpPr>
          <p:nvPr>
            <p:ph type="sldNum" sz="quarter" idx="4"/>
          </p:nvPr>
        </p:nvSpPr>
        <p:spPr/>
        <p:txBody>
          <a:bodyPr/>
          <a:lstStyle/>
          <a:p>
            <a:pPr>
              <a:defRPr/>
            </a:pPr>
            <a:fld id="{A9CE67A1-BA7F-A74E-B5D7-615746DEEC2B}" type="slidenum">
              <a:rPr lang="en-US" smtClean="0"/>
              <a:pPr>
                <a:defRPr/>
              </a:pPr>
              <a:t>30</a:t>
            </a:fld>
            <a:endParaRPr lang="en-US" baseline="-11000" dirty="0"/>
          </a:p>
        </p:txBody>
      </p:sp>
      <p:sp>
        <p:nvSpPr>
          <p:cNvPr id="6" name="Date Placeholder 5">
            <a:extLst>
              <a:ext uri="{FF2B5EF4-FFF2-40B4-BE49-F238E27FC236}">
                <a16:creationId xmlns:a16="http://schemas.microsoft.com/office/drawing/2014/main" id="{E49D2303-0A35-9084-454B-375B69F838B0}"/>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3550029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6807CF-F482-CD1E-7831-490AAB7EDE19}"/>
              </a:ext>
            </a:extLst>
          </p:cNvPr>
          <p:cNvSpPr>
            <a:spLocks noGrp="1"/>
          </p:cNvSpPr>
          <p:nvPr>
            <p:ph type="title"/>
          </p:nvPr>
        </p:nvSpPr>
        <p:spPr>
          <a:xfrm>
            <a:off x="347472" y="3827812"/>
            <a:ext cx="3044657" cy="664797"/>
          </a:xfrm>
        </p:spPr>
        <p:txBody>
          <a:bodyPr/>
          <a:lstStyle/>
          <a:p>
            <a:r>
              <a:rPr lang="en-US" dirty="0"/>
              <a:t>Modeling</a:t>
            </a:r>
          </a:p>
        </p:txBody>
      </p:sp>
      <p:sp>
        <p:nvSpPr>
          <p:cNvPr id="4" name="Footer Placeholder 3">
            <a:extLst>
              <a:ext uri="{FF2B5EF4-FFF2-40B4-BE49-F238E27FC236}">
                <a16:creationId xmlns:a16="http://schemas.microsoft.com/office/drawing/2014/main" id="{C0CF5DA7-44E3-93ED-8523-D18F01BAF09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D352F14-89D8-EE95-9525-7BCF83ECF240}"/>
              </a:ext>
            </a:extLst>
          </p:cNvPr>
          <p:cNvSpPr>
            <a:spLocks noGrp="1"/>
          </p:cNvSpPr>
          <p:nvPr>
            <p:ph type="sldNum" sz="quarter" idx="4"/>
          </p:nvPr>
        </p:nvSpPr>
        <p:spPr/>
        <p:txBody>
          <a:bodyPr/>
          <a:lstStyle/>
          <a:p>
            <a:pPr>
              <a:defRPr/>
            </a:pPr>
            <a:fld id="{A9CE67A1-BA7F-A74E-B5D7-615746DEEC2B}" type="slidenum">
              <a:rPr lang="en-US" smtClean="0"/>
              <a:pPr>
                <a:defRPr/>
              </a:pPr>
              <a:t>31</a:t>
            </a:fld>
            <a:endParaRPr lang="en-US" baseline="-11000" dirty="0"/>
          </a:p>
        </p:txBody>
      </p:sp>
      <p:sp>
        <p:nvSpPr>
          <p:cNvPr id="6" name="Date Placeholder 5">
            <a:extLst>
              <a:ext uri="{FF2B5EF4-FFF2-40B4-BE49-F238E27FC236}">
                <a16:creationId xmlns:a16="http://schemas.microsoft.com/office/drawing/2014/main" id="{521F7BFA-E966-1AA3-08C6-FA84982FD677}"/>
              </a:ext>
            </a:extLst>
          </p:cNvPr>
          <p:cNvSpPr>
            <a:spLocks noGrp="1"/>
          </p:cNvSpPr>
          <p:nvPr>
            <p:ph type="dt" sz="half" idx="2"/>
          </p:nvPr>
        </p:nvSpPr>
        <p:spPr/>
        <p:txBody>
          <a:body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91904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54A53-B3AE-7CDC-04E8-589E903310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25B796-C4DF-74C3-7927-A1034E8B39BA}"/>
              </a:ext>
            </a:extLst>
          </p:cNvPr>
          <p:cNvSpPr>
            <a:spLocks noGrp="1"/>
          </p:cNvSpPr>
          <p:nvPr>
            <p:ph idx="1"/>
          </p:nvPr>
        </p:nvSpPr>
        <p:spPr>
          <a:xfrm>
            <a:off x="342901" y="971550"/>
            <a:ext cx="10274300" cy="4914900"/>
          </a:xfrm>
        </p:spPr>
        <p:txBody>
          <a:bodyPr>
            <a:normAutofit/>
          </a:bodyPr>
          <a:lstStyle/>
          <a:p>
            <a:r>
              <a:rPr lang="en-US" b="1" dirty="0"/>
              <a:t>Modeling </a:t>
            </a:r>
            <a:endParaRPr lang="en-US" dirty="0"/>
          </a:p>
          <a:p>
            <a:pPr lvl="1"/>
            <a:r>
              <a:rPr lang="en-US" b="1" dirty="0"/>
              <a:t>System Modeling </a:t>
            </a:r>
          </a:p>
          <a:p>
            <a:pPr lvl="1"/>
            <a:r>
              <a:rPr lang="en-US" b="1" dirty="0"/>
              <a:t>Algorithm and Architecture </a:t>
            </a:r>
          </a:p>
          <a:p>
            <a:pPr lvl="1"/>
            <a:r>
              <a:rPr lang="en-US" b="1" dirty="0"/>
              <a:t>SDF Block diagram </a:t>
            </a:r>
          </a:p>
          <a:p>
            <a:pPr lvl="1"/>
            <a:r>
              <a:rPr lang="en-US" b="1" dirty="0"/>
              <a:t>Fixed point analysis </a:t>
            </a:r>
          </a:p>
          <a:p>
            <a:pPr lvl="1"/>
            <a:r>
              <a:rPr lang="en-US" b="1" dirty="0"/>
              <a:t>SQNR analysis</a:t>
            </a:r>
          </a:p>
          <a:p>
            <a:pPr lvl="1"/>
            <a:r>
              <a:rPr lang="en-US" b="1" dirty="0"/>
              <a:t>Challenges </a:t>
            </a: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AAF056A3-EE0E-5A1A-A3CF-51D92DF4C92E}"/>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A07834F0-3605-AF5B-85C3-09C426B0312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A75B8BB-5CE5-A571-9FE4-D9635D06F342}"/>
              </a:ext>
            </a:extLst>
          </p:cNvPr>
          <p:cNvSpPr>
            <a:spLocks noGrp="1"/>
          </p:cNvSpPr>
          <p:nvPr>
            <p:ph type="sldNum" sz="quarter" idx="4"/>
          </p:nvPr>
        </p:nvSpPr>
        <p:spPr/>
        <p:txBody>
          <a:bodyPr/>
          <a:lstStyle/>
          <a:p>
            <a:pPr>
              <a:defRPr/>
            </a:pPr>
            <a:fld id="{A9CE67A1-BA7F-A74E-B5D7-615746DEEC2B}" type="slidenum">
              <a:rPr lang="en-US" smtClean="0"/>
              <a:pPr>
                <a:defRPr/>
              </a:pPr>
              <a:t>32</a:t>
            </a:fld>
            <a:endParaRPr lang="en-US" baseline="-11000" dirty="0"/>
          </a:p>
        </p:txBody>
      </p:sp>
      <p:sp>
        <p:nvSpPr>
          <p:cNvPr id="6" name="Date Placeholder 5">
            <a:extLst>
              <a:ext uri="{FF2B5EF4-FFF2-40B4-BE49-F238E27FC236}">
                <a16:creationId xmlns:a16="http://schemas.microsoft.com/office/drawing/2014/main" id="{3923742D-6F2A-CE01-B0C0-093D362C5D3D}"/>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28947040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86F9A54-B129-B0BA-E9B0-4E4772E9596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A0A30F5A-7C9C-08E1-E033-41EBAE3F491E}"/>
              </a:ext>
            </a:extLst>
          </p:cNvPr>
          <p:cNvSpPr>
            <a:spLocks noGrp="1"/>
          </p:cNvSpPr>
          <p:nvPr>
            <p:ph type="sldNum" sz="quarter" idx="4"/>
          </p:nvPr>
        </p:nvSpPr>
        <p:spPr/>
        <p:txBody>
          <a:bodyPr/>
          <a:lstStyle/>
          <a:p>
            <a:pPr>
              <a:defRPr/>
            </a:pPr>
            <a:fld id="{A9CE67A1-BA7F-A74E-B5D7-615746DEEC2B}" type="slidenum">
              <a:rPr lang="en-US" smtClean="0"/>
              <a:pPr>
                <a:defRPr/>
              </a:pPr>
              <a:t>33</a:t>
            </a:fld>
            <a:endParaRPr lang="en-US" baseline="-11000" dirty="0"/>
          </a:p>
        </p:txBody>
      </p:sp>
      <p:sp>
        <p:nvSpPr>
          <p:cNvPr id="6" name="Date Placeholder 5">
            <a:extLst>
              <a:ext uri="{FF2B5EF4-FFF2-40B4-BE49-F238E27FC236}">
                <a16:creationId xmlns:a16="http://schemas.microsoft.com/office/drawing/2014/main" id="{CE434E0D-85ED-A0CD-293A-73485348D19B}"/>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33" name="Group 32">
            <a:extLst>
              <a:ext uri="{FF2B5EF4-FFF2-40B4-BE49-F238E27FC236}">
                <a16:creationId xmlns:a16="http://schemas.microsoft.com/office/drawing/2014/main" id="{6FDF1E7D-7215-AEBE-8C76-53544E56BF7E}"/>
              </a:ext>
            </a:extLst>
          </p:cNvPr>
          <p:cNvGrpSpPr/>
          <p:nvPr/>
        </p:nvGrpSpPr>
        <p:grpSpPr>
          <a:xfrm>
            <a:off x="3806525" y="772662"/>
            <a:ext cx="4002910" cy="994426"/>
            <a:chOff x="813010" y="818439"/>
            <a:chExt cx="9651512" cy="3222800"/>
          </a:xfrm>
        </p:grpSpPr>
        <p:grpSp>
          <p:nvGrpSpPr>
            <p:cNvPr id="18" name="Group 17">
              <a:extLst>
                <a:ext uri="{FF2B5EF4-FFF2-40B4-BE49-F238E27FC236}">
                  <a16:creationId xmlns:a16="http://schemas.microsoft.com/office/drawing/2014/main" id="{59F6D49D-F3D5-AB3E-8F8D-95170740D646}"/>
                </a:ext>
              </a:extLst>
            </p:cNvPr>
            <p:cNvGrpSpPr/>
            <p:nvPr/>
          </p:nvGrpSpPr>
          <p:grpSpPr>
            <a:xfrm>
              <a:off x="1293344" y="818439"/>
              <a:ext cx="8690338" cy="3222800"/>
              <a:chOff x="1190705" y="2109573"/>
              <a:chExt cx="8690338" cy="3222800"/>
            </a:xfrm>
          </p:grpSpPr>
          <p:graphicFrame>
            <p:nvGraphicFramePr>
              <p:cNvPr id="10" name="Diagram 9">
                <a:extLst>
                  <a:ext uri="{FF2B5EF4-FFF2-40B4-BE49-F238E27FC236}">
                    <a16:creationId xmlns:a16="http://schemas.microsoft.com/office/drawing/2014/main" id="{DC1934BD-D2FD-E3DE-F1E9-867FA9D54904}"/>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Straight Connector 4">
                <a:extLst>
                  <a:ext uri="{FF2B5EF4-FFF2-40B4-BE49-F238E27FC236}">
                    <a16:creationId xmlns:a16="http://schemas.microsoft.com/office/drawing/2014/main" id="{86AB5AEF-2E1D-33C1-C63D-1C0EF48A6ADF}"/>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16" name="Straight Connector 4">
                <a:extLst>
                  <a:ext uri="{FF2B5EF4-FFF2-40B4-BE49-F238E27FC236}">
                    <a16:creationId xmlns:a16="http://schemas.microsoft.com/office/drawing/2014/main" id="{C3E03E20-6496-9B45-B5CF-973EB7845D6C}"/>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27" name="Straight Connector 4">
              <a:extLst>
                <a:ext uri="{FF2B5EF4-FFF2-40B4-BE49-F238E27FC236}">
                  <a16:creationId xmlns:a16="http://schemas.microsoft.com/office/drawing/2014/main" id="{EB6E0AA0-D51D-FCC4-56A2-1B292ACD4352}"/>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30" name="Straight Connector 4">
              <a:extLst>
                <a:ext uri="{FF2B5EF4-FFF2-40B4-BE49-F238E27FC236}">
                  <a16:creationId xmlns:a16="http://schemas.microsoft.com/office/drawing/2014/main" id="{BCB35E0B-862A-106F-DA1D-F0C5470F8580}"/>
                </a:ext>
              </a:extLst>
            </p:cNvPr>
            <p:cNvSpPr txBox="1"/>
            <p:nvPr/>
          </p:nvSpPr>
          <p:spPr>
            <a:xfrm>
              <a:off x="813010" y="2416046"/>
              <a:ext cx="0"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31" name="TextBox 30">
            <a:extLst>
              <a:ext uri="{FF2B5EF4-FFF2-40B4-BE49-F238E27FC236}">
                <a16:creationId xmlns:a16="http://schemas.microsoft.com/office/drawing/2014/main" id="{7D8BBA77-DE5D-07C3-196E-C090770F7D7E}"/>
              </a:ext>
            </a:extLst>
          </p:cNvPr>
          <p:cNvSpPr txBox="1"/>
          <p:nvPr/>
        </p:nvSpPr>
        <p:spPr>
          <a:xfrm>
            <a:off x="2880954" y="1176636"/>
            <a:ext cx="913965" cy="2202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Input data</a:t>
            </a:r>
          </a:p>
        </p:txBody>
      </p:sp>
      <p:sp>
        <p:nvSpPr>
          <p:cNvPr id="32" name="TextBox 31">
            <a:extLst>
              <a:ext uri="{FF2B5EF4-FFF2-40B4-BE49-F238E27FC236}">
                <a16:creationId xmlns:a16="http://schemas.microsoft.com/office/drawing/2014/main" id="{3064A1F7-2E14-EF30-2496-B75A0612BA95}"/>
              </a:ext>
            </a:extLst>
          </p:cNvPr>
          <p:cNvSpPr txBox="1"/>
          <p:nvPr/>
        </p:nvSpPr>
        <p:spPr>
          <a:xfrm>
            <a:off x="7869090" y="1142176"/>
            <a:ext cx="668485"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800" b="1" dirty="0">
                <a:solidFill>
                  <a:srgbClr val="000000"/>
                </a:solidFill>
              </a:rPr>
              <a:t>To the channel</a:t>
            </a:r>
          </a:p>
        </p:txBody>
      </p:sp>
      <p:pic>
        <p:nvPicPr>
          <p:cNvPr id="36" name="Picture 35">
            <a:extLst>
              <a:ext uri="{FF2B5EF4-FFF2-40B4-BE49-F238E27FC236}">
                <a16:creationId xmlns:a16="http://schemas.microsoft.com/office/drawing/2014/main" id="{9B6E08EC-2B3F-11D3-375E-7E634D09ECFE}"/>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7591158" y="940000"/>
            <a:ext cx="398648" cy="255742"/>
          </a:xfrm>
          <a:prstGeom prst="rect">
            <a:avLst/>
          </a:prstGeom>
        </p:spPr>
      </p:pic>
      <p:cxnSp>
        <p:nvCxnSpPr>
          <p:cNvPr id="39" name="Connector: Elbow 38">
            <a:extLst>
              <a:ext uri="{FF2B5EF4-FFF2-40B4-BE49-F238E27FC236}">
                <a16:creationId xmlns:a16="http://schemas.microsoft.com/office/drawing/2014/main" id="{0D91A2F5-C12E-C5C7-D902-69CA2CE1E2BD}"/>
              </a:ext>
            </a:extLst>
          </p:cNvPr>
          <p:cNvCxnSpPr>
            <a:cxnSpLocks/>
          </p:cNvCxnSpPr>
          <p:nvPr/>
        </p:nvCxnSpPr>
        <p:spPr>
          <a:xfrm rot="5400000">
            <a:off x="7663179" y="1139080"/>
            <a:ext cx="74133" cy="180472"/>
          </a:xfrm>
          <a:prstGeom prst="bentConnector2">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84F050C3-D8A8-FC70-FB80-C4DB44DE1DD0}"/>
              </a:ext>
            </a:extLst>
          </p:cNvPr>
          <p:cNvGrpSpPr/>
          <p:nvPr/>
        </p:nvGrpSpPr>
        <p:grpSpPr>
          <a:xfrm>
            <a:off x="3649441" y="1222728"/>
            <a:ext cx="379124" cy="85781"/>
            <a:chOff x="949103" y="454322"/>
            <a:chExt cx="379124" cy="85781"/>
          </a:xfrm>
        </p:grpSpPr>
        <p:sp>
          <p:nvSpPr>
            <p:cNvPr id="7" name="Straight Connector 3">
              <a:extLst>
                <a:ext uri="{FF2B5EF4-FFF2-40B4-BE49-F238E27FC236}">
                  <a16:creationId xmlns:a16="http://schemas.microsoft.com/office/drawing/2014/main" id="{2B56A475-3F71-48B6-CF6A-BCD012160745}"/>
                </a:ext>
              </a:extLst>
            </p:cNvPr>
            <p:cNvSpPr/>
            <p:nvPr/>
          </p:nvSpPr>
          <p:spPr>
            <a:xfrm>
              <a:off x="949103" y="454322"/>
              <a:ext cx="379124" cy="85781"/>
            </a:xfrm>
            <a:custGeom>
              <a:avLst/>
              <a:gdLst/>
              <a:ahLst/>
              <a:cxnLst/>
              <a:rect l="0" t="0" r="0" b="0"/>
              <a:pathLst>
                <a:path>
                  <a:moveTo>
                    <a:pt x="0" y="42890"/>
                  </a:moveTo>
                  <a:lnTo>
                    <a:pt x="379124" y="42890"/>
                  </a:lnTo>
                </a:path>
              </a:pathLst>
            </a:custGeom>
            <a:noFill/>
            <a:ln>
              <a:headEnd type="none" w="med" len="med"/>
              <a:tailEnd type="arrow" w="med" len="med"/>
            </a:ln>
          </p:spPr>
          <p:style>
            <a:lnRef idx="2">
              <a:scrgbClr r="0" g="0" b="0"/>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Straight Connector 4">
              <a:extLst>
                <a:ext uri="{FF2B5EF4-FFF2-40B4-BE49-F238E27FC236}">
                  <a16:creationId xmlns:a16="http://schemas.microsoft.com/office/drawing/2014/main" id="{E5912E6B-0892-6833-89D9-88C8E505C1D2}"/>
                </a:ext>
              </a:extLst>
            </p:cNvPr>
            <p:cNvSpPr txBox="1"/>
            <p:nvPr/>
          </p:nvSpPr>
          <p:spPr>
            <a:xfrm>
              <a:off x="1129187" y="487734"/>
              <a:ext cx="18956" cy="1895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25" name="Group 24">
            <a:extLst>
              <a:ext uri="{FF2B5EF4-FFF2-40B4-BE49-F238E27FC236}">
                <a16:creationId xmlns:a16="http://schemas.microsoft.com/office/drawing/2014/main" id="{52B44A03-DA50-D49D-90C0-3C2B640B96DA}"/>
              </a:ext>
            </a:extLst>
          </p:cNvPr>
          <p:cNvGrpSpPr/>
          <p:nvPr/>
        </p:nvGrpSpPr>
        <p:grpSpPr>
          <a:xfrm>
            <a:off x="5902759" y="3083765"/>
            <a:ext cx="3932662" cy="434162"/>
            <a:chOff x="6184446" y="3025790"/>
            <a:chExt cx="4735013" cy="635389"/>
          </a:xfrm>
        </p:grpSpPr>
        <p:grpSp>
          <p:nvGrpSpPr>
            <p:cNvPr id="26" name="Group 25">
              <a:extLst>
                <a:ext uri="{FF2B5EF4-FFF2-40B4-BE49-F238E27FC236}">
                  <a16:creationId xmlns:a16="http://schemas.microsoft.com/office/drawing/2014/main" id="{509B3D29-314C-DC05-F423-ADCEB60C287D}"/>
                </a:ext>
              </a:extLst>
            </p:cNvPr>
            <p:cNvGrpSpPr/>
            <p:nvPr/>
          </p:nvGrpSpPr>
          <p:grpSpPr>
            <a:xfrm>
              <a:off x="6589931" y="3025790"/>
              <a:ext cx="4102533" cy="635389"/>
              <a:chOff x="1190705" y="2109573"/>
              <a:chExt cx="8690338" cy="3222800"/>
            </a:xfrm>
          </p:grpSpPr>
          <p:graphicFrame>
            <p:nvGraphicFramePr>
              <p:cNvPr id="40" name="Diagram 39">
                <a:extLst>
                  <a:ext uri="{FF2B5EF4-FFF2-40B4-BE49-F238E27FC236}">
                    <a16:creationId xmlns:a16="http://schemas.microsoft.com/office/drawing/2014/main" id="{AE8000B1-5DAD-33C8-B988-FD89AE5B26A0}"/>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1" name="Straight Connector 4">
                <a:extLst>
                  <a:ext uri="{FF2B5EF4-FFF2-40B4-BE49-F238E27FC236}">
                    <a16:creationId xmlns:a16="http://schemas.microsoft.com/office/drawing/2014/main" id="{74976A92-CA69-BFD0-2DF1-7955C045100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2" name="Straight Connector 4">
                <a:extLst>
                  <a:ext uri="{FF2B5EF4-FFF2-40B4-BE49-F238E27FC236}">
                    <a16:creationId xmlns:a16="http://schemas.microsoft.com/office/drawing/2014/main" id="{11C9027D-17CF-3C5B-8F4F-5555512712D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34" name="Straight Connector 4">
              <a:extLst>
                <a:ext uri="{FF2B5EF4-FFF2-40B4-BE49-F238E27FC236}">
                  <a16:creationId xmlns:a16="http://schemas.microsoft.com/office/drawing/2014/main" id="{735B4FB5-A55A-374E-3276-69B5F7CAB9FE}"/>
                </a:ext>
              </a:extLst>
            </p:cNvPr>
            <p:cNvSpPr txBox="1"/>
            <p:nvPr/>
          </p:nvSpPr>
          <p:spPr>
            <a:xfrm>
              <a:off x="10897886" y="3345270"/>
              <a:ext cx="21573" cy="901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nvGrpSpPr>
            <p:cNvPr id="35" name="Group 34">
              <a:extLst>
                <a:ext uri="{FF2B5EF4-FFF2-40B4-BE49-F238E27FC236}">
                  <a16:creationId xmlns:a16="http://schemas.microsoft.com/office/drawing/2014/main" id="{92706389-76DE-3FCB-C80B-689AF99C2A52}"/>
                </a:ext>
              </a:extLst>
            </p:cNvPr>
            <p:cNvGrpSpPr/>
            <p:nvPr/>
          </p:nvGrpSpPr>
          <p:grpSpPr>
            <a:xfrm>
              <a:off x="6184446" y="3338051"/>
              <a:ext cx="431464" cy="12580"/>
              <a:chOff x="5543161" y="1574783"/>
              <a:chExt cx="913965" cy="63808"/>
            </a:xfrm>
          </p:grpSpPr>
          <p:sp>
            <p:nvSpPr>
              <p:cNvPr id="37" name="Straight Connector 3">
                <a:extLst>
                  <a:ext uri="{FF2B5EF4-FFF2-40B4-BE49-F238E27FC236}">
                    <a16:creationId xmlns:a16="http://schemas.microsoft.com/office/drawing/2014/main" id="{A88C14C1-AC85-3D3C-53DD-F60486C5B08B}"/>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8" name="Straight Connector 4">
                <a:extLst>
                  <a:ext uri="{FF2B5EF4-FFF2-40B4-BE49-F238E27FC236}">
                    <a16:creationId xmlns:a16="http://schemas.microsoft.com/office/drawing/2014/main" id="{950B2675-C7F3-878D-EBA1-C0FAAE32F816}"/>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pic>
        <p:nvPicPr>
          <p:cNvPr id="43" name="Picture 42">
            <a:extLst>
              <a:ext uri="{FF2B5EF4-FFF2-40B4-BE49-F238E27FC236}">
                <a16:creationId xmlns:a16="http://schemas.microsoft.com/office/drawing/2014/main" id="{03637D99-8727-CA59-1D83-E2A554EB3A90}"/>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9744162" y="2689423"/>
            <a:ext cx="723506" cy="464146"/>
          </a:xfrm>
          <a:prstGeom prst="rect">
            <a:avLst/>
          </a:prstGeom>
        </p:spPr>
      </p:pic>
      <p:cxnSp>
        <p:nvCxnSpPr>
          <p:cNvPr id="44" name="Connector: Elbow 43">
            <a:extLst>
              <a:ext uri="{FF2B5EF4-FFF2-40B4-BE49-F238E27FC236}">
                <a16:creationId xmlns:a16="http://schemas.microsoft.com/office/drawing/2014/main" id="{D24C0917-F7D9-0B83-70F3-983E92B8E1D0}"/>
              </a:ext>
            </a:extLst>
          </p:cNvPr>
          <p:cNvCxnSpPr>
            <a:cxnSpLocks/>
            <a:stCxn id="43" idx="2"/>
          </p:cNvCxnSpPr>
          <p:nvPr/>
        </p:nvCxnSpPr>
        <p:spPr>
          <a:xfrm rot="5400000">
            <a:off x="9467188" y="2662118"/>
            <a:ext cx="147277" cy="1130179"/>
          </a:xfrm>
          <a:prstGeom prst="bentConnector2">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45" name="Group 44">
            <a:extLst>
              <a:ext uri="{FF2B5EF4-FFF2-40B4-BE49-F238E27FC236}">
                <a16:creationId xmlns:a16="http://schemas.microsoft.com/office/drawing/2014/main" id="{EB6FEEB5-16ED-70F9-526B-02E8505CF21E}"/>
              </a:ext>
            </a:extLst>
          </p:cNvPr>
          <p:cNvGrpSpPr/>
          <p:nvPr/>
        </p:nvGrpSpPr>
        <p:grpSpPr>
          <a:xfrm>
            <a:off x="5906903" y="5029609"/>
            <a:ext cx="3932662" cy="434162"/>
            <a:chOff x="6188590" y="4971634"/>
            <a:chExt cx="4735013" cy="635389"/>
          </a:xfrm>
        </p:grpSpPr>
        <p:grpSp>
          <p:nvGrpSpPr>
            <p:cNvPr id="46" name="Group 45">
              <a:extLst>
                <a:ext uri="{FF2B5EF4-FFF2-40B4-BE49-F238E27FC236}">
                  <a16:creationId xmlns:a16="http://schemas.microsoft.com/office/drawing/2014/main" id="{85BBA183-01E4-41FE-DB21-6A469F0E2827}"/>
                </a:ext>
              </a:extLst>
            </p:cNvPr>
            <p:cNvGrpSpPr/>
            <p:nvPr/>
          </p:nvGrpSpPr>
          <p:grpSpPr>
            <a:xfrm>
              <a:off x="6594075" y="4971634"/>
              <a:ext cx="4102533" cy="635389"/>
              <a:chOff x="1190705" y="2109573"/>
              <a:chExt cx="8690338" cy="3222800"/>
            </a:xfrm>
          </p:grpSpPr>
          <p:graphicFrame>
            <p:nvGraphicFramePr>
              <p:cNvPr id="51" name="Diagram 50">
                <a:extLst>
                  <a:ext uri="{FF2B5EF4-FFF2-40B4-BE49-F238E27FC236}">
                    <a16:creationId xmlns:a16="http://schemas.microsoft.com/office/drawing/2014/main" id="{204A1DE9-75D2-C662-DBB9-F0C6850F51C5}"/>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52" name="Straight Connector 4">
                <a:extLst>
                  <a:ext uri="{FF2B5EF4-FFF2-40B4-BE49-F238E27FC236}">
                    <a16:creationId xmlns:a16="http://schemas.microsoft.com/office/drawing/2014/main" id="{0D057D2F-3C32-25CF-FE1E-514C7120716D}"/>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53" name="Straight Connector 4">
                <a:extLst>
                  <a:ext uri="{FF2B5EF4-FFF2-40B4-BE49-F238E27FC236}">
                    <a16:creationId xmlns:a16="http://schemas.microsoft.com/office/drawing/2014/main" id="{993076A0-9E84-CA0D-7588-BD531EEB3C0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47" name="Straight Connector 4">
              <a:extLst>
                <a:ext uri="{FF2B5EF4-FFF2-40B4-BE49-F238E27FC236}">
                  <a16:creationId xmlns:a16="http://schemas.microsoft.com/office/drawing/2014/main" id="{0A140226-840E-3FBE-9740-A945EFF9C054}"/>
                </a:ext>
              </a:extLst>
            </p:cNvPr>
            <p:cNvSpPr txBox="1"/>
            <p:nvPr/>
          </p:nvSpPr>
          <p:spPr>
            <a:xfrm>
              <a:off x="10902030" y="5291114"/>
              <a:ext cx="21573" cy="901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nvGrpSpPr>
            <p:cNvPr id="48" name="Group 47">
              <a:extLst>
                <a:ext uri="{FF2B5EF4-FFF2-40B4-BE49-F238E27FC236}">
                  <a16:creationId xmlns:a16="http://schemas.microsoft.com/office/drawing/2014/main" id="{2727B77A-3CA1-C00A-038F-3E354E0B391E}"/>
                </a:ext>
              </a:extLst>
            </p:cNvPr>
            <p:cNvGrpSpPr/>
            <p:nvPr/>
          </p:nvGrpSpPr>
          <p:grpSpPr>
            <a:xfrm>
              <a:off x="6188590" y="5283895"/>
              <a:ext cx="431464" cy="12580"/>
              <a:chOff x="5543161" y="1574783"/>
              <a:chExt cx="913965" cy="63808"/>
            </a:xfrm>
          </p:grpSpPr>
          <p:sp>
            <p:nvSpPr>
              <p:cNvPr id="49" name="Straight Connector 3">
                <a:extLst>
                  <a:ext uri="{FF2B5EF4-FFF2-40B4-BE49-F238E27FC236}">
                    <a16:creationId xmlns:a16="http://schemas.microsoft.com/office/drawing/2014/main" id="{CAFA57D9-CFDE-8675-5CAC-80247EAF5D2F}"/>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50" name="Straight Connector 4">
                <a:extLst>
                  <a:ext uri="{FF2B5EF4-FFF2-40B4-BE49-F238E27FC236}">
                    <a16:creationId xmlns:a16="http://schemas.microsoft.com/office/drawing/2014/main" id="{F7A19103-FA99-119D-7BED-902AEE001046}"/>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pic>
        <p:nvPicPr>
          <p:cNvPr id="54" name="Picture 53">
            <a:extLst>
              <a:ext uri="{FF2B5EF4-FFF2-40B4-BE49-F238E27FC236}">
                <a16:creationId xmlns:a16="http://schemas.microsoft.com/office/drawing/2014/main" id="{1B39E90D-C357-85A1-E81E-51EC578F0B38}"/>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9748306" y="4635267"/>
            <a:ext cx="723506" cy="464146"/>
          </a:xfrm>
          <a:prstGeom prst="rect">
            <a:avLst/>
          </a:prstGeom>
        </p:spPr>
      </p:pic>
      <p:cxnSp>
        <p:nvCxnSpPr>
          <p:cNvPr id="55" name="Connector: Elbow 54">
            <a:extLst>
              <a:ext uri="{FF2B5EF4-FFF2-40B4-BE49-F238E27FC236}">
                <a16:creationId xmlns:a16="http://schemas.microsoft.com/office/drawing/2014/main" id="{2E7C18F9-ACB0-E333-2D87-7DEE090ABF7A}"/>
              </a:ext>
            </a:extLst>
          </p:cNvPr>
          <p:cNvCxnSpPr>
            <a:cxnSpLocks/>
            <a:stCxn id="54" idx="2"/>
          </p:cNvCxnSpPr>
          <p:nvPr/>
        </p:nvCxnSpPr>
        <p:spPr>
          <a:xfrm rot="5400000">
            <a:off x="9471332" y="4607962"/>
            <a:ext cx="147277" cy="1130179"/>
          </a:xfrm>
          <a:prstGeom prst="bentConnector2">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6" name="Oval 55">
            <a:extLst>
              <a:ext uri="{FF2B5EF4-FFF2-40B4-BE49-F238E27FC236}">
                <a16:creationId xmlns:a16="http://schemas.microsoft.com/office/drawing/2014/main" id="{5B729996-3F79-CBAC-5801-7D4AB73E4A68}"/>
              </a:ext>
            </a:extLst>
          </p:cNvPr>
          <p:cNvSpPr/>
          <p:nvPr/>
        </p:nvSpPr>
        <p:spPr>
          <a:xfrm>
            <a:off x="8504074" y="368577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4991A03-74F3-6282-4210-0BD1CB25469D}"/>
              </a:ext>
            </a:extLst>
          </p:cNvPr>
          <p:cNvSpPr/>
          <p:nvPr/>
        </p:nvSpPr>
        <p:spPr>
          <a:xfrm>
            <a:off x="8504074" y="392940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0FD9A97D-D933-7C0D-5095-567D53A795A7}"/>
              </a:ext>
            </a:extLst>
          </p:cNvPr>
          <p:cNvSpPr/>
          <p:nvPr/>
        </p:nvSpPr>
        <p:spPr>
          <a:xfrm>
            <a:off x="8504074" y="4194739"/>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1A26A90B-7C5B-FDF9-20A7-BBBC14DFA018}"/>
              </a:ext>
            </a:extLst>
          </p:cNvPr>
          <p:cNvSpPr/>
          <p:nvPr/>
        </p:nvSpPr>
        <p:spPr>
          <a:xfrm>
            <a:off x="8504074" y="446007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376191-0F26-EA34-0CD1-9BF2EA15ADA0}"/>
              </a:ext>
            </a:extLst>
          </p:cNvPr>
          <p:cNvSpPr/>
          <p:nvPr/>
        </p:nvSpPr>
        <p:spPr>
          <a:xfrm>
            <a:off x="4925327" y="2847457"/>
            <a:ext cx="877348" cy="2646127"/>
          </a:xfrm>
          <a:prstGeom prst="rect">
            <a:avLst/>
          </a:prstGeom>
          <a:solidFill>
            <a:srgbClr val="0067B9">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horz" wrap="square" lIns="8890" tIns="8890" rIns="8890" bIns="8890" numCol="1" spcCol="1270" anchor="ctr" anchorCtr="0">
            <a:noAutofit/>
          </a:bodyPr>
          <a:lstStyle/>
          <a:p>
            <a:pPr algn="ctr"/>
            <a:r>
              <a:rPr lang="en-US" sz="1400" b="1" dirty="0">
                <a:solidFill>
                  <a:schemeClr val="bg1"/>
                </a:solidFill>
              </a:rPr>
              <a:t>Equalizer</a:t>
            </a:r>
          </a:p>
        </p:txBody>
      </p:sp>
      <p:grpSp>
        <p:nvGrpSpPr>
          <p:cNvPr id="61" name="Group 60">
            <a:extLst>
              <a:ext uri="{FF2B5EF4-FFF2-40B4-BE49-F238E27FC236}">
                <a16:creationId xmlns:a16="http://schemas.microsoft.com/office/drawing/2014/main" id="{E8665B3C-F706-B2DE-BD77-CA051C6EBD1C}"/>
              </a:ext>
            </a:extLst>
          </p:cNvPr>
          <p:cNvGrpSpPr/>
          <p:nvPr/>
        </p:nvGrpSpPr>
        <p:grpSpPr>
          <a:xfrm>
            <a:off x="2224905" y="3108469"/>
            <a:ext cx="4281242" cy="442639"/>
            <a:chOff x="1541971" y="2940186"/>
            <a:chExt cx="5154711" cy="647795"/>
          </a:xfrm>
        </p:grpSpPr>
        <p:grpSp>
          <p:nvGrpSpPr>
            <p:cNvPr id="62" name="Group 61">
              <a:extLst>
                <a:ext uri="{FF2B5EF4-FFF2-40B4-BE49-F238E27FC236}">
                  <a16:creationId xmlns:a16="http://schemas.microsoft.com/office/drawing/2014/main" id="{94576D5E-36DE-5EF6-87D5-948F9C082301}"/>
                </a:ext>
              </a:extLst>
            </p:cNvPr>
            <p:cNvGrpSpPr/>
            <p:nvPr/>
          </p:nvGrpSpPr>
          <p:grpSpPr>
            <a:xfrm>
              <a:off x="1541971" y="2940186"/>
              <a:ext cx="4403598" cy="647795"/>
              <a:chOff x="-557271" y="2147706"/>
              <a:chExt cx="9328081" cy="3461061"/>
            </a:xfrm>
          </p:grpSpPr>
          <p:graphicFrame>
            <p:nvGraphicFramePr>
              <p:cNvPr id="65" name="Diagram 64">
                <a:extLst>
                  <a:ext uri="{FF2B5EF4-FFF2-40B4-BE49-F238E27FC236}">
                    <a16:creationId xmlns:a16="http://schemas.microsoft.com/office/drawing/2014/main" id="{04977190-7A16-9159-E607-21B70C04641B}"/>
                  </a:ext>
                </a:extLst>
              </p:cNvPr>
              <p:cNvGraphicFramePr/>
              <p:nvPr/>
            </p:nvGraphicFramePr>
            <p:xfrm>
              <a:off x="-557271" y="2385963"/>
              <a:ext cx="8690338" cy="3222804"/>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66" name="Straight Connector 4">
                <a:extLst>
                  <a:ext uri="{FF2B5EF4-FFF2-40B4-BE49-F238E27FC236}">
                    <a16:creationId xmlns:a16="http://schemas.microsoft.com/office/drawing/2014/main" id="{CCF4BC26-B684-E954-BF7C-B43E614A8734}"/>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67" name="Straight Connector 4">
                <a:extLst>
                  <a:ext uri="{FF2B5EF4-FFF2-40B4-BE49-F238E27FC236}">
                    <a16:creationId xmlns:a16="http://schemas.microsoft.com/office/drawing/2014/main" id="{CB8F8AD5-FC61-BD75-6914-623464A7D8D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63" name="Straight Connector 4">
              <a:extLst>
                <a:ext uri="{FF2B5EF4-FFF2-40B4-BE49-F238E27FC236}">
                  <a16:creationId xmlns:a16="http://schemas.microsoft.com/office/drawing/2014/main" id="{F298F477-7FA7-9E2D-508B-295EC4C6D759}"/>
                </a:ext>
              </a:extLst>
            </p:cNvPr>
            <p:cNvSpPr txBox="1"/>
            <p:nvPr/>
          </p:nvSpPr>
          <p:spPr>
            <a:xfrm>
              <a:off x="6675109" y="3236344"/>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64" name="Straight Connector 4">
              <a:extLst>
                <a:ext uri="{FF2B5EF4-FFF2-40B4-BE49-F238E27FC236}">
                  <a16:creationId xmlns:a16="http://schemas.microsoft.com/office/drawing/2014/main" id="{9EFFCADF-8ED7-75F3-EEE9-888DBE0CAAA2}"/>
                </a:ext>
              </a:extLst>
            </p:cNvPr>
            <p:cNvSpPr txBox="1"/>
            <p:nvPr/>
          </p:nvSpPr>
          <p:spPr>
            <a:xfrm>
              <a:off x="2140398" y="3232067"/>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68" name="Group 67">
            <a:extLst>
              <a:ext uri="{FF2B5EF4-FFF2-40B4-BE49-F238E27FC236}">
                <a16:creationId xmlns:a16="http://schemas.microsoft.com/office/drawing/2014/main" id="{9293A459-6D8A-57A1-0BDF-894724B754E9}"/>
              </a:ext>
            </a:extLst>
          </p:cNvPr>
          <p:cNvGrpSpPr/>
          <p:nvPr/>
        </p:nvGrpSpPr>
        <p:grpSpPr>
          <a:xfrm>
            <a:off x="2235757" y="4850237"/>
            <a:ext cx="4046184" cy="613630"/>
            <a:chOff x="1846337" y="4818562"/>
            <a:chExt cx="4871696" cy="898038"/>
          </a:xfrm>
        </p:grpSpPr>
        <p:grpSp>
          <p:nvGrpSpPr>
            <p:cNvPr id="69" name="Group 68">
              <a:extLst>
                <a:ext uri="{FF2B5EF4-FFF2-40B4-BE49-F238E27FC236}">
                  <a16:creationId xmlns:a16="http://schemas.microsoft.com/office/drawing/2014/main" id="{FC138222-2FA1-DCDE-2D3B-435D4C4A2044}"/>
                </a:ext>
              </a:extLst>
            </p:cNvPr>
            <p:cNvGrpSpPr/>
            <p:nvPr/>
          </p:nvGrpSpPr>
          <p:grpSpPr>
            <a:xfrm>
              <a:off x="1846337" y="4818562"/>
              <a:ext cx="4120583" cy="898038"/>
              <a:chOff x="42237" y="2147706"/>
              <a:chExt cx="8728573" cy="4798061"/>
            </a:xfrm>
          </p:grpSpPr>
          <p:graphicFrame>
            <p:nvGraphicFramePr>
              <p:cNvPr id="72" name="Diagram 71">
                <a:extLst>
                  <a:ext uri="{FF2B5EF4-FFF2-40B4-BE49-F238E27FC236}">
                    <a16:creationId xmlns:a16="http://schemas.microsoft.com/office/drawing/2014/main" id="{9DA4477E-2955-813D-C70A-34C89E554044}"/>
                  </a:ext>
                </a:extLst>
              </p:cNvPr>
              <p:cNvGraphicFramePr/>
              <p:nvPr/>
            </p:nvGraphicFramePr>
            <p:xfrm>
              <a:off x="42237" y="3722966"/>
              <a:ext cx="8690337" cy="322280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73" name="Straight Connector 4">
                <a:extLst>
                  <a:ext uri="{FF2B5EF4-FFF2-40B4-BE49-F238E27FC236}">
                    <a16:creationId xmlns:a16="http://schemas.microsoft.com/office/drawing/2014/main" id="{779AA720-BB6E-E5DB-F9DB-CF4763A9EB52}"/>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74" name="Straight Connector 4">
                <a:extLst>
                  <a:ext uri="{FF2B5EF4-FFF2-40B4-BE49-F238E27FC236}">
                    <a16:creationId xmlns:a16="http://schemas.microsoft.com/office/drawing/2014/main" id="{5A4E9296-89EA-BF7B-B259-5B06BC56A1EB}"/>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70" name="Straight Connector 4">
              <a:extLst>
                <a:ext uri="{FF2B5EF4-FFF2-40B4-BE49-F238E27FC236}">
                  <a16:creationId xmlns:a16="http://schemas.microsoft.com/office/drawing/2014/main" id="{3D95A724-9241-B84B-1AF7-5FC8FA4FCE12}"/>
                </a:ext>
              </a:extLst>
            </p:cNvPr>
            <p:cNvSpPr txBox="1"/>
            <p:nvPr/>
          </p:nvSpPr>
          <p:spPr>
            <a:xfrm>
              <a:off x="6696460" y="5114720"/>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71" name="Straight Connector 4">
              <a:extLst>
                <a:ext uri="{FF2B5EF4-FFF2-40B4-BE49-F238E27FC236}">
                  <a16:creationId xmlns:a16="http://schemas.microsoft.com/office/drawing/2014/main" id="{A6386A82-E400-7E5D-9490-57FF230D2516}"/>
                </a:ext>
              </a:extLst>
            </p:cNvPr>
            <p:cNvSpPr txBox="1"/>
            <p:nvPr/>
          </p:nvSpPr>
          <p:spPr>
            <a:xfrm>
              <a:off x="2161749" y="5110444"/>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75" name="Rectangle 74">
            <a:extLst>
              <a:ext uri="{FF2B5EF4-FFF2-40B4-BE49-F238E27FC236}">
                <a16:creationId xmlns:a16="http://schemas.microsoft.com/office/drawing/2014/main" id="{5F929BCA-4EE9-12F3-6FB0-8EF9708AECB1}"/>
              </a:ext>
            </a:extLst>
          </p:cNvPr>
          <p:cNvSpPr/>
          <p:nvPr/>
        </p:nvSpPr>
        <p:spPr>
          <a:xfrm>
            <a:off x="2518367" y="2976456"/>
            <a:ext cx="496940" cy="2625404"/>
          </a:xfrm>
          <a:prstGeom prst="rect">
            <a:avLst/>
          </a:prstGeom>
          <a:solidFill>
            <a:srgbClr val="0067B9">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vert270" wrap="square" lIns="8890" tIns="8890" rIns="8890" bIns="8890" numCol="1" spcCol="1270" anchor="ctr" anchorCtr="0">
            <a:noAutofit/>
          </a:bodyPr>
          <a:lstStyle/>
          <a:p>
            <a:pPr algn="ctr"/>
            <a:r>
              <a:rPr lang="en-US" sz="1600" b="1" dirty="0">
                <a:solidFill>
                  <a:schemeClr val="bg1"/>
                </a:solidFill>
              </a:rPr>
              <a:t>Multiplexer</a:t>
            </a:r>
          </a:p>
        </p:txBody>
      </p:sp>
      <p:grpSp>
        <p:nvGrpSpPr>
          <p:cNvPr id="76" name="Group 75">
            <a:extLst>
              <a:ext uri="{FF2B5EF4-FFF2-40B4-BE49-F238E27FC236}">
                <a16:creationId xmlns:a16="http://schemas.microsoft.com/office/drawing/2014/main" id="{667518E2-26FD-79E8-66DE-0E711A770D99}"/>
              </a:ext>
            </a:extLst>
          </p:cNvPr>
          <p:cNvGrpSpPr/>
          <p:nvPr/>
        </p:nvGrpSpPr>
        <p:grpSpPr>
          <a:xfrm>
            <a:off x="4396231" y="3274845"/>
            <a:ext cx="422177" cy="122994"/>
            <a:chOff x="4490551" y="3296170"/>
            <a:chExt cx="508311" cy="180000"/>
          </a:xfrm>
        </p:grpSpPr>
        <p:sp>
          <p:nvSpPr>
            <p:cNvPr id="77" name="Straight Connector 3">
              <a:extLst>
                <a:ext uri="{FF2B5EF4-FFF2-40B4-BE49-F238E27FC236}">
                  <a16:creationId xmlns:a16="http://schemas.microsoft.com/office/drawing/2014/main" id="{D99EF0E0-9118-EB59-4ECD-68180B961D53}"/>
                </a:ext>
              </a:extLst>
            </p:cNvPr>
            <p:cNvSpPr/>
            <p:nvPr/>
          </p:nvSpPr>
          <p:spPr>
            <a:xfrm>
              <a:off x="4490551" y="32961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78" name="Straight Connector 4">
              <a:extLst>
                <a:ext uri="{FF2B5EF4-FFF2-40B4-BE49-F238E27FC236}">
                  <a16:creationId xmlns:a16="http://schemas.microsoft.com/office/drawing/2014/main" id="{40C82972-D9FA-1DBE-11BD-E0E6EA64F2E2}"/>
                </a:ext>
              </a:extLst>
            </p:cNvPr>
            <p:cNvSpPr txBox="1"/>
            <p:nvPr/>
          </p:nvSpPr>
          <p:spPr>
            <a:xfrm>
              <a:off x="4731999" y="3373462"/>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79" name="Group 78">
            <a:extLst>
              <a:ext uri="{FF2B5EF4-FFF2-40B4-BE49-F238E27FC236}">
                <a16:creationId xmlns:a16="http://schemas.microsoft.com/office/drawing/2014/main" id="{74C73735-A150-BBFC-9164-F2735057C7B8}"/>
              </a:ext>
            </a:extLst>
          </p:cNvPr>
          <p:cNvGrpSpPr/>
          <p:nvPr/>
        </p:nvGrpSpPr>
        <p:grpSpPr>
          <a:xfrm>
            <a:off x="4408301" y="5168798"/>
            <a:ext cx="961265" cy="206348"/>
            <a:chOff x="4490551" y="5190123"/>
            <a:chExt cx="508311" cy="180000"/>
          </a:xfrm>
        </p:grpSpPr>
        <p:sp>
          <p:nvSpPr>
            <p:cNvPr id="80" name="Straight Connector 3">
              <a:extLst>
                <a:ext uri="{FF2B5EF4-FFF2-40B4-BE49-F238E27FC236}">
                  <a16:creationId xmlns:a16="http://schemas.microsoft.com/office/drawing/2014/main" id="{76147ABA-F3D3-0279-1A44-3B970B728AE5}"/>
                </a:ext>
              </a:extLst>
            </p:cNvPr>
            <p:cNvSpPr/>
            <p:nvPr/>
          </p:nvSpPr>
          <p:spPr>
            <a:xfrm>
              <a:off x="4490551" y="5190123"/>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1" name="Straight Connector 4">
              <a:extLst>
                <a:ext uri="{FF2B5EF4-FFF2-40B4-BE49-F238E27FC236}">
                  <a16:creationId xmlns:a16="http://schemas.microsoft.com/office/drawing/2014/main" id="{6EFBE286-FADB-694F-AEC0-23154D0771A2}"/>
                </a:ext>
              </a:extLst>
            </p:cNvPr>
            <p:cNvSpPr txBox="1"/>
            <p:nvPr/>
          </p:nvSpPr>
          <p:spPr>
            <a:xfrm>
              <a:off x="4731999" y="5267415"/>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2" name="Group 81">
            <a:extLst>
              <a:ext uri="{FF2B5EF4-FFF2-40B4-BE49-F238E27FC236}">
                <a16:creationId xmlns:a16="http://schemas.microsoft.com/office/drawing/2014/main" id="{C11CEF34-089F-1ADF-86CF-3F80C0C29021}"/>
              </a:ext>
            </a:extLst>
          </p:cNvPr>
          <p:cNvGrpSpPr/>
          <p:nvPr/>
        </p:nvGrpSpPr>
        <p:grpSpPr>
          <a:xfrm>
            <a:off x="2998856" y="3266162"/>
            <a:ext cx="422177" cy="122994"/>
            <a:chOff x="2804643" y="3296170"/>
            <a:chExt cx="508311" cy="180000"/>
          </a:xfrm>
        </p:grpSpPr>
        <p:sp>
          <p:nvSpPr>
            <p:cNvPr id="83" name="Straight Connector 3">
              <a:extLst>
                <a:ext uri="{FF2B5EF4-FFF2-40B4-BE49-F238E27FC236}">
                  <a16:creationId xmlns:a16="http://schemas.microsoft.com/office/drawing/2014/main" id="{81593F7E-9A12-9739-E745-9F7BBEAB3F29}"/>
                </a:ext>
              </a:extLst>
            </p:cNvPr>
            <p:cNvSpPr/>
            <p:nvPr/>
          </p:nvSpPr>
          <p:spPr>
            <a:xfrm>
              <a:off x="2804643" y="32961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4" name="Straight Connector 4">
              <a:extLst>
                <a:ext uri="{FF2B5EF4-FFF2-40B4-BE49-F238E27FC236}">
                  <a16:creationId xmlns:a16="http://schemas.microsoft.com/office/drawing/2014/main" id="{E4DDB014-A6B5-39EE-E045-16D5F14B0D0C}"/>
                </a:ext>
              </a:extLst>
            </p:cNvPr>
            <p:cNvSpPr txBox="1"/>
            <p:nvPr/>
          </p:nvSpPr>
          <p:spPr>
            <a:xfrm>
              <a:off x="2881761" y="3373462"/>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5" name="Group 84">
            <a:extLst>
              <a:ext uri="{FF2B5EF4-FFF2-40B4-BE49-F238E27FC236}">
                <a16:creationId xmlns:a16="http://schemas.microsoft.com/office/drawing/2014/main" id="{EDA54AF8-83B3-A07C-3A8C-FA42AA80CEEC}"/>
              </a:ext>
            </a:extLst>
          </p:cNvPr>
          <p:cNvGrpSpPr/>
          <p:nvPr/>
        </p:nvGrpSpPr>
        <p:grpSpPr>
          <a:xfrm>
            <a:off x="2771329" y="5194448"/>
            <a:ext cx="666877" cy="122994"/>
            <a:chOff x="2881761" y="5177970"/>
            <a:chExt cx="802936" cy="180000"/>
          </a:xfrm>
        </p:grpSpPr>
        <p:sp>
          <p:nvSpPr>
            <p:cNvPr id="86" name="Straight Connector 3">
              <a:extLst>
                <a:ext uri="{FF2B5EF4-FFF2-40B4-BE49-F238E27FC236}">
                  <a16:creationId xmlns:a16="http://schemas.microsoft.com/office/drawing/2014/main" id="{E0A35A76-F042-9240-A280-37FCCB2F974F}"/>
                </a:ext>
              </a:extLst>
            </p:cNvPr>
            <p:cNvSpPr/>
            <p:nvPr/>
          </p:nvSpPr>
          <p:spPr>
            <a:xfrm>
              <a:off x="3176386" y="51779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7" name="Straight Connector 4">
              <a:extLst>
                <a:ext uri="{FF2B5EF4-FFF2-40B4-BE49-F238E27FC236}">
                  <a16:creationId xmlns:a16="http://schemas.microsoft.com/office/drawing/2014/main" id="{616E460A-7A7D-0BBA-AD5C-3A1AABDAF147}"/>
                </a:ext>
              </a:extLst>
            </p:cNvPr>
            <p:cNvSpPr txBox="1"/>
            <p:nvPr/>
          </p:nvSpPr>
          <p:spPr>
            <a:xfrm>
              <a:off x="2881761" y="5267415"/>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8" name="Group 87">
            <a:extLst>
              <a:ext uri="{FF2B5EF4-FFF2-40B4-BE49-F238E27FC236}">
                <a16:creationId xmlns:a16="http://schemas.microsoft.com/office/drawing/2014/main" id="{5A58324B-E31E-D2D3-C76F-CFE2046C52EC}"/>
              </a:ext>
            </a:extLst>
          </p:cNvPr>
          <p:cNvGrpSpPr/>
          <p:nvPr/>
        </p:nvGrpSpPr>
        <p:grpSpPr>
          <a:xfrm>
            <a:off x="2013816" y="4323758"/>
            <a:ext cx="422177" cy="122994"/>
            <a:chOff x="1535053" y="3625816"/>
            <a:chExt cx="508311" cy="180000"/>
          </a:xfrm>
        </p:grpSpPr>
        <p:sp>
          <p:nvSpPr>
            <p:cNvPr id="89" name="Straight Connector 3">
              <a:extLst>
                <a:ext uri="{FF2B5EF4-FFF2-40B4-BE49-F238E27FC236}">
                  <a16:creationId xmlns:a16="http://schemas.microsoft.com/office/drawing/2014/main" id="{8B854A2E-92BB-7191-8E59-E4CBB0CD3AF3}"/>
                </a:ext>
              </a:extLst>
            </p:cNvPr>
            <p:cNvSpPr/>
            <p:nvPr/>
          </p:nvSpPr>
          <p:spPr>
            <a:xfrm>
              <a:off x="1535053" y="3625816"/>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90" name="Straight Connector 4">
              <a:extLst>
                <a:ext uri="{FF2B5EF4-FFF2-40B4-BE49-F238E27FC236}">
                  <a16:creationId xmlns:a16="http://schemas.microsoft.com/office/drawing/2014/main" id="{60DB90C0-63A9-016A-366F-B3C1468EE3FB}"/>
                </a:ext>
              </a:extLst>
            </p:cNvPr>
            <p:cNvSpPr txBox="1"/>
            <p:nvPr/>
          </p:nvSpPr>
          <p:spPr>
            <a:xfrm>
              <a:off x="1776501" y="3703108"/>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91" name="TextBox 90">
            <a:extLst>
              <a:ext uri="{FF2B5EF4-FFF2-40B4-BE49-F238E27FC236}">
                <a16:creationId xmlns:a16="http://schemas.microsoft.com/office/drawing/2014/main" id="{7D9AD0D8-6623-6CD5-0FB3-A869282488FC}"/>
              </a:ext>
            </a:extLst>
          </p:cNvPr>
          <p:cNvSpPr txBox="1"/>
          <p:nvPr/>
        </p:nvSpPr>
        <p:spPr>
          <a:xfrm>
            <a:off x="9113147" y="3422677"/>
            <a:ext cx="1174045" cy="23138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from the channel</a:t>
            </a:r>
          </a:p>
        </p:txBody>
      </p:sp>
      <p:sp>
        <p:nvSpPr>
          <p:cNvPr id="92" name="TextBox 91">
            <a:extLst>
              <a:ext uri="{FF2B5EF4-FFF2-40B4-BE49-F238E27FC236}">
                <a16:creationId xmlns:a16="http://schemas.microsoft.com/office/drawing/2014/main" id="{6B6FE30F-2B7E-CF1F-BEFC-BFEC0CBD97A0}"/>
              </a:ext>
            </a:extLst>
          </p:cNvPr>
          <p:cNvSpPr txBox="1"/>
          <p:nvPr/>
        </p:nvSpPr>
        <p:spPr>
          <a:xfrm>
            <a:off x="9104746" y="5309725"/>
            <a:ext cx="1174045" cy="18647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from the channel</a:t>
            </a:r>
          </a:p>
        </p:txBody>
      </p:sp>
      <p:sp>
        <p:nvSpPr>
          <p:cNvPr id="93" name="TextBox 92">
            <a:extLst>
              <a:ext uri="{FF2B5EF4-FFF2-40B4-BE49-F238E27FC236}">
                <a16:creationId xmlns:a16="http://schemas.microsoft.com/office/drawing/2014/main" id="{74408647-23B3-D42E-3EEF-D6A96F90E5A7}"/>
              </a:ext>
            </a:extLst>
          </p:cNvPr>
          <p:cNvSpPr txBox="1"/>
          <p:nvPr/>
        </p:nvSpPr>
        <p:spPr>
          <a:xfrm>
            <a:off x="1224695" y="4306921"/>
            <a:ext cx="829644" cy="21807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Output data</a:t>
            </a:r>
          </a:p>
        </p:txBody>
      </p:sp>
      <p:sp>
        <p:nvSpPr>
          <p:cNvPr id="94" name="Oval 93">
            <a:extLst>
              <a:ext uri="{FF2B5EF4-FFF2-40B4-BE49-F238E27FC236}">
                <a16:creationId xmlns:a16="http://schemas.microsoft.com/office/drawing/2014/main" id="{D851543C-4A62-2E5E-A596-ED0AE12B3A43}"/>
              </a:ext>
            </a:extLst>
          </p:cNvPr>
          <p:cNvSpPr/>
          <p:nvPr/>
        </p:nvSpPr>
        <p:spPr>
          <a:xfrm>
            <a:off x="7318504" y="368577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77590C6F-8EF9-8E69-2531-DE8626D87588}"/>
              </a:ext>
            </a:extLst>
          </p:cNvPr>
          <p:cNvSpPr/>
          <p:nvPr/>
        </p:nvSpPr>
        <p:spPr>
          <a:xfrm>
            <a:off x="7318504" y="392940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A94488C4-0DB7-50CF-A208-76CF50D1A54F}"/>
              </a:ext>
            </a:extLst>
          </p:cNvPr>
          <p:cNvSpPr/>
          <p:nvPr/>
        </p:nvSpPr>
        <p:spPr>
          <a:xfrm>
            <a:off x="7318504" y="4194739"/>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4095DCB4-1DDE-3248-B6B8-5106DEEB5150}"/>
              </a:ext>
            </a:extLst>
          </p:cNvPr>
          <p:cNvSpPr/>
          <p:nvPr/>
        </p:nvSpPr>
        <p:spPr>
          <a:xfrm>
            <a:off x="7318504" y="446007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8D153F67-08CE-3584-6EF7-3AEB1A1D0416}"/>
              </a:ext>
            </a:extLst>
          </p:cNvPr>
          <p:cNvSpPr/>
          <p:nvPr/>
        </p:nvSpPr>
        <p:spPr>
          <a:xfrm>
            <a:off x="3903777" y="383362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B386BCFE-C55A-BEA3-403B-3F03BFB6BA3E}"/>
              </a:ext>
            </a:extLst>
          </p:cNvPr>
          <p:cNvSpPr/>
          <p:nvPr/>
        </p:nvSpPr>
        <p:spPr>
          <a:xfrm>
            <a:off x="3903777" y="4088111"/>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F7C1587F-182D-B716-BC16-0297143FB601}"/>
              </a:ext>
            </a:extLst>
          </p:cNvPr>
          <p:cNvSpPr/>
          <p:nvPr/>
        </p:nvSpPr>
        <p:spPr>
          <a:xfrm>
            <a:off x="3903777" y="4342595"/>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4EC02430-6D23-DE1A-7222-BD262A4DB1EF}"/>
              </a:ext>
            </a:extLst>
          </p:cNvPr>
          <p:cNvSpPr/>
          <p:nvPr/>
        </p:nvSpPr>
        <p:spPr>
          <a:xfrm>
            <a:off x="3903777" y="4568235"/>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Arrow Connector 104">
            <a:extLst>
              <a:ext uri="{FF2B5EF4-FFF2-40B4-BE49-F238E27FC236}">
                <a16:creationId xmlns:a16="http://schemas.microsoft.com/office/drawing/2014/main" id="{F0B04474-9C07-4D79-0707-B1EA7C8C784E}"/>
              </a:ext>
            </a:extLst>
          </p:cNvPr>
          <p:cNvCxnSpPr/>
          <p:nvPr/>
        </p:nvCxnSpPr>
        <p:spPr>
          <a:xfrm>
            <a:off x="2006399" y="1666142"/>
            <a:ext cx="759255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6" name="TextBox 105">
            <a:extLst>
              <a:ext uri="{FF2B5EF4-FFF2-40B4-BE49-F238E27FC236}">
                <a16:creationId xmlns:a16="http://schemas.microsoft.com/office/drawing/2014/main" id="{973D8896-5B6E-7348-79BE-844526011B7E}"/>
              </a:ext>
            </a:extLst>
          </p:cNvPr>
          <p:cNvSpPr txBox="1"/>
          <p:nvPr/>
        </p:nvSpPr>
        <p:spPr>
          <a:xfrm>
            <a:off x="5404454" y="1740489"/>
            <a:ext cx="916786" cy="370032"/>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Tx (UE)</a:t>
            </a:r>
          </a:p>
        </p:txBody>
      </p:sp>
      <p:cxnSp>
        <p:nvCxnSpPr>
          <p:cNvPr id="107" name="Straight Arrow Connector 106">
            <a:extLst>
              <a:ext uri="{FF2B5EF4-FFF2-40B4-BE49-F238E27FC236}">
                <a16:creationId xmlns:a16="http://schemas.microsoft.com/office/drawing/2014/main" id="{D1C9C252-94D3-808E-E916-9CC1A5FA6705}"/>
              </a:ext>
            </a:extLst>
          </p:cNvPr>
          <p:cNvCxnSpPr>
            <a:cxnSpLocks/>
          </p:cNvCxnSpPr>
          <p:nvPr/>
        </p:nvCxnSpPr>
        <p:spPr>
          <a:xfrm flipH="1">
            <a:off x="2485665" y="5803230"/>
            <a:ext cx="759255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9" name="TextBox 108">
            <a:extLst>
              <a:ext uri="{FF2B5EF4-FFF2-40B4-BE49-F238E27FC236}">
                <a16:creationId xmlns:a16="http://schemas.microsoft.com/office/drawing/2014/main" id="{EA8A84C3-D768-2700-E47A-8FF8A56C7B03}"/>
              </a:ext>
            </a:extLst>
          </p:cNvPr>
          <p:cNvSpPr txBox="1"/>
          <p:nvPr/>
        </p:nvSpPr>
        <p:spPr>
          <a:xfrm>
            <a:off x="4843114" y="6065543"/>
            <a:ext cx="2039467" cy="477563"/>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Rx (Base Station)</a:t>
            </a:r>
          </a:p>
        </p:txBody>
      </p:sp>
      <p:sp>
        <p:nvSpPr>
          <p:cNvPr id="111" name="Rectangle 110">
            <a:extLst>
              <a:ext uri="{FF2B5EF4-FFF2-40B4-BE49-F238E27FC236}">
                <a16:creationId xmlns:a16="http://schemas.microsoft.com/office/drawing/2014/main" id="{A57B80DB-68B7-D041-7402-E3D7F82EA3E3}"/>
              </a:ext>
            </a:extLst>
          </p:cNvPr>
          <p:cNvSpPr/>
          <p:nvPr/>
        </p:nvSpPr>
        <p:spPr>
          <a:xfrm>
            <a:off x="2634221" y="838894"/>
            <a:ext cx="6146812" cy="717064"/>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BFFD087-111D-B740-0313-3F324B4F57AC}"/>
              </a:ext>
            </a:extLst>
          </p:cNvPr>
          <p:cNvSpPr txBox="1"/>
          <p:nvPr/>
        </p:nvSpPr>
        <p:spPr>
          <a:xfrm>
            <a:off x="7759846" y="661157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
        <p:nvSpPr>
          <p:cNvPr id="23" name="TextBox 22">
            <a:extLst>
              <a:ext uri="{FF2B5EF4-FFF2-40B4-BE49-F238E27FC236}">
                <a16:creationId xmlns:a16="http://schemas.microsoft.com/office/drawing/2014/main" id="{CCBC9DF1-C9D8-7DFE-9376-4AD7AF35F01C}"/>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4" name="TextBox 23">
            <a:extLst>
              <a:ext uri="{FF2B5EF4-FFF2-40B4-BE49-F238E27FC236}">
                <a16:creationId xmlns:a16="http://schemas.microsoft.com/office/drawing/2014/main" id="{0CFAC807-05C3-074E-51D5-8EB3347732E6}"/>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alpha val="30000"/>
                  </a:schemeClr>
                </a:solidFill>
              </a:rPr>
              <a:t>Algorithm and Architecture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DEA9BB1F-266E-C5EF-8F10-6A4A2EDC7A73}"/>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F8D6B741-F044-F3A4-7B75-B908DFB90312}"/>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02" name="TextBox 101">
            <a:extLst>
              <a:ext uri="{FF2B5EF4-FFF2-40B4-BE49-F238E27FC236}">
                <a16:creationId xmlns:a16="http://schemas.microsoft.com/office/drawing/2014/main" id="{E033CF5C-0647-27CB-D6CD-A9218DE88AF0}"/>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03" name="TextBox 102">
            <a:extLst>
              <a:ext uri="{FF2B5EF4-FFF2-40B4-BE49-F238E27FC236}">
                <a16:creationId xmlns:a16="http://schemas.microsoft.com/office/drawing/2014/main" id="{4379C37C-8BEA-65A6-7B38-4647BC178E4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
        <p:nvSpPr>
          <p:cNvPr id="110" name="Title 2">
            <a:extLst>
              <a:ext uri="{FF2B5EF4-FFF2-40B4-BE49-F238E27FC236}">
                <a16:creationId xmlns:a16="http://schemas.microsoft.com/office/drawing/2014/main" id="{D68772CB-F3CF-EEB1-CD58-866C4AB57191}"/>
              </a:ext>
            </a:extLst>
          </p:cNvPr>
          <p:cNvSpPr>
            <a:spLocks noGrp="1"/>
          </p:cNvSpPr>
          <p:nvPr>
            <p:ph type="title"/>
          </p:nvPr>
        </p:nvSpPr>
        <p:spPr>
          <a:xfrm>
            <a:off x="342901" y="219456"/>
            <a:ext cx="10287001" cy="470898"/>
          </a:xfrm>
        </p:spPr>
        <p:txBody>
          <a:bodyPr/>
          <a:lstStyle/>
          <a:p>
            <a:r>
              <a:rPr lang="en-US" dirty="0"/>
              <a:t>Modeling :System Modeling </a:t>
            </a:r>
          </a:p>
        </p:txBody>
      </p:sp>
      <p:sp>
        <p:nvSpPr>
          <p:cNvPr id="112" name="Rectangle 111">
            <a:extLst>
              <a:ext uri="{FF2B5EF4-FFF2-40B4-BE49-F238E27FC236}">
                <a16:creationId xmlns:a16="http://schemas.microsoft.com/office/drawing/2014/main" id="{2D8652B4-BC33-0CD8-302D-5C5114370FA3}"/>
              </a:ext>
            </a:extLst>
          </p:cNvPr>
          <p:cNvSpPr/>
          <p:nvPr/>
        </p:nvSpPr>
        <p:spPr>
          <a:xfrm>
            <a:off x="1046480" y="2315560"/>
            <a:ext cx="10099040" cy="3780529"/>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2732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500"/>
                                        <p:tgtEl>
                                          <p:spTgt spid="39"/>
                                        </p:tgtEl>
                                      </p:cBhvr>
                                    </p:animEffect>
                                  </p:childTnLst>
                                </p:cTn>
                              </p:par>
                              <p:par>
                                <p:cTn id="20" presetID="10" presetClass="entr" presetSubtype="0"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nodeType="withEffect">
                                  <p:stCondLst>
                                    <p:cond delay="0"/>
                                  </p:stCondLst>
                                  <p:childTnLst>
                                    <p:set>
                                      <p:cBhvr>
                                        <p:cTn id="24" dur="1" fill="hold">
                                          <p:stCondLst>
                                            <p:cond delay="0"/>
                                          </p:stCondLst>
                                        </p:cTn>
                                        <p:tgtEl>
                                          <p:spTgt spid="105"/>
                                        </p:tgtEl>
                                        <p:attrNameLst>
                                          <p:attrName>style.visibility</p:attrName>
                                        </p:attrNameLst>
                                      </p:cBhvr>
                                      <p:to>
                                        <p:strVal val="visible"/>
                                      </p:to>
                                    </p:set>
                                    <p:animEffect transition="in" filter="fade">
                                      <p:cBhvr>
                                        <p:cTn id="25" dur="500"/>
                                        <p:tgtEl>
                                          <p:spTgt spid="10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1"/>
                                        </p:tgtEl>
                                        <p:attrNameLst>
                                          <p:attrName>style.visibility</p:attrName>
                                        </p:attrNameLst>
                                      </p:cBhvr>
                                      <p:to>
                                        <p:strVal val="visible"/>
                                      </p:to>
                                    </p:set>
                                    <p:animEffect transition="in" filter="fade">
                                      <p:cBhvr>
                                        <p:cTn id="28" dur="500"/>
                                        <p:tgtEl>
                                          <p:spTgt spid="1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6"/>
                                        </p:tgtEl>
                                        <p:attrNameLst>
                                          <p:attrName>style.visibility</p:attrName>
                                        </p:attrNameLst>
                                      </p:cBhvr>
                                      <p:to>
                                        <p:strVal val="visible"/>
                                      </p:to>
                                    </p:set>
                                    <p:animEffect transition="in" filter="fade">
                                      <p:cBhvr>
                                        <p:cTn id="31" dur="500"/>
                                        <p:tgtEl>
                                          <p:spTgt spid="10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par>
                                <p:cTn id="40" presetID="10" presetClass="entr" presetSubtype="0"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childTnLst>
                                </p:cTn>
                              </p:par>
                              <p:par>
                                <p:cTn id="43" presetID="10" presetClass="entr" presetSubtype="0" fill="hold"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500"/>
                                        <p:tgtEl>
                                          <p:spTgt spid="45"/>
                                        </p:tgtEl>
                                      </p:cBhvr>
                                    </p:animEffect>
                                  </p:childTnLst>
                                </p:cTn>
                              </p:par>
                              <p:par>
                                <p:cTn id="46" presetID="10" presetClass="entr" presetSubtype="0" fill="hold" nodeType="with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fade">
                                      <p:cBhvr>
                                        <p:cTn id="48" dur="500"/>
                                        <p:tgtEl>
                                          <p:spTgt spid="54"/>
                                        </p:tgtEl>
                                      </p:cBhvr>
                                    </p:animEffect>
                                  </p:childTnLst>
                                </p:cTn>
                              </p:par>
                              <p:par>
                                <p:cTn id="49" presetID="10" presetClass="entr" presetSubtype="0" fill="hold" nodeType="with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fade">
                                      <p:cBhvr>
                                        <p:cTn id="51" dur="500"/>
                                        <p:tgtEl>
                                          <p:spTgt spid="5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6"/>
                                        </p:tgtEl>
                                        <p:attrNameLst>
                                          <p:attrName>style.visibility</p:attrName>
                                        </p:attrNameLst>
                                      </p:cBhvr>
                                      <p:to>
                                        <p:strVal val="visible"/>
                                      </p:to>
                                    </p:set>
                                    <p:animEffect transition="in" filter="fade">
                                      <p:cBhvr>
                                        <p:cTn id="54" dur="500"/>
                                        <p:tgtEl>
                                          <p:spTgt spid="5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500"/>
                                        <p:tgtEl>
                                          <p:spTgt spid="5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fade">
                                      <p:cBhvr>
                                        <p:cTn id="60" dur="500"/>
                                        <p:tgtEl>
                                          <p:spTgt spid="5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fade">
                                      <p:cBhvr>
                                        <p:cTn id="63" dur="500"/>
                                        <p:tgtEl>
                                          <p:spTgt spid="5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0"/>
                                        </p:tgtEl>
                                        <p:attrNameLst>
                                          <p:attrName>style.visibility</p:attrName>
                                        </p:attrNameLst>
                                      </p:cBhvr>
                                      <p:to>
                                        <p:strVal val="visible"/>
                                      </p:to>
                                    </p:set>
                                    <p:animEffect transition="in" filter="fade">
                                      <p:cBhvr>
                                        <p:cTn id="66" dur="500"/>
                                        <p:tgtEl>
                                          <p:spTgt spid="60"/>
                                        </p:tgtEl>
                                      </p:cBhvr>
                                    </p:animEffect>
                                  </p:childTnLst>
                                </p:cTn>
                              </p:par>
                              <p:par>
                                <p:cTn id="67" presetID="10" presetClass="entr" presetSubtype="0" fill="hold" nodeType="with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fade">
                                      <p:cBhvr>
                                        <p:cTn id="69" dur="500"/>
                                        <p:tgtEl>
                                          <p:spTgt spid="61"/>
                                        </p:tgtEl>
                                      </p:cBhvr>
                                    </p:animEffect>
                                  </p:childTnLst>
                                </p:cTn>
                              </p:par>
                              <p:par>
                                <p:cTn id="70" presetID="10" presetClass="entr" presetSubtype="0" fill="hold" nodeType="withEffect">
                                  <p:stCondLst>
                                    <p:cond delay="0"/>
                                  </p:stCondLst>
                                  <p:childTnLst>
                                    <p:set>
                                      <p:cBhvr>
                                        <p:cTn id="71" dur="1" fill="hold">
                                          <p:stCondLst>
                                            <p:cond delay="0"/>
                                          </p:stCondLst>
                                        </p:cTn>
                                        <p:tgtEl>
                                          <p:spTgt spid="68"/>
                                        </p:tgtEl>
                                        <p:attrNameLst>
                                          <p:attrName>style.visibility</p:attrName>
                                        </p:attrNameLst>
                                      </p:cBhvr>
                                      <p:to>
                                        <p:strVal val="visible"/>
                                      </p:to>
                                    </p:set>
                                    <p:animEffect transition="in" filter="fade">
                                      <p:cBhvr>
                                        <p:cTn id="72" dur="500"/>
                                        <p:tgtEl>
                                          <p:spTgt spid="6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75"/>
                                        </p:tgtEl>
                                        <p:attrNameLst>
                                          <p:attrName>style.visibility</p:attrName>
                                        </p:attrNameLst>
                                      </p:cBhvr>
                                      <p:to>
                                        <p:strVal val="visible"/>
                                      </p:to>
                                    </p:set>
                                    <p:animEffect transition="in" filter="fade">
                                      <p:cBhvr>
                                        <p:cTn id="75" dur="500"/>
                                        <p:tgtEl>
                                          <p:spTgt spid="75"/>
                                        </p:tgtEl>
                                      </p:cBhvr>
                                    </p:animEffect>
                                  </p:childTnLst>
                                </p:cTn>
                              </p:par>
                              <p:par>
                                <p:cTn id="76" presetID="10" presetClass="entr" presetSubtype="0" fill="hold" nodeType="withEffect">
                                  <p:stCondLst>
                                    <p:cond delay="0"/>
                                  </p:stCondLst>
                                  <p:childTnLst>
                                    <p:set>
                                      <p:cBhvr>
                                        <p:cTn id="77" dur="1" fill="hold">
                                          <p:stCondLst>
                                            <p:cond delay="0"/>
                                          </p:stCondLst>
                                        </p:cTn>
                                        <p:tgtEl>
                                          <p:spTgt spid="76"/>
                                        </p:tgtEl>
                                        <p:attrNameLst>
                                          <p:attrName>style.visibility</p:attrName>
                                        </p:attrNameLst>
                                      </p:cBhvr>
                                      <p:to>
                                        <p:strVal val="visible"/>
                                      </p:to>
                                    </p:set>
                                    <p:animEffect transition="in" filter="fade">
                                      <p:cBhvr>
                                        <p:cTn id="78" dur="500"/>
                                        <p:tgtEl>
                                          <p:spTgt spid="76"/>
                                        </p:tgtEl>
                                      </p:cBhvr>
                                    </p:animEffect>
                                  </p:childTnLst>
                                </p:cTn>
                              </p:par>
                              <p:par>
                                <p:cTn id="79" presetID="10" presetClass="entr" presetSubtype="0" fill="hold" nodeType="withEffect">
                                  <p:stCondLst>
                                    <p:cond delay="0"/>
                                  </p:stCondLst>
                                  <p:childTnLst>
                                    <p:set>
                                      <p:cBhvr>
                                        <p:cTn id="80" dur="1" fill="hold">
                                          <p:stCondLst>
                                            <p:cond delay="0"/>
                                          </p:stCondLst>
                                        </p:cTn>
                                        <p:tgtEl>
                                          <p:spTgt spid="79"/>
                                        </p:tgtEl>
                                        <p:attrNameLst>
                                          <p:attrName>style.visibility</p:attrName>
                                        </p:attrNameLst>
                                      </p:cBhvr>
                                      <p:to>
                                        <p:strVal val="visible"/>
                                      </p:to>
                                    </p:set>
                                    <p:animEffect transition="in" filter="fade">
                                      <p:cBhvr>
                                        <p:cTn id="81" dur="500"/>
                                        <p:tgtEl>
                                          <p:spTgt spid="79"/>
                                        </p:tgtEl>
                                      </p:cBhvr>
                                    </p:animEffect>
                                  </p:childTnLst>
                                </p:cTn>
                              </p:par>
                              <p:par>
                                <p:cTn id="82" presetID="10" presetClass="entr" presetSubtype="0" fill="hold" nodeType="withEffect">
                                  <p:stCondLst>
                                    <p:cond delay="0"/>
                                  </p:stCondLst>
                                  <p:childTnLst>
                                    <p:set>
                                      <p:cBhvr>
                                        <p:cTn id="83" dur="1" fill="hold">
                                          <p:stCondLst>
                                            <p:cond delay="0"/>
                                          </p:stCondLst>
                                        </p:cTn>
                                        <p:tgtEl>
                                          <p:spTgt spid="82"/>
                                        </p:tgtEl>
                                        <p:attrNameLst>
                                          <p:attrName>style.visibility</p:attrName>
                                        </p:attrNameLst>
                                      </p:cBhvr>
                                      <p:to>
                                        <p:strVal val="visible"/>
                                      </p:to>
                                    </p:set>
                                    <p:animEffect transition="in" filter="fade">
                                      <p:cBhvr>
                                        <p:cTn id="84" dur="500"/>
                                        <p:tgtEl>
                                          <p:spTgt spid="82"/>
                                        </p:tgtEl>
                                      </p:cBhvr>
                                    </p:animEffect>
                                  </p:childTnLst>
                                </p:cTn>
                              </p:par>
                              <p:par>
                                <p:cTn id="85" presetID="10" presetClass="entr" presetSubtype="0" fill="hold" nodeType="withEffect">
                                  <p:stCondLst>
                                    <p:cond delay="0"/>
                                  </p:stCondLst>
                                  <p:childTnLst>
                                    <p:set>
                                      <p:cBhvr>
                                        <p:cTn id="86" dur="1" fill="hold">
                                          <p:stCondLst>
                                            <p:cond delay="0"/>
                                          </p:stCondLst>
                                        </p:cTn>
                                        <p:tgtEl>
                                          <p:spTgt spid="85"/>
                                        </p:tgtEl>
                                        <p:attrNameLst>
                                          <p:attrName>style.visibility</p:attrName>
                                        </p:attrNameLst>
                                      </p:cBhvr>
                                      <p:to>
                                        <p:strVal val="visible"/>
                                      </p:to>
                                    </p:set>
                                    <p:animEffect transition="in" filter="fade">
                                      <p:cBhvr>
                                        <p:cTn id="87" dur="500"/>
                                        <p:tgtEl>
                                          <p:spTgt spid="85"/>
                                        </p:tgtEl>
                                      </p:cBhvr>
                                    </p:animEffect>
                                  </p:childTnLst>
                                </p:cTn>
                              </p:par>
                              <p:par>
                                <p:cTn id="88" presetID="10" presetClass="entr" presetSubtype="0" fill="hold" nodeType="withEffect">
                                  <p:stCondLst>
                                    <p:cond delay="0"/>
                                  </p:stCondLst>
                                  <p:childTnLst>
                                    <p:set>
                                      <p:cBhvr>
                                        <p:cTn id="89" dur="1" fill="hold">
                                          <p:stCondLst>
                                            <p:cond delay="0"/>
                                          </p:stCondLst>
                                        </p:cTn>
                                        <p:tgtEl>
                                          <p:spTgt spid="88"/>
                                        </p:tgtEl>
                                        <p:attrNameLst>
                                          <p:attrName>style.visibility</p:attrName>
                                        </p:attrNameLst>
                                      </p:cBhvr>
                                      <p:to>
                                        <p:strVal val="visible"/>
                                      </p:to>
                                    </p:set>
                                    <p:animEffect transition="in" filter="fade">
                                      <p:cBhvr>
                                        <p:cTn id="90" dur="500"/>
                                        <p:tgtEl>
                                          <p:spTgt spid="8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91"/>
                                        </p:tgtEl>
                                        <p:attrNameLst>
                                          <p:attrName>style.visibility</p:attrName>
                                        </p:attrNameLst>
                                      </p:cBhvr>
                                      <p:to>
                                        <p:strVal val="visible"/>
                                      </p:to>
                                    </p:set>
                                    <p:animEffect transition="in" filter="fade">
                                      <p:cBhvr>
                                        <p:cTn id="93" dur="500"/>
                                        <p:tgtEl>
                                          <p:spTgt spid="9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92"/>
                                        </p:tgtEl>
                                        <p:attrNameLst>
                                          <p:attrName>style.visibility</p:attrName>
                                        </p:attrNameLst>
                                      </p:cBhvr>
                                      <p:to>
                                        <p:strVal val="visible"/>
                                      </p:to>
                                    </p:set>
                                    <p:animEffect transition="in" filter="fade">
                                      <p:cBhvr>
                                        <p:cTn id="96" dur="500"/>
                                        <p:tgtEl>
                                          <p:spTgt spid="9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93"/>
                                        </p:tgtEl>
                                        <p:attrNameLst>
                                          <p:attrName>style.visibility</p:attrName>
                                        </p:attrNameLst>
                                      </p:cBhvr>
                                      <p:to>
                                        <p:strVal val="visible"/>
                                      </p:to>
                                    </p:set>
                                    <p:animEffect transition="in" filter="fade">
                                      <p:cBhvr>
                                        <p:cTn id="99" dur="500"/>
                                        <p:tgtEl>
                                          <p:spTgt spid="9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94"/>
                                        </p:tgtEl>
                                        <p:attrNameLst>
                                          <p:attrName>style.visibility</p:attrName>
                                        </p:attrNameLst>
                                      </p:cBhvr>
                                      <p:to>
                                        <p:strVal val="visible"/>
                                      </p:to>
                                    </p:set>
                                    <p:animEffect transition="in" filter="fade">
                                      <p:cBhvr>
                                        <p:cTn id="102" dur="500"/>
                                        <p:tgtEl>
                                          <p:spTgt spid="9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95"/>
                                        </p:tgtEl>
                                        <p:attrNameLst>
                                          <p:attrName>style.visibility</p:attrName>
                                        </p:attrNameLst>
                                      </p:cBhvr>
                                      <p:to>
                                        <p:strVal val="visible"/>
                                      </p:to>
                                    </p:set>
                                    <p:animEffect transition="in" filter="fade">
                                      <p:cBhvr>
                                        <p:cTn id="105" dur="500"/>
                                        <p:tgtEl>
                                          <p:spTgt spid="9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96"/>
                                        </p:tgtEl>
                                        <p:attrNameLst>
                                          <p:attrName>style.visibility</p:attrName>
                                        </p:attrNameLst>
                                      </p:cBhvr>
                                      <p:to>
                                        <p:strVal val="visible"/>
                                      </p:to>
                                    </p:set>
                                    <p:animEffect transition="in" filter="fade">
                                      <p:cBhvr>
                                        <p:cTn id="108" dur="500"/>
                                        <p:tgtEl>
                                          <p:spTgt spid="9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97"/>
                                        </p:tgtEl>
                                        <p:attrNameLst>
                                          <p:attrName>style.visibility</p:attrName>
                                        </p:attrNameLst>
                                      </p:cBhvr>
                                      <p:to>
                                        <p:strVal val="visible"/>
                                      </p:to>
                                    </p:set>
                                    <p:animEffect transition="in" filter="fade">
                                      <p:cBhvr>
                                        <p:cTn id="111" dur="500"/>
                                        <p:tgtEl>
                                          <p:spTgt spid="9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98"/>
                                        </p:tgtEl>
                                        <p:attrNameLst>
                                          <p:attrName>style.visibility</p:attrName>
                                        </p:attrNameLst>
                                      </p:cBhvr>
                                      <p:to>
                                        <p:strVal val="visible"/>
                                      </p:to>
                                    </p:set>
                                    <p:animEffect transition="in" filter="fade">
                                      <p:cBhvr>
                                        <p:cTn id="114" dur="500"/>
                                        <p:tgtEl>
                                          <p:spTgt spid="9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99"/>
                                        </p:tgtEl>
                                        <p:attrNameLst>
                                          <p:attrName>style.visibility</p:attrName>
                                        </p:attrNameLst>
                                      </p:cBhvr>
                                      <p:to>
                                        <p:strVal val="visible"/>
                                      </p:to>
                                    </p:set>
                                    <p:animEffect transition="in" filter="fade">
                                      <p:cBhvr>
                                        <p:cTn id="117" dur="500"/>
                                        <p:tgtEl>
                                          <p:spTgt spid="9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00"/>
                                        </p:tgtEl>
                                        <p:attrNameLst>
                                          <p:attrName>style.visibility</p:attrName>
                                        </p:attrNameLst>
                                      </p:cBhvr>
                                      <p:to>
                                        <p:strVal val="visible"/>
                                      </p:to>
                                    </p:set>
                                    <p:animEffect transition="in" filter="fade">
                                      <p:cBhvr>
                                        <p:cTn id="120" dur="500"/>
                                        <p:tgtEl>
                                          <p:spTgt spid="10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101"/>
                                        </p:tgtEl>
                                        <p:attrNameLst>
                                          <p:attrName>style.visibility</p:attrName>
                                        </p:attrNameLst>
                                      </p:cBhvr>
                                      <p:to>
                                        <p:strVal val="visible"/>
                                      </p:to>
                                    </p:set>
                                    <p:animEffect transition="in" filter="fade">
                                      <p:cBhvr>
                                        <p:cTn id="123" dur="500"/>
                                        <p:tgtEl>
                                          <p:spTgt spid="101"/>
                                        </p:tgtEl>
                                      </p:cBhvr>
                                    </p:animEffect>
                                  </p:childTnLst>
                                </p:cTn>
                              </p:par>
                              <p:par>
                                <p:cTn id="124" presetID="10" presetClass="entr" presetSubtype="0" fill="hold" nodeType="withEffect">
                                  <p:stCondLst>
                                    <p:cond delay="0"/>
                                  </p:stCondLst>
                                  <p:childTnLst>
                                    <p:set>
                                      <p:cBhvr>
                                        <p:cTn id="125" dur="1" fill="hold">
                                          <p:stCondLst>
                                            <p:cond delay="0"/>
                                          </p:stCondLst>
                                        </p:cTn>
                                        <p:tgtEl>
                                          <p:spTgt spid="107"/>
                                        </p:tgtEl>
                                        <p:attrNameLst>
                                          <p:attrName>style.visibility</p:attrName>
                                        </p:attrNameLst>
                                      </p:cBhvr>
                                      <p:to>
                                        <p:strVal val="visible"/>
                                      </p:to>
                                    </p:set>
                                    <p:animEffect transition="in" filter="fade">
                                      <p:cBhvr>
                                        <p:cTn id="126" dur="500"/>
                                        <p:tgtEl>
                                          <p:spTgt spid="107"/>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09"/>
                                        </p:tgtEl>
                                        <p:attrNameLst>
                                          <p:attrName>style.visibility</p:attrName>
                                        </p:attrNameLst>
                                      </p:cBhvr>
                                      <p:to>
                                        <p:strVal val="visible"/>
                                      </p:to>
                                    </p:set>
                                    <p:animEffect transition="in" filter="fade">
                                      <p:cBhvr>
                                        <p:cTn id="129" dur="500"/>
                                        <p:tgtEl>
                                          <p:spTgt spid="10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112"/>
                                        </p:tgtEl>
                                        <p:attrNameLst>
                                          <p:attrName>style.visibility</p:attrName>
                                        </p:attrNameLst>
                                      </p:cBhvr>
                                      <p:to>
                                        <p:strVal val="visible"/>
                                      </p:to>
                                    </p:set>
                                    <p:animEffect transition="in" filter="fade">
                                      <p:cBhvr>
                                        <p:cTn id="132"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56" grpId="0" animBg="1"/>
      <p:bldP spid="57" grpId="0" animBg="1"/>
      <p:bldP spid="58" grpId="0" animBg="1"/>
      <p:bldP spid="59" grpId="0" animBg="1"/>
      <p:bldP spid="60" grpId="0" animBg="1"/>
      <p:bldP spid="75" grpId="0" animBg="1"/>
      <p:bldP spid="91" grpId="0"/>
      <p:bldP spid="92" grpId="0"/>
      <p:bldP spid="93" grpId="0"/>
      <p:bldP spid="94" grpId="0" animBg="1"/>
      <p:bldP spid="95" grpId="0" animBg="1"/>
      <p:bldP spid="96" grpId="0" animBg="1"/>
      <p:bldP spid="97" grpId="0" animBg="1"/>
      <p:bldP spid="98" grpId="0" animBg="1"/>
      <p:bldP spid="99" grpId="0" animBg="1"/>
      <p:bldP spid="100" grpId="0" animBg="1"/>
      <p:bldP spid="101" grpId="0" animBg="1"/>
      <p:bldP spid="106" grpId="0"/>
      <p:bldP spid="109" grpId="0"/>
      <p:bldP spid="111" grpId="0" animBg="1"/>
      <p:bldP spid="1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77358-2F06-5B02-47D1-C8B31159AD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7A21FE-CFC6-5C3C-EC63-C3EB6ABA3C26}"/>
              </a:ext>
            </a:extLst>
          </p:cNvPr>
          <p:cNvSpPr>
            <a:spLocks noGrp="1"/>
          </p:cNvSpPr>
          <p:nvPr>
            <p:ph type="title"/>
          </p:nvPr>
        </p:nvSpPr>
        <p:spPr>
          <a:xfrm>
            <a:off x="342901" y="219456"/>
            <a:ext cx="10287001" cy="470898"/>
          </a:xfrm>
        </p:spPr>
        <p:txBody>
          <a:bodyPr/>
          <a:lstStyle/>
          <a:p>
            <a:r>
              <a:rPr lang="en-US" dirty="0"/>
              <a:t>Modeling :Algorithm and Architecture </a:t>
            </a:r>
          </a:p>
        </p:txBody>
      </p:sp>
      <p:sp>
        <p:nvSpPr>
          <p:cNvPr id="4" name="Footer Placeholder 3">
            <a:extLst>
              <a:ext uri="{FF2B5EF4-FFF2-40B4-BE49-F238E27FC236}">
                <a16:creationId xmlns:a16="http://schemas.microsoft.com/office/drawing/2014/main" id="{F4EB5616-EBED-7C9A-D4A1-6FE7EE44500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BC3050E-02C5-3738-38E8-703A52D31169}"/>
              </a:ext>
            </a:extLst>
          </p:cNvPr>
          <p:cNvSpPr>
            <a:spLocks noGrp="1"/>
          </p:cNvSpPr>
          <p:nvPr>
            <p:ph type="sldNum" sz="quarter" idx="4"/>
          </p:nvPr>
        </p:nvSpPr>
        <p:spPr/>
        <p:txBody>
          <a:bodyPr/>
          <a:lstStyle/>
          <a:p>
            <a:pPr>
              <a:defRPr/>
            </a:pPr>
            <a:fld id="{A9CE67A1-BA7F-A74E-B5D7-615746DEEC2B}" type="slidenum">
              <a:rPr lang="en-US" smtClean="0"/>
              <a:pPr>
                <a:defRPr/>
              </a:pPr>
              <a:t>34</a:t>
            </a:fld>
            <a:endParaRPr lang="en-US" baseline="-11000" dirty="0"/>
          </a:p>
        </p:txBody>
      </p:sp>
      <p:sp>
        <p:nvSpPr>
          <p:cNvPr id="6" name="Date Placeholder 5">
            <a:extLst>
              <a:ext uri="{FF2B5EF4-FFF2-40B4-BE49-F238E27FC236}">
                <a16:creationId xmlns:a16="http://schemas.microsoft.com/office/drawing/2014/main" id="{EFEE8437-09F1-A0B1-FD9D-3C294C061649}"/>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1" name="TextBox 10">
            <a:extLst>
              <a:ext uri="{FF2B5EF4-FFF2-40B4-BE49-F238E27FC236}">
                <a16:creationId xmlns:a16="http://schemas.microsoft.com/office/drawing/2014/main" id="{AA4973F4-729E-E2E0-8EFB-1EE1F5F3246C}"/>
              </a:ext>
            </a:extLst>
          </p:cNvPr>
          <p:cNvSpPr txBox="1"/>
          <p:nvPr/>
        </p:nvSpPr>
        <p:spPr>
          <a:xfrm>
            <a:off x="405722" y="869058"/>
            <a:ext cx="10833779" cy="1179810"/>
          </a:xfrm>
          <a:prstGeom prst="rect">
            <a:avLst/>
          </a:prstGeom>
          <a:noFill/>
        </p:spPr>
        <p:txBody>
          <a:bodyPr wrap="square">
            <a:spAutoFit/>
          </a:bodyPr>
          <a:lstStyle/>
          <a:p>
            <a:pPr defTabSz="457200">
              <a:spcBef>
                <a:spcPts val="1000"/>
              </a:spcBef>
              <a:buClr>
                <a:srgbClr val="1E4056"/>
              </a:buClr>
              <a:buSzPct val="75000"/>
            </a:pPr>
            <a:r>
              <a:rPr lang="en-US" b="1" dirty="0"/>
              <a:t>Algorithm</a:t>
            </a:r>
            <a:r>
              <a:rPr lang="en-US" dirty="0"/>
              <a:t>: we implemented the </a:t>
            </a:r>
            <a:r>
              <a:rPr lang="en-US" b="1" dirty="0"/>
              <a:t>Cooley-Tukey algorithm </a:t>
            </a:r>
            <a:r>
              <a:rPr lang="en-US" dirty="0"/>
              <a:t>(Radix-2, DIF)</a:t>
            </a:r>
          </a:p>
          <a:p>
            <a:pPr defTabSz="457200">
              <a:spcBef>
                <a:spcPts val="1000"/>
              </a:spcBef>
              <a:buClr>
                <a:srgbClr val="1E4056"/>
              </a:buClr>
              <a:buSzPct val="75000"/>
            </a:pPr>
            <a:r>
              <a:rPr lang="en-US" b="1" dirty="0"/>
              <a:t>Architecture :</a:t>
            </a:r>
            <a:r>
              <a:rPr lang="en-US" dirty="0"/>
              <a:t>we implemented the </a:t>
            </a:r>
            <a:r>
              <a:rPr lang="en-US" b="1" dirty="0"/>
              <a:t>SDF</a:t>
            </a:r>
            <a:r>
              <a:rPr lang="en-US" dirty="0"/>
              <a:t> </a:t>
            </a:r>
            <a:r>
              <a:rPr lang="en-US" b="1" dirty="0"/>
              <a:t>architecture  </a:t>
            </a:r>
            <a:r>
              <a:rPr lang="en-US" dirty="0"/>
              <a:t>(Radix-2, DIF)</a:t>
            </a:r>
          </a:p>
          <a:p>
            <a:pPr defTabSz="457200">
              <a:spcBef>
                <a:spcPts val="1000"/>
              </a:spcBef>
              <a:buClr>
                <a:srgbClr val="1E4056"/>
              </a:buClr>
              <a:buSzPct val="75000"/>
            </a:pPr>
            <a:r>
              <a:rPr lang="en-US" b="1" dirty="0"/>
              <a:t>Why SDF ?</a:t>
            </a:r>
          </a:p>
        </p:txBody>
      </p:sp>
      <p:grpSp>
        <p:nvGrpSpPr>
          <p:cNvPr id="8" name="Group 7">
            <a:extLst>
              <a:ext uri="{FF2B5EF4-FFF2-40B4-BE49-F238E27FC236}">
                <a16:creationId xmlns:a16="http://schemas.microsoft.com/office/drawing/2014/main" id="{F9674424-0941-D404-E01A-AF1B6D3CC014}"/>
              </a:ext>
            </a:extLst>
          </p:cNvPr>
          <p:cNvGrpSpPr/>
          <p:nvPr/>
        </p:nvGrpSpPr>
        <p:grpSpPr>
          <a:xfrm>
            <a:off x="2140644" y="1278981"/>
            <a:ext cx="7655074" cy="1002059"/>
            <a:chOff x="813009" y="856572"/>
            <a:chExt cx="9651513" cy="1628020"/>
          </a:xfrm>
        </p:grpSpPr>
        <p:grpSp>
          <p:nvGrpSpPr>
            <p:cNvPr id="9" name="Group 8">
              <a:extLst>
                <a:ext uri="{FF2B5EF4-FFF2-40B4-BE49-F238E27FC236}">
                  <a16:creationId xmlns:a16="http://schemas.microsoft.com/office/drawing/2014/main" id="{BC74E6A5-ECF3-8511-F35E-C332009A7A0E}"/>
                </a:ext>
              </a:extLst>
            </p:cNvPr>
            <p:cNvGrpSpPr/>
            <p:nvPr/>
          </p:nvGrpSpPr>
          <p:grpSpPr>
            <a:xfrm>
              <a:off x="1326658" y="856572"/>
              <a:ext cx="7546791" cy="47735"/>
              <a:chOff x="1224019" y="2147706"/>
              <a:chExt cx="7546791" cy="47735"/>
            </a:xfrm>
          </p:grpSpPr>
          <p:sp>
            <p:nvSpPr>
              <p:cNvPr id="16" name="Straight Connector 4">
                <a:extLst>
                  <a:ext uri="{FF2B5EF4-FFF2-40B4-BE49-F238E27FC236}">
                    <a16:creationId xmlns:a16="http://schemas.microsoft.com/office/drawing/2014/main" id="{29CB87B5-79FF-7E8A-EB3C-E44D9623DB3A}"/>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82ACF614-1932-F334-272A-67B2789B8264}"/>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0A55F415-D830-73AB-BBB2-EBC04AEE5E8B}"/>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75E04E62-6B27-84C2-6648-E094882F1B2E}"/>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 name="TextBox 1">
            <a:extLst>
              <a:ext uri="{FF2B5EF4-FFF2-40B4-BE49-F238E27FC236}">
                <a16:creationId xmlns:a16="http://schemas.microsoft.com/office/drawing/2014/main" id="{E5CB3ABC-075D-C62D-4CB5-F03533E3AD06}"/>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 name="TextBox 6">
            <a:extLst>
              <a:ext uri="{FF2B5EF4-FFF2-40B4-BE49-F238E27FC236}">
                <a16:creationId xmlns:a16="http://schemas.microsoft.com/office/drawing/2014/main" id="{CD8CC6BE-66F1-64A6-D78F-338C7C3C07BF}"/>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8452CC14-3E3E-D445-BB9A-39A0DC203CE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EB1684DA-5491-F69C-67BF-291E84F4A19A}"/>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3462DB88-D781-7FE8-DD8A-CE5A2B42D8E5}"/>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5AFCC9BB-698D-E639-F464-75236355C1B2}"/>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939033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A565D-0FE6-BF75-2F6A-714D8AA36E7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4563FB-A1F0-18FB-9C11-FC5ADE0E973A}"/>
              </a:ext>
            </a:extLst>
          </p:cNvPr>
          <p:cNvSpPr>
            <a:spLocks noGrp="1"/>
          </p:cNvSpPr>
          <p:nvPr>
            <p:ph type="title"/>
          </p:nvPr>
        </p:nvSpPr>
        <p:spPr>
          <a:xfrm>
            <a:off x="342901" y="219456"/>
            <a:ext cx="10287001" cy="470898"/>
          </a:xfrm>
        </p:spPr>
        <p:txBody>
          <a:bodyPr/>
          <a:lstStyle/>
          <a:p>
            <a:r>
              <a:rPr lang="en-US" dirty="0"/>
              <a:t>Recall: Rx block diagram</a:t>
            </a:r>
          </a:p>
        </p:txBody>
      </p:sp>
      <p:sp>
        <p:nvSpPr>
          <p:cNvPr id="4" name="Footer Placeholder 3">
            <a:extLst>
              <a:ext uri="{FF2B5EF4-FFF2-40B4-BE49-F238E27FC236}">
                <a16:creationId xmlns:a16="http://schemas.microsoft.com/office/drawing/2014/main" id="{CBBD8490-3A28-1F66-182D-ADC3B39EEBB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12748C5-2D0A-481A-6BB8-7AB93081CC0A}"/>
              </a:ext>
            </a:extLst>
          </p:cNvPr>
          <p:cNvSpPr>
            <a:spLocks noGrp="1"/>
          </p:cNvSpPr>
          <p:nvPr>
            <p:ph type="sldNum" sz="quarter" idx="4"/>
          </p:nvPr>
        </p:nvSpPr>
        <p:spPr/>
        <p:txBody>
          <a:bodyPr/>
          <a:lstStyle/>
          <a:p>
            <a:pPr>
              <a:defRPr/>
            </a:pPr>
            <a:fld id="{A9CE67A1-BA7F-A74E-B5D7-615746DEEC2B}" type="slidenum">
              <a:rPr lang="en-US" smtClean="0"/>
              <a:pPr>
                <a:defRPr/>
              </a:pPr>
              <a:t>35</a:t>
            </a:fld>
            <a:endParaRPr lang="en-US" baseline="-11000" dirty="0"/>
          </a:p>
        </p:txBody>
      </p:sp>
      <p:sp>
        <p:nvSpPr>
          <p:cNvPr id="6" name="Date Placeholder 5">
            <a:extLst>
              <a:ext uri="{FF2B5EF4-FFF2-40B4-BE49-F238E27FC236}">
                <a16:creationId xmlns:a16="http://schemas.microsoft.com/office/drawing/2014/main" id="{5124E492-A63A-4F69-3BF3-63B4C089768F}"/>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8" name="Group 7">
            <a:extLst>
              <a:ext uri="{FF2B5EF4-FFF2-40B4-BE49-F238E27FC236}">
                <a16:creationId xmlns:a16="http://schemas.microsoft.com/office/drawing/2014/main" id="{9047944A-B846-AD68-A443-EA77DDB234EA}"/>
              </a:ext>
            </a:extLst>
          </p:cNvPr>
          <p:cNvGrpSpPr/>
          <p:nvPr/>
        </p:nvGrpSpPr>
        <p:grpSpPr>
          <a:xfrm>
            <a:off x="5864997" y="1262843"/>
            <a:ext cx="4724234" cy="635389"/>
            <a:chOff x="457243" y="818439"/>
            <a:chExt cx="10007279" cy="3222800"/>
          </a:xfrm>
        </p:grpSpPr>
        <p:grpSp>
          <p:nvGrpSpPr>
            <p:cNvPr id="9" name="Group 8">
              <a:extLst>
                <a:ext uri="{FF2B5EF4-FFF2-40B4-BE49-F238E27FC236}">
                  <a16:creationId xmlns:a16="http://schemas.microsoft.com/office/drawing/2014/main" id="{3CEC2CBF-23CC-7989-BC1D-8810CCD9D57B}"/>
                </a:ext>
              </a:extLst>
            </p:cNvPr>
            <p:cNvGrpSpPr/>
            <p:nvPr/>
          </p:nvGrpSpPr>
          <p:grpSpPr>
            <a:xfrm>
              <a:off x="1293344" y="818439"/>
              <a:ext cx="8690338" cy="3222800"/>
              <a:chOff x="1190705" y="2109573"/>
              <a:chExt cx="8690338" cy="3222800"/>
            </a:xfrm>
          </p:grpSpPr>
          <p:graphicFrame>
            <p:nvGraphicFramePr>
              <p:cNvPr id="17" name="Diagram 16">
                <a:extLst>
                  <a:ext uri="{FF2B5EF4-FFF2-40B4-BE49-F238E27FC236}">
                    <a16:creationId xmlns:a16="http://schemas.microsoft.com/office/drawing/2014/main" id="{0BB165A5-3558-8C89-B754-26B6BE915DC6}"/>
                  </a:ext>
                </a:extLst>
              </p:cNvPr>
              <p:cNvGraphicFramePr/>
              <p:nvPr>
                <p:extLst>
                  <p:ext uri="{D42A27DB-BD31-4B8C-83A1-F6EECF244321}">
                    <p14:modId xmlns:p14="http://schemas.microsoft.com/office/powerpoint/2010/main" val="3271526912"/>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Straight Connector 4">
                <a:extLst>
                  <a:ext uri="{FF2B5EF4-FFF2-40B4-BE49-F238E27FC236}">
                    <a16:creationId xmlns:a16="http://schemas.microsoft.com/office/drawing/2014/main" id="{BF252402-D6A3-2FB5-E9EB-D43F9570E2C9}"/>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20" name="Straight Connector 4">
                <a:extLst>
                  <a:ext uri="{FF2B5EF4-FFF2-40B4-BE49-F238E27FC236}">
                    <a16:creationId xmlns:a16="http://schemas.microsoft.com/office/drawing/2014/main" id="{BBE8F5A6-3A08-B9BA-7096-0DA5706F18B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1" name="Straight Connector 4">
              <a:extLst>
                <a:ext uri="{FF2B5EF4-FFF2-40B4-BE49-F238E27FC236}">
                  <a16:creationId xmlns:a16="http://schemas.microsoft.com/office/drawing/2014/main" id="{0944266E-3832-E888-0045-609AE4B101CB}"/>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12" name="Group 11">
              <a:extLst>
                <a:ext uri="{FF2B5EF4-FFF2-40B4-BE49-F238E27FC236}">
                  <a16:creationId xmlns:a16="http://schemas.microsoft.com/office/drawing/2014/main" id="{3AA17BBB-804C-696E-D8BC-67D3A9288CE6}"/>
                </a:ext>
              </a:extLst>
            </p:cNvPr>
            <p:cNvGrpSpPr/>
            <p:nvPr/>
          </p:nvGrpSpPr>
          <p:grpSpPr>
            <a:xfrm>
              <a:off x="457243" y="2402278"/>
              <a:ext cx="401464" cy="63808"/>
              <a:chOff x="5565994" y="1574783"/>
              <a:chExt cx="401464" cy="63808"/>
            </a:xfrm>
          </p:grpSpPr>
          <p:sp>
            <p:nvSpPr>
              <p:cNvPr id="14" name="Straight Connector 3">
                <a:extLst>
                  <a:ext uri="{FF2B5EF4-FFF2-40B4-BE49-F238E27FC236}">
                    <a16:creationId xmlns:a16="http://schemas.microsoft.com/office/drawing/2014/main" id="{A8AA8CFE-770A-9866-94C7-A17A0E3BB150}"/>
                  </a:ext>
                </a:extLst>
              </p:cNvPr>
              <p:cNvSpPr/>
              <p:nvPr/>
            </p:nvSpPr>
            <p:spPr>
              <a:xfrm>
                <a:off x="5565994" y="1574783"/>
                <a:ext cx="387393"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5" name="Straight Connector 4">
                <a:extLst>
                  <a:ext uri="{FF2B5EF4-FFF2-40B4-BE49-F238E27FC236}">
                    <a16:creationId xmlns:a16="http://schemas.microsoft.com/office/drawing/2014/main" id="{37B38552-2DFD-2B7C-30C8-BE906C4875F1}"/>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21" name="Picture 20">
            <a:extLst>
              <a:ext uri="{FF2B5EF4-FFF2-40B4-BE49-F238E27FC236}">
                <a16:creationId xmlns:a16="http://schemas.microsoft.com/office/drawing/2014/main" id="{8A88B0A7-09DB-4091-62A1-CC2C94D5DEF8}"/>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48683" y="908283"/>
            <a:ext cx="871118" cy="558843"/>
          </a:xfrm>
          <a:prstGeom prst="rect">
            <a:avLst/>
          </a:prstGeom>
        </p:spPr>
      </p:pic>
      <p:cxnSp>
        <p:nvCxnSpPr>
          <p:cNvPr id="22" name="Connector: Elbow 21">
            <a:extLst>
              <a:ext uri="{FF2B5EF4-FFF2-40B4-BE49-F238E27FC236}">
                <a16:creationId xmlns:a16="http://schemas.microsoft.com/office/drawing/2014/main" id="{515309B4-F46F-FF12-279A-88887276FC0F}"/>
              </a:ext>
            </a:extLst>
          </p:cNvPr>
          <p:cNvCxnSpPr>
            <a:cxnSpLocks/>
            <a:stCxn id="21" idx="2"/>
          </p:cNvCxnSpPr>
          <p:nvPr/>
        </p:nvCxnSpPr>
        <p:spPr>
          <a:xfrm rot="5400000">
            <a:off x="10282416" y="1012576"/>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BFCBF9AA-1C12-EB7F-F91B-16E9D51DEBCC}"/>
              </a:ext>
            </a:extLst>
          </p:cNvPr>
          <p:cNvGrpSpPr/>
          <p:nvPr/>
        </p:nvGrpSpPr>
        <p:grpSpPr>
          <a:xfrm>
            <a:off x="5854218" y="2558957"/>
            <a:ext cx="4735013" cy="635389"/>
            <a:chOff x="434410" y="818439"/>
            <a:chExt cx="10030112" cy="3222800"/>
          </a:xfrm>
        </p:grpSpPr>
        <p:grpSp>
          <p:nvGrpSpPr>
            <p:cNvPr id="24" name="Group 23">
              <a:extLst>
                <a:ext uri="{FF2B5EF4-FFF2-40B4-BE49-F238E27FC236}">
                  <a16:creationId xmlns:a16="http://schemas.microsoft.com/office/drawing/2014/main" id="{704A2B4C-94E7-AD30-58BE-0A6618577118}"/>
                </a:ext>
              </a:extLst>
            </p:cNvPr>
            <p:cNvGrpSpPr/>
            <p:nvPr/>
          </p:nvGrpSpPr>
          <p:grpSpPr>
            <a:xfrm>
              <a:off x="1293344" y="818439"/>
              <a:ext cx="8690338" cy="3222800"/>
              <a:chOff x="1190705" y="2109573"/>
              <a:chExt cx="8690338" cy="3222800"/>
            </a:xfrm>
          </p:grpSpPr>
          <p:graphicFrame>
            <p:nvGraphicFramePr>
              <p:cNvPr id="37" name="Diagram 36">
                <a:extLst>
                  <a:ext uri="{FF2B5EF4-FFF2-40B4-BE49-F238E27FC236}">
                    <a16:creationId xmlns:a16="http://schemas.microsoft.com/office/drawing/2014/main" id="{55047F92-0EA2-C2F7-03E0-F8A37D313B6F}"/>
                  </a:ext>
                </a:extLst>
              </p:cNvPr>
              <p:cNvGraphicFramePr/>
              <p:nvPr>
                <p:extLst>
                  <p:ext uri="{D42A27DB-BD31-4B8C-83A1-F6EECF244321}">
                    <p14:modId xmlns:p14="http://schemas.microsoft.com/office/powerpoint/2010/main" val="1461727670"/>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8" name="Straight Connector 4">
                <a:extLst>
                  <a:ext uri="{FF2B5EF4-FFF2-40B4-BE49-F238E27FC236}">
                    <a16:creationId xmlns:a16="http://schemas.microsoft.com/office/drawing/2014/main" id="{7E740CE6-BEAD-BC6C-623D-2730DB2076A0}"/>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40" name="Straight Connector 4">
                <a:extLst>
                  <a:ext uri="{FF2B5EF4-FFF2-40B4-BE49-F238E27FC236}">
                    <a16:creationId xmlns:a16="http://schemas.microsoft.com/office/drawing/2014/main" id="{85B02332-F7E1-7AA2-9B4B-2F8AF5A6721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5" name="Straight Connector 4">
              <a:extLst>
                <a:ext uri="{FF2B5EF4-FFF2-40B4-BE49-F238E27FC236}">
                  <a16:creationId xmlns:a16="http://schemas.microsoft.com/office/drawing/2014/main" id="{D7A78BC7-870B-2068-2564-83CCD3EAA6FE}"/>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26" name="Group 25">
              <a:extLst>
                <a:ext uri="{FF2B5EF4-FFF2-40B4-BE49-F238E27FC236}">
                  <a16:creationId xmlns:a16="http://schemas.microsoft.com/office/drawing/2014/main" id="{23344C42-F030-3DDF-D750-B596C8330E60}"/>
                </a:ext>
              </a:extLst>
            </p:cNvPr>
            <p:cNvGrpSpPr/>
            <p:nvPr/>
          </p:nvGrpSpPr>
          <p:grpSpPr>
            <a:xfrm>
              <a:off x="434410" y="2402278"/>
              <a:ext cx="913965" cy="63808"/>
              <a:chOff x="5543161" y="1574783"/>
              <a:chExt cx="913965" cy="63808"/>
            </a:xfrm>
          </p:grpSpPr>
          <p:sp>
            <p:nvSpPr>
              <p:cNvPr id="34" name="Straight Connector 3">
                <a:extLst>
                  <a:ext uri="{FF2B5EF4-FFF2-40B4-BE49-F238E27FC236}">
                    <a16:creationId xmlns:a16="http://schemas.microsoft.com/office/drawing/2014/main" id="{2417284C-9CF9-7F57-5CE4-1F46F1EB2285}"/>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35" name="Straight Connector 4">
                <a:extLst>
                  <a:ext uri="{FF2B5EF4-FFF2-40B4-BE49-F238E27FC236}">
                    <a16:creationId xmlns:a16="http://schemas.microsoft.com/office/drawing/2014/main" id="{C9041AD8-809C-3D79-D8FC-44746D7B8744}"/>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41" name="Picture 40">
            <a:extLst>
              <a:ext uri="{FF2B5EF4-FFF2-40B4-BE49-F238E27FC236}">
                <a16:creationId xmlns:a16="http://schemas.microsoft.com/office/drawing/2014/main" id="{5D072BB5-74D9-C1BF-5647-1A20CAB47D33}"/>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48683" y="2204397"/>
            <a:ext cx="871118" cy="558843"/>
          </a:xfrm>
          <a:prstGeom prst="rect">
            <a:avLst/>
          </a:prstGeom>
        </p:spPr>
      </p:pic>
      <p:cxnSp>
        <p:nvCxnSpPr>
          <p:cNvPr id="42" name="Connector: Elbow 41">
            <a:extLst>
              <a:ext uri="{FF2B5EF4-FFF2-40B4-BE49-F238E27FC236}">
                <a16:creationId xmlns:a16="http://schemas.microsoft.com/office/drawing/2014/main" id="{0900C190-C410-FCDC-D69D-FD0FB4E36DE0}"/>
              </a:ext>
            </a:extLst>
          </p:cNvPr>
          <p:cNvCxnSpPr>
            <a:cxnSpLocks/>
            <a:stCxn id="41" idx="2"/>
          </p:cNvCxnSpPr>
          <p:nvPr/>
        </p:nvCxnSpPr>
        <p:spPr>
          <a:xfrm rot="5400000">
            <a:off x="10282416" y="2308690"/>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0B77C8AC-2D6C-4983-88B0-8AB7338ABDC4}"/>
              </a:ext>
            </a:extLst>
          </p:cNvPr>
          <p:cNvGrpSpPr/>
          <p:nvPr/>
        </p:nvGrpSpPr>
        <p:grpSpPr>
          <a:xfrm>
            <a:off x="5858362" y="4504801"/>
            <a:ext cx="4735013" cy="635389"/>
            <a:chOff x="434410" y="818439"/>
            <a:chExt cx="10030112" cy="3222800"/>
          </a:xfrm>
        </p:grpSpPr>
        <p:grpSp>
          <p:nvGrpSpPr>
            <p:cNvPr id="44" name="Group 43">
              <a:extLst>
                <a:ext uri="{FF2B5EF4-FFF2-40B4-BE49-F238E27FC236}">
                  <a16:creationId xmlns:a16="http://schemas.microsoft.com/office/drawing/2014/main" id="{51D1546B-38D1-FFA4-6617-53D585FE795E}"/>
                </a:ext>
              </a:extLst>
            </p:cNvPr>
            <p:cNvGrpSpPr/>
            <p:nvPr/>
          </p:nvGrpSpPr>
          <p:grpSpPr>
            <a:xfrm>
              <a:off x="1293344" y="818439"/>
              <a:ext cx="8690338" cy="3222800"/>
              <a:chOff x="1190705" y="2109573"/>
              <a:chExt cx="8690338" cy="3222800"/>
            </a:xfrm>
          </p:grpSpPr>
          <p:graphicFrame>
            <p:nvGraphicFramePr>
              <p:cNvPr id="49" name="Diagram 48">
                <a:extLst>
                  <a:ext uri="{FF2B5EF4-FFF2-40B4-BE49-F238E27FC236}">
                    <a16:creationId xmlns:a16="http://schemas.microsoft.com/office/drawing/2014/main" id="{9707F3A7-3AFF-4668-7AA3-316B70A9E167}"/>
                  </a:ext>
                </a:extLst>
              </p:cNvPr>
              <p:cNvGraphicFramePr/>
              <p:nvPr>
                <p:extLst>
                  <p:ext uri="{D42A27DB-BD31-4B8C-83A1-F6EECF244321}">
                    <p14:modId xmlns:p14="http://schemas.microsoft.com/office/powerpoint/2010/main" val="1905542696"/>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50" name="Straight Connector 4">
                <a:extLst>
                  <a:ext uri="{FF2B5EF4-FFF2-40B4-BE49-F238E27FC236}">
                    <a16:creationId xmlns:a16="http://schemas.microsoft.com/office/drawing/2014/main" id="{FC00EB5D-2DC9-A5C2-7F45-572FDEA58F9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51" name="Straight Connector 4">
                <a:extLst>
                  <a:ext uri="{FF2B5EF4-FFF2-40B4-BE49-F238E27FC236}">
                    <a16:creationId xmlns:a16="http://schemas.microsoft.com/office/drawing/2014/main" id="{57586D19-14E6-ED6E-AD72-C121A1A6C959}"/>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45" name="Straight Connector 4">
              <a:extLst>
                <a:ext uri="{FF2B5EF4-FFF2-40B4-BE49-F238E27FC236}">
                  <a16:creationId xmlns:a16="http://schemas.microsoft.com/office/drawing/2014/main" id="{4B34124B-C14F-FE5F-A229-5472054358E3}"/>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46" name="Group 45">
              <a:extLst>
                <a:ext uri="{FF2B5EF4-FFF2-40B4-BE49-F238E27FC236}">
                  <a16:creationId xmlns:a16="http://schemas.microsoft.com/office/drawing/2014/main" id="{40F751AD-9489-1CB9-01B4-A77C54B2D8AC}"/>
                </a:ext>
              </a:extLst>
            </p:cNvPr>
            <p:cNvGrpSpPr/>
            <p:nvPr/>
          </p:nvGrpSpPr>
          <p:grpSpPr>
            <a:xfrm>
              <a:off x="434410" y="2402278"/>
              <a:ext cx="913965" cy="63808"/>
              <a:chOff x="5543161" y="1574783"/>
              <a:chExt cx="913965" cy="63808"/>
            </a:xfrm>
          </p:grpSpPr>
          <p:sp>
            <p:nvSpPr>
              <p:cNvPr id="47" name="Straight Connector 3">
                <a:extLst>
                  <a:ext uri="{FF2B5EF4-FFF2-40B4-BE49-F238E27FC236}">
                    <a16:creationId xmlns:a16="http://schemas.microsoft.com/office/drawing/2014/main" id="{6D61D430-8DBB-92FC-E50C-40E6F496A363}"/>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48" name="Straight Connector 4">
                <a:extLst>
                  <a:ext uri="{FF2B5EF4-FFF2-40B4-BE49-F238E27FC236}">
                    <a16:creationId xmlns:a16="http://schemas.microsoft.com/office/drawing/2014/main" id="{60B58724-DEDE-FE4A-6734-80AE56B8E813}"/>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52" name="Picture 51">
            <a:extLst>
              <a:ext uri="{FF2B5EF4-FFF2-40B4-BE49-F238E27FC236}">
                <a16:creationId xmlns:a16="http://schemas.microsoft.com/office/drawing/2014/main" id="{35C5903F-E335-184F-8D6F-BEEC8A03DD5C}"/>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52827" y="4150241"/>
            <a:ext cx="871118" cy="558843"/>
          </a:xfrm>
          <a:prstGeom prst="rect">
            <a:avLst/>
          </a:prstGeom>
        </p:spPr>
      </p:pic>
      <p:cxnSp>
        <p:nvCxnSpPr>
          <p:cNvPr id="53" name="Connector: Elbow 52">
            <a:extLst>
              <a:ext uri="{FF2B5EF4-FFF2-40B4-BE49-F238E27FC236}">
                <a16:creationId xmlns:a16="http://schemas.microsoft.com/office/drawing/2014/main" id="{104C703A-AC60-AADC-AD94-0E74435981C9}"/>
              </a:ext>
            </a:extLst>
          </p:cNvPr>
          <p:cNvCxnSpPr>
            <a:cxnSpLocks/>
            <a:stCxn id="52" idx="2"/>
          </p:cNvCxnSpPr>
          <p:nvPr/>
        </p:nvCxnSpPr>
        <p:spPr>
          <a:xfrm rot="5400000">
            <a:off x="10286560" y="4254534"/>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9B132635-51A9-49A0-A638-3791BC9CDFA5}"/>
              </a:ext>
            </a:extLst>
          </p:cNvPr>
          <p:cNvSpPr/>
          <p:nvPr/>
        </p:nvSpPr>
        <p:spPr>
          <a:xfrm>
            <a:off x="9243278" y="333069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C26937C4-689D-6E74-999C-A98D6F80FDE7}"/>
              </a:ext>
            </a:extLst>
          </p:cNvPr>
          <p:cNvSpPr/>
          <p:nvPr/>
        </p:nvSpPr>
        <p:spPr>
          <a:xfrm>
            <a:off x="9243278" y="357433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8C7FB2FD-991B-BA2B-480A-460B2524E953}"/>
              </a:ext>
            </a:extLst>
          </p:cNvPr>
          <p:cNvSpPr/>
          <p:nvPr/>
        </p:nvSpPr>
        <p:spPr>
          <a:xfrm>
            <a:off x="9243278" y="3839667"/>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70FCF6D5-E1B6-45C6-3D08-5A9D755D7FA1}"/>
              </a:ext>
            </a:extLst>
          </p:cNvPr>
          <p:cNvSpPr/>
          <p:nvPr/>
        </p:nvSpPr>
        <p:spPr>
          <a:xfrm>
            <a:off x="9243278" y="410500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341FA05-13A6-8255-E802-B9F1CA301BB2}"/>
              </a:ext>
            </a:extLst>
          </p:cNvPr>
          <p:cNvSpPr/>
          <p:nvPr/>
        </p:nvSpPr>
        <p:spPr>
          <a:xfrm>
            <a:off x="4663022" y="1232516"/>
            <a:ext cx="1176850" cy="3872566"/>
          </a:xfrm>
          <a:prstGeom prst="rect">
            <a:avLst/>
          </a:prstGeom>
          <a:solidFill>
            <a:srgbClr val="0067B9">
              <a:hueOff val="0"/>
              <a:satOff val="0"/>
              <a:lumOff val="0"/>
              <a:alpha val="20000"/>
            </a:srgbClr>
          </a:solidFill>
          <a:ln w="25400" cap="flat" cmpd="sng" algn="ctr">
            <a:solidFill>
              <a:srgbClr val="FFFFFF">
                <a:hueOff val="0"/>
                <a:satOff val="0"/>
                <a:lumOff val="0"/>
                <a:alphaOff val="0"/>
              </a:srgbClr>
            </a:solidFill>
            <a:prstDash val="solid"/>
          </a:ln>
          <a:effectLst/>
        </p:spPr>
        <p:txBody>
          <a:bodyPr spcFirstLastPara="0" vert="horz" wrap="square" lIns="8890" tIns="8890" rIns="8890" bIns="8890" numCol="1" spcCol="1270" anchor="ctr" anchorCtr="0">
            <a:noAutofit/>
          </a:bodyPr>
          <a:lstStyle/>
          <a:p>
            <a:pPr algn="ctr"/>
            <a:r>
              <a:rPr lang="en-US" b="1" dirty="0">
                <a:solidFill>
                  <a:schemeClr val="bg1"/>
                </a:solidFill>
              </a:rPr>
              <a:t>Equalizer</a:t>
            </a:r>
          </a:p>
        </p:txBody>
      </p:sp>
      <p:grpSp>
        <p:nvGrpSpPr>
          <p:cNvPr id="59" name="Group 58">
            <a:extLst>
              <a:ext uri="{FF2B5EF4-FFF2-40B4-BE49-F238E27FC236}">
                <a16:creationId xmlns:a16="http://schemas.microsoft.com/office/drawing/2014/main" id="{0BBE136E-DE39-B23A-AD2D-EC10D4A74F8E}"/>
              </a:ext>
            </a:extLst>
          </p:cNvPr>
          <p:cNvGrpSpPr/>
          <p:nvPr/>
        </p:nvGrpSpPr>
        <p:grpSpPr>
          <a:xfrm>
            <a:off x="1358131" y="219456"/>
            <a:ext cx="5985227" cy="1650622"/>
            <a:chOff x="-89161" y="-4083272"/>
            <a:chExt cx="12678423" cy="8818987"/>
          </a:xfrm>
        </p:grpSpPr>
        <p:grpSp>
          <p:nvGrpSpPr>
            <p:cNvPr id="60" name="Group 59">
              <a:extLst>
                <a:ext uri="{FF2B5EF4-FFF2-40B4-BE49-F238E27FC236}">
                  <a16:creationId xmlns:a16="http://schemas.microsoft.com/office/drawing/2014/main" id="{45A52918-37C7-8C6E-6953-7AC5C9CE46E0}"/>
                </a:ext>
              </a:extLst>
            </p:cNvPr>
            <p:cNvGrpSpPr/>
            <p:nvPr/>
          </p:nvGrpSpPr>
          <p:grpSpPr>
            <a:xfrm>
              <a:off x="-89161" y="-4083272"/>
              <a:ext cx="12678423" cy="8818987"/>
              <a:chOff x="-191800" y="-2792138"/>
              <a:chExt cx="12678423" cy="8818987"/>
            </a:xfrm>
          </p:grpSpPr>
          <p:graphicFrame>
            <p:nvGraphicFramePr>
              <p:cNvPr id="63" name="Diagram 62">
                <a:extLst>
                  <a:ext uri="{FF2B5EF4-FFF2-40B4-BE49-F238E27FC236}">
                    <a16:creationId xmlns:a16="http://schemas.microsoft.com/office/drawing/2014/main" id="{964427DE-188C-E8BE-06F2-F28015F966AF}"/>
                  </a:ext>
                </a:extLst>
              </p:cNvPr>
              <p:cNvGraphicFramePr/>
              <p:nvPr>
                <p:extLst>
                  <p:ext uri="{D42A27DB-BD31-4B8C-83A1-F6EECF244321}">
                    <p14:modId xmlns:p14="http://schemas.microsoft.com/office/powerpoint/2010/main" val="3895067384"/>
                  </p:ext>
                </p:extLst>
              </p:nvPr>
            </p:nvGraphicFramePr>
            <p:xfrm>
              <a:off x="-191800" y="2804049"/>
              <a:ext cx="8690339" cy="322280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64" name="Straight Connector 4">
                <a:extLst>
                  <a:ext uri="{FF2B5EF4-FFF2-40B4-BE49-F238E27FC236}">
                    <a16:creationId xmlns:a16="http://schemas.microsoft.com/office/drawing/2014/main" id="{35403B84-F128-0984-1B0D-4C1D32EAF5B7}"/>
                  </a:ext>
                </a:extLst>
              </p:cNvPr>
              <p:cNvSpPr txBox="1"/>
              <p:nvPr/>
            </p:nvSpPr>
            <p:spPr>
              <a:xfrm>
                <a:off x="1224019" y="2147706"/>
                <a:ext cx="21716" cy="21716"/>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sp>
            <p:nvSpPr>
              <p:cNvPr id="65" name="Straight Connector 4">
                <a:extLst>
                  <a:ext uri="{FF2B5EF4-FFF2-40B4-BE49-F238E27FC236}">
                    <a16:creationId xmlns:a16="http://schemas.microsoft.com/office/drawing/2014/main" id="{DEEE6813-F321-B991-0FAF-331E82C9B04F}"/>
                  </a:ext>
                </a:extLst>
              </p:cNvPr>
              <p:cNvSpPr txBox="1"/>
              <p:nvPr/>
            </p:nvSpPr>
            <p:spPr>
              <a:xfrm>
                <a:off x="12464906" y="-2792138"/>
                <a:ext cx="21717" cy="21719"/>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grpSp>
        <p:sp>
          <p:nvSpPr>
            <p:cNvPr id="61" name="Straight Connector 4">
              <a:extLst>
                <a:ext uri="{FF2B5EF4-FFF2-40B4-BE49-F238E27FC236}">
                  <a16:creationId xmlns:a16="http://schemas.microsoft.com/office/drawing/2014/main" id="{341B07E8-DFD5-B510-66A0-8364EE27A49C}"/>
                </a:ext>
              </a:extLst>
            </p:cNvPr>
            <p:cNvSpPr txBox="1"/>
            <p:nvPr/>
          </p:nvSpPr>
          <p:spPr>
            <a:xfrm>
              <a:off x="10418824" y="2438894"/>
              <a:ext cx="45698" cy="45698"/>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sp>
          <p:nvSpPr>
            <p:cNvPr id="62" name="Straight Connector 4">
              <a:extLst>
                <a:ext uri="{FF2B5EF4-FFF2-40B4-BE49-F238E27FC236}">
                  <a16:creationId xmlns:a16="http://schemas.microsoft.com/office/drawing/2014/main" id="{F18307EC-E798-545B-9824-C0837EE67F0C}"/>
                </a:ext>
              </a:extLst>
            </p:cNvPr>
            <p:cNvSpPr txBox="1"/>
            <p:nvPr/>
          </p:nvSpPr>
          <p:spPr>
            <a:xfrm>
              <a:off x="813008" y="2416046"/>
              <a:ext cx="45698" cy="45697"/>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grpSp>
      <p:grpSp>
        <p:nvGrpSpPr>
          <p:cNvPr id="66" name="Group 65">
            <a:extLst>
              <a:ext uri="{FF2B5EF4-FFF2-40B4-BE49-F238E27FC236}">
                <a16:creationId xmlns:a16="http://schemas.microsoft.com/office/drawing/2014/main" id="{1CBE4331-62F3-69D8-100E-E6C822869D8B}"/>
              </a:ext>
            </a:extLst>
          </p:cNvPr>
          <p:cNvGrpSpPr/>
          <p:nvPr/>
        </p:nvGrpSpPr>
        <p:grpSpPr>
          <a:xfrm>
            <a:off x="1384274" y="2473353"/>
            <a:ext cx="4982180" cy="726046"/>
            <a:chOff x="-89161" y="856572"/>
            <a:chExt cx="10553683" cy="3879143"/>
          </a:xfrm>
        </p:grpSpPr>
        <p:grpSp>
          <p:nvGrpSpPr>
            <p:cNvPr id="67" name="Group 66">
              <a:extLst>
                <a:ext uri="{FF2B5EF4-FFF2-40B4-BE49-F238E27FC236}">
                  <a16:creationId xmlns:a16="http://schemas.microsoft.com/office/drawing/2014/main" id="{8ED8E974-DA3C-755D-AB4D-FB059A4B3887}"/>
                </a:ext>
              </a:extLst>
            </p:cNvPr>
            <p:cNvGrpSpPr/>
            <p:nvPr/>
          </p:nvGrpSpPr>
          <p:grpSpPr>
            <a:xfrm>
              <a:off x="-89161" y="856572"/>
              <a:ext cx="8962610" cy="3879143"/>
              <a:chOff x="-191800" y="2147706"/>
              <a:chExt cx="8962610" cy="3879143"/>
            </a:xfrm>
          </p:grpSpPr>
          <p:graphicFrame>
            <p:nvGraphicFramePr>
              <p:cNvPr id="70" name="Diagram 69">
                <a:extLst>
                  <a:ext uri="{FF2B5EF4-FFF2-40B4-BE49-F238E27FC236}">
                    <a16:creationId xmlns:a16="http://schemas.microsoft.com/office/drawing/2014/main" id="{8931BC78-5F4E-88D4-2557-255B79E9FC98}"/>
                  </a:ext>
                </a:extLst>
              </p:cNvPr>
              <p:cNvGraphicFramePr/>
              <p:nvPr>
                <p:extLst>
                  <p:ext uri="{D42A27DB-BD31-4B8C-83A1-F6EECF244321}">
                    <p14:modId xmlns:p14="http://schemas.microsoft.com/office/powerpoint/2010/main" val="2526598845"/>
                  </p:ext>
                </p:extLst>
              </p:nvPr>
            </p:nvGraphicFramePr>
            <p:xfrm>
              <a:off x="-191800" y="2804049"/>
              <a:ext cx="8690339" cy="3222800"/>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71" name="Straight Connector 4">
                <a:extLst>
                  <a:ext uri="{FF2B5EF4-FFF2-40B4-BE49-F238E27FC236}">
                    <a16:creationId xmlns:a16="http://schemas.microsoft.com/office/drawing/2014/main" id="{2CE8B206-797E-CAFE-C5EA-D3467570A792}"/>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2" name="Straight Connector 4">
                <a:extLst>
                  <a:ext uri="{FF2B5EF4-FFF2-40B4-BE49-F238E27FC236}">
                    <a16:creationId xmlns:a16="http://schemas.microsoft.com/office/drawing/2014/main" id="{1B88C5C3-9107-96EC-919E-6EEEBDF9F171}"/>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68" name="Straight Connector 4">
              <a:extLst>
                <a:ext uri="{FF2B5EF4-FFF2-40B4-BE49-F238E27FC236}">
                  <a16:creationId xmlns:a16="http://schemas.microsoft.com/office/drawing/2014/main" id="{6C779FD1-D84F-780F-D5F9-2ACE2E3E8E3D}"/>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69" name="Straight Connector 4">
              <a:extLst>
                <a:ext uri="{FF2B5EF4-FFF2-40B4-BE49-F238E27FC236}">
                  <a16:creationId xmlns:a16="http://schemas.microsoft.com/office/drawing/2014/main" id="{DEEFD43D-5FB8-E7F7-C7FA-C81F2C474969}"/>
                </a:ext>
              </a:extLst>
            </p:cNvPr>
            <p:cNvSpPr txBox="1"/>
            <p:nvPr/>
          </p:nvSpPr>
          <p:spPr>
            <a:xfrm>
              <a:off x="813008" y="2416046"/>
              <a:ext cx="45698" cy="4569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73" name="Group 72">
            <a:extLst>
              <a:ext uri="{FF2B5EF4-FFF2-40B4-BE49-F238E27FC236}">
                <a16:creationId xmlns:a16="http://schemas.microsoft.com/office/drawing/2014/main" id="{A19C0E8C-1553-76AC-59BE-187A29527D3F}"/>
              </a:ext>
            </a:extLst>
          </p:cNvPr>
          <p:cNvGrpSpPr/>
          <p:nvPr/>
        </p:nvGrpSpPr>
        <p:grpSpPr>
          <a:xfrm>
            <a:off x="1388195" y="4351729"/>
            <a:ext cx="4999610" cy="753352"/>
            <a:chOff x="-126083" y="856572"/>
            <a:chExt cx="10590605" cy="4025029"/>
          </a:xfrm>
        </p:grpSpPr>
        <p:grpSp>
          <p:nvGrpSpPr>
            <p:cNvPr id="74" name="Group 73">
              <a:extLst>
                <a:ext uri="{FF2B5EF4-FFF2-40B4-BE49-F238E27FC236}">
                  <a16:creationId xmlns:a16="http://schemas.microsoft.com/office/drawing/2014/main" id="{83BE4878-2686-F57D-3065-888F2575E635}"/>
                </a:ext>
              </a:extLst>
            </p:cNvPr>
            <p:cNvGrpSpPr/>
            <p:nvPr/>
          </p:nvGrpSpPr>
          <p:grpSpPr>
            <a:xfrm>
              <a:off x="-126083" y="856572"/>
              <a:ext cx="8999532" cy="4025029"/>
              <a:chOff x="-228722" y="2147706"/>
              <a:chExt cx="8999532" cy="4025029"/>
            </a:xfrm>
          </p:grpSpPr>
          <p:graphicFrame>
            <p:nvGraphicFramePr>
              <p:cNvPr id="77" name="Diagram 76">
                <a:extLst>
                  <a:ext uri="{FF2B5EF4-FFF2-40B4-BE49-F238E27FC236}">
                    <a16:creationId xmlns:a16="http://schemas.microsoft.com/office/drawing/2014/main" id="{8A8FB582-2A77-FB46-D1F3-DD8CEFE3D960}"/>
                  </a:ext>
                </a:extLst>
              </p:cNvPr>
              <p:cNvGraphicFramePr/>
              <p:nvPr>
                <p:extLst>
                  <p:ext uri="{D42A27DB-BD31-4B8C-83A1-F6EECF244321}">
                    <p14:modId xmlns:p14="http://schemas.microsoft.com/office/powerpoint/2010/main" val="1164209407"/>
                  </p:ext>
                </p:extLst>
              </p:nvPr>
            </p:nvGraphicFramePr>
            <p:xfrm>
              <a:off x="-228722" y="2949937"/>
              <a:ext cx="8690338" cy="3222798"/>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
            <p:nvSpPr>
              <p:cNvPr id="78" name="Straight Connector 4">
                <a:extLst>
                  <a:ext uri="{FF2B5EF4-FFF2-40B4-BE49-F238E27FC236}">
                    <a16:creationId xmlns:a16="http://schemas.microsoft.com/office/drawing/2014/main" id="{BD962469-CCE9-E358-3D71-E3BA0C729A5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9" name="Straight Connector 4">
                <a:extLst>
                  <a:ext uri="{FF2B5EF4-FFF2-40B4-BE49-F238E27FC236}">
                    <a16:creationId xmlns:a16="http://schemas.microsoft.com/office/drawing/2014/main" id="{D327C381-D561-99AC-7C0B-FBCC9E68551E}"/>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75" name="Straight Connector 4">
              <a:extLst>
                <a:ext uri="{FF2B5EF4-FFF2-40B4-BE49-F238E27FC236}">
                  <a16:creationId xmlns:a16="http://schemas.microsoft.com/office/drawing/2014/main" id="{9C74A4CF-DA93-FBDF-6148-7370C72268C9}"/>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6" name="Straight Connector 4">
              <a:extLst>
                <a:ext uri="{FF2B5EF4-FFF2-40B4-BE49-F238E27FC236}">
                  <a16:creationId xmlns:a16="http://schemas.microsoft.com/office/drawing/2014/main" id="{2E6125D9-D3DC-4110-FDF3-96AF218F7527}"/>
                </a:ext>
              </a:extLst>
            </p:cNvPr>
            <p:cNvSpPr txBox="1"/>
            <p:nvPr/>
          </p:nvSpPr>
          <p:spPr>
            <a:xfrm>
              <a:off x="813008" y="2416046"/>
              <a:ext cx="45698" cy="4569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80" name="Rectangle 79">
            <a:extLst>
              <a:ext uri="{FF2B5EF4-FFF2-40B4-BE49-F238E27FC236}">
                <a16:creationId xmlns:a16="http://schemas.microsoft.com/office/drawing/2014/main" id="{21DAB653-5868-EB86-5B5D-CE1FA824F333}"/>
              </a:ext>
            </a:extLst>
          </p:cNvPr>
          <p:cNvSpPr/>
          <p:nvPr/>
        </p:nvSpPr>
        <p:spPr>
          <a:xfrm>
            <a:off x="1696041" y="1262843"/>
            <a:ext cx="598327" cy="3842238"/>
          </a:xfrm>
          <a:prstGeom prst="rect">
            <a:avLst/>
          </a:prstGeom>
          <a:solidFill>
            <a:srgbClr val="0067B9">
              <a:hueOff val="0"/>
              <a:satOff val="0"/>
              <a:lumOff val="0"/>
              <a:alpha val="20000"/>
            </a:srgbClr>
          </a:solidFill>
          <a:ln w="25400" cap="flat" cmpd="sng" algn="ctr">
            <a:solidFill>
              <a:srgbClr val="FFFFFF">
                <a:hueOff val="0"/>
                <a:satOff val="0"/>
                <a:lumOff val="0"/>
                <a:alphaOff val="0"/>
              </a:srgbClr>
            </a:solidFill>
            <a:prstDash val="solid"/>
          </a:ln>
          <a:effectLst/>
        </p:spPr>
        <p:txBody>
          <a:bodyPr spcFirstLastPara="0" vert="vert270" wrap="square" lIns="8890" tIns="8890" rIns="8890" bIns="8890" numCol="1" spcCol="1270" anchor="ctr" anchorCtr="0">
            <a:noAutofit/>
          </a:bodyPr>
          <a:lstStyle/>
          <a:p>
            <a:pPr algn="ctr"/>
            <a:r>
              <a:rPr lang="en-US" sz="1600" b="1" dirty="0">
                <a:solidFill>
                  <a:schemeClr val="bg1"/>
                </a:solidFill>
              </a:rPr>
              <a:t>Multiplexer</a:t>
            </a:r>
          </a:p>
        </p:txBody>
      </p:sp>
      <p:grpSp>
        <p:nvGrpSpPr>
          <p:cNvPr id="81" name="Group 80">
            <a:extLst>
              <a:ext uri="{FF2B5EF4-FFF2-40B4-BE49-F238E27FC236}">
                <a16:creationId xmlns:a16="http://schemas.microsoft.com/office/drawing/2014/main" id="{780D24BF-FE84-6582-2115-E9D9792B277B}"/>
              </a:ext>
            </a:extLst>
          </p:cNvPr>
          <p:cNvGrpSpPr/>
          <p:nvPr/>
        </p:nvGrpSpPr>
        <p:grpSpPr>
          <a:xfrm>
            <a:off x="4140218" y="1492323"/>
            <a:ext cx="508311" cy="180000"/>
            <a:chOff x="1797110" y="227694"/>
            <a:chExt cx="508311" cy="180000"/>
          </a:xfrm>
        </p:grpSpPr>
        <p:sp>
          <p:nvSpPr>
            <p:cNvPr id="82" name="Straight Connector 3">
              <a:extLst>
                <a:ext uri="{FF2B5EF4-FFF2-40B4-BE49-F238E27FC236}">
                  <a16:creationId xmlns:a16="http://schemas.microsoft.com/office/drawing/2014/main" id="{B6DE0093-F0CD-B358-5A59-629DF8C82CE8}"/>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3" name="Straight Connector 4">
              <a:extLst>
                <a:ext uri="{FF2B5EF4-FFF2-40B4-BE49-F238E27FC236}">
                  <a16:creationId xmlns:a16="http://schemas.microsoft.com/office/drawing/2014/main" id="{791A9BD3-AC30-17A6-A76A-4EF6EBDE0A8E}"/>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84" name="Group 83">
            <a:extLst>
              <a:ext uri="{FF2B5EF4-FFF2-40B4-BE49-F238E27FC236}">
                <a16:creationId xmlns:a16="http://schemas.microsoft.com/office/drawing/2014/main" id="{1805E76B-0A55-466D-A15A-7E4C9B059EA6}"/>
              </a:ext>
            </a:extLst>
          </p:cNvPr>
          <p:cNvGrpSpPr/>
          <p:nvPr/>
        </p:nvGrpSpPr>
        <p:grpSpPr>
          <a:xfrm>
            <a:off x="4160323" y="2829337"/>
            <a:ext cx="508311" cy="180000"/>
            <a:chOff x="1797110" y="227694"/>
            <a:chExt cx="508311" cy="180000"/>
          </a:xfrm>
        </p:grpSpPr>
        <p:sp>
          <p:nvSpPr>
            <p:cNvPr id="85" name="Straight Connector 3">
              <a:extLst>
                <a:ext uri="{FF2B5EF4-FFF2-40B4-BE49-F238E27FC236}">
                  <a16:creationId xmlns:a16="http://schemas.microsoft.com/office/drawing/2014/main" id="{AB02F1AE-2069-D3BE-EC1F-79FD5926D709}"/>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6" name="Straight Connector 4">
              <a:extLst>
                <a:ext uri="{FF2B5EF4-FFF2-40B4-BE49-F238E27FC236}">
                  <a16:creationId xmlns:a16="http://schemas.microsoft.com/office/drawing/2014/main" id="{021261DC-3FAC-C3DF-573A-B09A92F19FBF}"/>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87" name="Group 86">
            <a:extLst>
              <a:ext uri="{FF2B5EF4-FFF2-40B4-BE49-F238E27FC236}">
                <a16:creationId xmlns:a16="http://schemas.microsoft.com/office/drawing/2014/main" id="{16204698-5B8A-20A1-2F2A-F2BA4967DC48}"/>
              </a:ext>
            </a:extLst>
          </p:cNvPr>
          <p:cNvGrpSpPr/>
          <p:nvPr/>
        </p:nvGrpSpPr>
        <p:grpSpPr>
          <a:xfrm>
            <a:off x="4160323" y="4723290"/>
            <a:ext cx="508311" cy="180000"/>
            <a:chOff x="1797110" y="227694"/>
            <a:chExt cx="508311" cy="180000"/>
          </a:xfrm>
        </p:grpSpPr>
        <p:sp>
          <p:nvSpPr>
            <p:cNvPr id="88" name="Straight Connector 3">
              <a:extLst>
                <a:ext uri="{FF2B5EF4-FFF2-40B4-BE49-F238E27FC236}">
                  <a16:creationId xmlns:a16="http://schemas.microsoft.com/office/drawing/2014/main" id="{FB694774-3906-EE3B-79FD-228992FC462A}"/>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9" name="Straight Connector 4">
              <a:extLst>
                <a:ext uri="{FF2B5EF4-FFF2-40B4-BE49-F238E27FC236}">
                  <a16:creationId xmlns:a16="http://schemas.microsoft.com/office/drawing/2014/main" id="{3BFC03ED-A35D-D7B5-4C66-0AF7D46A1BE0}"/>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0" name="Group 89">
            <a:extLst>
              <a:ext uri="{FF2B5EF4-FFF2-40B4-BE49-F238E27FC236}">
                <a16:creationId xmlns:a16="http://schemas.microsoft.com/office/drawing/2014/main" id="{AA54280E-9469-1756-7E5D-5D62916F115D}"/>
              </a:ext>
            </a:extLst>
          </p:cNvPr>
          <p:cNvGrpSpPr/>
          <p:nvPr/>
        </p:nvGrpSpPr>
        <p:grpSpPr>
          <a:xfrm>
            <a:off x="2289980" y="1492323"/>
            <a:ext cx="508311" cy="180000"/>
            <a:chOff x="1797110" y="227694"/>
            <a:chExt cx="508311" cy="180000"/>
          </a:xfrm>
        </p:grpSpPr>
        <p:sp>
          <p:nvSpPr>
            <p:cNvPr id="91" name="Straight Connector 3">
              <a:extLst>
                <a:ext uri="{FF2B5EF4-FFF2-40B4-BE49-F238E27FC236}">
                  <a16:creationId xmlns:a16="http://schemas.microsoft.com/office/drawing/2014/main" id="{4DC61641-3FCB-F818-6E88-07F482332DC3}"/>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2" name="Straight Connector 4">
              <a:extLst>
                <a:ext uri="{FF2B5EF4-FFF2-40B4-BE49-F238E27FC236}">
                  <a16:creationId xmlns:a16="http://schemas.microsoft.com/office/drawing/2014/main" id="{C303476D-882B-03C2-B43D-C9BEF8799F3F}"/>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3" name="Group 92">
            <a:extLst>
              <a:ext uri="{FF2B5EF4-FFF2-40B4-BE49-F238E27FC236}">
                <a16:creationId xmlns:a16="http://schemas.microsoft.com/office/drawing/2014/main" id="{4E660B45-5AD9-78D5-34FE-CEECDF1CEDE1}"/>
              </a:ext>
            </a:extLst>
          </p:cNvPr>
          <p:cNvGrpSpPr/>
          <p:nvPr/>
        </p:nvGrpSpPr>
        <p:grpSpPr>
          <a:xfrm>
            <a:off x="2310085" y="2829337"/>
            <a:ext cx="508311" cy="180000"/>
            <a:chOff x="1797110" y="227694"/>
            <a:chExt cx="508311" cy="180000"/>
          </a:xfrm>
        </p:grpSpPr>
        <p:sp>
          <p:nvSpPr>
            <p:cNvPr id="94" name="Straight Connector 3">
              <a:extLst>
                <a:ext uri="{FF2B5EF4-FFF2-40B4-BE49-F238E27FC236}">
                  <a16:creationId xmlns:a16="http://schemas.microsoft.com/office/drawing/2014/main" id="{79991664-335E-7069-EC40-3E71385560F4}"/>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5" name="Straight Connector 4">
              <a:extLst>
                <a:ext uri="{FF2B5EF4-FFF2-40B4-BE49-F238E27FC236}">
                  <a16:creationId xmlns:a16="http://schemas.microsoft.com/office/drawing/2014/main" id="{877D64D5-3C95-8DE6-B138-2D2139B87B46}"/>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6" name="Group 95">
            <a:extLst>
              <a:ext uri="{FF2B5EF4-FFF2-40B4-BE49-F238E27FC236}">
                <a16:creationId xmlns:a16="http://schemas.microsoft.com/office/drawing/2014/main" id="{3606F3FD-376E-5A01-6378-DA4A5D986E8C}"/>
              </a:ext>
            </a:extLst>
          </p:cNvPr>
          <p:cNvGrpSpPr/>
          <p:nvPr/>
        </p:nvGrpSpPr>
        <p:grpSpPr>
          <a:xfrm>
            <a:off x="2310085" y="4723290"/>
            <a:ext cx="508311" cy="180000"/>
            <a:chOff x="1797110" y="227694"/>
            <a:chExt cx="508311" cy="180000"/>
          </a:xfrm>
        </p:grpSpPr>
        <p:sp>
          <p:nvSpPr>
            <p:cNvPr id="97" name="Straight Connector 3">
              <a:extLst>
                <a:ext uri="{FF2B5EF4-FFF2-40B4-BE49-F238E27FC236}">
                  <a16:creationId xmlns:a16="http://schemas.microsoft.com/office/drawing/2014/main" id="{D922DCD9-476C-8DA8-CF52-990D9EA151B3}"/>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8" name="Straight Connector 4">
              <a:extLst>
                <a:ext uri="{FF2B5EF4-FFF2-40B4-BE49-F238E27FC236}">
                  <a16:creationId xmlns:a16="http://schemas.microsoft.com/office/drawing/2014/main" id="{3B18F015-107C-BA5A-DE33-33539653DB76}"/>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9" name="Group 98">
            <a:extLst>
              <a:ext uri="{FF2B5EF4-FFF2-40B4-BE49-F238E27FC236}">
                <a16:creationId xmlns:a16="http://schemas.microsoft.com/office/drawing/2014/main" id="{8892A31E-0FB7-3DD9-23EC-8C9350A4F3A7}"/>
              </a:ext>
            </a:extLst>
          </p:cNvPr>
          <p:cNvGrpSpPr/>
          <p:nvPr/>
        </p:nvGrpSpPr>
        <p:grpSpPr>
          <a:xfrm>
            <a:off x="1204825" y="3158983"/>
            <a:ext cx="508311" cy="180000"/>
            <a:chOff x="1797110" y="227694"/>
            <a:chExt cx="508311" cy="180000"/>
          </a:xfrm>
        </p:grpSpPr>
        <p:sp>
          <p:nvSpPr>
            <p:cNvPr id="100" name="Straight Connector 3">
              <a:extLst>
                <a:ext uri="{FF2B5EF4-FFF2-40B4-BE49-F238E27FC236}">
                  <a16:creationId xmlns:a16="http://schemas.microsoft.com/office/drawing/2014/main" id="{471EF016-2676-9C80-EED0-6A431A585AAB}"/>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01" name="Straight Connector 4">
              <a:extLst>
                <a:ext uri="{FF2B5EF4-FFF2-40B4-BE49-F238E27FC236}">
                  <a16:creationId xmlns:a16="http://schemas.microsoft.com/office/drawing/2014/main" id="{0C606565-FC4A-0592-0B03-6419830C5915}"/>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2" name="TextBox 101">
            <a:extLst>
              <a:ext uri="{FF2B5EF4-FFF2-40B4-BE49-F238E27FC236}">
                <a16:creationId xmlns:a16="http://schemas.microsoft.com/office/drawing/2014/main" id="{D1C1301F-E600-A804-1ED5-5170DBAEDB25}"/>
              </a:ext>
            </a:extLst>
          </p:cNvPr>
          <p:cNvSpPr txBox="1"/>
          <p:nvPr/>
        </p:nvSpPr>
        <p:spPr>
          <a:xfrm>
            <a:off x="9860631" y="2967602"/>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3" name="TextBox 102">
            <a:extLst>
              <a:ext uri="{FF2B5EF4-FFF2-40B4-BE49-F238E27FC236}">
                <a16:creationId xmlns:a16="http://schemas.microsoft.com/office/drawing/2014/main" id="{924AA6B0-49C0-B53C-6FF3-BFAE8A69018E}"/>
              </a:ext>
            </a:extLst>
          </p:cNvPr>
          <p:cNvSpPr txBox="1"/>
          <p:nvPr/>
        </p:nvSpPr>
        <p:spPr>
          <a:xfrm>
            <a:off x="9837136" y="1646321"/>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4" name="TextBox 103">
            <a:extLst>
              <a:ext uri="{FF2B5EF4-FFF2-40B4-BE49-F238E27FC236}">
                <a16:creationId xmlns:a16="http://schemas.microsoft.com/office/drawing/2014/main" id="{FEE211FD-FF8C-2756-38B4-985726258B58}"/>
              </a:ext>
            </a:extLst>
          </p:cNvPr>
          <p:cNvSpPr txBox="1"/>
          <p:nvPr/>
        </p:nvSpPr>
        <p:spPr>
          <a:xfrm>
            <a:off x="9860631" y="4890382"/>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5" name="TextBox 104">
            <a:extLst>
              <a:ext uri="{FF2B5EF4-FFF2-40B4-BE49-F238E27FC236}">
                <a16:creationId xmlns:a16="http://schemas.microsoft.com/office/drawing/2014/main" id="{00BFCB32-F4F7-081E-9E6B-D9DDBCEDFCBF}"/>
              </a:ext>
            </a:extLst>
          </p:cNvPr>
          <p:cNvSpPr txBox="1"/>
          <p:nvPr/>
        </p:nvSpPr>
        <p:spPr>
          <a:xfrm>
            <a:off x="342901" y="3141756"/>
            <a:ext cx="1304017" cy="17642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Output data</a:t>
            </a:r>
          </a:p>
        </p:txBody>
      </p:sp>
      <p:sp>
        <p:nvSpPr>
          <p:cNvPr id="106" name="Oval 105">
            <a:extLst>
              <a:ext uri="{FF2B5EF4-FFF2-40B4-BE49-F238E27FC236}">
                <a16:creationId xmlns:a16="http://schemas.microsoft.com/office/drawing/2014/main" id="{6DA26B3A-88D9-F9DE-9ACE-BC781AD785B6}"/>
              </a:ext>
            </a:extLst>
          </p:cNvPr>
          <p:cNvSpPr/>
          <p:nvPr/>
        </p:nvSpPr>
        <p:spPr>
          <a:xfrm>
            <a:off x="7343358" y="3360196"/>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C4CC2B99-B5EE-026E-4D80-CAA47CD23723}"/>
              </a:ext>
            </a:extLst>
          </p:cNvPr>
          <p:cNvSpPr/>
          <p:nvPr/>
        </p:nvSpPr>
        <p:spPr>
          <a:xfrm>
            <a:off x="7343358" y="3603832"/>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C4F0B4A8-F894-D27C-22EF-F5F4BCDA968A}"/>
              </a:ext>
            </a:extLst>
          </p:cNvPr>
          <p:cNvSpPr/>
          <p:nvPr/>
        </p:nvSpPr>
        <p:spPr>
          <a:xfrm>
            <a:off x="7343358" y="386916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9" name="Oval 108">
            <a:extLst>
              <a:ext uri="{FF2B5EF4-FFF2-40B4-BE49-F238E27FC236}">
                <a16:creationId xmlns:a16="http://schemas.microsoft.com/office/drawing/2014/main" id="{6B4CE043-5BDB-E035-CF09-21E35D4AF5F3}"/>
              </a:ext>
            </a:extLst>
          </p:cNvPr>
          <p:cNvSpPr/>
          <p:nvPr/>
        </p:nvSpPr>
        <p:spPr>
          <a:xfrm>
            <a:off x="7343358" y="413449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0" name="Oval 109">
            <a:extLst>
              <a:ext uri="{FF2B5EF4-FFF2-40B4-BE49-F238E27FC236}">
                <a16:creationId xmlns:a16="http://schemas.microsoft.com/office/drawing/2014/main" id="{BBDD8D1F-485F-7AB2-EE50-901C31DA03A2}"/>
              </a:ext>
            </a:extLst>
          </p:cNvPr>
          <p:cNvSpPr/>
          <p:nvPr/>
        </p:nvSpPr>
        <p:spPr>
          <a:xfrm>
            <a:off x="3453473" y="341251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1" name="Oval 110">
            <a:extLst>
              <a:ext uri="{FF2B5EF4-FFF2-40B4-BE49-F238E27FC236}">
                <a16:creationId xmlns:a16="http://schemas.microsoft.com/office/drawing/2014/main" id="{AE210D5E-F23C-1CC7-D9B9-8876299C61F2}"/>
              </a:ext>
            </a:extLst>
          </p:cNvPr>
          <p:cNvSpPr/>
          <p:nvPr/>
        </p:nvSpPr>
        <p:spPr>
          <a:xfrm>
            <a:off x="3453473" y="366700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2" name="Oval 111">
            <a:extLst>
              <a:ext uri="{FF2B5EF4-FFF2-40B4-BE49-F238E27FC236}">
                <a16:creationId xmlns:a16="http://schemas.microsoft.com/office/drawing/2014/main" id="{793BDD38-C5F3-0A79-B362-45D2D857FD38}"/>
              </a:ext>
            </a:extLst>
          </p:cNvPr>
          <p:cNvSpPr/>
          <p:nvPr/>
        </p:nvSpPr>
        <p:spPr>
          <a:xfrm>
            <a:off x="3453473" y="392148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3" name="Oval 112">
            <a:extLst>
              <a:ext uri="{FF2B5EF4-FFF2-40B4-BE49-F238E27FC236}">
                <a16:creationId xmlns:a16="http://schemas.microsoft.com/office/drawing/2014/main" id="{6639A3F8-2E0D-DF99-DB22-C8D164DD4765}"/>
              </a:ext>
            </a:extLst>
          </p:cNvPr>
          <p:cNvSpPr/>
          <p:nvPr/>
        </p:nvSpPr>
        <p:spPr>
          <a:xfrm>
            <a:off x="3453473" y="41471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6E3973EB-6687-AA88-6D17-262649624139}"/>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8" name="TextBox 27">
            <a:extLst>
              <a:ext uri="{FF2B5EF4-FFF2-40B4-BE49-F238E27FC236}">
                <a16:creationId xmlns:a16="http://schemas.microsoft.com/office/drawing/2014/main" id="{559CF5AA-C3EF-1F4A-AFBC-50E7F1466B40}"/>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F5A82337-B187-1DCB-087C-FD6B1FE1126F}"/>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04C2D0B1-0982-F8C7-B93F-9533AD776BD2}"/>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31" name="TextBox 30">
            <a:extLst>
              <a:ext uri="{FF2B5EF4-FFF2-40B4-BE49-F238E27FC236}">
                <a16:creationId xmlns:a16="http://schemas.microsoft.com/office/drawing/2014/main" id="{348AD337-E94B-6650-894F-F9C5E7EBFCD8}"/>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32" name="TextBox 31">
            <a:extLst>
              <a:ext uri="{FF2B5EF4-FFF2-40B4-BE49-F238E27FC236}">
                <a16:creationId xmlns:a16="http://schemas.microsoft.com/office/drawing/2014/main" id="{6E7EF9E2-C524-2398-00A1-013F143276A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276549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FF84E-02A7-508D-0E73-9DE5149ACA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D801EE7-2BA8-074F-2936-67AABF917E3E}"/>
              </a:ext>
            </a:extLst>
          </p:cNvPr>
          <p:cNvSpPr>
            <a:spLocks noGrp="1"/>
          </p:cNvSpPr>
          <p:nvPr>
            <p:ph type="title"/>
          </p:nvPr>
        </p:nvSpPr>
        <p:spPr>
          <a:xfrm>
            <a:off x="342901" y="219456"/>
            <a:ext cx="10287001" cy="470898"/>
          </a:xfrm>
        </p:spPr>
        <p:txBody>
          <a:bodyPr/>
          <a:lstStyle/>
          <a:p>
            <a:r>
              <a:rPr lang="en-US" dirty="0"/>
              <a:t>FFT Modeling :Algorithm and Architecture </a:t>
            </a:r>
          </a:p>
        </p:txBody>
      </p:sp>
      <p:sp>
        <p:nvSpPr>
          <p:cNvPr id="4" name="Footer Placeholder 3">
            <a:extLst>
              <a:ext uri="{FF2B5EF4-FFF2-40B4-BE49-F238E27FC236}">
                <a16:creationId xmlns:a16="http://schemas.microsoft.com/office/drawing/2014/main" id="{54B0DEBB-A357-FC7E-F178-5FCE90A42C7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D5DA216-9BFF-5F7B-3877-752F5A8BDA11}"/>
              </a:ext>
            </a:extLst>
          </p:cNvPr>
          <p:cNvSpPr>
            <a:spLocks noGrp="1"/>
          </p:cNvSpPr>
          <p:nvPr>
            <p:ph type="sldNum" sz="quarter" idx="4"/>
          </p:nvPr>
        </p:nvSpPr>
        <p:spPr/>
        <p:txBody>
          <a:bodyPr/>
          <a:lstStyle/>
          <a:p>
            <a:pPr>
              <a:defRPr/>
            </a:pPr>
            <a:fld id="{A9CE67A1-BA7F-A74E-B5D7-615746DEEC2B}" type="slidenum">
              <a:rPr lang="en-US" smtClean="0"/>
              <a:pPr>
                <a:defRPr/>
              </a:pPr>
              <a:t>36</a:t>
            </a:fld>
            <a:endParaRPr lang="en-US" baseline="-11000" dirty="0"/>
          </a:p>
        </p:txBody>
      </p:sp>
      <p:sp>
        <p:nvSpPr>
          <p:cNvPr id="6" name="Date Placeholder 5">
            <a:extLst>
              <a:ext uri="{FF2B5EF4-FFF2-40B4-BE49-F238E27FC236}">
                <a16:creationId xmlns:a16="http://schemas.microsoft.com/office/drawing/2014/main" id="{D740434B-7697-52F5-36D6-FAE56585A196}"/>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1" name="TextBox 10">
            <a:extLst>
              <a:ext uri="{FF2B5EF4-FFF2-40B4-BE49-F238E27FC236}">
                <a16:creationId xmlns:a16="http://schemas.microsoft.com/office/drawing/2014/main" id="{FBF2CA2E-E1E8-3CAE-2E27-CDF5A7E92AA2}"/>
              </a:ext>
            </a:extLst>
          </p:cNvPr>
          <p:cNvSpPr txBox="1"/>
          <p:nvPr/>
        </p:nvSpPr>
        <p:spPr>
          <a:xfrm>
            <a:off x="405722" y="869058"/>
            <a:ext cx="10833779" cy="4909036"/>
          </a:xfrm>
          <a:prstGeom prst="rect">
            <a:avLst/>
          </a:prstGeom>
          <a:noFill/>
        </p:spPr>
        <p:txBody>
          <a:bodyPr wrap="square">
            <a:spAutoFit/>
          </a:bodyPr>
          <a:lstStyle/>
          <a:p>
            <a:pPr defTabSz="457200">
              <a:spcBef>
                <a:spcPts val="1000"/>
              </a:spcBef>
              <a:buClr>
                <a:srgbClr val="1E4056"/>
              </a:buClr>
              <a:buSzPct val="75000"/>
            </a:pPr>
            <a:r>
              <a:rPr lang="en-US" b="1" dirty="0"/>
              <a:t>Algorithm</a:t>
            </a:r>
            <a:r>
              <a:rPr lang="en-US" dirty="0"/>
              <a:t>: we implemented the </a:t>
            </a:r>
            <a:r>
              <a:rPr lang="en-US" b="1" dirty="0"/>
              <a:t>Cooley-Tukey algorithm </a:t>
            </a:r>
            <a:r>
              <a:rPr lang="en-US" dirty="0"/>
              <a:t>(Radix-2, DIF)</a:t>
            </a:r>
          </a:p>
          <a:p>
            <a:pPr defTabSz="457200">
              <a:spcBef>
                <a:spcPts val="1000"/>
              </a:spcBef>
              <a:buClr>
                <a:srgbClr val="1E4056"/>
              </a:buClr>
              <a:buSzPct val="75000"/>
            </a:pPr>
            <a:r>
              <a:rPr lang="en-US" b="1" dirty="0"/>
              <a:t>Architecture :</a:t>
            </a:r>
            <a:r>
              <a:rPr lang="en-US" dirty="0"/>
              <a:t>we implemented the </a:t>
            </a:r>
            <a:r>
              <a:rPr lang="en-US" b="1" dirty="0"/>
              <a:t>SDF</a:t>
            </a:r>
            <a:r>
              <a:rPr lang="en-US" dirty="0"/>
              <a:t> </a:t>
            </a:r>
            <a:r>
              <a:rPr lang="en-US" b="1" dirty="0"/>
              <a:t>architecture  </a:t>
            </a:r>
            <a:r>
              <a:rPr lang="en-US" dirty="0"/>
              <a:t>(Radix-2, DIF)</a:t>
            </a:r>
          </a:p>
          <a:p>
            <a:pPr defTabSz="457200">
              <a:spcBef>
                <a:spcPts val="1000"/>
              </a:spcBef>
              <a:buClr>
                <a:srgbClr val="1E4056"/>
              </a:buClr>
              <a:buSzPct val="75000"/>
            </a:pPr>
            <a:r>
              <a:rPr lang="en-US" b="1" dirty="0"/>
              <a:t>Why SDF ?</a:t>
            </a:r>
          </a:p>
          <a:p>
            <a:endParaRPr lang="en-US" b="1" dirty="0"/>
          </a:p>
          <a:p>
            <a:r>
              <a:rPr lang="en-US" b="1" dirty="0"/>
              <a:t>Pros:</a:t>
            </a:r>
          </a:p>
          <a:p>
            <a:pPr marL="285750" indent="-285750">
              <a:buFontTx/>
              <a:buChar char="-"/>
            </a:pPr>
            <a:r>
              <a:rPr lang="en-US" b="1" dirty="0"/>
              <a:t>Area Efficiency</a:t>
            </a:r>
            <a:r>
              <a:rPr lang="en-US" dirty="0"/>
              <a:t>. </a:t>
            </a:r>
          </a:p>
          <a:p>
            <a:pPr marL="285750" indent="-285750">
              <a:buFontTx/>
              <a:buChar char="-"/>
            </a:pPr>
            <a:r>
              <a:rPr lang="en-US" b="1" dirty="0"/>
              <a:t>Area scaling</a:t>
            </a:r>
          </a:p>
          <a:p>
            <a:r>
              <a:rPr lang="en-US" b="1" dirty="0"/>
              <a:t>Cons:</a:t>
            </a:r>
          </a:p>
          <a:p>
            <a:pPr marL="285750" indent="-285750">
              <a:buFontTx/>
              <a:buChar char="-"/>
            </a:pPr>
            <a:r>
              <a:rPr lang="en-US" b="1" dirty="0"/>
              <a:t>higher</a:t>
            </a:r>
            <a:r>
              <a:rPr lang="en-US" dirty="0"/>
              <a:t> </a:t>
            </a:r>
            <a:r>
              <a:rPr lang="en-US" b="1" dirty="0"/>
              <a:t>latency (N-1)</a:t>
            </a:r>
          </a:p>
          <a:p>
            <a:pPr marL="285750" indent="-285750">
              <a:buFontTx/>
              <a:buChar char="-"/>
            </a:pPr>
            <a:r>
              <a:rPr lang="en-US" b="1" dirty="0"/>
              <a:t>low throughput (1 sample/cycle)</a:t>
            </a:r>
          </a:p>
          <a:p>
            <a:pPr marL="285750" indent="-285750">
              <a:buFontTx/>
              <a:buChar char="-"/>
            </a:pPr>
            <a:r>
              <a:rPr lang="en-US" b="1" dirty="0"/>
              <a:t>High power density </a:t>
            </a:r>
          </a:p>
          <a:p>
            <a:endParaRPr lang="en-US" dirty="0"/>
          </a:p>
          <a:p>
            <a:r>
              <a:rPr lang="en-US" dirty="0"/>
              <a:t>Given the high number of parallel streams in the base station, we prioritized minimizing the area per block over maximizing the single-stream throughput.</a:t>
            </a:r>
          </a:p>
          <a:p>
            <a:r>
              <a:rPr lang="en-US" dirty="0"/>
              <a:t>But would it really be enough for the required data rate ? </a:t>
            </a:r>
          </a:p>
          <a:p>
            <a:pPr defTabSz="457200">
              <a:spcBef>
                <a:spcPts val="1000"/>
              </a:spcBef>
              <a:buClr>
                <a:srgbClr val="1E4056"/>
              </a:buClr>
              <a:buSzPct val="75000"/>
            </a:pPr>
            <a:endParaRPr lang="en-US" b="1" dirty="0"/>
          </a:p>
        </p:txBody>
      </p:sp>
      <p:grpSp>
        <p:nvGrpSpPr>
          <p:cNvPr id="8" name="Group 7">
            <a:extLst>
              <a:ext uri="{FF2B5EF4-FFF2-40B4-BE49-F238E27FC236}">
                <a16:creationId xmlns:a16="http://schemas.microsoft.com/office/drawing/2014/main" id="{3D1E0FA8-C4A5-39C7-2AF5-610C485E3F65}"/>
              </a:ext>
            </a:extLst>
          </p:cNvPr>
          <p:cNvGrpSpPr/>
          <p:nvPr/>
        </p:nvGrpSpPr>
        <p:grpSpPr>
          <a:xfrm>
            <a:off x="2140644" y="1278981"/>
            <a:ext cx="7655074" cy="1002059"/>
            <a:chOff x="813009" y="856572"/>
            <a:chExt cx="9651513" cy="1628020"/>
          </a:xfrm>
        </p:grpSpPr>
        <p:grpSp>
          <p:nvGrpSpPr>
            <p:cNvPr id="9" name="Group 8">
              <a:extLst>
                <a:ext uri="{FF2B5EF4-FFF2-40B4-BE49-F238E27FC236}">
                  <a16:creationId xmlns:a16="http://schemas.microsoft.com/office/drawing/2014/main" id="{DC57EE16-6469-4987-CEFE-678A4FA9AA9E}"/>
                </a:ext>
              </a:extLst>
            </p:cNvPr>
            <p:cNvGrpSpPr/>
            <p:nvPr/>
          </p:nvGrpSpPr>
          <p:grpSpPr>
            <a:xfrm>
              <a:off x="1326658" y="856572"/>
              <a:ext cx="7546791" cy="47735"/>
              <a:chOff x="1224019" y="2147706"/>
              <a:chExt cx="7546791" cy="47735"/>
            </a:xfrm>
          </p:grpSpPr>
          <p:sp>
            <p:nvSpPr>
              <p:cNvPr id="16" name="Straight Connector 4">
                <a:extLst>
                  <a:ext uri="{FF2B5EF4-FFF2-40B4-BE49-F238E27FC236}">
                    <a16:creationId xmlns:a16="http://schemas.microsoft.com/office/drawing/2014/main" id="{5006A383-69E5-DAD7-2CE4-5BB028FA166D}"/>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B256B1D2-F659-90E0-1676-84C330ED808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428BF845-F31F-FAC1-5A7F-FDAA7CDA9DE2}"/>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9DE7CBB8-E40F-799B-A8DD-5C3D38611313}"/>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 name="TextBox 1">
            <a:extLst>
              <a:ext uri="{FF2B5EF4-FFF2-40B4-BE49-F238E27FC236}">
                <a16:creationId xmlns:a16="http://schemas.microsoft.com/office/drawing/2014/main" id="{DAA0B03F-3950-E559-76D5-2F9F7BD8A3E2}"/>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 name="TextBox 6">
            <a:extLst>
              <a:ext uri="{FF2B5EF4-FFF2-40B4-BE49-F238E27FC236}">
                <a16:creationId xmlns:a16="http://schemas.microsoft.com/office/drawing/2014/main" id="{1A5722CB-3003-60E6-98AE-B6154336CD3D}"/>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85E06D4F-25F2-02B4-61DB-55A8B5ECFD11}"/>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3D07F62B-8B3B-AB8C-F430-D309744B8678}"/>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2DEC3003-44F5-5E7C-DCF8-7A499DE75303}"/>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66A860C5-4761-26E1-09F5-665CC491C30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988976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fade">
                                      <p:cBhvr>
                                        <p:cTn id="12" dur="500"/>
                                        <p:tgtEl>
                                          <p:spTgt spid="11">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xEl>
                                              <p:pRg st="5" end="5"/>
                                            </p:txEl>
                                          </p:spTgt>
                                        </p:tgtEl>
                                        <p:attrNameLst>
                                          <p:attrName>style.visibility</p:attrName>
                                        </p:attrNameLst>
                                      </p:cBhvr>
                                      <p:to>
                                        <p:strVal val="visible"/>
                                      </p:to>
                                    </p:set>
                                    <p:animEffect transition="in" filter="fade">
                                      <p:cBhvr>
                                        <p:cTn id="15" dur="500"/>
                                        <p:tgtEl>
                                          <p:spTgt spid="11">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xEl>
                                              <p:pRg st="6" end="6"/>
                                            </p:txEl>
                                          </p:spTgt>
                                        </p:tgtEl>
                                        <p:attrNameLst>
                                          <p:attrName>style.visibility</p:attrName>
                                        </p:attrNameLst>
                                      </p:cBhvr>
                                      <p:to>
                                        <p:strVal val="visible"/>
                                      </p:to>
                                    </p:set>
                                    <p:animEffect transition="in" filter="fade">
                                      <p:cBhvr>
                                        <p:cTn id="18" dur="500"/>
                                        <p:tgtEl>
                                          <p:spTgt spid="11">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animEffect transition="in" filter="fade">
                                      <p:cBhvr>
                                        <p:cTn id="23" dur="500"/>
                                        <p:tgtEl>
                                          <p:spTgt spid="11">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xEl>
                                              <p:pRg st="8" end="8"/>
                                            </p:txEl>
                                          </p:spTgt>
                                        </p:tgtEl>
                                        <p:attrNameLst>
                                          <p:attrName>style.visibility</p:attrName>
                                        </p:attrNameLst>
                                      </p:cBhvr>
                                      <p:to>
                                        <p:strVal val="visible"/>
                                      </p:to>
                                    </p:set>
                                    <p:animEffect transition="in" filter="fade">
                                      <p:cBhvr>
                                        <p:cTn id="26" dur="500"/>
                                        <p:tgtEl>
                                          <p:spTgt spid="11">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xEl>
                                              <p:pRg st="9" end="9"/>
                                            </p:txEl>
                                          </p:spTgt>
                                        </p:tgtEl>
                                        <p:attrNameLst>
                                          <p:attrName>style.visibility</p:attrName>
                                        </p:attrNameLst>
                                      </p:cBhvr>
                                      <p:to>
                                        <p:strVal val="visible"/>
                                      </p:to>
                                    </p:set>
                                    <p:animEffect transition="in" filter="fade">
                                      <p:cBhvr>
                                        <p:cTn id="29" dur="500"/>
                                        <p:tgtEl>
                                          <p:spTgt spid="11">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xEl>
                                              <p:pRg st="10" end="10"/>
                                            </p:txEl>
                                          </p:spTgt>
                                        </p:tgtEl>
                                        <p:attrNameLst>
                                          <p:attrName>style.visibility</p:attrName>
                                        </p:attrNameLst>
                                      </p:cBhvr>
                                      <p:to>
                                        <p:strVal val="visible"/>
                                      </p:to>
                                    </p:set>
                                    <p:animEffect transition="in" filter="fade">
                                      <p:cBhvr>
                                        <p:cTn id="32" dur="500"/>
                                        <p:tgtEl>
                                          <p:spTgt spid="11">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12" end="12"/>
                                            </p:txEl>
                                          </p:spTgt>
                                        </p:tgtEl>
                                        <p:attrNameLst>
                                          <p:attrName>style.visibility</p:attrName>
                                        </p:attrNameLst>
                                      </p:cBhvr>
                                      <p:to>
                                        <p:strVal val="visible"/>
                                      </p:to>
                                    </p:set>
                                    <p:animEffect transition="in" filter="fade">
                                      <p:cBhvr>
                                        <p:cTn id="37" dur="500"/>
                                        <p:tgtEl>
                                          <p:spTgt spid="11">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1">
                                            <p:txEl>
                                              <p:pRg st="13" end="13"/>
                                            </p:txEl>
                                          </p:spTgt>
                                        </p:tgtEl>
                                        <p:attrNameLst>
                                          <p:attrName>style.visibility</p:attrName>
                                        </p:attrNameLst>
                                      </p:cBhvr>
                                      <p:to>
                                        <p:strVal val="visible"/>
                                      </p:to>
                                    </p:set>
                                    <p:animEffect transition="in" filter="fade">
                                      <p:cBhvr>
                                        <p:cTn id="40" dur="500"/>
                                        <p:tgtEl>
                                          <p:spTgt spid="1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BE37F-E655-9F62-72FE-6CD86D1280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636348-987F-A47E-19D1-1CB0C0B154B2}"/>
              </a:ext>
            </a:extLst>
          </p:cNvPr>
          <p:cNvSpPr>
            <a:spLocks noGrp="1"/>
          </p:cNvSpPr>
          <p:nvPr>
            <p:ph type="title"/>
          </p:nvPr>
        </p:nvSpPr>
        <p:spPr>
          <a:xfrm>
            <a:off x="342901" y="219456"/>
            <a:ext cx="10287001" cy="470898"/>
          </a:xfrm>
        </p:spPr>
        <p:txBody>
          <a:bodyPr/>
          <a:lstStyle/>
          <a:p>
            <a:r>
              <a:rPr lang="en-US" dirty="0"/>
              <a:t>Recall: System Configuration</a:t>
            </a:r>
          </a:p>
        </p:txBody>
      </p:sp>
      <p:sp>
        <p:nvSpPr>
          <p:cNvPr id="4" name="Footer Placeholder 3">
            <a:extLst>
              <a:ext uri="{FF2B5EF4-FFF2-40B4-BE49-F238E27FC236}">
                <a16:creationId xmlns:a16="http://schemas.microsoft.com/office/drawing/2014/main" id="{638F47A0-0DDE-37F1-6752-344E37E2BB4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05C99AD-7864-D061-6B89-816E6C125AB7}"/>
              </a:ext>
            </a:extLst>
          </p:cNvPr>
          <p:cNvSpPr>
            <a:spLocks noGrp="1"/>
          </p:cNvSpPr>
          <p:nvPr>
            <p:ph type="sldNum" sz="quarter" idx="4"/>
          </p:nvPr>
        </p:nvSpPr>
        <p:spPr/>
        <p:txBody>
          <a:bodyPr/>
          <a:lstStyle/>
          <a:p>
            <a:pPr>
              <a:defRPr/>
            </a:pPr>
            <a:fld id="{A9CE67A1-BA7F-A74E-B5D7-615746DEEC2B}" type="slidenum">
              <a:rPr lang="en-US" smtClean="0"/>
              <a:pPr>
                <a:defRPr/>
              </a:pPr>
              <a:t>37</a:t>
            </a:fld>
            <a:endParaRPr lang="en-US" baseline="-11000" dirty="0"/>
          </a:p>
        </p:txBody>
      </p:sp>
      <p:sp>
        <p:nvSpPr>
          <p:cNvPr id="6" name="Date Placeholder 5">
            <a:extLst>
              <a:ext uri="{FF2B5EF4-FFF2-40B4-BE49-F238E27FC236}">
                <a16:creationId xmlns:a16="http://schemas.microsoft.com/office/drawing/2014/main" id="{BB245F23-BB83-EEE4-D96F-658F72B87C3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60FA6585-2320-5813-40FB-4E04973CCE7A}"/>
              </a:ext>
            </a:extLst>
          </p:cNvPr>
          <p:cNvSpPr txBox="1"/>
          <p:nvPr/>
        </p:nvSpPr>
        <p:spPr>
          <a:xfrm>
            <a:off x="508651" y="883965"/>
            <a:ext cx="5237018"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t>signal BW, sampling rate</a:t>
            </a:r>
            <a:endParaRPr lang="en-US" sz="2000" b="1" dirty="0">
              <a:solidFill>
                <a:srgbClr val="000000"/>
              </a:solidFill>
            </a:endParaRPr>
          </a:p>
        </p:txBody>
      </p:sp>
      <p:graphicFrame>
        <p:nvGraphicFramePr>
          <p:cNvPr id="9" name="Table 8">
            <a:extLst>
              <a:ext uri="{FF2B5EF4-FFF2-40B4-BE49-F238E27FC236}">
                <a16:creationId xmlns:a16="http://schemas.microsoft.com/office/drawing/2014/main" id="{92352913-DE1C-272B-F508-9AAAA1363907}"/>
              </a:ext>
            </a:extLst>
          </p:cNvPr>
          <p:cNvGraphicFramePr>
            <a:graphicFrameLocks noGrp="1"/>
          </p:cNvGraphicFramePr>
          <p:nvPr/>
        </p:nvGraphicFramePr>
        <p:xfrm>
          <a:off x="1016000" y="1341381"/>
          <a:ext cx="10684510" cy="1478280"/>
        </p:xfrm>
        <a:graphic>
          <a:graphicData uri="http://schemas.openxmlformats.org/drawingml/2006/table">
            <a:tbl>
              <a:tblPr firstRow="1" bandRow="1">
                <a:tableStyleId>{72833802-FEF1-4C79-8D5D-14CF1EAF98D9}</a:tableStyleId>
              </a:tblPr>
              <a:tblGrid>
                <a:gridCol w="2136902">
                  <a:extLst>
                    <a:ext uri="{9D8B030D-6E8A-4147-A177-3AD203B41FA5}">
                      <a16:colId xmlns:a16="http://schemas.microsoft.com/office/drawing/2014/main" val="2470724913"/>
                    </a:ext>
                  </a:extLst>
                </a:gridCol>
                <a:gridCol w="966655">
                  <a:extLst>
                    <a:ext uri="{9D8B030D-6E8A-4147-A177-3AD203B41FA5}">
                      <a16:colId xmlns:a16="http://schemas.microsoft.com/office/drawing/2014/main" val="2536319273"/>
                    </a:ext>
                  </a:extLst>
                </a:gridCol>
                <a:gridCol w="3142554">
                  <a:extLst>
                    <a:ext uri="{9D8B030D-6E8A-4147-A177-3AD203B41FA5}">
                      <a16:colId xmlns:a16="http://schemas.microsoft.com/office/drawing/2014/main" val="3293319865"/>
                    </a:ext>
                  </a:extLst>
                </a:gridCol>
                <a:gridCol w="1518250">
                  <a:extLst>
                    <a:ext uri="{9D8B030D-6E8A-4147-A177-3AD203B41FA5}">
                      <a16:colId xmlns:a16="http://schemas.microsoft.com/office/drawing/2014/main" val="1281138933"/>
                    </a:ext>
                  </a:extLst>
                </a:gridCol>
                <a:gridCol w="2920149">
                  <a:extLst>
                    <a:ext uri="{9D8B030D-6E8A-4147-A177-3AD203B41FA5}">
                      <a16:colId xmlns:a16="http://schemas.microsoft.com/office/drawing/2014/main" val="3432129690"/>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solidFill>
                          <a:effectLst/>
                        </a:rPr>
                        <a:t>Bandwidth (MHz)</a:t>
                      </a:r>
                      <a:endParaRPr lang="en-US" sz="1800" kern="100" dirty="0">
                        <a:solidFill>
                          <a:schemeClr val="bg1"/>
                        </a:solidFill>
                        <a:effectLst/>
                        <a:latin typeface="Aptos SemiBold" panose="020B0004020202020204" pitchFamily="34" charset="0"/>
                        <a:ea typeface="Aptos" panose="020B00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kern="100" dirty="0">
                          <a:solidFill>
                            <a:schemeClr val="bg1"/>
                          </a:solidFill>
                          <a:effectLst/>
                        </a:rPr>
                        <a:t>NFFT</a:t>
                      </a: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alpha val="20000"/>
                            </a:schemeClr>
                          </a:solidFill>
                          <a:effectLst/>
                        </a:rPr>
                        <a:t>NusedFFT  (Subcarriers)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kern="100" dirty="0">
                          <a:solidFill>
                            <a:schemeClr val="bg1">
                              <a:alpha val="20000"/>
                            </a:schemeClr>
                          </a:solidFill>
                          <a:effectLst/>
                        </a:rPr>
                        <a:t>NumRBs</a:t>
                      </a:r>
                      <a:endParaRPr lang="en-US" dirty="0">
                        <a:solidFill>
                          <a:schemeClr val="bg1">
                            <a:alpha val="2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solidFill>
                          <a:effectLst/>
                        </a:rPr>
                        <a:t>Sampling Rate (MHz)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5372587"/>
                  </a:ext>
                </a:extLst>
              </a:tr>
              <a:tr h="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50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512</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384</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32</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61.44</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939599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100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1024</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792</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66</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122.88</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3316495"/>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400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4096</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3168</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264</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491.52</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61883"/>
                  </a:ext>
                </a:extLst>
              </a:tr>
            </a:tbl>
          </a:graphicData>
        </a:graphic>
      </p:graphicFrame>
      <p:sp>
        <p:nvSpPr>
          <p:cNvPr id="11" name="TextBox 10">
            <a:extLst>
              <a:ext uri="{FF2B5EF4-FFF2-40B4-BE49-F238E27FC236}">
                <a16:creationId xmlns:a16="http://schemas.microsoft.com/office/drawing/2014/main" id="{777B7595-53BE-B2B4-BFBF-935D7DE78539}"/>
              </a:ext>
            </a:extLst>
          </p:cNvPr>
          <p:cNvSpPr txBox="1"/>
          <p:nvPr/>
        </p:nvSpPr>
        <p:spPr>
          <a:xfrm>
            <a:off x="1197979" y="3180841"/>
            <a:ext cx="7387221" cy="369332"/>
          </a:xfrm>
          <a:prstGeom prst="rect">
            <a:avLst/>
          </a:prstGeom>
          <a:noFill/>
        </p:spPr>
        <p:txBody>
          <a:bodyPr wrap="square">
            <a:spAutoFit/>
          </a:bodyPr>
          <a:lstStyle/>
          <a:p>
            <a:pPr defTabSz="457200">
              <a:spcBef>
                <a:spcPts val="1000"/>
              </a:spcBef>
              <a:buClr>
                <a:srgbClr val="1E4056"/>
              </a:buClr>
              <a:buSzPct val="75000"/>
            </a:pPr>
            <a:r>
              <a:rPr lang="en-US" dirty="0"/>
              <a:t>Note: these calculation based on </a:t>
            </a:r>
            <a:r>
              <a:rPr lang="en-US" b="1" dirty="0"/>
              <a:t>Subcarrier Spacing (SCS):</a:t>
            </a:r>
            <a:r>
              <a:rPr lang="en-US" dirty="0"/>
              <a:t> </a:t>
            </a:r>
            <a:r>
              <a:rPr lang="en-US" b="1" dirty="0"/>
              <a:t>120 kHz</a:t>
            </a:r>
          </a:p>
        </p:txBody>
      </p:sp>
      <p:sp>
        <p:nvSpPr>
          <p:cNvPr id="7" name="Rectangle 6">
            <a:extLst>
              <a:ext uri="{FF2B5EF4-FFF2-40B4-BE49-F238E27FC236}">
                <a16:creationId xmlns:a16="http://schemas.microsoft.com/office/drawing/2014/main" id="{BADF8258-A77B-8FE4-96DA-961041A9CE33}"/>
              </a:ext>
            </a:extLst>
          </p:cNvPr>
          <p:cNvSpPr/>
          <p:nvPr/>
        </p:nvSpPr>
        <p:spPr>
          <a:xfrm>
            <a:off x="1015999" y="2441295"/>
            <a:ext cx="10684510" cy="36547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2B2CF22F-3459-2B50-C391-FC88A223AA0D}"/>
              </a:ext>
            </a:extLst>
          </p:cNvPr>
          <p:cNvSpPr txBox="1"/>
          <p:nvPr/>
        </p:nvSpPr>
        <p:spPr>
          <a:xfrm>
            <a:off x="1197978" y="3628896"/>
            <a:ext cx="7387221" cy="369332"/>
          </a:xfrm>
          <a:prstGeom prst="rect">
            <a:avLst/>
          </a:prstGeom>
          <a:noFill/>
        </p:spPr>
        <p:txBody>
          <a:bodyPr wrap="square">
            <a:spAutoFit/>
          </a:bodyPr>
          <a:lstStyle/>
          <a:p>
            <a:pPr defTabSz="457200">
              <a:spcBef>
                <a:spcPts val="1000"/>
              </a:spcBef>
              <a:buClr>
                <a:srgbClr val="1E4056"/>
              </a:buClr>
              <a:buSzPct val="75000"/>
            </a:pPr>
            <a:r>
              <a:rPr lang="en-US" b="1" dirty="0"/>
              <a:t>Would it support 491.52 MHz? </a:t>
            </a:r>
          </a:p>
        </p:txBody>
      </p:sp>
      <p:sp>
        <p:nvSpPr>
          <p:cNvPr id="10" name="TextBox 9">
            <a:extLst>
              <a:ext uri="{FF2B5EF4-FFF2-40B4-BE49-F238E27FC236}">
                <a16:creationId xmlns:a16="http://schemas.microsoft.com/office/drawing/2014/main" id="{89019039-3147-F9D4-409D-BDC3166CB067}"/>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2" name="TextBox 11">
            <a:extLst>
              <a:ext uri="{FF2B5EF4-FFF2-40B4-BE49-F238E27FC236}">
                <a16:creationId xmlns:a16="http://schemas.microsoft.com/office/drawing/2014/main" id="{3FC297BF-7825-6947-682F-825A49144D47}"/>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FDE510A9-1873-76AB-281E-7940B46634F1}"/>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A28E8B1F-4F71-290A-8B10-3750BE752495}"/>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F7160A2D-0E66-0EFA-687B-63DD87E2D4EE}"/>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6" name="TextBox 15">
            <a:extLst>
              <a:ext uri="{FF2B5EF4-FFF2-40B4-BE49-F238E27FC236}">
                <a16:creationId xmlns:a16="http://schemas.microsoft.com/office/drawing/2014/main" id="{01E007EB-7D14-8813-E236-C9BA13506275}"/>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3557148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92724-B17B-3FEC-0ED3-E05B0DB38B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94E75F-3275-123A-C1E1-73569DBD99E0}"/>
              </a:ext>
            </a:extLst>
          </p:cNvPr>
          <p:cNvSpPr>
            <a:spLocks noGrp="1"/>
          </p:cNvSpPr>
          <p:nvPr>
            <p:ph type="title"/>
          </p:nvPr>
        </p:nvSpPr>
        <p:spPr/>
        <p:txBody>
          <a:bodyPr/>
          <a:lstStyle/>
          <a:p>
            <a:r>
              <a:rPr lang="en-US" dirty="0"/>
              <a:t>FFT Modeling :Algorithm and Architecture </a:t>
            </a:r>
          </a:p>
        </p:txBody>
      </p:sp>
      <p:sp>
        <p:nvSpPr>
          <p:cNvPr id="4" name="Footer Placeholder 3">
            <a:extLst>
              <a:ext uri="{FF2B5EF4-FFF2-40B4-BE49-F238E27FC236}">
                <a16:creationId xmlns:a16="http://schemas.microsoft.com/office/drawing/2014/main" id="{4FCA91A8-2DBB-BB60-28FB-30885840671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5859B49-750D-4ECE-4CB6-F9AF16888C24}"/>
              </a:ext>
            </a:extLst>
          </p:cNvPr>
          <p:cNvSpPr>
            <a:spLocks noGrp="1"/>
          </p:cNvSpPr>
          <p:nvPr>
            <p:ph type="sldNum" sz="quarter" idx="4"/>
          </p:nvPr>
        </p:nvSpPr>
        <p:spPr/>
        <p:txBody>
          <a:bodyPr/>
          <a:lstStyle/>
          <a:p>
            <a:pPr>
              <a:defRPr/>
            </a:pPr>
            <a:fld id="{A9CE67A1-BA7F-A74E-B5D7-615746DEEC2B}" type="slidenum">
              <a:rPr lang="en-US" smtClean="0"/>
              <a:pPr>
                <a:defRPr/>
              </a:pPr>
              <a:t>38</a:t>
            </a:fld>
            <a:endParaRPr lang="en-US" baseline="-11000" dirty="0"/>
          </a:p>
        </p:txBody>
      </p:sp>
      <p:sp>
        <p:nvSpPr>
          <p:cNvPr id="6" name="Date Placeholder 5">
            <a:extLst>
              <a:ext uri="{FF2B5EF4-FFF2-40B4-BE49-F238E27FC236}">
                <a16:creationId xmlns:a16="http://schemas.microsoft.com/office/drawing/2014/main" id="{F46A1B87-F9B5-A77D-6B14-6366305AFC56}"/>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056E4FB-64B6-B49D-C02B-ED2AB36F2416}"/>
                  </a:ext>
                </a:extLst>
              </p:cNvPr>
              <p:cNvSpPr txBox="1"/>
              <p:nvPr/>
            </p:nvSpPr>
            <p:spPr>
              <a:xfrm>
                <a:off x="106867" y="984817"/>
                <a:ext cx="3920018"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𝑁𝑢𝑚𝑏𝑒𝑟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𝑆𝑎𝑚𝑝𝑙𝑒𝑠</m:t>
                          </m:r>
                        </m:num>
                        <m:den>
                          <m:r>
                            <a:rPr lang="en-US" sz="2000" b="0" i="1" smtClean="0">
                              <a:solidFill>
                                <a:srgbClr val="000000"/>
                              </a:solidFill>
                              <a:latin typeface="Cambria Math" panose="02040503050406030204" pitchFamily="18" charset="0"/>
                            </a:rPr>
                            <m:t>𝐶𝑦𝑐𝑙𝑒𝑠</m:t>
                          </m:r>
                        </m:den>
                      </m:f>
                      <m:r>
                        <a:rPr lang="en-US" sz="2000" b="0" i="1" smtClean="0">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𝑠𝑚𝑎𝑝𝑙𝑖𝑛𝑔</m:t>
                              </m:r>
                            </m:sub>
                          </m:sSub>
                        </m:num>
                        <m:den>
                          <m:sSub>
                            <m:sSubPr>
                              <m:ctrlPr>
                                <a:rPr lang="en-US" sz="200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func>
                                <m:funcPr>
                                  <m:ctrlPr>
                                    <a:rPr lang="en-US" sz="2000" b="0" i="1" smtClean="0">
                                      <a:solidFill>
                                        <a:srgbClr val="000000"/>
                                      </a:solidFill>
                                      <a:latin typeface="Cambria Math" panose="02040503050406030204" pitchFamily="18" charset="0"/>
                                    </a:rPr>
                                  </m:ctrlPr>
                                </m:funcPr>
                                <m:fName>
                                  <m:r>
                                    <m:rPr>
                                      <m:sty m:val="p"/>
                                    </m:rPr>
                                    <a:rPr lang="en-US" sz="2000" b="0" i="0" smtClean="0">
                                      <a:solidFill>
                                        <a:srgbClr val="000000"/>
                                      </a:solidFill>
                                      <a:latin typeface="Cambria Math" panose="02040503050406030204" pitchFamily="18" charset="0"/>
                                    </a:rPr>
                                    <m:t>max</m:t>
                                  </m:r>
                                </m:fName>
                                <m:e>
                                  <m:r>
                                    <a:rPr lang="en-US" sz="2000" b="0" i="1" smtClean="0">
                                      <a:solidFill>
                                        <a:srgbClr val="000000"/>
                                      </a:solidFill>
                                      <a:latin typeface="Cambria Math" panose="02040503050406030204" pitchFamily="18" charset="0"/>
                                    </a:rPr>
                                    <m:t> </m:t>
                                  </m:r>
                                </m:e>
                              </m:func>
                            </m:sub>
                          </m:sSub>
                        </m:den>
                      </m:f>
                    </m:oMath>
                  </m:oMathPara>
                </a14:m>
                <a:endParaRPr lang="en-US" sz="2000" dirty="0">
                  <a:solidFill>
                    <a:srgbClr val="000000"/>
                  </a:solidFill>
                </a:endParaRPr>
              </a:p>
            </p:txBody>
          </p:sp>
        </mc:Choice>
        <mc:Fallback xmlns="">
          <p:sp>
            <p:nvSpPr>
              <p:cNvPr id="7" name="TextBox 6">
                <a:extLst>
                  <a:ext uri="{FF2B5EF4-FFF2-40B4-BE49-F238E27FC236}">
                    <a16:creationId xmlns:a16="http://schemas.microsoft.com/office/drawing/2014/main" id="{8056E4FB-64B6-B49D-C02B-ED2AB36F2416}"/>
                  </a:ext>
                </a:extLst>
              </p:cNvPr>
              <p:cNvSpPr txBox="1">
                <a:spLocks noRot="1" noChangeAspect="1" noMove="1" noResize="1" noEditPoints="1" noAdjustHandles="1" noChangeArrowheads="1" noChangeShapeType="1" noTextEdit="1"/>
              </p:cNvSpPr>
              <p:nvPr/>
            </p:nvSpPr>
            <p:spPr>
              <a:xfrm>
                <a:off x="106867" y="984817"/>
                <a:ext cx="3920018" cy="9144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898DF57-4E5C-3D2A-F9C5-7AD9B289AE9F}"/>
                  </a:ext>
                </a:extLst>
              </p:cNvPr>
              <p:cNvSpPr txBox="1"/>
              <p:nvPr/>
            </p:nvSpPr>
            <p:spPr>
              <a:xfrm>
                <a:off x="-441773" y="1814885"/>
                <a:ext cx="3920018" cy="378795"/>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𝑠𝑚𝑝𝑙𝑖𝑛𝑔</m:t>
                          </m:r>
                        </m:sub>
                      </m:sSub>
                      <m:r>
                        <a:rPr lang="en-US" sz="2000" b="0" i="1" smtClean="0">
                          <a:solidFill>
                            <a:srgbClr val="000000"/>
                          </a:solidFill>
                          <a:latin typeface="Cambria Math" panose="02040503050406030204" pitchFamily="18" charset="0"/>
                        </a:rPr>
                        <m:t>≈500 </m:t>
                      </m:r>
                      <m:r>
                        <a:rPr lang="en-US" sz="2000" b="0" i="1" smtClean="0">
                          <a:solidFill>
                            <a:srgbClr val="000000"/>
                          </a:solidFill>
                          <a:latin typeface="Cambria Math" panose="02040503050406030204" pitchFamily="18" charset="0"/>
                        </a:rPr>
                        <m:t>𝑀𝐻𝑧</m:t>
                      </m:r>
                    </m:oMath>
                  </m:oMathPara>
                </a14:m>
                <a:endParaRPr lang="en-US" sz="2000" dirty="0">
                  <a:solidFill>
                    <a:srgbClr val="000000"/>
                  </a:solidFill>
                </a:endParaRPr>
              </a:p>
            </p:txBody>
          </p:sp>
        </mc:Choice>
        <mc:Fallback xmlns="">
          <p:sp>
            <p:nvSpPr>
              <p:cNvPr id="14" name="TextBox 13">
                <a:extLst>
                  <a:ext uri="{FF2B5EF4-FFF2-40B4-BE49-F238E27FC236}">
                    <a16:creationId xmlns:a16="http://schemas.microsoft.com/office/drawing/2014/main" id="{F898DF57-4E5C-3D2A-F9C5-7AD9B289AE9F}"/>
                  </a:ext>
                </a:extLst>
              </p:cNvPr>
              <p:cNvSpPr txBox="1">
                <a:spLocks noRot="1" noChangeAspect="1" noMove="1" noResize="1" noEditPoints="1" noAdjustHandles="1" noChangeArrowheads="1" noChangeShapeType="1" noTextEdit="1"/>
              </p:cNvSpPr>
              <p:nvPr/>
            </p:nvSpPr>
            <p:spPr>
              <a:xfrm>
                <a:off x="-441773" y="1814885"/>
                <a:ext cx="3920018" cy="378795"/>
              </a:xfrm>
              <a:prstGeom prst="rect">
                <a:avLst/>
              </a:prstGeom>
              <a:blipFill>
                <a:blip r:embed="rId6"/>
                <a:stretch>
                  <a:fillRect b="-112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82F2649-DB1E-396A-60E9-0114BA2392A6}"/>
                  </a:ext>
                </a:extLst>
              </p:cNvPr>
              <p:cNvSpPr txBox="1"/>
              <p:nvPr/>
            </p:nvSpPr>
            <p:spPr>
              <a:xfrm>
                <a:off x="-271038" y="2494736"/>
                <a:ext cx="1893285" cy="378795"/>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𝑚𝑎𝑥</m:t>
                          </m:r>
                        </m:sub>
                      </m:sSub>
                    </m:oMath>
                  </m:oMathPara>
                </a14:m>
                <a:endParaRPr lang="en-US" sz="2000" dirty="0">
                  <a:solidFill>
                    <a:srgbClr val="000000"/>
                  </a:solidFill>
                </a:endParaRPr>
              </a:p>
            </p:txBody>
          </p:sp>
        </mc:Choice>
        <mc:Fallback xmlns="">
          <p:sp>
            <p:nvSpPr>
              <p:cNvPr id="18" name="TextBox 17">
                <a:extLst>
                  <a:ext uri="{FF2B5EF4-FFF2-40B4-BE49-F238E27FC236}">
                    <a16:creationId xmlns:a16="http://schemas.microsoft.com/office/drawing/2014/main" id="{182F2649-DB1E-396A-60E9-0114BA2392A6}"/>
                  </a:ext>
                </a:extLst>
              </p:cNvPr>
              <p:cNvSpPr txBox="1">
                <a:spLocks noRot="1" noChangeAspect="1" noMove="1" noResize="1" noEditPoints="1" noAdjustHandles="1" noChangeArrowheads="1" noChangeShapeType="1" noTextEdit="1"/>
              </p:cNvSpPr>
              <p:nvPr/>
            </p:nvSpPr>
            <p:spPr>
              <a:xfrm>
                <a:off x="-271038" y="2494736"/>
                <a:ext cx="1893285" cy="378795"/>
              </a:xfrm>
              <a:prstGeom prst="rect">
                <a:avLst/>
              </a:prstGeom>
              <a:blipFill>
                <a:blip r:embed="rId7"/>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C3C538A6-F6C1-3E70-EFC5-743CBBB50F54}"/>
              </a:ext>
            </a:extLst>
          </p:cNvPr>
          <p:cNvCxnSpPr>
            <a:cxnSpLocks/>
          </p:cNvCxnSpPr>
          <p:nvPr/>
        </p:nvCxnSpPr>
        <p:spPr>
          <a:xfrm>
            <a:off x="1044332" y="2684133"/>
            <a:ext cx="44462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EE1F877C-19D3-6571-9918-8D844BC8948E}"/>
              </a:ext>
            </a:extLst>
          </p:cNvPr>
          <p:cNvSpPr txBox="1"/>
          <p:nvPr/>
        </p:nvSpPr>
        <p:spPr>
          <a:xfrm>
            <a:off x="1488961" y="2475803"/>
            <a:ext cx="10732313" cy="369332"/>
          </a:xfrm>
          <a:prstGeom prst="rect">
            <a:avLst/>
          </a:prstGeom>
          <a:noFill/>
        </p:spPr>
        <p:txBody>
          <a:bodyPr wrap="square">
            <a:spAutoFit/>
          </a:bodyPr>
          <a:lstStyle/>
          <a:p>
            <a:r>
              <a:rPr lang="en-US" b="1" dirty="0"/>
              <a:t>Platform constraints: "Baseline Frequency: 500 MHz (Validated by a silicon-proven 40nm tape-out)."</a:t>
            </a:r>
            <a:r>
              <a:rPr lang="ar-EG" b="1" dirty="0"/>
              <a:t> </a:t>
            </a:r>
            <a:r>
              <a:rPr lang="en-US" b="1" dirty="0">
                <a:hlinkClick r:id="rId8" action="ppaction://hlinksldjump"/>
              </a:rPr>
              <a:t>[1]</a:t>
            </a:r>
            <a:endParaRPr lang="en-US" dirty="0"/>
          </a:p>
        </p:txBody>
      </p:sp>
      <p:cxnSp>
        <p:nvCxnSpPr>
          <p:cNvPr id="23" name="Straight Arrow Connector 22">
            <a:extLst>
              <a:ext uri="{FF2B5EF4-FFF2-40B4-BE49-F238E27FC236}">
                <a16:creationId xmlns:a16="http://schemas.microsoft.com/office/drawing/2014/main" id="{65630476-9743-415B-7CFB-28E8C8C969D3}"/>
              </a:ext>
            </a:extLst>
          </p:cNvPr>
          <p:cNvCxnSpPr>
            <a:cxnSpLocks/>
          </p:cNvCxnSpPr>
          <p:nvPr/>
        </p:nvCxnSpPr>
        <p:spPr>
          <a:xfrm>
            <a:off x="1044332" y="2684133"/>
            <a:ext cx="362828" cy="33002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9391509-E494-EB70-3487-C6BFE95DB902}"/>
              </a:ext>
            </a:extLst>
          </p:cNvPr>
          <p:cNvSpPr txBox="1"/>
          <p:nvPr/>
        </p:nvSpPr>
        <p:spPr>
          <a:xfrm>
            <a:off x="1488961" y="2815999"/>
            <a:ext cx="8559800" cy="369332"/>
          </a:xfrm>
          <a:prstGeom prst="rect">
            <a:avLst/>
          </a:prstGeom>
          <a:noFill/>
        </p:spPr>
        <p:txBody>
          <a:bodyPr wrap="square">
            <a:spAutoFit/>
          </a:bodyPr>
          <a:lstStyle/>
          <a:p>
            <a:r>
              <a:rPr lang="en-US" b="1" dirty="0"/>
              <a:t>Critical Path</a:t>
            </a: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F28EAF8-2DAA-927D-B34D-DA8A05410BF8}"/>
                  </a:ext>
                </a:extLst>
              </p:cNvPr>
              <p:cNvSpPr txBox="1"/>
              <p:nvPr/>
            </p:nvSpPr>
            <p:spPr>
              <a:xfrm>
                <a:off x="342901" y="3609797"/>
                <a:ext cx="7387221" cy="369332"/>
              </a:xfrm>
              <a:prstGeom prst="rect">
                <a:avLst/>
              </a:prstGeom>
              <a:noFill/>
            </p:spPr>
            <p:txBody>
              <a:bodyPr wrap="square">
                <a:spAutoFit/>
              </a:bodyPr>
              <a:lstStyle/>
              <a:p>
                <a:pPr defTabSz="457200">
                  <a:spcBef>
                    <a:spcPts val="1000"/>
                  </a:spcBef>
                  <a:buClr>
                    <a:srgbClr val="1E4056"/>
                  </a:buClr>
                  <a:buSzPct val="75000"/>
                </a:pPr>
                <a:r>
                  <a:rPr lang="en-US" b="1" dirty="0">
                    <a:latin typeface="+mj-lt"/>
                  </a:rPr>
                  <a:t>So , What is the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𝑭</m:t>
                        </m:r>
                      </m:e>
                      <m:sub>
                        <m:r>
                          <a:rPr lang="en-US" b="1" i="1" smtClean="0">
                            <a:latin typeface="Cambria Math" panose="02040503050406030204" pitchFamily="18" charset="0"/>
                          </a:rPr>
                          <m:t>𝒎𝒂𝒙</m:t>
                        </m:r>
                      </m:sub>
                    </m:sSub>
                    <m:r>
                      <a:rPr lang="en-US" b="1" i="1" smtClean="0">
                        <a:latin typeface="Cambria Math" panose="02040503050406030204" pitchFamily="18" charset="0"/>
                      </a:rPr>
                      <m:t> </m:t>
                    </m:r>
                  </m:oMath>
                </a14:m>
                <a:r>
                  <a:rPr lang="en-US" b="1" dirty="0">
                    <a:latin typeface="+mj-lt"/>
                  </a:rPr>
                  <a:t> for the target technology?</a:t>
                </a:r>
              </a:p>
            </p:txBody>
          </p:sp>
        </mc:Choice>
        <mc:Fallback xmlns="">
          <p:sp>
            <p:nvSpPr>
              <p:cNvPr id="2" name="TextBox 1">
                <a:extLst>
                  <a:ext uri="{FF2B5EF4-FFF2-40B4-BE49-F238E27FC236}">
                    <a16:creationId xmlns:a16="http://schemas.microsoft.com/office/drawing/2014/main" id="{1F28EAF8-2DAA-927D-B34D-DA8A05410BF8}"/>
                  </a:ext>
                </a:extLst>
              </p:cNvPr>
              <p:cNvSpPr txBox="1">
                <a:spLocks noRot="1" noChangeAspect="1" noMove="1" noResize="1" noEditPoints="1" noAdjustHandles="1" noChangeArrowheads="1" noChangeShapeType="1" noTextEdit="1"/>
              </p:cNvSpPr>
              <p:nvPr/>
            </p:nvSpPr>
            <p:spPr>
              <a:xfrm>
                <a:off x="342901" y="3609797"/>
                <a:ext cx="7387221" cy="369332"/>
              </a:xfrm>
              <a:prstGeom prst="rect">
                <a:avLst/>
              </a:prstGeom>
              <a:blipFill>
                <a:blip r:embed="rId9"/>
                <a:stretch>
                  <a:fillRect l="-660" t="-8197" b="-2459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5A3AB02-054B-121D-28BD-FD690D2B1795}"/>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DA149A05-85BD-F9F3-E048-F4362B932C5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CF514D16-0318-4F6B-8FD7-505874E1D31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81A025E2-874E-1F67-1B5A-C89B4AC0AD6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5310E2FA-B6A6-4835-1D42-2FBFAF7FE65F}"/>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9" name="TextBox 18">
            <a:extLst>
              <a:ext uri="{FF2B5EF4-FFF2-40B4-BE49-F238E27FC236}">
                <a16:creationId xmlns:a16="http://schemas.microsoft.com/office/drawing/2014/main" id="{5350EBD1-75C7-BF88-B915-A1FD317DF491}"/>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4897187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2" grpId="0"/>
      <p:bldP spid="26" grpId="0"/>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93AE3-2810-52CC-620F-733563F452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37D74B-2C17-C9A4-3BD4-CCF1239D1AAC}"/>
              </a:ext>
            </a:extLst>
          </p:cNvPr>
          <p:cNvSpPr>
            <a:spLocks noGrp="1"/>
          </p:cNvSpPr>
          <p:nvPr>
            <p:ph idx="1"/>
          </p:nvPr>
        </p:nvSpPr>
        <p:spPr>
          <a:xfrm>
            <a:off x="355599" y="914400"/>
            <a:ext cx="10509045" cy="5476568"/>
          </a:xfrm>
        </p:spPr>
        <p:txBody>
          <a:bodyPr/>
          <a:lstStyle/>
          <a:p>
            <a:pPr marL="0" indent="0" algn="just">
              <a:buNone/>
            </a:pPr>
            <a:r>
              <a:rPr lang="en-US" sz="2400" dirty="0"/>
              <a:t>	</a:t>
            </a:r>
            <a:endParaRPr lang="en-US" dirty="0"/>
          </a:p>
          <a:p>
            <a:pPr marL="0" indent="0" algn="just">
              <a:buNone/>
            </a:pPr>
            <a:r>
              <a:rPr lang="en-US" dirty="0"/>
              <a:t>			</a:t>
            </a:r>
          </a:p>
        </p:txBody>
      </p:sp>
      <p:sp>
        <p:nvSpPr>
          <p:cNvPr id="3" name="Title 2">
            <a:extLst>
              <a:ext uri="{FF2B5EF4-FFF2-40B4-BE49-F238E27FC236}">
                <a16:creationId xmlns:a16="http://schemas.microsoft.com/office/drawing/2014/main" id="{371A3E55-E7A3-59B9-6F93-11713B0E8490}"/>
              </a:ext>
            </a:extLst>
          </p:cNvPr>
          <p:cNvSpPr>
            <a:spLocks noGrp="1"/>
          </p:cNvSpPr>
          <p:nvPr>
            <p:ph type="title"/>
          </p:nvPr>
        </p:nvSpPr>
        <p:spPr/>
        <p:txBody>
          <a:bodyPr/>
          <a:lstStyle/>
          <a:p>
            <a:r>
              <a:rPr lang="en-US" dirty="0"/>
              <a:t>Recall :Adflow Metrics Summary for 3 stages</a:t>
            </a:r>
          </a:p>
        </p:txBody>
      </p:sp>
      <p:sp>
        <p:nvSpPr>
          <p:cNvPr id="4" name="Footer Placeholder 3">
            <a:extLst>
              <a:ext uri="{FF2B5EF4-FFF2-40B4-BE49-F238E27FC236}">
                <a16:creationId xmlns:a16="http://schemas.microsoft.com/office/drawing/2014/main" id="{306461C2-B06D-CBF9-9CBF-A3570B61EDA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233CAEC-664D-F820-5DB6-EC0C4A8156A9}"/>
              </a:ext>
            </a:extLst>
          </p:cNvPr>
          <p:cNvSpPr>
            <a:spLocks noGrp="1"/>
          </p:cNvSpPr>
          <p:nvPr>
            <p:ph type="sldNum" sz="quarter" idx="4"/>
          </p:nvPr>
        </p:nvSpPr>
        <p:spPr/>
        <p:txBody>
          <a:bodyPr/>
          <a:lstStyle/>
          <a:p>
            <a:pPr>
              <a:defRPr/>
            </a:pPr>
            <a:fld id="{A9CE67A1-BA7F-A74E-B5D7-615746DEEC2B}" type="slidenum">
              <a:rPr lang="en-US" smtClean="0"/>
              <a:pPr>
                <a:defRPr/>
              </a:pPr>
              <a:t>39</a:t>
            </a:fld>
            <a:endParaRPr lang="en-US" baseline="-11000" dirty="0"/>
          </a:p>
        </p:txBody>
      </p:sp>
      <p:sp>
        <p:nvSpPr>
          <p:cNvPr id="6" name="Date Placeholder 5">
            <a:extLst>
              <a:ext uri="{FF2B5EF4-FFF2-40B4-BE49-F238E27FC236}">
                <a16:creationId xmlns:a16="http://schemas.microsoft.com/office/drawing/2014/main" id="{A3250C6D-764D-BEBF-F2EB-E7F20227E831}"/>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aphicFrame>
        <p:nvGraphicFramePr>
          <p:cNvPr id="8" name="Table 7">
            <a:extLst>
              <a:ext uri="{FF2B5EF4-FFF2-40B4-BE49-F238E27FC236}">
                <a16:creationId xmlns:a16="http://schemas.microsoft.com/office/drawing/2014/main" id="{196D29E9-11F2-DB00-F88D-95B6F53C77B3}"/>
              </a:ext>
            </a:extLst>
          </p:cNvPr>
          <p:cNvGraphicFramePr>
            <a:graphicFrameLocks noGrp="1"/>
          </p:cNvGraphicFramePr>
          <p:nvPr/>
        </p:nvGraphicFramePr>
        <p:xfrm>
          <a:off x="3175819" y="914400"/>
          <a:ext cx="4803875" cy="4798487"/>
        </p:xfrm>
        <a:graphic>
          <a:graphicData uri="http://schemas.openxmlformats.org/drawingml/2006/table">
            <a:tbl>
              <a:tblPr firstRow="1" firstCol="1" bandRow="1">
                <a:tableStyleId>{72833802-FEF1-4C79-8D5D-14CF1EAF98D9}</a:tableStyleId>
              </a:tblPr>
              <a:tblGrid>
                <a:gridCol w="2352106">
                  <a:extLst>
                    <a:ext uri="{9D8B030D-6E8A-4147-A177-3AD203B41FA5}">
                      <a16:colId xmlns:a16="http://schemas.microsoft.com/office/drawing/2014/main" val="1202750285"/>
                    </a:ext>
                  </a:extLst>
                </a:gridCol>
                <a:gridCol w="2451769">
                  <a:extLst>
                    <a:ext uri="{9D8B030D-6E8A-4147-A177-3AD203B41FA5}">
                      <a16:colId xmlns:a16="http://schemas.microsoft.com/office/drawing/2014/main" val="1287465664"/>
                    </a:ext>
                  </a:extLst>
                </a:gridCol>
              </a:tblGrid>
              <a:tr h="370751">
                <a:tc>
                  <a:txBody>
                    <a:bodyPr/>
                    <a:lstStyle/>
                    <a:p>
                      <a:pPr algn="ctr"/>
                      <a:r>
                        <a:rPr lang="en-US" dirty="0"/>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399986"/>
                  </a:ext>
                </a:extLst>
              </a:tr>
              <a:tr h="648814">
                <a:tc>
                  <a:txBody>
                    <a:bodyPr/>
                    <a:lstStyle/>
                    <a:p>
                      <a:pPr algn="ctr"/>
                      <a:r>
                        <a:rPr lang="en-US" b="1" dirty="0"/>
                        <a:t>Maximum clock frequency</a:t>
                      </a:r>
                      <a:endParaRPr lang="en-US" b="1" dirty="0">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b="1" dirty="0"/>
                        <a:t>619.5 MHz</a:t>
                      </a:r>
                      <a:endParaRPr lang="en-US" b="1" dirty="0">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9370434"/>
                  </a:ext>
                </a:extLst>
              </a:tr>
              <a:tr h="539846">
                <a:tc>
                  <a:txBody>
                    <a:bodyPr/>
                    <a:lstStyle/>
                    <a:p>
                      <a:pPr algn="ctr"/>
                      <a:r>
                        <a:rPr lang="en-US" b="1" dirty="0">
                          <a:solidFill>
                            <a:schemeClr val="dk1">
                              <a:alpha val="20000"/>
                            </a:schemeClr>
                          </a:solidFill>
                        </a:rPr>
                        <a:t>WNS (setup)</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3.386 ns</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6047398"/>
                  </a:ext>
                </a:extLst>
              </a:tr>
              <a:tr h="539846">
                <a:tc>
                  <a:txBody>
                    <a:bodyPr/>
                    <a:lstStyle/>
                    <a:p>
                      <a:pPr algn="ctr"/>
                      <a:r>
                        <a:rPr lang="en-US" b="1" dirty="0">
                          <a:solidFill>
                            <a:schemeClr val="dk1">
                              <a:alpha val="20000"/>
                            </a:schemeClr>
                          </a:solidFill>
                        </a:rPr>
                        <a:t>TNS (setup)</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8339731"/>
                  </a:ext>
                </a:extLst>
              </a:tr>
              <a:tr h="539846">
                <a:tc>
                  <a:txBody>
                    <a:bodyPr/>
                    <a:lstStyle/>
                    <a:p>
                      <a:pPr algn="ctr"/>
                      <a:r>
                        <a:rPr lang="en-US" b="1" dirty="0">
                          <a:solidFill>
                            <a:schemeClr val="dk1">
                              <a:alpha val="20000"/>
                            </a:schemeClr>
                          </a:solidFill>
                        </a:rPr>
                        <a:t>WNS (hold)</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3791"/>
                  </a:ext>
                </a:extLst>
              </a:tr>
              <a:tr h="539846">
                <a:tc>
                  <a:txBody>
                    <a:bodyPr/>
                    <a:lstStyle/>
                    <a:p>
                      <a:pPr algn="ctr"/>
                      <a:r>
                        <a:rPr lang="en-US" b="1" dirty="0">
                          <a:solidFill>
                            <a:schemeClr val="dk1">
                              <a:alpha val="20000"/>
                            </a:schemeClr>
                          </a:solidFill>
                        </a:rPr>
                        <a:t>TNS (hold)</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794746"/>
                  </a:ext>
                </a:extLst>
              </a:tr>
              <a:tr h="539846">
                <a:tc>
                  <a:txBody>
                    <a:bodyPr/>
                    <a:lstStyle/>
                    <a:p>
                      <a:pPr algn="ctr"/>
                      <a:r>
                        <a:rPr lang="en-US" b="1" dirty="0">
                          <a:solidFill>
                            <a:schemeClr val="dk1">
                              <a:alpha val="20000"/>
                            </a:schemeClr>
                          </a:solidFill>
                        </a:rPr>
                        <a:t>Post-route utilization</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59.7 %</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5723714"/>
                  </a:ext>
                </a:extLst>
              </a:tr>
              <a:tr h="539846">
                <a:tc>
                  <a:txBody>
                    <a:bodyPr/>
                    <a:lstStyle/>
                    <a:p>
                      <a:pPr algn="ctr"/>
                      <a:r>
                        <a:rPr lang="en-US" b="1" dirty="0">
                          <a:solidFill>
                            <a:schemeClr val="dk1">
                              <a:alpha val="20000"/>
                            </a:schemeClr>
                          </a:solidFill>
                        </a:rPr>
                        <a:t>Technology</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GF 22nm</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334046"/>
                  </a:ext>
                </a:extLst>
              </a:tr>
              <a:tr h="539846">
                <a:tc>
                  <a:txBody>
                    <a:bodyPr/>
                    <a:lstStyle/>
                    <a:p>
                      <a:pPr algn="ctr"/>
                      <a:r>
                        <a:rPr lang="en-US" b="1" dirty="0">
                          <a:solidFill>
                            <a:schemeClr val="dk1">
                              <a:alpha val="20000"/>
                            </a:schemeClr>
                          </a:solidFill>
                        </a:rPr>
                        <a:t>Standard Cell Library</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22nm_gf_fdx_10m</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9526502"/>
                  </a:ext>
                </a:extLst>
              </a:tr>
            </a:tbl>
          </a:graphicData>
        </a:graphic>
      </p:graphicFrame>
      <p:sp>
        <p:nvSpPr>
          <p:cNvPr id="7" name="TextBox 6">
            <a:extLst>
              <a:ext uri="{FF2B5EF4-FFF2-40B4-BE49-F238E27FC236}">
                <a16:creationId xmlns:a16="http://schemas.microsoft.com/office/drawing/2014/main" id="{21DB5574-B1BE-D6F7-94BF-E38AACA102BB}"/>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98546B28-4941-9673-32CF-4C464408254C}"/>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39ABC59F-45FD-A969-EC39-635F1DA8AC15}"/>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7A631C1A-291D-555E-9EC2-59CA2AD311F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53372C60-151D-9025-AEBB-02C5F5035464}"/>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C185279D-A27F-5FE6-F803-23EDB376DC8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681613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5F71-D9D7-8107-4606-0E62EADFBB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7C8482-6BCF-BE61-185D-C06205FF0563}"/>
              </a:ext>
            </a:extLst>
          </p:cNvPr>
          <p:cNvSpPr>
            <a:spLocks noGrp="1"/>
          </p:cNvSpPr>
          <p:nvPr>
            <p:ph type="title"/>
          </p:nvPr>
        </p:nvSpPr>
        <p:spPr/>
        <p:txBody>
          <a:bodyPr/>
          <a:lstStyle/>
          <a:p>
            <a:r>
              <a:rPr lang="en-US" dirty="0"/>
              <a:t>Modeling:SDF Block Diagram</a:t>
            </a:r>
          </a:p>
        </p:txBody>
      </p:sp>
      <p:sp>
        <p:nvSpPr>
          <p:cNvPr id="4" name="Footer Placeholder 3">
            <a:extLst>
              <a:ext uri="{FF2B5EF4-FFF2-40B4-BE49-F238E27FC236}">
                <a16:creationId xmlns:a16="http://schemas.microsoft.com/office/drawing/2014/main" id="{CF62CEF7-B87D-B775-358A-0897040013D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DDDBEDC-94F0-35D8-9E75-EB9AE754F727}"/>
              </a:ext>
            </a:extLst>
          </p:cNvPr>
          <p:cNvSpPr>
            <a:spLocks noGrp="1"/>
          </p:cNvSpPr>
          <p:nvPr>
            <p:ph type="sldNum" sz="quarter" idx="4"/>
          </p:nvPr>
        </p:nvSpPr>
        <p:spPr/>
        <p:txBody>
          <a:bodyPr/>
          <a:lstStyle/>
          <a:p>
            <a:pPr>
              <a:defRPr/>
            </a:pPr>
            <a:fld id="{A9CE67A1-BA7F-A74E-B5D7-615746DEEC2B}" type="slidenum">
              <a:rPr lang="en-US" smtClean="0"/>
              <a:pPr>
                <a:defRPr/>
              </a:pPr>
              <a:t>40</a:t>
            </a:fld>
            <a:endParaRPr lang="en-US" baseline="-11000" dirty="0"/>
          </a:p>
        </p:txBody>
      </p:sp>
      <p:sp>
        <p:nvSpPr>
          <p:cNvPr id="6" name="Date Placeholder 5">
            <a:extLst>
              <a:ext uri="{FF2B5EF4-FFF2-40B4-BE49-F238E27FC236}">
                <a16:creationId xmlns:a16="http://schemas.microsoft.com/office/drawing/2014/main" id="{C462DD85-0862-5192-AC5B-B6A063966A61}"/>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102" name="Group 101">
            <a:extLst>
              <a:ext uri="{FF2B5EF4-FFF2-40B4-BE49-F238E27FC236}">
                <a16:creationId xmlns:a16="http://schemas.microsoft.com/office/drawing/2014/main" id="{93F70E90-FBB2-0BE8-EB10-88FBD07127D6}"/>
              </a:ext>
            </a:extLst>
          </p:cNvPr>
          <p:cNvGrpSpPr/>
          <p:nvPr/>
        </p:nvGrpSpPr>
        <p:grpSpPr>
          <a:xfrm>
            <a:off x="1562744" y="2264122"/>
            <a:ext cx="9066512" cy="1892425"/>
            <a:chOff x="1533833" y="2067477"/>
            <a:chExt cx="9066512" cy="1892425"/>
          </a:xfrm>
        </p:grpSpPr>
        <p:sp>
          <p:nvSpPr>
            <p:cNvPr id="80" name="Rectangle 79">
              <a:extLst>
                <a:ext uri="{FF2B5EF4-FFF2-40B4-BE49-F238E27FC236}">
                  <a16:creationId xmlns:a16="http://schemas.microsoft.com/office/drawing/2014/main" id="{32324A96-CCE6-4272-163C-9355572ACE28}"/>
                </a:ext>
              </a:extLst>
            </p:cNvPr>
            <p:cNvSpPr/>
            <p:nvPr/>
          </p:nvSpPr>
          <p:spPr>
            <a:xfrm>
              <a:off x="2664541" y="256460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89" name="TextBox 88">
              <a:extLst>
                <a:ext uri="{FF2B5EF4-FFF2-40B4-BE49-F238E27FC236}">
                  <a16:creationId xmlns:a16="http://schemas.microsoft.com/office/drawing/2014/main" id="{F9835D89-97A5-6D33-B123-4DC1FE260C99}"/>
                </a:ext>
              </a:extLst>
            </p:cNvPr>
            <p:cNvSpPr txBox="1"/>
            <p:nvPr/>
          </p:nvSpPr>
          <p:spPr>
            <a:xfrm>
              <a:off x="4848731" y="206747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13" name="TextBox 112">
              <a:extLst>
                <a:ext uri="{FF2B5EF4-FFF2-40B4-BE49-F238E27FC236}">
                  <a16:creationId xmlns:a16="http://schemas.microsoft.com/office/drawing/2014/main" id="{A9B3E7D2-AAB2-8C07-BE31-F954514220DD}"/>
                </a:ext>
              </a:extLst>
            </p:cNvPr>
            <p:cNvSpPr txBox="1"/>
            <p:nvPr/>
          </p:nvSpPr>
          <p:spPr>
            <a:xfrm>
              <a:off x="1636058" y="285430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7" name="Rectangle 16">
              <a:extLst>
                <a:ext uri="{FF2B5EF4-FFF2-40B4-BE49-F238E27FC236}">
                  <a16:creationId xmlns:a16="http://schemas.microsoft.com/office/drawing/2014/main" id="{9E3CA064-8800-9D74-CEA6-37E9F3CCC249}"/>
                </a:ext>
              </a:extLst>
            </p:cNvPr>
            <p:cNvSpPr/>
            <p:nvPr/>
          </p:nvSpPr>
          <p:spPr>
            <a:xfrm>
              <a:off x="275795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2" name="Rectangle 1">
              <a:extLst>
                <a:ext uri="{FF2B5EF4-FFF2-40B4-BE49-F238E27FC236}">
                  <a16:creationId xmlns:a16="http://schemas.microsoft.com/office/drawing/2014/main" id="{C0596391-ED18-E46B-300B-3BB3F9A35BE1}"/>
                </a:ext>
              </a:extLst>
            </p:cNvPr>
            <p:cNvSpPr/>
            <p:nvPr/>
          </p:nvSpPr>
          <p:spPr>
            <a:xfrm>
              <a:off x="457200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8" name="Straight Arrow Connector 7">
              <a:extLst>
                <a:ext uri="{FF2B5EF4-FFF2-40B4-BE49-F238E27FC236}">
                  <a16:creationId xmlns:a16="http://schemas.microsoft.com/office/drawing/2014/main" id="{3CBB7E4D-7670-DF28-92DC-645DB36061DA}"/>
                </a:ext>
              </a:extLst>
            </p:cNvPr>
            <p:cNvCxnSpPr>
              <a:cxnSpLocks/>
            </p:cNvCxnSpPr>
            <p:nvPr/>
          </p:nvCxnSpPr>
          <p:spPr>
            <a:xfrm>
              <a:off x="1533833" y="327463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B50F267-4C7E-3292-93EA-ED28B8DD0656}"/>
                </a:ext>
              </a:extLst>
            </p:cNvPr>
            <p:cNvCxnSpPr>
              <a:cxnSpLocks/>
            </p:cNvCxnSpPr>
            <p:nvPr/>
          </p:nvCxnSpPr>
          <p:spPr>
            <a:xfrm>
              <a:off x="384933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B3BFF92C-07D5-A5B2-51A5-CC60BD8A75E0}"/>
                </a:ext>
              </a:extLst>
            </p:cNvPr>
            <p:cNvSpPr/>
            <p:nvPr/>
          </p:nvSpPr>
          <p:spPr>
            <a:xfrm>
              <a:off x="6352520"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8DC291C7-4E81-F997-D457-02CD5DBDCDCE}"/>
                </a:ext>
              </a:extLst>
            </p:cNvPr>
            <p:cNvSpPr/>
            <p:nvPr/>
          </p:nvSpPr>
          <p:spPr>
            <a:xfrm>
              <a:off x="6612257"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B8A90706-6E22-0571-5543-B618F30F6FF2}"/>
                </a:ext>
              </a:extLst>
            </p:cNvPr>
            <p:cNvSpPr/>
            <p:nvPr/>
          </p:nvSpPr>
          <p:spPr>
            <a:xfrm>
              <a:off x="7421122"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9535573C-CDAC-4942-3AA6-A5778E57344A}"/>
                </a:ext>
              </a:extLst>
            </p:cNvPr>
            <p:cNvSpPr/>
            <p:nvPr/>
          </p:nvSpPr>
          <p:spPr>
            <a:xfrm>
              <a:off x="8229987"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51" name="Straight Arrow Connector 50">
              <a:extLst>
                <a:ext uri="{FF2B5EF4-FFF2-40B4-BE49-F238E27FC236}">
                  <a16:creationId xmlns:a16="http://schemas.microsoft.com/office/drawing/2014/main" id="{3ADA4C99-E732-4137-539D-E01804563DB1}"/>
                </a:ext>
              </a:extLst>
            </p:cNvPr>
            <p:cNvCxnSpPr>
              <a:cxnSpLocks/>
            </p:cNvCxnSpPr>
            <p:nvPr/>
          </p:nvCxnSpPr>
          <p:spPr>
            <a:xfrm>
              <a:off x="7507318"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A00B2A67-02A2-3127-E29C-D7C8B591169C}"/>
                </a:ext>
              </a:extLst>
            </p:cNvPr>
            <p:cNvCxnSpPr>
              <a:cxnSpLocks/>
            </p:cNvCxnSpPr>
            <p:nvPr/>
          </p:nvCxnSpPr>
          <p:spPr>
            <a:xfrm>
              <a:off x="564719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0" name="Oval 59">
              <a:extLst>
                <a:ext uri="{FF2B5EF4-FFF2-40B4-BE49-F238E27FC236}">
                  <a16:creationId xmlns:a16="http://schemas.microsoft.com/office/drawing/2014/main" id="{43B6218A-B7EA-41A4-4A88-368BB8F837D1}"/>
                </a:ext>
              </a:extLst>
            </p:cNvPr>
            <p:cNvSpPr/>
            <p:nvPr/>
          </p:nvSpPr>
          <p:spPr>
            <a:xfrm>
              <a:off x="6903586"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1" name="Oval 80">
              <a:extLst>
                <a:ext uri="{FF2B5EF4-FFF2-40B4-BE49-F238E27FC236}">
                  <a16:creationId xmlns:a16="http://schemas.microsoft.com/office/drawing/2014/main" id="{6F13946C-6222-4280-4B66-613B491792E0}"/>
                </a:ext>
              </a:extLst>
            </p:cNvPr>
            <p:cNvSpPr/>
            <p:nvPr/>
          </p:nvSpPr>
          <p:spPr>
            <a:xfrm>
              <a:off x="7164605"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84" name="Straight Arrow Connector 83">
              <a:extLst>
                <a:ext uri="{FF2B5EF4-FFF2-40B4-BE49-F238E27FC236}">
                  <a16:creationId xmlns:a16="http://schemas.microsoft.com/office/drawing/2014/main" id="{90843B22-C1ED-5BCB-FB02-426F2DDE2B21}"/>
                </a:ext>
              </a:extLst>
            </p:cNvPr>
            <p:cNvCxnSpPr>
              <a:cxnSpLocks/>
            </p:cNvCxnSpPr>
            <p:nvPr/>
          </p:nvCxnSpPr>
          <p:spPr>
            <a:xfrm>
              <a:off x="9321368" y="331744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8" name="TextBox 87">
              <a:extLst>
                <a:ext uri="{FF2B5EF4-FFF2-40B4-BE49-F238E27FC236}">
                  <a16:creationId xmlns:a16="http://schemas.microsoft.com/office/drawing/2014/main" id="{B125891A-BCAB-EA3B-B15B-C039951FAD09}"/>
                </a:ext>
              </a:extLst>
            </p:cNvPr>
            <p:cNvSpPr txBox="1"/>
            <p:nvPr/>
          </p:nvSpPr>
          <p:spPr>
            <a:xfrm>
              <a:off x="9447944" y="2839602"/>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93" name="Straight Connector 92">
              <a:extLst>
                <a:ext uri="{FF2B5EF4-FFF2-40B4-BE49-F238E27FC236}">
                  <a16:creationId xmlns:a16="http://schemas.microsoft.com/office/drawing/2014/main" id="{2D7B033A-F9A7-E8A0-8B1F-587680B08392}"/>
                </a:ext>
              </a:extLst>
            </p:cNvPr>
            <p:cNvCxnSpPr>
              <a:cxnSpLocks/>
            </p:cNvCxnSpPr>
            <p:nvPr/>
          </p:nvCxnSpPr>
          <p:spPr>
            <a:xfrm flipH="1">
              <a:off x="1962664" y="321801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98" name="Straight Connector 97">
              <a:extLst>
                <a:ext uri="{FF2B5EF4-FFF2-40B4-BE49-F238E27FC236}">
                  <a16:creationId xmlns:a16="http://schemas.microsoft.com/office/drawing/2014/main" id="{1800FADF-8426-66EB-BE38-18439425F7F1}"/>
                </a:ext>
              </a:extLst>
            </p:cNvPr>
            <p:cNvCxnSpPr>
              <a:cxnSpLocks/>
            </p:cNvCxnSpPr>
            <p:nvPr/>
          </p:nvCxnSpPr>
          <p:spPr>
            <a:xfrm flipH="1">
              <a:off x="9679406" y="325204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99" name="TextBox 98">
              <a:extLst>
                <a:ext uri="{FF2B5EF4-FFF2-40B4-BE49-F238E27FC236}">
                  <a16:creationId xmlns:a16="http://schemas.microsoft.com/office/drawing/2014/main" id="{AF12B670-217B-10BA-473D-F3921D5F0171}"/>
                </a:ext>
              </a:extLst>
            </p:cNvPr>
            <p:cNvSpPr txBox="1"/>
            <p:nvPr/>
          </p:nvSpPr>
          <p:spPr>
            <a:xfrm>
              <a:off x="2150299" y="327463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01" name="TextBox 100">
              <a:extLst>
                <a:ext uri="{FF2B5EF4-FFF2-40B4-BE49-F238E27FC236}">
                  <a16:creationId xmlns:a16="http://schemas.microsoft.com/office/drawing/2014/main" id="{FD79411C-B73A-815D-FDD7-A232E7EB4283}"/>
                </a:ext>
              </a:extLst>
            </p:cNvPr>
            <p:cNvSpPr txBox="1"/>
            <p:nvPr/>
          </p:nvSpPr>
          <p:spPr>
            <a:xfrm>
              <a:off x="9899348" y="328871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7" name="TextBox 6">
            <a:extLst>
              <a:ext uri="{FF2B5EF4-FFF2-40B4-BE49-F238E27FC236}">
                <a16:creationId xmlns:a16="http://schemas.microsoft.com/office/drawing/2014/main" id="{ADA5DD0B-2094-5023-9145-E5A3B02CD512}"/>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704A7C34-5761-5BC2-6760-B2ECC37056F4}"/>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E6B68DFC-07E7-5E38-C362-EC08A7A291D4}"/>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6A5E34D1-26B9-ED40-7D0E-97F7FA0FDE6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8666A635-5A6D-F4EE-ACB7-AB5C77C5B5D6}"/>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35050AF6-6EF5-C826-5B91-EAF44A8AE63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8382246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A504F-0348-FD0F-5405-28BA62CC50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62D268-1B6A-65B4-7886-515AD8CD530A}"/>
              </a:ext>
            </a:extLst>
          </p:cNvPr>
          <p:cNvSpPr>
            <a:spLocks noGrp="1"/>
          </p:cNvSpPr>
          <p:nvPr>
            <p:ph type="title"/>
          </p:nvPr>
        </p:nvSpPr>
        <p:spPr>
          <a:xfrm>
            <a:off x="342901" y="219456"/>
            <a:ext cx="10287001" cy="470898"/>
          </a:xfrm>
        </p:spPr>
        <p:txBody>
          <a:bodyPr/>
          <a:lstStyle/>
          <a:p>
            <a:r>
              <a:rPr lang="en-US" dirty="0"/>
              <a:t>Modeling: Fixed point analysis </a:t>
            </a:r>
          </a:p>
        </p:txBody>
      </p:sp>
      <p:sp>
        <p:nvSpPr>
          <p:cNvPr id="4" name="Footer Placeholder 3">
            <a:extLst>
              <a:ext uri="{FF2B5EF4-FFF2-40B4-BE49-F238E27FC236}">
                <a16:creationId xmlns:a16="http://schemas.microsoft.com/office/drawing/2014/main" id="{527751AC-3368-9F1D-1313-26484F8F0DB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34673A0-E15B-2BBA-3F12-3376CC198ACD}"/>
              </a:ext>
            </a:extLst>
          </p:cNvPr>
          <p:cNvSpPr>
            <a:spLocks noGrp="1"/>
          </p:cNvSpPr>
          <p:nvPr>
            <p:ph type="sldNum" sz="quarter" idx="4"/>
          </p:nvPr>
        </p:nvSpPr>
        <p:spPr/>
        <p:txBody>
          <a:bodyPr/>
          <a:lstStyle/>
          <a:p>
            <a:pPr>
              <a:defRPr/>
            </a:pPr>
            <a:fld id="{A9CE67A1-BA7F-A74E-B5D7-615746DEEC2B}" type="slidenum">
              <a:rPr lang="en-US" smtClean="0"/>
              <a:pPr>
                <a:defRPr/>
              </a:pPr>
              <a:t>41</a:t>
            </a:fld>
            <a:endParaRPr lang="en-US" baseline="-11000" dirty="0"/>
          </a:p>
        </p:txBody>
      </p:sp>
      <p:sp>
        <p:nvSpPr>
          <p:cNvPr id="6" name="Date Placeholder 5">
            <a:extLst>
              <a:ext uri="{FF2B5EF4-FFF2-40B4-BE49-F238E27FC236}">
                <a16:creationId xmlns:a16="http://schemas.microsoft.com/office/drawing/2014/main" id="{8E1BF1F5-D671-34B7-ED62-CABEF009AFC7}"/>
              </a:ext>
            </a:extLst>
          </p:cNvPr>
          <p:cNvSpPr>
            <a:spLocks noGrp="1"/>
          </p:cNvSpPr>
          <p:nvPr>
            <p:ph type="dt" sz="half" idx="2"/>
          </p:nvPr>
        </p:nvSpPr>
        <p:spPr/>
        <p:txBody>
          <a:bodyPr/>
          <a:lstStyle/>
          <a:p>
            <a:fld id="{EAFD7BB1-AB7F-4336-A8B3-6627E5D36FE4}" type="datetime3">
              <a:rPr lang="en-US" smtClean="0"/>
              <a:t>19 March 2026</a:t>
            </a:fld>
            <a:endParaRPr lang="en-US" dirty="0"/>
          </a:p>
        </p:txBody>
      </p:sp>
      <p:cxnSp>
        <p:nvCxnSpPr>
          <p:cNvPr id="9" name="Straight Connector 8">
            <a:extLst>
              <a:ext uri="{FF2B5EF4-FFF2-40B4-BE49-F238E27FC236}">
                <a16:creationId xmlns:a16="http://schemas.microsoft.com/office/drawing/2014/main" id="{3C668840-F191-D5D1-D3B7-0657490F49DE}"/>
              </a:ext>
            </a:extLst>
          </p:cNvPr>
          <p:cNvCxnSpPr>
            <a:cxnSpLocks/>
          </p:cNvCxnSpPr>
          <p:nvPr/>
        </p:nvCxnSpPr>
        <p:spPr>
          <a:xfrm>
            <a:off x="49587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3D0963B-5152-7309-459C-93DE9692A7CE}"/>
              </a:ext>
            </a:extLst>
          </p:cNvPr>
          <p:cNvCxnSpPr>
            <a:cxnSpLocks/>
          </p:cNvCxnSpPr>
          <p:nvPr/>
        </p:nvCxnSpPr>
        <p:spPr>
          <a:xfrm>
            <a:off x="135591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604A3F1-9CE4-1083-023C-C48ABF32730D}"/>
              </a:ext>
            </a:extLst>
          </p:cNvPr>
          <p:cNvCxnSpPr>
            <a:cxnSpLocks/>
          </p:cNvCxnSpPr>
          <p:nvPr/>
        </p:nvCxnSpPr>
        <p:spPr>
          <a:xfrm>
            <a:off x="221595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3655496-BF15-F57A-38DD-510B041229CD}"/>
              </a:ext>
            </a:extLst>
          </p:cNvPr>
          <p:cNvCxnSpPr>
            <a:cxnSpLocks/>
          </p:cNvCxnSpPr>
          <p:nvPr/>
        </p:nvCxnSpPr>
        <p:spPr>
          <a:xfrm>
            <a:off x="3075991"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84557E7-C9E5-9ED1-E81A-69F8372131F0}"/>
              </a:ext>
            </a:extLst>
          </p:cNvPr>
          <p:cNvCxnSpPr>
            <a:cxnSpLocks/>
          </p:cNvCxnSpPr>
          <p:nvPr/>
        </p:nvCxnSpPr>
        <p:spPr>
          <a:xfrm>
            <a:off x="393603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A99D126-EE3D-05F5-A0C1-9D1C86202F2C}"/>
              </a:ext>
            </a:extLst>
          </p:cNvPr>
          <p:cNvCxnSpPr>
            <a:cxnSpLocks/>
          </p:cNvCxnSpPr>
          <p:nvPr/>
        </p:nvCxnSpPr>
        <p:spPr>
          <a:xfrm>
            <a:off x="4796069"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4F966DD-1DC7-C5CC-84E8-C78B932D9106}"/>
              </a:ext>
            </a:extLst>
          </p:cNvPr>
          <p:cNvCxnSpPr>
            <a:cxnSpLocks/>
          </p:cNvCxnSpPr>
          <p:nvPr/>
        </p:nvCxnSpPr>
        <p:spPr>
          <a:xfrm>
            <a:off x="5656108"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EFDFFD5-6597-0A49-D552-5FA6944900DB}"/>
              </a:ext>
            </a:extLst>
          </p:cNvPr>
          <p:cNvCxnSpPr>
            <a:cxnSpLocks/>
          </p:cNvCxnSpPr>
          <p:nvPr/>
        </p:nvCxnSpPr>
        <p:spPr>
          <a:xfrm>
            <a:off x="6516147"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10BCE71-917C-424C-7678-2CD07B6BA376}"/>
              </a:ext>
            </a:extLst>
          </p:cNvPr>
          <p:cNvCxnSpPr>
            <a:cxnSpLocks/>
          </p:cNvCxnSpPr>
          <p:nvPr/>
        </p:nvCxnSpPr>
        <p:spPr>
          <a:xfrm>
            <a:off x="7376186"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E4D7022-4FC1-D1A2-7FBE-48E1471CAFF7}"/>
              </a:ext>
            </a:extLst>
          </p:cNvPr>
          <p:cNvCxnSpPr>
            <a:cxnSpLocks/>
          </p:cNvCxnSpPr>
          <p:nvPr/>
        </p:nvCxnSpPr>
        <p:spPr>
          <a:xfrm>
            <a:off x="8236225"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A1EF5A6-F64C-AEB4-CBEF-BC85F6498A99}"/>
              </a:ext>
            </a:extLst>
          </p:cNvPr>
          <p:cNvCxnSpPr>
            <a:cxnSpLocks/>
          </p:cNvCxnSpPr>
          <p:nvPr/>
        </p:nvCxnSpPr>
        <p:spPr>
          <a:xfrm>
            <a:off x="909626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209DF99-D5DC-851E-2086-A3A33DA5FFC0}"/>
              </a:ext>
            </a:extLst>
          </p:cNvPr>
          <p:cNvCxnSpPr>
            <a:cxnSpLocks/>
          </p:cNvCxnSpPr>
          <p:nvPr/>
        </p:nvCxnSpPr>
        <p:spPr>
          <a:xfrm>
            <a:off x="995630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57A7708-5D37-A849-9356-DFF5B2982905}"/>
              </a:ext>
            </a:extLst>
          </p:cNvPr>
          <p:cNvCxnSpPr>
            <a:cxnSpLocks/>
          </p:cNvCxnSpPr>
          <p:nvPr/>
        </p:nvCxnSpPr>
        <p:spPr>
          <a:xfrm>
            <a:off x="1081634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FE79A9B-EBDE-4C0F-3224-FCCFAE75365E}"/>
              </a:ext>
            </a:extLst>
          </p:cNvPr>
          <p:cNvCxnSpPr>
            <a:cxnSpLocks/>
          </p:cNvCxnSpPr>
          <p:nvPr/>
        </p:nvCxnSpPr>
        <p:spPr>
          <a:xfrm>
            <a:off x="1167638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67B7344-FEFA-37B6-89D9-F846B7D5B9C3}"/>
              </a:ext>
            </a:extLst>
          </p:cNvPr>
          <p:cNvCxnSpPr>
            <a:cxnSpLocks/>
          </p:cNvCxnSpPr>
          <p:nvPr/>
        </p:nvCxnSpPr>
        <p:spPr>
          <a:xfrm flipV="1">
            <a:off x="495873" y="82745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62C9B57-B9D0-32AE-F365-2265E6934F71}"/>
              </a:ext>
            </a:extLst>
          </p:cNvPr>
          <p:cNvCxnSpPr>
            <a:cxnSpLocks/>
          </p:cNvCxnSpPr>
          <p:nvPr/>
        </p:nvCxnSpPr>
        <p:spPr>
          <a:xfrm flipV="1">
            <a:off x="495871" y="144016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4C25884-C37A-26A5-8C7A-08E03A7E4A0A}"/>
              </a:ext>
            </a:extLst>
          </p:cNvPr>
          <p:cNvCxnSpPr>
            <a:cxnSpLocks/>
          </p:cNvCxnSpPr>
          <p:nvPr/>
        </p:nvCxnSpPr>
        <p:spPr>
          <a:xfrm flipV="1">
            <a:off x="495870" y="205286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102C922-D105-882B-934E-21989FD81B07}"/>
              </a:ext>
            </a:extLst>
          </p:cNvPr>
          <p:cNvCxnSpPr>
            <a:cxnSpLocks/>
          </p:cNvCxnSpPr>
          <p:nvPr/>
        </p:nvCxnSpPr>
        <p:spPr>
          <a:xfrm flipV="1">
            <a:off x="495870" y="266557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378D14A-E508-4E78-F29D-62AEE5B31BEA}"/>
              </a:ext>
            </a:extLst>
          </p:cNvPr>
          <p:cNvCxnSpPr>
            <a:cxnSpLocks/>
          </p:cNvCxnSpPr>
          <p:nvPr/>
        </p:nvCxnSpPr>
        <p:spPr>
          <a:xfrm flipV="1">
            <a:off x="495870" y="389098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2193E13-7C6D-F1A1-6609-1F1DA9395AEE}"/>
              </a:ext>
            </a:extLst>
          </p:cNvPr>
          <p:cNvCxnSpPr>
            <a:cxnSpLocks/>
          </p:cNvCxnSpPr>
          <p:nvPr/>
        </p:nvCxnSpPr>
        <p:spPr>
          <a:xfrm flipV="1">
            <a:off x="495870" y="450368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1224E7A-26F0-3E96-DEEC-60FCEA64E425}"/>
              </a:ext>
            </a:extLst>
          </p:cNvPr>
          <p:cNvCxnSpPr>
            <a:cxnSpLocks/>
          </p:cNvCxnSpPr>
          <p:nvPr/>
        </p:nvCxnSpPr>
        <p:spPr>
          <a:xfrm flipV="1">
            <a:off x="495870" y="511639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F147662-3FCB-F463-9D15-01EA736CF2D4}"/>
              </a:ext>
            </a:extLst>
          </p:cNvPr>
          <p:cNvCxnSpPr>
            <a:cxnSpLocks/>
          </p:cNvCxnSpPr>
          <p:nvPr/>
        </p:nvCxnSpPr>
        <p:spPr>
          <a:xfrm flipV="1">
            <a:off x="495869" y="6341805"/>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85185A9-1638-0381-BC77-62453C529DF3}"/>
              </a:ext>
            </a:extLst>
          </p:cNvPr>
          <p:cNvCxnSpPr>
            <a:cxnSpLocks/>
          </p:cNvCxnSpPr>
          <p:nvPr/>
        </p:nvCxnSpPr>
        <p:spPr>
          <a:xfrm flipV="1">
            <a:off x="495869" y="327827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EB185F12-EBB2-22FF-9FFD-102F3AE27F9B}"/>
              </a:ext>
            </a:extLst>
          </p:cNvPr>
          <p:cNvSpPr/>
          <p:nvPr/>
        </p:nvSpPr>
        <p:spPr>
          <a:xfrm>
            <a:off x="657427" y="851573"/>
            <a:ext cx="601895" cy="58256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Q1.11</a:t>
            </a:r>
          </a:p>
        </p:txBody>
      </p:sp>
      <p:sp>
        <p:nvSpPr>
          <p:cNvPr id="37" name="Oval 36">
            <a:extLst>
              <a:ext uri="{FF2B5EF4-FFF2-40B4-BE49-F238E27FC236}">
                <a16:creationId xmlns:a16="http://schemas.microsoft.com/office/drawing/2014/main" id="{F3764DF8-BF0D-25D6-BA35-4668D0663243}"/>
              </a:ext>
            </a:extLst>
          </p:cNvPr>
          <p:cNvSpPr/>
          <p:nvPr/>
        </p:nvSpPr>
        <p:spPr>
          <a:xfrm>
            <a:off x="1497242" y="2069594"/>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Q3.9</a:t>
            </a:r>
          </a:p>
        </p:txBody>
      </p:sp>
      <p:sp>
        <p:nvSpPr>
          <p:cNvPr id="38" name="Oval 37">
            <a:extLst>
              <a:ext uri="{FF2B5EF4-FFF2-40B4-BE49-F238E27FC236}">
                <a16:creationId xmlns:a16="http://schemas.microsoft.com/office/drawing/2014/main" id="{2DFCCCA8-1B9E-923B-B0CE-1E18DDFB07C8}"/>
              </a:ext>
            </a:extLst>
          </p:cNvPr>
          <p:cNvSpPr/>
          <p:nvPr/>
        </p:nvSpPr>
        <p:spPr>
          <a:xfrm>
            <a:off x="2331159"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39" name="Oval 38">
            <a:extLst>
              <a:ext uri="{FF2B5EF4-FFF2-40B4-BE49-F238E27FC236}">
                <a16:creationId xmlns:a16="http://schemas.microsoft.com/office/drawing/2014/main" id="{5AA43FAB-16CA-E653-3D0E-A5DFF7D0BC50}"/>
              </a:ext>
            </a:extLst>
          </p:cNvPr>
          <p:cNvSpPr/>
          <p:nvPr/>
        </p:nvSpPr>
        <p:spPr>
          <a:xfrm>
            <a:off x="3221618"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40" name="Oval 39">
            <a:extLst>
              <a:ext uri="{FF2B5EF4-FFF2-40B4-BE49-F238E27FC236}">
                <a16:creationId xmlns:a16="http://schemas.microsoft.com/office/drawing/2014/main" id="{ACB858A9-BB6F-9C41-892D-58C03A843DDC}"/>
              </a:ext>
            </a:extLst>
          </p:cNvPr>
          <p:cNvSpPr/>
          <p:nvPr/>
        </p:nvSpPr>
        <p:spPr>
          <a:xfrm>
            <a:off x="4046939" y="331403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Q5.7</a:t>
            </a:r>
          </a:p>
        </p:txBody>
      </p:sp>
      <p:sp>
        <p:nvSpPr>
          <p:cNvPr id="41" name="Oval 40">
            <a:extLst>
              <a:ext uri="{FF2B5EF4-FFF2-40B4-BE49-F238E27FC236}">
                <a16:creationId xmlns:a16="http://schemas.microsoft.com/office/drawing/2014/main" id="{1F901611-E077-C0E6-A995-EDD15A58C8A5}"/>
              </a:ext>
            </a:extLst>
          </p:cNvPr>
          <p:cNvSpPr/>
          <p:nvPr/>
        </p:nvSpPr>
        <p:spPr>
          <a:xfrm>
            <a:off x="4924335"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2" name="Oval 41">
            <a:extLst>
              <a:ext uri="{FF2B5EF4-FFF2-40B4-BE49-F238E27FC236}">
                <a16:creationId xmlns:a16="http://schemas.microsoft.com/office/drawing/2014/main" id="{8974EB03-A221-1344-316E-A3A98BA63626}"/>
              </a:ext>
            </a:extLst>
          </p:cNvPr>
          <p:cNvSpPr/>
          <p:nvPr/>
        </p:nvSpPr>
        <p:spPr>
          <a:xfrm>
            <a:off x="5784370"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3" name="Oval 42">
            <a:extLst>
              <a:ext uri="{FF2B5EF4-FFF2-40B4-BE49-F238E27FC236}">
                <a16:creationId xmlns:a16="http://schemas.microsoft.com/office/drawing/2014/main" id="{4C11BF81-1742-89C2-2F5A-1EF830DA4228}"/>
              </a:ext>
            </a:extLst>
          </p:cNvPr>
          <p:cNvSpPr/>
          <p:nvPr/>
        </p:nvSpPr>
        <p:spPr>
          <a:xfrm>
            <a:off x="6644413"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4" name="Oval 43">
            <a:extLst>
              <a:ext uri="{FF2B5EF4-FFF2-40B4-BE49-F238E27FC236}">
                <a16:creationId xmlns:a16="http://schemas.microsoft.com/office/drawing/2014/main" id="{A259B4F7-1ADD-DE37-D5C2-ED407B6E027D}"/>
              </a:ext>
            </a:extLst>
          </p:cNvPr>
          <p:cNvSpPr/>
          <p:nvPr/>
        </p:nvSpPr>
        <p:spPr>
          <a:xfrm>
            <a:off x="7504450"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5" name="Oval 44">
            <a:extLst>
              <a:ext uri="{FF2B5EF4-FFF2-40B4-BE49-F238E27FC236}">
                <a16:creationId xmlns:a16="http://schemas.microsoft.com/office/drawing/2014/main" id="{13D2D5D7-6BB4-36B3-5354-C6F3937C8B29}"/>
              </a:ext>
            </a:extLst>
          </p:cNvPr>
          <p:cNvSpPr/>
          <p:nvPr/>
        </p:nvSpPr>
        <p:spPr>
          <a:xfrm>
            <a:off x="8364487"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6" name="Oval 45">
            <a:extLst>
              <a:ext uri="{FF2B5EF4-FFF2-40B4-BE49-F238E27FC236}">
                <a16:creationId xmlns:a16="http://schemas.microsoft.com/office/drawing/2014/main" id="{C028CA94-D45F-A433-4E21-A1C7F80F8CCD}"/>
              </a:ext>
            </a:extLst>
          </p:cNvPr>
          <p:cNvSpPr/>
          <p:nvPr/>
        </p:nvSpPr>
        <p:spPr>
          <a:xfrm>
            <a:off x="9223720"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7" name="Oval 46">
            <a:extLst>
              <a:ext uri="{FF2B5EF4-FFF2-40B4-BE49-F238E27FC236}">
                <a16:creationId xmlns:a16="http://schemas.microsoft.com/office/drawing/2014/main" id="{5E09EF41-B850-1C8A-6C28-0DA3C87C4DB9}"/>
              </a:ext>
            </a:extLst>
          </p:cNvPr>
          <p:cNvSpPr/>
          <p:nvPr/>
        </p:nvSpPr>
        <p:spPr>
          <a:xfrm>
            <a:off x="10944608"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sp>
        <p:nvSpPr>
          <p:cNvPr id="48" name="Oval 47">
            <a:extLst>
              <a:ext uri="{FF2B5EF4-FFF2-40B4-BE49-F238E27FC236}">
                <a16:creationId xmlns:a16="http://schemas.microsoft.com/office/drawing/2014/main" id="{2069DEB2-9567-6CC7-8E2E-E73F79B8F32E}"/>
              </a:ext>
            </a:extLst>
          </p:cNvPr>
          <p:cNvSpPr/>
          <p:nvPr/>
        </p:nvSpPr>
        <p:spPr>
          <a:xfrm>
            <a:off x="10084569"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cxnSp>
        <p:nvCxnSpPr>
          <p:cNvPr id="49" name="Straight Connector 48">
            <a:extLst>
              <a:ext uri="{FF2B5EF4-FFF2-40B4-BE49-F238E27FC236}">
                <a16:creationId xmlns:a16="http://schemas.microsoft.com/office/drawing/2014/main" id="{3FD56C9F-4ED5-845C-383C-6818F05D3ADC}"/>
              </a:ext>
            </a:extLst>
          </p:cNvPr>
          <p:cNvCxnSpPr>
            <a:cxnSpLocks/>
          </p:cNvCxnSpPr>
          <p:nvPr/>
        </p:nvCxnSpPr>
        <p:spPr>
          <a:xfrm flipV="1">
            <a:off x="495868" y="572909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670266E9-45B6-268B-D2AC-942F5730F8A0}"/>
              </a:ext>
            </a:extLst>
          </p:cNvPr>
          <p:cNvSpPr txBox="1"/>
          <p:nvPr/>
        </p:nvSpPr>
        <p:spPr>
          <a:xfrm rot="5400000">
            <a:off x="1019237" y="166332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a:t>
            </a:r>
          </a:p>
        </p:txBody>
      </p:sp>
      <p:sp>
        <p:nvSpPr>
          <p:cNvPr id="62" name="TextBox 61">
            <a:extLst>
              <a:ext uri="{FF2B5EF4-FFF2-40B4-BE49-F238E27FC236}">
                <a16:creationId xmlns:a16="http://schemas.microsoft.com/office/drawing/2014/main" id="{4A6B565E-A370-7F4A-6B3E-8C23E7A4B2FC}"/>
              </a:ext>
            </a:extLst>
          </p:cNvPr>
          <p:cNvSpPr txBox="1"/>
          <p:nvPr/>
        </p:nvSpPr>
        <p:spPr>
          <a:xfrm rot="5400000">
            <a:off x="1898798" y="2297899"/>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Stage2</a:t>
            </a:r>
          </a:p>
        </p:txBody>
      </p:sp>
      <p:sp>
        <p:nvSpPr>
          <p:cNvPr id="63" name="TextBox 62">
            <a:extLst>
              <a:ext uri="{FF2B5EF4-FFF2-40B4-BE49-F238E27FC236}">
                <a16:creationId xmlns:a16="http://schemas.microsoft.com/office/drawing/2014/main" id="{DEB757E2-0956-0C54-3E1D-30A03DA1FB68}"/>
              </a:ext>
            </a:extLst>
          </p:cNvPr>
          <p:cNvSpPr txBox="1"/>
          <p:nvPr/>
        </p:nvSpPr>
        <p:spPr>
          <a:xfrm rot="5400000">
            <a:off x="2722325" y="28847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Stage3</a:t>
            </a:r>
          </a:p>
        </p:txBody>
      </p:sp>
      <p:sp>
        <p:nvSpPr>
          <p:cNvPr id="64" name="TextBox 63">
            <a:extLst>
              <a:ext uri="{FF2B5EF4-FFF2-40B4-BE49-F238E27FC236}">
                <a16:creationId xmlns:a16="http://schemas.microsoft.com/office/drawing/2014/main" id="{9666E6C5-A58C-B4A6-DD36-63EE0F8B142E}"/>
              </a:ext>
            </a:extLst>
          </p:cNvPr>
          <p:cNvSpPr txBox="1"/>
          <p:nvPr/>
        </p:nvSpPr>
        <p:spPr>
          <a:xfrm rot="5400000">
            <a:off x="3623175" y="349631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Stage4</a:t>
            </a:r>
          </a:p>
        </p:txBody>
      </p:sp>
      <p:sp>
        <p:nvSpPr>
          <p:cNvPr id="65" name="TextBox 64">
            <a:extLst>
              <a:ext uri="{FF2B5EF4-FFF2-40B4-BE49-F238E27FC236}">
                <a16:creationId xmlns:a16="http://schemas.microsoft.com/office/drawing/2014/main" id="{E6AE21D4-56DB-C3BC-D591-371B67F1F264}"/>
              </a:ext>
            </a:extLst>
          </p:cNvPr>
          <p:cNvSpPr txBox="1"/>
          <p:nvPr/>
        </p:nvSpPr>
        <p:spPr>
          <a:xfrm rot="5400000">
            <a:off x="4453472"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Stage5</a:t>
            </a:r>
          </a:p>
        </p:txBody>
      </p:sp>
      <p:sp>
        <p:nvSpPr>
          <p:cNvPr id="66" name="TextBox 65">
            <a:extLst>
              <a:ext uri="{FF2B5EF4-FFF2-40B4-BE49-F238E27FC236}">
                <a16:creationId xmlns:a16="http://schemas.microsoft.com/office/drawing/2014/main" id="{E9409E43-5B72-B613-E930-3F714864BD76}"/>
              </a:ext>
            </a:extLst>
          </p:cNvPr>
          <p:cNvSpPr txBox="1"/>
          <p:nvPr/>
        </p:nvSpPr>
        <p:spPr>
          <a:xfrm rot="5400000">
            <a:off x="5331231"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Stage6</a:t>
            </a:r>
          </a:p>
        </p:txBody>
      </p:sp>
      <p:sp>
        <p:nvSpPr>
          <p:cNvPr id="67" name="TextBox 66">
            <a:extLst>
              <a:ext uri="{FF2B5EF4-FFF2-40B4-BE49-F238E27FC236}">
                <a16:creationId xmlns:a16="http://schemas.microsoft.com/office/drawing/2014/main" id="{34BDBB02-9DE8-0933-3ED2-BD0849003F62}"/>
              </a:ext>
            </a:extLst>
          </p:cNvPr>
          <p:cNvSpPr txBox="1"/>
          <p:nvPr/>
        </p:nvSpPr>
        <p:spPr>
          <a:xfrm rot="5400000">
            <a:off x="6185927"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Stage7</a:t>
            </a:r>
          </a:p>
        </p:txBody>
      </p:sp>
      <p:sp>
        <p:nvSpPr>
          <p:cNvPr id="68" name="TextBox 67">
            <a:extLst>
              <a:ext uri="{FF2B5EF4-FFF2-40B4-BE49-F238E27FC236}">
                <a16:creationId xmlns:a16="http://schemas.microsoft.com/office/drawing/2014/main" id="{2E4533DA-4985-FC01-DEAF-0DB1E60519D8}"/>
              </a:ext>
            </a:extLst>
          </p:cNvPr>
          <p:cNvSpPr txBox="1"/>
          <p:nvPr/>
        </p:nvSpPr>
        <p:spPr>
          <a:xfrm rot="5400000">
            <a:off x="7040623"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Stage8</a:t>
            </a:r>
          </a:p>
        </p:txBody>
      </p:sp>
      <p:sp>
        <p:nvSpPr>
          <p:cNvPr id="69" name="TextBox 68">
            <a:extLst>
              <a:ext uri="{FF2B5EF4-FFF2-40B4-BE49-F238E27FC236}">
                <a16:creationId xmlns:a16="http://schemas.microsoft.com/office/drawing/2014/main" id="{2F881252-D955-9CD5-BCEF-7777EDF644FE}"/>
              </a:ext>
            </a:extLst>
          </p:cNvPr>
          <p:cNvSpPr txBox="1"/>
          <p:nvPr/>
        </p:nvSpPr>
        <p:spPr>
          <a:xfrm rot="5400000">
            <a:off x="7899140"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Stage9</a:t>
            </a:r>
          </a:p>
        </p:txBody>
      </p:sp>
      <p:sp>
        <p:nvSpPr>
          <p:cNvPr id="70" name="TextBox 69">
            <a:extLst>
              <a:ext uri="{FF2B5EF4-FFF2-40B4-BE49-F238E27FC236}">
                <a16:creationId xmlns:a16="http://schemas.microsoft.com/office/drawing/2014/main" id="{DA14C57F-3C8E-1F4A-63F8-373443ECAB39}"/>
              </a:ext>
            </a:extLst>
          </p:cNvPr>
          <p:cNvSpPr txBox="1"/>
          <p:nvPr/>
        </p:nvSpPr>
        <p:spPr>
          <a:xfrm rot="5400000">
            <a:off x="8776742"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Stage10</a:t>
            </a:r>
          </a:p>
        </p:txBody>
      </p:sp>
      <p:sp>
        <p:nvSpPr>
          <p:cNvPr id="71" name="TextBox 70">
            <a:extLst>
              <a:ext uri="{FF2B5EF4-FFF2-40B4-BE49-F238E27FC236}">
                <a16:creationId xmlns:a16="http://schemas.microsoft.com/office/drawing/2014/main" id="{0E3BBD4C-EF66-4813-2DA8-96051E18F50B}"/>
              </a:ext>
            </a:extLst>
          </p:cNvPr>
          <p:cNvSpPr txBox="1"/>
          <p:nvPr/>
        </p:nvSpPr>
        <p:spPr>
          <a:xfrm rot="5400000">
            <a:off x="9608987"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Stage11</a:t>
            </a:r>
          </a:p>
        </p:txBody>
      </p:sp>
      <p:sp>
        <p:nvSpPr>
          <p:cNvPr id="72" name="TextBox 71">
            <a:extLst>
              <a:ext uri="{FF2B5EF4-FFF2-40B4-BE49-F238E27FC236}">
                <a16:creationId xmlns:a16="http://schemas.microsoft.com/office/drawing/2014/main" id="{0E910C53-FD16-8BC3-FC2B-6A9DF92FC7A0}"/>
              </a:ext>
            </a:extLst>
          </p:cNvPr>
          <p:cNvSpPr txBox="1"/>
          <p:nvPr/>
        </p:nvSpPr>
        <p:spPr>
          <a:xfrm rot="5400000">
            <a:off x="10480115"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Stage12</a:t>
            </a:r>
          </a:p>
        </p:txBody>
      </p:sp>
      <p:sp>
        <p:nvSpPr>
          <p:cNvPr id="77" name="TextBox 76">
            <a:extLst>
              <a:ext uri="{FF2B5EF4-FFF2-40B4-BE49-F238E27FC236}">
                <a16:creationId xmlns:a16="http://schemas.microsoft.com/office/drawing/2014/main" id="{9BDF9DED-E89A-6BA8-5828-A4C9DCB6A3E3}"/>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8" name="TextBox 77">
            <a:extLst>
              <a:ext uri="{FF2B5EF4-FFF2-40B4-BE49-F238E27FC236}">
                <a16:creationId xmlns:a16="http://schemas.microsoft.com/office/drawing/2014/main" id="{819B9B11-694E-0C29-CC79-6BFFBACFEAAE}"/>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79" name="TextBox 78">
            <a:extLst>
              <a:ext uri="{FF2B5EF4-FFF2-40B4-BE49-F238E27FC236}">
                <a16:creationId xmlns:a16="http://schemas.microsoft.com/office/drawing/2014/main" id="{CE6EC01D-2C5B-CF2D-5E3B-52BD23683809}"/>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80" name="TextBox 79">
            <a:extLst>
              <a:ext uri="{FF2B5EF4-FFF2-40B4-BE49-F238E27FC236}">
                <a16:creationId xmlns:a16="http://schemas.microsoft.com/office/drawing/2014/main" id="{057B9366-2BD8-45C4-70A4-59735C751AF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81" name="TextBox 80">
            <a:extLst>
              <a:ext uri="{FF2B5EF4-FFF2-40B4-BE49-F238E27FC236}">
                <a16:creationId xmlns:a16="http://schemas.microsoft.com/office/drawing/2014/main" id="{C605E20A-0608-DB34-FC67-83A92AA7DA1E}"/>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82" name="TextBox 81">
            <a:extLst>
              <a:ext uri="{FF2B5EF4-FFF2-40B4-BE49-F238E27FC236}">
                <a16:creationId xmlns:a16="http://schemas.microsoft.com/office/drawing/2014/main" id="{1396B4A6-5839-27D8-D538-BE4D0A2CFCE6}"/>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77761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100"/>
                                        <p:tgtEl>
                                          <p:spTgt spid="3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100"/>
                                        <p:tgtEl>
                                          <p:spTgt spid="3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100"/>
                                        <p:tgtEl>
                                          <p:spTgt spid="6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1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3"/>
                                        </p:tgtEl>
                                        <p:attrNameLst>
                                          <p:attrName>style.visibility</p:attrName>
                                        </p:attrNameLst>
                                      </p:cBhvr>
                                      <p:to>
                                        <p:strVal val="visible"/>
                                      </p:to>
                                    </p:set>
                                    <p:animEffect transition="in" filter="fade">
                                      <p:cBhvr>
                                        <p:cTn id="30" dur="100"/>
                                        <p:tgtEl>
                                          <p:spTgt spid="6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1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fade">
                                      <p:cBhvr>
                                        <p:cTn id="40" dur="100"/>
                                        <p:tgtEl>
                                          <p:spTgt spid="6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100"/>
                                        <p:tgtEl>
                                          <p:spTgt spid="4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65"/>
                                        </p:tgtEl>
                                        <p:attrNameLst>
                                          <p:attrName>style.visibility</p:attrName>
                                        </p:attrNameLst>
                                      </p:cBhvr>
                                      <p:to>
                                        <p:strVal val="visible"/>
                                      </p:to>
                                    </p:set>
                                    <p:animEffect transition="in" filter="fade">
                                      <p:cBhvr>
                                        <p:cTn id="50" dur="100"/>
                                        <p:tgtEl>
                                          <p:spTgt spid="6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100"/>
                                        <p:tgtEl>
                                          <p:spTgt spid="4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66">
                                            <p:txEl>
                                              <p:pRg st="0" end="0"/>
                                            </p:txEl>
                                          </p:spTgt>
                                        </p:tgtEl>
                                        <p:attrNameLst>
                                          <p:attrName>style.visibility</p:attrName>
                                        </p:attrNameLst>
                                      </p:cBhvr>
                                      <p:to>
                                        <p:strVal val="visible"/>
                                      </p:to>
                                    </p:set>
                                    <p:animEffect transition="in" filter="fade">
                                      <p:cBhvr>
                                        <p:cTn id="60" dur="100"/>
                                        <p:tgtEl>
                                          <p:spTgt spid="66">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fade">
                                      <p:cBhvr>
                                        <p:cTn id="65" dur="100"/>
                                        <p:tgtEl>
                                          <p:spTgt spid="4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100"/>
                                        <p:tgtEl>
                                          <p:spTgt spid="6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100"/>
                                        <p:tgtEl>
                                          <p:spTgt spid="4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68"/>
                                        </p:tgtEl>
                                        <p:attrNameLst>
                                          <p:attrName>style.visibility</p:attrName>
                                        </p:attrNameLst>
                                      </p:cBhvr>
                                      <p:to>
                                        <p:strVal val="visible"/>
                                      </p:to>
                                    </p:set>
                                    <p:animEffect transition="in" filter="fade">
                                      <p:cBhvr>
                                        <p:cTn id="80" dur="100"/>
                                        <p:tgtEl>
                                          <p:spTgt spid="68"/>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fade">
                                      <p:cBhvr>
                                        <p:cTn id="85" dur="100"/>
                                        <p:tgtEl>
                                          <p:spTgt spid="4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69"/>
                                        </p:tgtEl>
                                        <p:attrNameLst>
                                          <p:attrName>style.visibility</p:attrName>
                                        </p:attrNameLst>
                                      </p:cBhvr>
                                      <p:to>
                                        <p:strVal val="visible"/>
                                      </p:to>
                                    </p:set>
                                    <p:animEffect transition="in" filter="fade">
                                      <p:cBhvr>
                                        <p:cTn id="90" dur="100"/>
                                        <p:tgtEl>
                                          <p:spTgt spid="6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100"/>
                                        <p:tgtEl>
                                          <p:spTgt spid="45"/>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70"/>
                                        </p:tgtEl>
                                        <p:attrNameLst>
                                          <p:attrName>style.visibility</p:attrName>
                                        </p:attrNameLst>
                                      </p:cBhvr>
                                      <p:to>
                                        <p:strVal val="visible"/>
                                      </p:to>
                                    </p:set>
                                    <p:animEffect transition="in" filter="fade">
                                      <p:cBhvr>
                                        <p:cTn id="100" dur="100"/>
                                        <p:tgtEl>
                                          <p:spTgt spid="70"/>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100"/>
                                        <p:tgtEl>
                                          <p:spTgt spid="4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71"/>
                                        </p:tgtEl>
                                        <p:attrNameLst>
                                          <p:attrName>style.visibility</p:attrName>
                                        </p:attrNameLst>
                                      </p:cBhvr>
                                      <p:to>
                                        <p:strVal val="visible"/>
                                      </p:to>
                                    </p:set>
                                    <p:animEffect transition="in" filter="fade">
                                      <p:cBhvr>
                                        <p:cTn id="110" dur="100"/>
                                        <p:tgtEl>
                                          <p:spTgt spid="71"/>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5" dur="100"/>
                                        <p:tgtEl>
                                          <p:spTgt spid="48"/>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72"/>
                                        </p:tgtEl>
                                        <p:attrNameLst>
                                          <p:attrName>style.visibility</p:attrName>
                                        </p:attrNameLst>
                                      </p:cBhvr>
                                      <p:to>
                                        <p:strVal val="visible"/>
                                      </p:to>
                                    </p:set>
                                    <p:animEffect transition="in" filter="fade">
                                      <p:cBhvr>
                                        <p:cTn id="120" dur="100"/>
                                        <p:tgtEl>
                                          <p:spTgt spid="72"/>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1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50" grpId="0"/>
      <p:bldP spid="62" grpId="0"/>
      <p:bldP spid="63" grpId="0"/>
      <p:bldP spid="64" grpId="0"/>
      <p:bldP spid="65" grpId="0"/>
      <p:bldP spid="67" grpId="0"/>
      <p:bldP spid="68" grpId="0"/>
      <p:bldP spid="69" grpId="0"/>
      <p:bldP spid="70" grpId="0"/>
      <p:bldP spid="71" grpId="0"/>
      <p:bldP spid="7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5960B-89FE-1E00-23AD-225119B08A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25DADD-AAD6-3D2C-6D8E-1BAF5DE68A54}"/>
              </a:ext>
            </a:extLst>
          </p:cNvPr>
          <p:cNvSpPr>
            <a:spLocks noGrp="1"/>
          </p:cNvSpPr>
          <p:nvPr>
            <p:ph type="title"/>
          </p:nvPr>
        </p:nvSpPr>
        <p:spPr>
          <a:xfrm>
            <a:off x="342901" y="219456"/>
            <a:ext cx="10287001" cy="470898"/>
          </a:xfrm>
        </p:spPr>
        <p:txBody>
          <a:bodyPr/>
          <a:lstStyle/>
          <a:p>
            <a:r>
              <a:rPr lang="en-US" dirty="0"/>
              <a:t>Modeling: Fixed point analysis </a:t>
            </a:r>
          </a:p>
        </p:txBody>
      </p:sp>
      <p:sp>
        <p:nvSpPr>
          <p:cNvPr id="4" name="Footer Placeholder 3">
            <a:extLst>
              <a:ext uri="{FF2B5EF4-FFF2-40B4-BE49-F238E27FC236}">
                <a16:creationId xmlns:a16="http://schemas.microsoft.com/office/drawing/2014/main" id="{D4B3CFC6-27D9-32CB-C96D-7A86A77D632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1E2AC43-A15A-CF67-ABDD-7778C694A563}"/>
              </a:ext>
            </a:extLst>
          </p:cNvPr>
          <p:cNvSpPr>
            <a:spLocks noGrp="1"/>
          </p:cNvSpPr>
          <p:nvPr>
            <p:ph type="sldNum" sz="quarter" idx="4"/>
          </p:nvPr>
        </p:nvSpPr>
        <p:spPr/>
        <p:txBody>
          <a:bodyPr/>
          <a:lstStyle/>
          <a:p>
            <a:pPr>
              <a:defRPr/>
            </a:pPr>
            <a:fld id="{A9CE67A1-BA7F-A74E-B5D7-615746DEEC2B}" type="slidenum">
              <a:rPr lang="en-US" smtClean="0"/>
              <a:pPr>
                <a:defRPr/>
              </a:pPr>
              <a:t>42</a:t>
            </a:fld>
            <a:endParaRPr lang="en-US" baseline="-11000" dirty="0"/>
          </a:p>
        </p:txBody>
      </p:sp>
      <p:sp>
        <p:nvSpPr>
          <p:cNvPr id="6" name="Date Placeholder 5">
            <a:extLst>
              <a:ext uri="{FF2B5EF4-FFF2-40B4-BE49-F238E27FC236}">
                <a16:creationId xmlns:a16="http://schemas.microsoft.com/office/drawing/2014/main" id="{37FF52E2-6218-50C6-B7F5-5B6DB51CCB76}"/>
              </a:ext>
            </a:extLst>
          </p:cNvPr>
          <p:cNvSpPr>
            <a:spLocks noGrp="1"/>
          </p:cNvSpPr>
          <p:nvPr>
            <p:ph type="dt" sz="half" idx="2"/>
          </p:nvPr>
        </p:nvSpPr>
        <p:spPr/>
        <p:txBody>
          <a:bodyPr/>
          <a:lstStyle/>
          <a:p>
            <a:fld id="{EAFD7BB1-AB7F-4336-A8B3-6627E5D36FE4}" type="datetime3">
              <a:rPr lang="en-US" smtClean="0"/>
              <a:t>19 March 2026</a:t>
            </a:fld>
            <a:endParaRPr lang="en-US" dirty="0"/>
          </a:p>
        </p:txBody>
      </p:sp>
      <p:cxnSp>
        <p:nvCxnSpPr>
          <p:cNvPr id="9" name="Straight Connector 8">
            <a:extLst>
              <a:ext uri="{FF2B5EF4-FFF2-40B4-BE49-F238E27FC236}">
                <a16:creationId xmlns:a16="http://schemas.microsoft.com/office/drawing/2014/main" id="{9E37192E-8535-ED4E-A795-CAD8F5B41439}"/>
              </a:ext>
            </a:extLst>
          </p:cNvPr>
          <p:cNvCxnSpPr>
            <a:cxnSpLocks/>
          </p:cNvCxnSpPr>
          <p:nvPr/>
        </p:nvCxnSpPr>
        <p:spPr>
          <a:xfrm>
            <a:off x="49587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607D184-A63A-DE8D-12CE-919550639C0D}"/>
              </a:ext>
            </a:extLst>
          </p:cNvPr>
          <p:cNvCxnSpPr>
            <a:cxnSpLocks/>
          </p:cNvCxnSpPr>
          <p:nvPr/>
        </p:nvCxnSpPr>
        <p:spPr>
          <a:xfrm>
            <a:off x="135591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AB60859-D05E-E7B9-6F9D-920D30667CF9}"/>
              </a:ext>
            </a:extLst>
          </p:cNvPr>
          <p:cNvCxnSpPr>
            <a:cxnSpLocks/>
          </p:cNvCxnSpPr>
          <p:nvPr/>
        </p:nvCxnSpPr>
        <p:spPr>
          <a:xfrm>
            <a:off x="221595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67C3AA-A0D9-F466-B376-7A911542FD37}"/>
              </a:ext>
            </a:extLst>
          </p:cNvPr>
          <p:cNvCxnSpPr>
            <a:cxnSpLocks/>
          </p:cNvCxnSpPr>
          <p:nvPr/>
        </p:nvCxnSpPr>
        <p:spPr>
          <a:xfrm>
            <a:off x="3075991"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4BBF243-8FF9-D768-0BA5-F7586BEEAA63}"/>
              </a:ext>
            </a:extLst>
          </p:cNvPr>
          <p:cNvCxnSpPr>
            <a:cxnSpLocks/>
          </p:cNvCxnSpPr>
          <p:nvPr/>
        </p:nvCxnSpPr>
        <p:spPr>
          <a:xfrm>
            <a:off x="393603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45384A6-232D-0486-00C1-CAD8094FFDA3}"/>
              </a:ext>
            </a:extLst>
          </p:cNvPr>
          <p:cNvCxnSpPr>
            <a:cxnSpLocks/>
          </p:cNvCxnSpPr>
          <p:nvPr/>
        </p:nvCxnSpPr>
        <p:spPr>
          <a:xfrm>
            <a:off x="4796069"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5E09281-9EC2-5C61-6501-7336AD9BD920}"/>
              </a:ext>
            </a:extLst>
          </p:cNvPr>
          <p:cNvCxnSpPr>
            <a:cxnSpLocks/>
          </p:cNvCxnSpPr>
          <p:nvPr/>
        </p:nvCxnSpPr>
        <p:spPr>
          <a:xfrm>
            <a:off x="5656108"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0AA783D-9AC6-A67F-76CC-0C53F58DAA98}"/>
              </a:ext>
            </a:extLst>
          </p:cNvPr>
          <p:cNvCxnSpPr>
            <a:cxnSpLocks/>
          </p:cNvCxnSpPr>
          <p:nvPr/>
        </p:nvCxnSpPr>
        <p:spPr>
          <a:xfrm>
            <a:off x="6516147"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6A8A1BE-ED33-6BBE-C648-9F7564BA16A7}"/>
              </a:ext>
            </a:extLst>
          </p:cNvPr>
          <p:cNvCxnSpPr>
            <a:cxnSpLocks/>
          </p:cNvCxnSpPr>
          <p:nvPr/>
        </p:nvCxnSpPr>
        <p:spPr>
          <a:xfrm>
            <a:off x="7376186"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2815E3C-7488-5DA9-DA93-B0D0AEC9EEFB}"/>
              </a:ext>
            </a:extLst>
          </p:cNvPr>
          <p:cNvCxnSpPr>
            <a:cxnSpLocks/>
          </p:cNvCxnSpPr>
          <p:nvPr/>
        </p:nvCxnSpPr>
        <p:spPr>
          <a:xfrm>
            <a:off x="8236225"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8DA40EA-4C70-A3CA-A188-C9D3377A6481}"/>
              </a:ext>
            </a:extLst>
          </p:cNvPr>
          <p:cNvCxnSpPr>
            <a:cxnSpLocks/>
          </p:cNvCxnSpPr>
          <p:nvPr/>
        </p:nvCxnSpPr>
        <p:spPr>
          <a:xfrm>
            <a:off x="909626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3CF8C66-CFE0-3B35-FA26-8AE30B8D9F85}"/>
              </a:ext>
            </a:extLst>
          </p:cNvPr>
          <p:cNvCxnSpPr>
            <a:cxnSpLocks/>
          </p:cNvCxnSpPr>
          <p:nvPr/>
        </p:nvCxnSpPr>
        <p:spPr>
          <a:xfrm>
            <a:off x="995630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5266552-8E7D-5811-22BC-1F0BAFFE0855}"/>
              </a:ext>
            </a:extLst>
          </p:cNvPr>
          <p:cNvCxnSpPr>
            <a:cxnSpLocks/>
          </p:cNvCxnSpPr>
          <p:nvPr/>
        </p:nvCxnSpPr>
        <p:spPr>
          <a:xfrm>
            <a:off x="1081634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8FF90F5-4DD7-4FC0-5ACB-2692496A505C}"/>
              </a:ext>
            </a:extLst>
          </p:cNvPr>
          <p:cNvCxnSpPr>
            <a:cxnSpLocks/>
          </p:cNvCxnSpPr>
          <p:nvPr/>
        </p:nvCxnSpPr>
        <p:spPr>
          <a:xfrm>
            <a:off x="1167638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3843AAA-A4FB-5585-1C54-B3F5486DF105}"/>
              </a:ext>
            </a:extLst>
          </p:cNvPr>
          <p:cNvCxnSpPr>
            <a:cxnSpLocks/>
          </p:cNvCxnSpPr>
          <p:nvPr/>
        </p:nvCxnSpPr>
        <p:spPr>
          <a:xfrm flipV="1">
            <a:off x="495873" y="82745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485EE95-4009-672A-AFC2-54972379D7F5}"/>
              </a:ext>
            </a:extLst>
          </p:cNvPr>
          <p:cNvCxnSpPr>
            <a:cxnSpLocks/>
          </p:cNvCxnSpPr>
          <p:nvPr/>
        </p:nvCxnSpPr>
        <p:spPr>
          <a:xfrm flipV="1">
            <a:off x="495871" y="144016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797BC5E6-753B-77B6-E4C2-FE259F3389D3}"/>
              </a:ext>
            </a:extLst>
          </p:cNvPr>
          <p:cNvCxnSpPr>
            <a:cxnSpLocks/>
          </p:cNvCxnSpPr>
          <p:nvPr/>
        </p:nvCxnSpPr>
        <p:spPr>
          <a:xfrm flipV="1">
            <a:off x="495870" y="205286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E6A7499-D7B1-AF35-30F5-8FF2AF45B497}"/>
              </a:ext>
            </a:extLst>
          </p:cNvPr>
          <p:cNvCxnSpPr>
            <a:cxnSpLocks/>
          </p:cNvCxnSpPr>
          <p:nvPr/>
        </p:nvCxnSpPr>
        <p:spPr>
          <a:xfrm flipV="1">
            <a:off x="495870" y="266557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423BABC-EDA5-78F2-B875-2C14270A06EA}"/>
              </a:ext>
            </a:extLst>
          </p:cNvPr>
          <p:cNvCxnSpPr>
            <a:cxnSpLocks/>
          </p:cNvCxnSpPr>
          <p:nvPr/>
        </p:nvCxnSpPr>
        <p:spPr>
          <a:xfrm flipV="1">
            <a:off x="495870" y="389098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417CFBC-DF55-1A7E-24E7-0B0FA3513C95}"/>
              </a:ext>
            </a:extLst>
          </p:cNvPr>
          <p:cNvCxnSpPr>
            <a:cxnSpLocks/>
          </p:cNvCxnSpPr>
          <p:nvPr/>
        </p:nvCxnSpPr>
        <p:spPr>
          <a:xfrm flipV="1">
            <a:off x="495870" y="450368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7E4FE48-C5AE-DE21-57A8-03EBD9A19936}"/>
              </a:ext>
            </a:extLst>
          </p:cNvPr>
          <p:cNvCxnSpPr>
            <a:cxnSpLocks/>
          </p:cNvCxnSpPr>
          <p:nvPr/>
        </p:nvCxnSpPr>
        <p:spPr>
          <a:xfrm flipV="1">
            <a:off x="495870" y="511639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D26F4CB5-FBF6-CCC3-E7ED-1156CCFF97D5}"/>
              </a:ext>
            </a:extLst>
          </p:cNvPr>
          <p:cNvCxnSpPr>
            <a:cxnSpLocks/>
          </p:cNvCxnSpPr>
          <p:nvPr/>
        </p:nvCxnSpPr>
        <p:spPr>
          <a:xfrm flipV="1">
            <a:off x="495869" y="6341805"/>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FF4DF91-A318-493E-2957-E355B65E170C}"/>
              </a:ext>
            </a:extLst>
          </p:cNvPr>
          <p:cNvCxnSpPr>
            <a:cxnSpLocks/>
          </p:cNvCxnSpPr>
          <p:nvPr/>
        </p:nvCxnSpPr>
        <p:spPr>
          <a:xfrm flipV="1">
            <a:off x="495869" y="327827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E207F4E0-2EC5-8DF6-E35D-555A882DED4D}"/>
              </a:ext>
            </a:extLst>
          </p:cNvPr>
          <p:cNvSpPr/>
          <p:nvPr/>
        </p:nvSpPr>
        <p:spPr>
          <a:xfrm>
            <a:off x="657427" y="851573"/>
            <a:ext cx="601895" cy="58256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Q1.11</a:t>
            </a:r>
          </a:p>
        </p:txBody>
      </p:sp>
      <p:sp>
        <p:nvSpPr>
          <p:cNvPr id="37" name="Oval 36">
            <a:extLst>
              <a:ext uri="{FF2B5EF4-FFF2-40B4-BE49-F238E27FC236}">
                <a16:creationId xmlns:a16="http://schemas.microsoft.com/office/drawing/2014/main" id="{611F1971-CB2F-54E8-381A-A3AB2CA20506}"/>
              </a:ext>
            </a:extLst>
          </p:cNvPr>
          <p:cNvSpPr/>
          <p:nvPr/>
        </p:nvSpPr>
        <p:spPr>
          <a:xfrm>
            <a:off x="1497242" y="2069594"/>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Q3.9</a:t>
            </a:r>
          </a:p>
        </p:txBody>
      </p:sp>
      <p:sp>
        <p:nvSpPr>
          <p:cNvPr id="38" name="Oval 37">
            <a:extLst>
              <a:ext uri="{FF2B5EF4-FFF2-40B4-BE49-F238E27FC236}">
                <a16:creationId xmlns:a16="http://schemas.microsoft.com/office/drawing/2014/main" id="{E2DCE134-07D2-43BC-9EB1-33EF59F7E176}"/>
              </a:ext>
            </a:extLst>
          </p:cNvPr>
          <p:cNvSpPr/>
          <p:nvPr/>
        </p:nvSpPr>
        <p:spPr>
          <a:xfrm>
            <a:off x="2331159"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39" name="Oval 38">
            <a:extLst>
              <a:ext uri="{FF2B5EF4-FFF2-40B4-BE49-F238E27FC236}">
                <a16:creationId xmlns:a16="http://schemas.microsoft.com/office/drawing/2014/main" id="{B6AD1C8C-DEBE-B105-AE87-3F8B0409BC68}"/>
              </a:ext>
            </a:extLst>
          </p:cNvPr>
          <p:cNvSpPr/>
          <p:nvPr/>
        </p:nvSpPr>
        <p:spPr>
          <a:xfrm>
            <a:off x="3221618"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40" name="Oval 39">
            <a:extLst>
              <a:ext uri="{FF2B5EF4-FFF2-40B4-BE49-F238E27FC236}">
                <a16:creationId xmlns:a16="http://schemas.microsoft.com/office/drawing/2014/main" id="{7FCF67B9-E6B5-B064-221A-92251481E992}"/>
              </a:ext>
            </a:extLst>
          </p:cNvPr>
          <p:cNvSpPr/>
          <p:nvPr/>
        </p:nvSpPr>
        <p:spPr>
          <a:xfrm>
            <a:off x="4046939" y="331403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Q5.7</a:t>
            </a:r>
          </a:p>
        </p:txBody>
      </p:sp>
      <p:sp>
        <p:nvSpPr>
          <p:cNvPr id="41" name="Oval 40">
            <a:extLst>
              <a:ext uri="{FF2B5EF4-FFF2-40B4-BE49-F238E27FC236}">
                <a16:creationId xmlns:a16="http://schemas.microsoft.com/office/drawing/2014/main" id="{54DC73E3-C0CC-88D3-34CD-F4F9F4D09B52}"/>
              </a:ext>
            </a:extLst>
          </p:cNvPr>
          <p:cNvSpPr/>
          <p:nvPr/>
        </p:nvSpPr>
        <p:spPr>
          <a:xfrm>
            <a:off x="4924335"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2" name="Oval 41">
            <a:extLst>
              <a:ext uri="{FF2B5EF4-FFF2-40B4-BE49-F238E27FC236}">
                <a16:creationId xmlns:a16="http://schemas.microsoft.com/office/drawing/2014/main" id="{9AC2ED4B-C36C-078B-ADD4-F3ED833D7AFF}"/>
              </a:ext>
            </a:extLst>
          </p:cNvPr>
          <p:cNvSpPr/>
          <p:nvPr/>
        </p:nvSpPr>
        <p:spPr>
          <a:xfrm>
            <a:off x="5784370"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3" name="Oval 42">
            <a:extLst>
              <a:ext uri="{FF2B5EF4-FFF2-40B4-BE49-F238E27FC236}">
                <a16:creationId xmlns:a16="http://schemas.microsoft.com/office/drawing/2014/main" id="{C318ABA9-07D9-DAA9-88E2-B9620CBF729E}"/>
              </a:ext>
            </a:extLst>
          </p:cNvPr>
          <p:cNvSpPr/>
          <p:nvPr/>
        </p:nvSpPr>
        <p:spPr>
          <a:xfrm>
            <a:off x="6644413"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4" name="Oval 43">
            <a:extLst>
              <a:ext uri="{FF2B5EF4-FFF2-40B4-BE49-F238E27FC236}">
                <a16:creationId xmlns:a16="http://schemas.microsoft.com/office/drawing/2014/main" id="{7530E3E1-5678-0655-13A4-D9EEE6288E76}"/>
              </a:ext>
            </a:extLst>
          </p:cNvPr>
          <p:cNvSpPr/>
          <p:nvPr/>
        </p:nvSpPr>
        <p:spPr>
          <a:xfrm>
            <a:off x="7504450"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5" name="Oval 44">
            <a:extLst>
              <a:ext uri="{FF2B5EF4-FFF2-40B4-BE49-F238E27FC236}">
                <a16:creationId xmlns:a16="http://schemas.microsoft.com/office/drawing/2014/main" id="{76F2CD37-6683-99E7-DDC0-098FF52168FB}"/>
              </a:ext>
            </a:extLst>
          </p:cNvPr>
          <p:cNvSpPr/>
          <p:nvPr/>
        </p:nvSpPr>
        <p:spPr>
          <a:xfrm>
            <a:off x="8364487"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6" name="Oval 45">
            <a:extLst>
              <a:ext uri="{FF2B5EF4-FFF2-40B4-BE49-F238E27FC236}">
                <a16:creationId xmlns:a16="http://schemas.microsoft.com/office/drawing/2014/main" id="{5F6433E5-B10E-DA1E-1BB8-FAFF058585EB}"/>
              </a:ext>
            </a:extLst>
          </p:cNvPr>
          <p:cNvSpPr/>
          <p:nvPr/>
        </p:nvSpPr>
        <p:spPr>
          <a:xfrm>
            <a:off x="9223720"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7" name="Oval 46">
            <a:extLst>
              <a:ext uri="{FF2B5EF4-FFF2-40B4-BE49-F238E27FC236}">
                <a16:creationId xmlns:a16="http://schemas.microsoft.com/office/drawing/2014/main" id="{DD2790B7-E191-5025-29C5-C1D607A878A1}"/>
              </a:ext>
            </a:extLst>
          </p:cNvPr>
          <p:cNvSpPr/>
          <p:nvPr/>
        </p:nvSpPr>
        <p:spPr>
          <a:xfrm>
            <a:off x="10944608"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sp>
        <p:nvSpPr>
          <p:cNvPr id="48" name="Oval 47">
            <a:extLst>
              <a:ext uri="{FF2B5EF4-FFF2-40B4-BE49-F238E27FC236}">
                <a16:creationId xmlns:a16="http://schemas.microsoft.com/office/drawing/2014/main" id="{AA7EFCD0-F37A-8CCF-4E17-22828F1864A2}"/>
              </a:ext>
            </a:extLst>
          </p:cNvPr>
          <p:cNvSpPr/>
          <p:nvPr/>
        </p:nvSpPr>
        <p:spPr>
          <a:xfrm>
            <a:off x="10084569"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cxnSp>
        <p:nvCxnSpPr>
          <p:cNvPr id="49" name="Straight Connector 48">
            <a:extLst>
              <a:ext uri="{FF2B5EF4-FFF2-40B4-BE49-F238E27FC236}">
                <a16:creationId xmlns:a16="http://schemas.microsoft.com/office/drawing/2014/main" id="{05C9287B-9684-F961-27CB-9AED7DE680F3}"/>
              </a:ext>
            </a:extLst>
          </p:cNvPr>
          <p:cNvCxnSpPr>
            <a:cxnSpLocks/>
          </p:cNvCxnSpPr>
          <p:nvPr/>
        </p:nvCxnSpPr>
        <p:spPr>
          <a:xfrm flipV="1">
            <a:off x="495868" y="572909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B5ED2BF6-FE90-1A89-C97F-E9DFC10CE9CD}"/>
              </a:ext>
            </a:extLst>
          </p:cNvPr>
          <p:cNvSpPr txBox="1"/>
          <p:nvPr/>
        </p:nvSpPr>
        <p:spPr>
          <a:xfrm rot="5400000">
            <a:off x="1019237" y="166332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a:t>
            </a:r>
          </a:p>
        </p:txBody>
      </p:sp>
      <p:sp>
        <p:nvSpPr>
          <p:cNvPr id="62" name="TextBox 61">
            <a:extLst>
              <a:ext uri="{FF2B5EF4-FFF2-40B4-BE49-F238E27FC236}">
                <a16:creationId xmlns:a16="http://schemas.microsoft.com/office/drawing/2014/main" id="{9501F71F-4F01-D73D-44D0-3BF166E7F006}"/>
              </a:ext>
            </a:extLst>
          </p:cNvPr>
          <p:cNvSpPr txBox="1"/>
          <p:nvPr/>
        </p:nvSpPr>
        <p:spPr>
          <a:xfrm rot="5400000">
            <a:off x="1898798" y="2297899"/>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Stage2</a:t>
            </a:r>
          </a:p>
        </p:txBody>
      </p:sp>
      <p:sp>
        <p:nvSpPr>
          <p:cNvPr id="63" name="TextBox 62">
            <a:extLst>
              <a:ext uri="{FF2B5EF4-FFF2-40B4-BE49-F238E27FC236}">
                <a16:creationId xmlns:a16="http://schemas.microsoft.com/office/drawing/2014/main" id="{1994E2A2-8913-BA5C-C828-45E995B7B2E4}"/>
              </a:ext>
            </a:extLst>
          </p:cNvPr>
          <p:cNvSpPr txBox="1"/>
          <p:nvPr/>
        </p:nvSpPr>
        <p:spPr>
          <a:xfrm rot="5400000">
            <a:off x="2722325" y="28847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Stage3</a:t>
            </a:r>
          </a:p>
        </p:txBody>
      </p:sp>
      <p:sp>
        <p:nvSpPr>
          <p:cNvPr id="64" name="TextBox 63">
            <a:extLst>
              <a:ext uri="{FF2B5EF4-FFF2-40B4-BE49-F238E27FC236}">
                <a16:creationId xmlns:a16="http://schemas.microsoft.com/office/drawing/2014/main" id="{CCEEBC40-1D4B-BE62-FB37-68869FA6AF0F}"/>
              </a:ext>
            </a:extLst>
          </p:cNvPr>
          <p:cNvSpPr txBox="1"/>
          <p:nvPr/>
        </p:nvSpPr>
        <p:spPr>
          <a:xfrm rot="5400000">
            <a:off x="3623175" y="349631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Stage4</a:t>
            </a:r>
          </a:p>
        </p:txBody>
      </p:sp>
      <p:sp>
        <p:nvSpPr>
          <p:cNvPr id="65" name="TextBox 64">
            <a:extLst>
              <a:ext uri="{FF2B5EF4-FFF2-40B4-BE49-F238E27FC236}">
                <a16:creationId xmlns:a16="http://schemas.microsoft.com/office/drawing/2014/main" id="{A54124DF-AAB4-B2F6-4422-098F8734F1EA}"/>
              </a:ext>
            </a:extLst>
          </p:cNvPr>
          <p:cNvSpPr txBox="1"/>
          <p:nvPr/>
        </p:nvSpPr>
        <p:spPr>
          <a:xfrm rot="5400000">
            <a:off x="4453472"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Stage5</a:t>
            </a:r>
          </a:p>
        </p:txBody>
      </p:sp>
      <p:sp>
        <p:nvSpPr>
          <p:cNvPr id="66" name="TextBox 65">
            <a:extLst>
              <a:ext uri="{FF2B5EF4-FFF2-40B4-BE49-F238E27FC236}">
                <a16:creationId xmlns:a16="http://schemas.microsoft.com/office/drawing/2014/main" id="{D2525113-36CF-A01F-2BB7-B0EE2E7AB996}"/>
              </a:ext>
            </a:extLst>
          </p:cNvPr>
          <p:cNvSpPr txBox="1"/>
          <p:nvPr/>
        </p:nvSpPr>
        <p:spPr>
          <a:xfrm rot="5400000">
            <a:off x="5331231"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Stage6</a:t>
            </a:r>
          </a:p>
        </p:txBody>
      </p:sp>
      <p:sp>
        <p:nvSpPr>
          <p:cNvPr id="67" name="TextBox 66">
            <a:extLst>
              <a:ext uri="{FF2B5EF4-FFF2-40B4-BE49-F238E27FC236}">
                <a16:creationId xmlns:a16="http://schemas.microsoft.com/office/drawing/2014/main" id="{04E2199F-6BD9-F630-657F-3CFB73FE8BAF}"/>
              </a:ext>
            </a:extLst>
          </p:cNvPr>
          <p:cNvSpPr txBox="1"/>
          <p:nvPr/>
        </p:nvSpPr>
        <p:spPr>
          <a:xfrm rot="5400000">
            <a:off x="6185927"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Stage7</a:t>
            </a:r>
          </a:p>
        </p:txBody>
      </p:sp>
      <p:sp>
        <p:nvSpPr>
          <p:cNvPr id="68" name="TextBox 67">
            <a:extLst>
              <a:ext uri="{FF2B5EF4-FFF2-40B4-BE49-F238E27FC236}">
                <a16:creationId xmlns:a16="http://schemas.microsoft.com/office/drawing/2014/main" id="{0BA5772A-24A9-4AB5-2977-CBB53E71E674}"/>
              </a:ext>
            </a:extLst>
          </p:cNvPr>
          <p:cNvSpPr txBox="1"/>
          <p:nvPr/>
        </p:nvSpPr>
        <p:spPr>
          <a:xfrm rot="5400000">
            <a:off x="7040623"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Stage8</a:t>
            </a:r>
          </a:p>
        </p:txBody>
      </p:sp>
      <p:sp>
        <p:nvSpPr>
          <p:cNvPr id="69" name="TextBox 68">
            <a:extLst>
              <a:ext uri="{FF2B5EF4-FFF2-40B4-BE49-F238E27FC236}">
                <a16:creationId xmlns:a16="http://schemas.microsoft.com/office/drawing/2014/main" id="{2F246CE2-164B-8F42-A244-3A51A7482E19}"/>
              </a:ext>
            </a:extLst>
          </p:cNvPr>
          <p:cNvSpPr txBox="1"/>
          <p:nvPr/>
        </p:nvSpPr>
        <p:spPr>
          <a:xfrm rot="5400000">
            <a:off x="7899140"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Stage9</a:t>
            </a:r>
          </a:p>
        </p:txBody>
      </p:sp>
      <p:sp>
        <p:nvSpPr>
          <p:cNvPr id="70" name="TextBox 69">
            <a:extLst>
              <a:ext uri="{FF2B5EF4-FFF2-40B4-BE49-F238E27FC236}">
                <a16:creationId xmlns:a16="http://schemas.microsoft.com/office/drawing/2014/main" id="{DB7CD812-7C74-BD00-CB96-FE0C20272D35}"/>
              </a:ext>
            </a:extLst>
          </p:cNvPr>
          <p:cNvSpPr txBox="1"/>
          <p:nvPr/>
        </p:nvSpPr>
        <p:spPr>
          <a:xfrm rot="5400000">
            <a:off x="8776742"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Stage10</a:t>
            </a:r>
          </a:p>
        </p:txBody>
      </p:sp>
      <p:sp>
        <p:nvSpPr>
          <p:cNvPr id="71" name="TextBox 70">
            <a:extLst>
              <a:ext uri="{FF2B5EF4-FFF2-40B4-BE49-F238E27FC236}">
                <a16:creationId xmlns:a16="http://schemas.microsoft.com/office/drawing/2014/main" id="{F60934BF-862B-C76B-1C71-998E0FD973FF}"/>
              </a:ext>
            </a:extLst>
          </p:cNvPr>
          <p:cNvSpPr txBox="1"/>
          <p:nvPr/>
        </p:nvSpPr>
        <p:spPr>
          <a:xfrm rot="5400000">
            <a:off x="9608987"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Stage11</a:t>
            </a:r>
          </a:p>
        </p:txBody>
      </p:sp>
      <p:sp>
        <p:nvSpPr>
          <p:cNvPr id="72" name="TextBox 71">
            <a:extLst>
              <a:ext uri="{FF2B5EF4-FFF2-40B4-BE49-F238E27FC236}">
                <a16:creationId xmlns:a16="http://schemas.microsoft.com/office/drawing/2014/main" id="{90F2C39C-13B5-6A28-EBFB-7BDB53FD2CA7}"/>
              </a:ext>
            </a:extLst>
          </p:cNvPr>
          <p:cNvSpPr txBox="1"/>
          <p:nvPr/>
        </p:nvSpPr>
        <p:spPr>
          <a:xfrm rot="5400000">
            <a:off x="10480115"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Stage12</a:t>
            </a:r>
          </a:p>
        </p:txBody>
      </p:sp>
      <p:sp>
        <p:nvSpPr>
          <p:cNvPr id="7" name="Rectangle 6">
            <a:extLst>
              <a:ext uri="{FF2B5EF4-FFF2-40B4-BE49-F238E27FC236}">
                <a16:creationId xmlns:a16="http://schemas.microsoft.com/office/drawing/2014/main" id="{7FD8998C-A49C-484D-2335-BF3E5E27AA2A}"/>
              </a:ext>
            </a:extLst>
          </p:cNvPr>
          <p:cNvSpPr/>
          <p:nvPr/>
        </p:nvSpPr>
        <p:spPr>
          <a:xfrm>
            <a:off x="495867" y="813853"/>
            <a:ext cx="11180510" cy="5672667"/>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artisticBlur radius="90"/>
                      </a14:imgEffect>
                    </a14:imgLayer>
                  </a14:imgProps>
                </a:ext>
              </a:extLst>
            </a:blip>
            <a:srcRect/>
            <a:tile tx="0" ty="0" sx="100000" sy="100000" flip="none" algn="tl"/>
          </a:blipFill>
          <a:ln>
            <a:noFill/>
            <a:miter lim="800000"/>
          </a:ln>
          <a:effectLst>
            <a:reflection endPos="0" dist="50800" dir="5400000" sy="-100000" algn="bl" rotWithShape="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3B427A8-867D-F318-992E-CEE25EF0DCCB}"/>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51" name="TextBox 50">
            <a:extLst>
              <a:ext uri="{FF2B5EF4-FFF2-40B4-BE49-F238E27FC236}">
                <a16:creationId xmlns:a16="http://schemas.microsoft.com/office/drawing/2014/main" id="{C289FE0E-DDAD-32C0-A414-2CD02647F656}"/>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52" name="TextBox 51">
            <a:extLst>
              <a:ext uri="{FF2B5EF4-FFF2-40B4-BE49-F238E27FC236}">
                <a16:creationId xmlns:a16="http://schemas.microsoft.com/office/drawing/2014/main" id="{8D1AECB0-6DA8-101D-E0C0-99DAA4553279}"/>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53" name="TextBox 52">
            <a:extLst>
              <a:ext uri="{FF2B5EF4-FFF2-40B4-BE49-F238E27FC236}">
                <a16:creationId xmlns:a16="http://schemas.microsoft.com/office/drawing/2014/main" id="{BC1BDDD0-BC45-2994-2EF5-383546FC1C3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54" name="TextBox 53">
            <a:extLst>
              <a:ext uri="{FF2B5EF4-FFF2-40B4-BE49-F238E27FC236}">
                <a16:creationId xmlns:a16="http://schemas.microsoft.com/office/drawing/2014/main" id="{F6D3AA4F-AE36-777D-600E-3A3DE9F5239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55" name="TextBox 54">
            <a:extLst>
              <a:ext uri="{FF2B5EF4-FFF2-40B4-BE49-F238E27FC236}">
                <a16:creationId xmlns:a16="http://schemas.microsoft.com/office/drawing/2014/main" id="{F77C2AA9-C67F-5352-026D-AD900F0CEF43}"/>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graphicFrame>
        <p:nvGraphicFramePr>
          <p:cNvPr id="57" name="Chart 56">
            <a:extLst>
              <a:ext uri="{FF2B5EF4-FFF2-40B4-BE49-F238E27FC236}">
                <a16:creationId xmlns:a16="http://schemas.microsoft.com/office/drawing/2014/main" id="{FF20B35A-336A-6D67-3F88-A3B5453D8B93}"/>
              </a:ext>
            </a:extLst>
          </p:cNvPr>
          <p:cNvGraphicFramePr/>
          <p:nvPr>
            <p:extLst>
              <p:ext uri="{D42A27DB-BD31-4B8C-83A1-F6EECF244321}">
                <p14:modId xmlns:p14="http://schemas.microsoft.com/office/powerpoint/2010/main" val="2496402945"/>
              </p:ext>
            </p:extLst>
          </p:nvPr>
        </p:nvGraphicFramePr>
        <p:xfrm>
          <a:off x="1984631" y="911813"/>
          <a:ext cx="8128000" cy="541866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49860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2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7" grpId="0">
        <p:bldAsOne/>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4D1FE-9D98-0EC6-1D9C-038B688219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EDF5DB-42F7-B2ED-6F44-7884952DBB17}"/>
              </a:ext>
            </a:extLst>
          </p:cNvPr>
          <p:cNvSpPr>
            <a:spLocks noGrp="1"/>
          </p:cNvSpPr>
          <p:nvPr>
            <p:ph type="title"/>
          </p:nvPr>
        </p:nvSpPr>
        <p:spPr>
          <a:xfrm>
            <a:off x="342901" y="219456"/>
            <a:ext cx="10287001" cy="470898"/>
          </a:xfrm>
        </p:spPr>
        <p:txBody>
          <a:bodyPr/>
          <a:lstStyle/>
          <a:p>
            <a:r>
              <a:rPr lang="en-US" dirty="0"/>
              <a:t>Modeling : SQNR analysis </a:t>
            </a:r>
          </a:p>
        </p:txBody>
      </p:sp>
      <p:sp>
        <p:nvSpPr>
          <p:cNvPr id="4" name="Footer Placeholder 3">
            <a:extLst>
              <a:ext uri="{FF2B5EF4-FFF2-40B4-BE49-F238E27FC236}">
                <a16:creationId xmlns:a16="http://schemas.microsoft.com/office/drawing/2014/main" id="{D7A689BD-0712-E3A9-4E75-49EA1FC2BAD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34FE5DA-EF5C-BADA-C8B9-68DD9AB5F0A0}"/>
              </a:ext>
            </a:extLst>
          </p:cNvPr>
          <p:cNvSpPr>
            <a:spLocks noGrp="1"/>
          </p:cNvSpPr>
          <p:nvPr>
            <p:ph type="sldNum" sz="quarter" idx="4"/>
          </p:nvPr>
        </p:nvSpPr>
        <p:spPr/>
        <p:txBody>
          <a:bodyPr/>
          <a:lstStyle/>
          <a:p>
            <a:pPr>
              <a:defRPr/>
            </a:pPr>
            <a:fld id="{A9CE67A1-BA7F-A74E-B5D7-615746DEEC2B}" type="slidenum">
              <a:rPr lang="en-US" smtClean="0"/>
              <a:pPr>
                <a:defRPr/>
              </a:pPr>
              <a:t>43</a:t>
            </a:fld>
            <a:endParaRPr lang="en-US" baseline="-11000" dirty="0"/>
          </a:p>
        </p:txBody>
      </p:sp>
      <p:sp>
        <p:nvSpPr>
          <p:cNvPr id="6" name="Date Placeholder 5">
            <a:extLst>
              <a:ext uri="{FF2B5EF4-FFF2-40B4-BE49-F238E27FC236}">
                <a16:creationId xmlns:a16="http://schemas.microsoft.com/office/drawing/2014/main" id="{2192DD06-1483-0804-2DDC-1D2E1A2ADD5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 name="Content Placeholder 7">
            <a:extLst>
              <a:ext uri="{FF2B5EF4-FFF2-40B4-BE49-F238E27FC236}">
                <a16:creationId xmlns:a16="http://schemas.microsoft.com/office/drawing/2014/main" id="{DCC474A0-A76F-DD35-5008-17DF39F64681}"/>
              </a:ext>
            </a:extLst>
          </p:cNvPr>
          <p:cNvSpPr>
            <a:spLocks noGrp="1"/>
          </p:cNvSpPr>
          <p:nvPr>
            <p:ph idx="1"/>
          </p:nvPr>
        </p:nvSpPr>
        <p:spPr>
          <a:xfrm>
            <a:off x="168787" y="870154"/>
            <a:ext cx="11600426" cy="4914900"/>
          </a:xfrm>
        </p:spPr>
        <p:txBody>
          <a:bodyPr/>
          <a:lstStyle/>
          <a:p>
            <a:r>
              <a:rPr lang="en-US" dirty="0"/>
              <a:t> Example FFT Output Comparison:</a:t>
            </a:r>
          </a:p>
          <a:p>
            <a:endParaRPr lang="en-US" dirty="0"/>
          </a:p>
        </p:txBody>
      </p:sp>
      <p:graphicFrame>
        <p:nvGraphicFramePr>
          <p:cNvPr id="7" name="Table 6">
            <a:extLst>
              <a:ext uri="{FF2B5EF4-FFF2-40B4-BE49-F238E27FC236}">
                <a16:creationId xmlns:a16="http://schemas.microsoft.com/office/drawing/2014/main" id="{7F13A0BC-2838-C3A9-4AD5-FAF41A044CC6}"/>
              </a:ext>
            </a:extLst>
          </p:cNvPr>
          <p:cNvGraphicFramePr>
            <a:graphicFrameLocks noGrp="1"/>
          </p:cNvGraphicFramePr>
          <p:nvPr>
            <p:extLst>
              <p:ext uri="{D42A27DB-BD31-4B8C-83A1-F6EECF244321}">
                <p14:modId xmlns:p14="http://schemas.microsoft.com/office/powerpoint/2010/main" val="1773284244"/>
              </p:ext>
            </p:extLst>
          </p:nvPr>
        </p:nvGraphicFramePr>
        <p:xfrm>
          <a:off x="989207" y="1432764"/>
          <a:ext cx="10010140" cy="1921651"/>
        </p:xfrm>
        <a:graphic>
          <a:graphicData uri="http://schemas.openxmlformats.org/drawingml/2006/table">
            <a:tbl>
              <a:tblPr firstRow="1" bandRow="1">
                <a:tableStyleId>{72833802-FEF1-4C79-8D5D-14CF1EAF98D9}</a:tableStyleId>
              </a:tblPr>
              <a:tblGrid>
                <a:gridCol w="2365845">
                  <a:extLst>
                    <a:ext uri="{9D8B030D-6E8A-4147-A177-3AD203B41FA5}">
                      <a16:colId xmlns:a16="http://schemas.microsoft.com/office/drawing/2014/main" val="2825571215"/>
                    </a:ext>
                  </a:extLst>
                </a:gridCol>
                <a:gridCol w="3034501">
                  <a:extLst>
                    <a:ext uri="{9D8B030D-6E8A-4147-A177-3AD203B41FA5}">
                      <a16:colId xmlns:a16="http://schemas.microsoft.com/office/drawing/2014/main" val="1827645448"/>
                    </a:ext>
                  </a:extLst>
                </a:gridCol>
                <a:gridCol w="2338864">
                  <a:extLst>
                    <a:ext uri="{9D8B030D-6E8A-4147-A177-3AD203B41FA5}">
                      <a16:colId xmlns:a16="http://schemas.microsoft.com/office/drawing/2014/main" val="2765659123"/>
                    </a:ext>
                  </a:extLst>
                </a:gridCol>
                <a:gridCol w="2270930">
                  <a:extLst>
                    <a:ext uri="{9D8B030D-6E8A-4147-A177-3AD203B41FA5}">
                      <a16:colId xmlns:a16="http://schemas.microsoft.com/office/drawing/2014/main" val="427172134"/>
                    </a:ext>
                  </a:extLst>
                </a:gridCol>
              </a:tblGrid>
              <a:tr h="367171">
                <a:tc>
                  <a:txBody>
                    <a:bodyPr/>
                    <a:lstStyle/>
                    <a:p>
                      <a:pPr algn="ctr"/>
                      <a:r>
                        <a:rPr lang="en-US" dirty="0">
                          <a:latin typeface="+mj-lt"/>
                        </a:rPr>
                        <a:t>Bin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j-lt"/>
                        </a:rPr>
                        <a:t>Reference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j-lt"/>
                        </a:rPr>
                        <a:t>Fixed point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Error (Magnitude)</a:t>
                      </a:r>
                      <a:endParaRPr lang="en-US"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695111"/>
                  </a:ext>
                </a:extLst>
              </a:tr>
              <a:tr h="513033">
                <a:tc>
                  <a:txBody>
                    <a:bodyPr/>
                    <a:lstStyle/>
                    <a:p>
                      <a:pPr algn="ctr"/>
                      <a:r>
                        <a:rPr lang="en-US" sz="2800" b="1" dirty="0">
                          <a:latin typeface="+mj-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−25.92 −16.64i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−25.75 −16.50i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mj-lt"/>
                        </a:rPr>
                        <a:t>0.2202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091749"/>
                  </a:ext>
                </a:extLst>
              </a:tr>
              <a:tr h="513033">
                <a:tc>
                  <a:txBody>
                    <a:bodyPr/>
                    <a:lstStyle/>
                    <a:p>
                      <a:pPr algn="ctr"/>
                      <a:r>
                        <a:rPr lang="en-US" sz="2800" b="1" dirty="0">
                          <a:latin typeface="+mj-l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−42.93 −59.19i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−43.00 −59.25i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mj-lt"/>
                        </a:rPr>
                        <a:t>0.0922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7073683"/>
                  </a:ext>
                </a:extLst>
              </a:tr>
              <a:tr h="477332">
                <a:tc>
                  <a:txBody>
                    <a:bodyPr/>
                    <a:lstStyle/>
                    <a:p>
                      <a:pPr algn="ctr"/>
                      <a:r>
                        <a:rPr lang="en-US" sz="2800" b="1" dirty="0">
                          <a:latin typeface="+mj-l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8.23 −31.22i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8.25 −31.13i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mj-lt"/>
                        </a:rPr>
                        <a:t>0.0922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927120"/>
                  </a:ext>
                </a:extLst>
              </a:tr>
            </a:tbl>
          </a:graphicData>
        </a:graphic>
      </p:graphicFrame>
      <p:sp>
        <p:nvSpPr>
          <p:cNvPr id="2" name="TextBox 1">
            <a:extLst>
              <a:ext uri="{FF2B5EF4-FFF2-40B4-BE49-F238E27FC236}">
                <a16:creationId xmlns:a16="http://schemas.microsoft.com/office/drawing/2014/main" id="{E5196074-E233-DB50-D6E5-F74AC2F0072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0E0D5E65-1B03-BB1A-B08F-8A1F6173FFD5}"/>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CB370406-EFEC-9178-319B-C020B3DA7D7B}"/>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4522D8E2-746E-9472-F60B-2BFB382F3DAC}"/>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6C7C8E02-3221-22FD-450E-0A730FB843D0}"/>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565BFD00-BA01-A7D9-46E0-EE6AA67D0299}"/>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719109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 fill="hold"/>
                                        <p:tgtEl>
                                          <p:spTgt spid="7"/>
                                        </p:tgtEl>
                                        <p:attrNameLst>
                                          <p:attrName>ppt_x</p:attrName>
                                        </p:attrNameLst>
                                      </p:cBhvr>
                                      <p:tavLst>
                                        <p:tav tm="0">
                                          <p:val>
                                            <p:strVal val="#ppt_x"/>
                                          </p:val>
                                        </p:tav>
                                        <p:tav tm="100000">
                                          <p:val>
                                            <p:strVal val="#ppt_x"/>
                                          </p:val>
                                        </p:tav>
                                      </p:tavLst>
                                    </p:anim>
                                    <p:anim calcmode="lin" valueType="num">
                                      <p:cBhvr additive="base">
                                        <p:cTn id="8" dur="1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18575-0066-7386-D1C0-9983EFC580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24128A-2183-9D74-5ED8-06CF25EEA9EF}"/>
              </a:ext>
            </a:extLst>
          </p:cNvPr>
          <p:cNvSpPr>
            <a:spLocks noGrp="1"/>
          </p:cNvSpPr>
          <p:nvPr>
            <p:ph type="title"/>
          </p:nvPr>
        </p:nvSpPr>
        <p:spPr>
          <a:xfrm>
            <a:off x="342901" y="219456"/>
            <a:ext cx="10287001" cy="470898"/>
          </a:xfrm>
        </p:spPr>
        <p:txBody>
          <a:bodyPr/>
          <a:lstStyle/>
          <a:p>
            <a:r>
              <a:rPr lang="en-US" dirty="0"/>
              <a:t>Modeling : SQNR analysis </a:t>
            </a:r>
          </a:p>
        </p:txBody>
      </p:sp>
      <p:sp>
        <p:nvSpPr>
          <p:cNvPr id="4" name="Footer Placeholder 3">
            <a:extLst>
              <a:ext uri="{FF2B5EF4-FFF2-40B4-BE49-F238E27FC236}">
                <a16:creationId xmlns:a16="http://schemas.microsoft.com/office/drawing/2014/main" id="{72071C9F-0CE3-E923-C0A7-80BBECBCA50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5307F81-BA24-1B58-6E3E-CD733D380C89}"/>
              </a:ext>
            </a:extLst>
          </p:cNvPr>
          <p:cNvSpPr>
            <a:spLocks noGrp="1"/>
          </p:cNvSpPr>
          <p:nvPr>
            <p:ph type="sldNum" sz="quarter" idx="4"/>
          </p:nvPr>
        </p:nvSpPr>
        <p:spPr/>
        <p:txBody>
          <a:bodyPr/>
          <a:lstStyle/>
          <a:p>
            <a:pPr>
              <a:defRPr/>
            </a:pPr>
            <a:fld id="{A9CE67A1-BA7F-A74E-B5D7-615746DEEC2B}" type="slidenum">
              <a:rPr lang="en-US" smtClean="0"/>
              <a:pPr>
                <a:defRPr/>
              </a:pPr>
              <a:t>44</a:t>
            </a:fld>
            <a:endParaRPr lang="en-US" baseline="-11000" dirty="0"/>
          </a:p>
        </p:txBody>
      </p:sp>
      <p:sp>
        <p:nvSpPr>
          <p:cNvPr id="6" name="Date Placeholder 5">
            <a:extLst>
              <a:ext uri="{FF2B5EF4-FFF2-40B4-BE49-F238E27FC236}">
                <a16:creationId xmlns:a16="http://schemas.microsoft.com/office/drawing/2014/main" id="{5F202798-5460-00B3-7A91-8DEFFC7D9C37}"/>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aphicFrame>
        <p:nvGraphicFramePr>
          <p:cNvPr id="10" name="Table 9">
            <a:extLst>
              <a:ext uri="{FF2B5EF4-FFF2-40B4-BE49-F238E27FC236}">
                <a16:creationId xmlns:a16="http://schemas.microsoft.com/office/drawing/2014/main" id="{0BBAC3D4-562E-4FD6-D0E9-38F86AA00B00}"/>
              </a:ext>
            </a:extLst>
          </p:cNvPr>
          <p:cNvGraphicFramePr>
            <a:graphicFrameLocks noGrp="1"/>
          </p:cNvGraphicFramePr>
          <p:nvPr>
            <p:extLst>
              <p:ext uri="{D42A27DB-BD31-4B8C-83A1-F6EECF244321}">
                <p14:modId xmlns:p14="http://schemas.microsoft.com/office/powerpoint/2010/main" val="2636780790"/>
              </p:ext>
            </p:extLst>
          </p:nvPr>
        </p:nvGraphicFramePr>
        <p:xfrm>
          <a:off x="522815" y="851698"/>
          <a:ext cx="11146369" cy="5627760"/>
        </p:xfrm>
        <a:graphic>
          <a:graphicData uri="http://schemas.openxmlformats.org/drawingml/2006/table">
            <a:tbl>
              <a:tblPr firstRow="1" bandRow="1">
                <a:tableStyleId>{72833802-FEF1-4C79-8D5D-14CF1EAF98D9}</a:tableStyleId>
              </a:tblPr>
              <a:tblGrid>
                <a:gridCol w="853701">
                  <a:extLst>
                    <a:ext uri="{9D8B030D-6E8A-4147-A177-3AD203B41FA5}">
                      <a16:colId xmlns:a16="http://schemas.microsoft.com/office/drawing/2014/main" val="2872577477"/>
                    </a:ext>
                  </a:extLst>
                </a:gridCol>
                <a:gridCol w="5212115">
                  <a:extLst>
                    <a:ext uri="{9D8B030D-6E8A-4147-A177-3AD203B41FA5}">
                      <a16:colId xmlns:a16="http://schemas.microsoft.com/office/drawing/2014/main" val="435554421"/>
                    </a:ext>
                  </a:extLst>
                </a:gridCol>
                <a:gridCol w="5080553">
                  <a:extLst>
                    <a:ext uri="{9D8B030D-6E8A-4147-A177-3AD203B41FA5}">
                      <a16:colId xmlns:a16="http://schemas.microsoft.com/office/drawing/2014/main" val="3280058999"/>
                    </a:ext>
                  </a:extLst>
                </a:gridCol>
              </a:tblGrid>
              <a:tr h="33710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err="1">
                          <a:solidFill>
                            <a:schemeClr val="bg1"/>
                          </a:solidFill>
                          <a:effectLst/>
                          <a:latin typeface="+mn-lt"/>
                          <a:ea typeface="+mn-ea"/>
                          <a:cs typeface="+mn-cs"/>
                        </a:rPr>
                        <a:t>FlPt</a:t>
                      </a:r>
                      <a:r>
                        <a:rPr lang="en-US" sz="1800" b="1" kern="100" dirty="0">
                          <a:solidFill>
                            <a:schemeClr val="bg1"/>
                          </a:solidFill>
                          <a:effectLst/>
                          <a:latin typeface="+mn-lt"/>
                          <a:ea typeface="+mn-ea"/>
                          <a:cs typeface="+mn-cs"/>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err="1">
                          <a:solidFill>
                            <a:schemeClr val="bg1"/>
                          </a:solidFill>
                          <a:effectLst/>
                          <a:latin typeface="+mn-lt"/>
                          <a:ea typeface="+mn-ea"/>
                          <a:cs typeface="+mn-cs"/>
                        </a:rPr>
                        <a:t>FxPt</a:t>
                      </a: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0567522"/>
                  </a:ext>
                </a:extLst>
              </a:tr>
              <a:tr h="247890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latin typeface="+mn-lt"/>
                          <a:ea typeface="+mn-ea"/>
                          <a:cs typeface="+mn-cs"/>
                        </a:rPr>
                        <a:t>SQNR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905536"/>
                  </a:ext>
                </a:extLst>
              </a:tr>
              <a:tr h="278309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Mean Error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941697"/>
                  </a:ext>
                </a:extLst>
              </a:tr>
            </a:tbl>
          </a:graphicData>
        </a:graphic>
      </p:graphicFrame>
      <p:pic>
        <p:nvPicPr>
          <p:cNvPr id="11" name="Picture 10">
            <a:extLst>
              <a:ext uri="{FF2B5EF4-FFF2-40B4-BE49-F238E27FC236}">
                <a16:creationId xmlns:a16="http://schemas.microsoft.com/office/drawing/2014/main" id="{BB6B75E8-C409-5D23-6537-9C3FA930D30A}"/>
              </a:ext>
            </a:extLst>
          </p:cNvPr>
          <p:cNvPicPr>
            <a:picLocks noChangeAspect="1"/>
          </p:cNvPicPr>
          <p:nvPr/>
        </p:nvPicPr>
        <p:blipFill>
          <a:blip r:embed="rId2">
            <a:extLst>
              <a:ext uri="{28A0092B-C50C-407E-A947-70E740481C1C}">
                <a14:useLocalDpi xmlns:a14="http://schemas.microsoft.com/office/drawing/2010/main" val="0"/>
              </a:ext>
            </a:extLst>
          </a:blip>
          <a:srcRect r="6057"/>
          <a:stretch>
            <a:fillRect/>
          </a:stretch>
        </p:blipFill>
        <p:spPr>
          <a:xfrm>
            <a:off x="2886902" y="1284669"/>
            <a:ext cx="2476115" cy="1976827"/>
          </a:xfrm>
          <a:prstGeom prst="rect">
            <a:avLst/>
          </a:prstGeom>
          <a:ln>
            <a:solidFill>
              <a:schemeClr val="tx1"/>
            </a:solidFill>
          </a:ln>
        </p:spPr>
      </p:pic>
      <p:pic>
        <p:nvPicPr>
          <p:cNvPr id="12" name="Picture 11">
            <a:extLst>
              <a:ext uri="{FF2B5EF4-FFF2-40B4-BE49-F238E27FC236}">
                <a16:creationId xmlns:a16="http://schemas.microsoft.com/office/drawing/2014/main" id="{E4D71757-4B38-330A-82ED-D0D361F0C8F0}"/>
              </a:ext>
            </a:extLst>
          </p:cNvPr>
          <p:cNvPicPr>
            <a:picLocks noChangeAspect="1"/>
          </p:cNvPicPr>
          <p:nvPr/>
        </p:nvPicPr>
        <p:blipFill>
          <a:blip r:embed="rId3">
            <a:extLst>
              <a:ext uri="{28A0092B-C50C-407E-A947-70E740481C1C}">
                <a14:useLocalDpi xmlns:a14="http://schemas.microsoft.com/office/drawing/2010/main" val="0"/>
              </a:ext>
            </a:extLst>
          </a:blip>
          <a:srcRect r="6057"/>
          <a:stretch>
            <a:fillRect/>
          </a:stretch>
        </p:blipFill>
        <p:spPr>
          <a:xfrm>
            <a:off x="8083901" y="1325062"/>
            <a:ext cx="2374924" cy="1896041"/>
          </a:xfrm>
          <a:prstGeom prst="rect">
            <a:avLst/>
          </a:prstGeom>
          <a:ln>
            <a:solidFill>
              <a:schemeClr val="tx1"/>
            </a:solidFill>
          </a:ln>
        </p:spPr>
      </p:pic>
      <p:pic>
        <p:nvPicPr>
          <p:cNvPr id="13" name="Picture 12">
            <a:extLst>
              <a:ext uri="{FF2B5EF4-FFF2-40B4-BE49-F238E27FC236}">
                <a16:creationId xmlns:a16="http://schemas.microsoft.com/office/drawing/2014/main" id="{CA54107C-84E5-5A0D-FFE0-DFAF05BBAFB9}"/>
              </a:ext>
            </a:extLst>
          </p:cNvPr>
          <p:cNvPicPr>
            <a:picLocks noChangeAspect="1"/>
          </p:cNvPicPr>
          <p:nvPr/>
        </p:nvPicPr>
        <p:blipFill>
          <a:blip r:embed="rId4">
            <a:extLst>
              <a:ext uri="{28A0092B-C50C-407E-A947-70E740481C1C}">
                <a14:useLocalDpi xmlns:a14="http://schemas.microsoft.com/office/drawing/2010/main" val="0"/>
              </a:ext>
            </a:extLst>
          </a:blip>
          <a:srcRect l="6185" r="6353"/>
          <a:stretch>
            <a:fillRect/>
          </a:stretch>
        </p:blipFill>
        <p:spPr>
          <a:xfrm>
            <a:off x="2961012" y="3876538"/>
            <a:ext cx="2327895" cy="1996209"/>
          </a:xfrm>
          <a:prstGeom prst="rect">
            <a:avLst/>
          </a:prstGeom>
          <a:ln>
            <a:solidFill>
              <a:schemeClr val="tx1"/>
            </a:solidFill>
          </a:ln>
        </p:spPr>
      </p:pic>
      <p:pic>
        <p:nvPicPr>
          <p:cNvPr id="14" name="Picture 13">
            <a:extLst>
              <a:ext uri="{FF2B5EF4-FFF2-40B4-BE49-F238E27FC236}">
                <a16:creationId xmlns:a16="http://schemas.microsoft.com/office/drawing/2014/main" id="{60C53A73-F354-8D6B-6849-4D69CB6057EE}"/>
              </a:ext>
            </a:extLst>
          </p:cNvPr>
          <p:cNvPicPr>
            <a:picLocks noChangeAspect="1"/>
          </p:cNvPicPr>
          <p:nvPr/>
        </p:nvPicPr>
        <p:blipFill>
          <a:blip r:embed="rId5">
            <a:extLst>
              <a:ext uri="{28A0092B-C50C-407E-A947-70E740481C1C}">
                <a14:useLocalDpi xmlns:a14="http://schemas.microsoft.com/office/drawing/2010/main" val="0"/>
              </a:ext>
            </a:extLst>
          </a:blip>
          <a:srcRect l="5590" r="7709"/>
          <a:stretch>
            <a:fillRect/>
          </a:stretch>
        </p:blipFill>
        <p:spPr>
          <a:xfrm>
            <a:off x="8155567" y="3909418"/>
            <a:ext cx="2231592" cy="1930448"/>
          </a:xfrm>
          <a:prstGeom prst="rect">
            <a:avLst/>
          </a:prstGeom>
          <a:ln>
            <a:solidFill>
              <a:schemeClr val="tx1"/>
            </a:solidFill>
          </a:ln>
        </p:spPr>
      </p:pic>
      <p:sp>
        <p:nvSpPr>
          <p:cNvPr id="15" name="TextBox 14">
            <a:extLst>
              <a:ext uri="{FF2B5EF4-FFF2-40B4-BE49-F238E27FC236}">
                <a16:creationId xmlns:a16="http://schemas.microsoft.com/office/drawing/2014/main" id="{BF8A6A77-843A-4010-C79B-6780C4711839}"/>
              </a:ext>
            </a:extLst>
          </p:cNvPr>
          <p:cNvSpPr txBox="1"/>
          <p:nvPr/>
        </p:nvSpPr>
        <p:spPr>
          <a:xfrm>
            <a:off x="2685674" y="3320572"/>
            <a:ext cx="3067665"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Average SQNR = 227.02 dB</a:t>
            </a:r>
            <a:endParaRPr lang="en-US" sz="2000" dirty="0">
              <a:solidFill>
                <a:srgbClr val="000000"/>
              </a:solidFill>
            </a:endParaRPr>
          </a:p>
        </p:txBody>
      </p:sp>
      <p:sp>
        <p:nvSpPr>
          <p:cNvPr id="16" name="TextBox 15">
            <a:extLst>
              <a:ext uri="{FF2B5EF4-FFF2-40B4-BE49-F238E27FC236}">
                <a16:creationId xmlns:a16="http://schemas.microsoft.com/office/drawing/2014/main" id="{B6E999B6-94E7-2296-B294-F2F51FAF7FB9}"/>
              </a:ext>
            </a:extLst>
          </p:cNvPr>
          <p:cNvSpPr txBox="1"/>
          <p:nvPr/>
        </p:nvSpPr>
        <p:spPr>
          <a:xfrm>
            <a:off x="7916198" y="3311008"/>
            <a:ext cx="3323303"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Average SQNR = 48.35 dB</a:t>
            </a:r>
            <a:endParaRPr lang="en-US" sz="2000" dirty="0">
              <a:solidFill>
                <a:srgbClr val="00000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C477242-BBF4-CC3D-8023-9C3A998CA4E1}"/>
                  </a:ext>
                </a:extLst>
              </p:cNvPr>
              <p:cNvSpPr txBox="1"/>
              <p:nvPr/>
            </p:nvSpPr>
            <p:spPr>
              <a:xfrm>
                <a:off x="2596484" y="5949921"/>
                <a:ext cx="3246043"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Avg Mean error : 1.59</a:t>
                </a:r>
                <a:r>
                  <a:rPr lang="en-US" sz="2000" dirty="0">
                    <a:solidFill>
                      <a:srgbClr val="000000"/>
                    </a:solidFill>
                    <a:latin typeface="Barlow" pitchFamily="2" charset="77"/>
                  </a:rPr>
                  <a:t> × </a:t>
                </a:r>
                <a14:m>
                  <m:oMath xmlns:m="http://schemas.openxmlformats.org/officeDocument/2006/math">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10</m:t>
                        </m:r>
                      </m:e>
                      <m:sup>
                        <m:r>
                          <a:rPr lang="en-US" sz="2000" i="1">
                            <a:solidFill>
                              <a:srgbClr val="000000"/>
                            </a:solidFill>
                            <a:latin typeface="Cambria Math" panose="02040503050406030204" pitchFamily="18" charset="0"/>
                          </a:rPr>
                          <m:t>−16</m:t>
                        </m:r>
                      </m:sup>
                    </m:sSup>
                  </m:oMath>
                </a14:m>
                <a:endParaRPr lang="en-US" sz="2000" dirty="0">
                  <a:solidFill>
                    <a:srgbClr val="000000"/>
                  </a:solidFill>
                </a:endParaRPr>
              </a:p>
            </p:txBody>
          </p:sp>
        </mc:Choice>
        <mc:Fallback xmlns="">
          <p:sp>
            <p:nvSpPr>
              <p:cNvPr id="17" name="TextBox 16">
                <a:extLst>
                  <a:ext uri="{FF2B5EF4-FFF2-40B4-BE49-F238E27FC236}">
                    <a16:creationId xmlns:a16="http://schemas.microsoft.com/office/drawing/2014/main" id="{5C477242-BBF4-CC3D-8023-9C3A998CA4E1}"/>
                  </a:ext>
                </a:extLst>
              </p:cNvPr>
              <p:cNvSpPr txBox="1">
                <a:spLocks noRot="1" noChangeAspect="1" noMove="1" noResize="1" noEditPoints="1" noAdjustHandles="1" noChangeArrowheads="1" noChangeShapeType="1" noTextEdit="1"/>
              </p:cNvSpPr>
              <p:nvPr/>
            </p:nvSpPr>
            <p:spPr>
              <a:xfrm>
                <a:off x="2596484" y="5949921"/>
                <a:ext cx="3246043" cy="383459"/>
              </a:xfrm>
              <a:prstGeom prst="rect">
                <a:avLst/>
              </a:prstGeom>
              <a:blipFill>
                <a:blip r:embed="rId6"/>
                <a:stretch>
                  <a:fillRect l="-4887" t="-22222"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6086ADA-E091-A221-F4AC-6359CF448FB0}"/>
                  </a:ext>
                </a:extLst>
              </p:cNvPr>
              <p:cNvSpPr txBox="1"/>
              <p:nvPr/>
            </p:nvSpPr>
            <p:spPr>
              <a:xfrm>
                <a:off x="7726749" y="5936672"/>
                <a:ext cx="3323303" cy="383459"/>
              </a:xfrm>
              <a:prstGeom prst="rect">
                <a:avLst/>
              </a:prstGeom>
              <a:noFill/>
            </p:spPr>
            <p:txBody>
              <a:bodyPr wrap="square" lIns="0" tIns="0" rIns="0" bIns="0" rtlCol="0">
                <a:noAutofit/>
              </a:bodyPr>
              <a:lstStyle/>
              <a:p>
                <a:r>
                  <a:rPr lang="en-US" sz="2000" dirty="0"/>
                  <a:t>Avg Mean error: 2.417 ×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10</m:t>
                        </m:r>
                      </m:e>
                      <m:sup>
                        <m:r>
                          <a:rPr lang="en-US" sz="2000" i="1">
                            <a:latin typeface="Cambria Math" panose="02040503050406030204" pitchFamily="18" charset="0"/>
                          </a:rPr>
                          <m:t>−3</m:t>
                        </m:r>
                      </m:sup>
                    </m:sSup>
                  </m:oMath>
                </a14:m>
                <a:r>
                  <a:rPr lang="en-US" sz="2000" dirty="0"/>
                  <a:t> </a:t>
                </a:r>
              </a:p>
            </p:txBody>
          </p:sp>
        </mc:Choice>
        <mc:Fallback xmlns="">
          <p:sp>
            <p:nvSpPr>
              <p:cNvPr id="18" name="TextBox 17">
                <a:extLst>
                  <a:ext uri="{FF2B5EF4-FFF2-40B4-BE49-F238E27FC236}">
                    <a16:creationId xmlns:a16="http://schemas.microsoft.com/office/drawing/2014/main" id="{46086ADA-E091-A221-F4AC-6359CF448FB0}"/>
                  </a:ext>
                </a:extLst>
              </p:cNvPr>
              <p:cNvSpPr txBox="1">
                <a:spLocks noRot="1" noChangeAspect="1" noMove="1" noResize="1" noEditPoints="1" noAdjustHandles="1" noChangeArrowheads="1" noChangeShapeType="1" noTextEdit="1"/>
              </p:cNvSpPr>
              <p:nvPr/>
            </p:nvSpPr>
            <p:spPr>
              <a:xfrm>
                <a:off x="7726749" y="5936672"/>
                <a:ext cx="3323303" cy="383459"/>
              </a:xfrm>
              <a:prstGeom prst="rect">
                <a:avLst/>
              </a:prstGeom>
              <a:blipFill>
                <a:blip r:embed="rId7"/>
                <a:stretch>
                  <a:fillRect l="-4771" t="-22222" b="-1746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17D2887-F48A-6B62-177E-3614DD7035E6}"/>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0" name="TextBox 19">
            <a:extLst>
              <a:ext uri="{FF2B5EF4-FFF2-40B4-BE49-F238E27FC236}">
                <a16:creationId xmlns:a16="http://schemas.microsoft.com/office/drawing/2014/main" id="{F1FEE97B-F0F9-4387-8E82-8799E8B2BA1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1" name="TextBox 20">
            <a:extLst>
              <a:ext uri="{FF2B5EF4-FFF2-40B4-BE49-F238E27FC236}">
                <a16:creationId xmlns:a16="http://schemas.microsoft.com/office/drawing/2014/main" id="{D7AE4273-9ADB-90E2-019C-05DB636F4063}"/>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2" name="TextBox 21">
            <a:extLst>
              <a:ext uri="{FF2B5EF4-FFF2-40B4-BE49-F238E27FC236}">
                <a16:creationId xmlns:a16="http://schemas.microsoft.com/office/drawing/2014/main" id="{6BB3D175-4B49-920E-38D7-8896419F7B9D}"/>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3" name="TextBox 22">
            <a:extLst>
              <a:ext uri="{FF2B5EF4-FFF2-40B4-BE49-F238E27FC236}">
                <a16:creationId xmlns:a16="http://schemas.microsoft.com/office/drawing/2014/main" id="{635AE945-34F6-3E41-337A-47A194EBF60B}"/>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24" name="TextBox 23">
            <a:extLst>
              <a:ext uri="{FF2B5EF4-FFF2-40B4-BE49-F238E27FC236}">
                <a16:creationId xmlns:a16="http://schemas.microsoft.com/office/drawing/2014/main" id="{A8AF77D6-EFDC-DC9E-7889-BD9DF1439AA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916822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1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1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1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350E0-D2F8-6820-0D2A-6EE75CF313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DCAC9F-8F56-373F-77CD-2B829E20A719}"/>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2374C14B-81B5-F27D-B155-1F61081B7D6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BC2676A-4E99-9193-C5F6-5612D8C185B3}"/>
              </a:ext>
            </a:extLst>
          </p:cNvPr>
          <p:cNvSpPr>
            <a:spLocks noGrp="1"/>
          </p:cNvSpPr>
          <p:nvPr>
            <p:ph type="sldNum" sz="quarter" idx="4"/>
          </p:nvPr>
        </p:nvSpPr>
        <p:spPr/>
        <p:txBody>
          <a:bodyPr/>
          <a:lstStyle/>
          <a:p>
            <a:pPr>
              <a:defRPr/>
            </a:pPr>
            <a:fld id="{A9CE67A1-BA7F-A74E-B5D7-615746DEEC2B}" type="slidenum">
              <a:rPr lang="en-US" smtClean="0"/>
              <a:pPr>
                <a:defRPr/>
              </a:pPr>
              <a:t>45</a:t>
            </a:fld>
            <a:endParaRPr lang="en-US" baseline="-11000" dirty="0"/>
          </a:p>
        </p:txBody>
      </p:sp>
      <p:sp>
        <p:nvSpPr>
          <p:cNvPr id="6" name="!!Date Placeholder 5">
            <a:extLst>
              <a:ext uri="{FF2B5EF4-FFF2-40B4-BE49-F238E27FC236}">
                <a16:creationId xmlns:a16="http://schemas.microsoft.com/office/drawing/2014/main" id="{7BD25197-AE85-0BF9-CBA7-9551E00F25B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 name="!!Content Placeholder 7">
            <a:extLst>
              <a:ext uri="{FF2B5EF4-FFF2-40B4-BE49-F238E27FC236}">
                <a16:creationId xmlns:a16="http://schemas.microsoft.com/office/drawing/2014/main" id="{64B3E506-B124-BC0C-DAF4-39739CC16AF7}"/>
              </a:ext>
            </a:extLst>
          </p:cNvPr>
          <p:cNvSpPr>
            <a:spLocks noGrp="1"/>
          </p:cNvSpPr>
          <p:nvPr>
            <p:ph idx="1"/>
          </p:nvPr>
        </p:nvSpPr>
        <p:spPr>
          <a:xfrm>
            <a:off x="168787" y="870154"/>
            <a:ext cx="11600426" cy="4914900"/>
          </a:xfrm>
        </p:spPr>
        <p:txBody>
          <a:bodyPr/>
          <a:lstStyle/>
          <a:p>
            <a:r>
              <a:rPr lang="en-US" dirty="0"/>
              <a:t>SQNR optimization</a:t>
            </a:r>
          </a:p>
          <a:p>
            <a:pPr marL="0" indent="0">
              <a:buNone/>
            </a:pPr>
            <a:r>
              <a:rPr lang="en-US" dirty="0"/>
              <a:t>Recall : General block diagram </a:t>
            </a:r>
          </a:p>
        </p:txBody>
      </p:sp>
      <p:sp>
        <p:nvSpPr>
          <p:cNvPr id="9" name="Rectangle 8">
            <a:extLst>
              <a:ext uri="{FF2B5EF4-FFF2-40B4-BE49-F238E27FC236}">
                <a16:creationId xmlns:a16="http://schemas.microsoft.com/office/drawing/2014/main" id="{933D5B7A-DFE8-6464-2B64-4AD345C78C8E}"/>
              </a:ext>
            </a:extLst>
          </p:cNvPr>
          <p:cNvSpPr/>
          <p:nvPr/>
        </p:nvSpPr>
        <p:spPr>
          <a:xfrm>
            <a:off x="2566452" y="297991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0" name="TextBox 9">
            <a:extLst>
              <a:ext uri="{FF2B5EF4-FFF2-40B4-BE49-F238E27FC236}">
                <a16:creationId xmlns:a16="http://schemas.microsoft.com/office/drawing/2014/main" id="{7F7787BD-84DB-B788-D6D7-23D9EFA8FAF5}"/>
              </a:ext>
            </a:extLst>
          </p:cNvPr>
          <p:cNvSpPr txBox="1"/>
          <p:nvPr/>
        </p:nvSpPr>
        <p:spPr>
          <a:xfrm>
            <a:off x="4750642" y="248278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1" name="TextBox 10">
            <a:extLst>
              <a:ext uri="{FF2B5EF4-FFF2-40B4-BE49-F238E27FC236}">
                <a16:creationId xmlns:a16="http://schemas.microsoft.com/office/drawing/2014/main" id="{8B34920D-A2A8-DC47-5ABD-B5280B298F4F}"/>
              </a:ext>
            </a:extLst>
          </p:cNvPr>
          <p:cNvSpPr txBox="1"/>
          <p:nvPr/>
        </p:nvSpPr>
        <p:spPr>
          <a:xfrm>
            <a:off x="1537969" y="326961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2" name="Rectangle 11">
            <a:extLst>
              <a:ext uri="{FF2B5EF4-FFF2-40B4-BE49-F238E27FC236}">
                <a16:creationId xmlns:a16="http://schemas.microsoft.com/office/drawing/2014/main" id="{522EAC90-B9E5-626D-27E7-147AAE6E5BBA}"/>
              </a:ext>
            </a:extLst>
          </p:cNvPr>
          <p:cNvSpPr/>
          <p:nvPr/>
        </p:nvSpPr>
        <p:spPr>
          <a:xfrm>
            <a:off x="265986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13" name="Rectangle 12">
            <a:extLst>
              <a:ext uri="{FF2B5EF4-FFF2-40B4-BE49-F238E27FC236}">
                <a16:creationId xmlns:a16="http://schemas.microsoft.com/office/drawing/2014/main" id="{07773134-6764-1543-8396-8C871FE7547D}"/>
              </a:ext>
            </a:extLst>
          </p:cNvPr>
          <p:cNvSpPr/>
          <p:nvPr/>
        </p:nvSpPr>
        <p:spPr>
          <a:xfrm>
            <a:off x="447391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14" name="Straight Arrow Connector 13">
            <a:extLst>
              <a:ext uri="{FF2B5EF4-FFF2-40B4-BE49-F238E27FC236}">
                <a16:creationId xmlns:a16="http://schemas.microsoft.com/office/drawing/2014/main" id="{F200620C-26A6-EEC3-F938-ED1CE087FDB6}"/>
              </a:ext>
            </a:extLst>
          </p:cNvPr>
          <p:cNvCxnSpPr>
            <a:cxnSpLocks/>
          </p:cNvCxnSpPr>
          <p:nvPr/>
        </p:nvCxnSpPr>
        <p:spPr>
          <a:xfrm>
            <a:off x="1435744" y="368994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6F9C80A-F160-0AB7-615C-6EE38E731BA3}"/>
              </a:ext>
            </a:extLst>
          </p:cNvPr>
          <p:cNvCxnSpPr>
            <a:cxnSpLocks/>
          </p:cNvCxnSpPr>
          <p:nvPr/>
        </p:nvCxnSpPr>
        <p:spPr>
          <a:xfrm>
            <a:off x="375124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E830CB60-7D45-4DE5-F454-3A97168081B6}"/>
              </a:ext>
            </a:extLst>
          </p:cNvPr>
          <p:cNvSpPr/>
          <p:nvPr/>
        </p:nvSpPr>
        <p:spPr>
          <a:xfrm>
            <a:off x="6254431"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386F116-FB13-BF25-95EE-3FA13E553415}"/>
              </a:ext>
            </a:extLst>
          </p:cNvPr>
          <p:cNvSpPr/>
          <p:nvPr/>
        </p:nvSpPr>
        <p:spPr>
          <a:xfrm>
            <a:off x="6514168"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F9580B1-49F0-6F44-55F4-E5BDD82DE136}"/>
              </a:ext>
            </a:extLst>
          </p:cNvPr>
          <p:cNvSpPr/>
          <p:nvPr/>
        </p:nvSpPr>
        <p:spPr>
          <a:xfrm>
            <a:off x="7323033"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8C3411B2-36DA-DDF5-03AC-8BF0A7257B95}"/>
              </a:ext>
            </a:extLst>
          </p:cNvPr>
          <p:cNvSpPr/>
          <p:nvPr/>
        </p:nvSpPr>
        <p:spPr>
          <a:xfrm>
            <a:off x="8131898"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20" name="Straight Arrow Connector 19">
            <a:extLst>
              <a:ext uri="{FF2B5EF4-FFF2-40B4-BE49-F238E27FC236}">
                <a16:creationId xmlns:a16="http://schemas.microsoft.com/office/drawing/2014/main" id="{9D6DD5D9-8493-CC76-ABE2-06AE5833CF2E}"/>
              </a:ext>
            </a:extLst>
          </p:cNvPr>
          <p:cNvCxnSpPr>
            <a:cxnSpLocks/>
          </p:cNvCxnSpPr>
          <p:nvPr/>
        </p:nvCxnSpPr>
        <p:spPr>
          <a:xfrm>
            <a:off x="7409229"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0753527-7B3D-F9EB-F88C-F4C5AAC90C7D}"/>
              </a:ext>
            </a:extLst>
          </p:cNvPr>
          <p:cNvCxnSpPr>
            <a:cxnSpLocks/>
          </p:cNvCxnSpPr>
          <p:nvPr/>
        </p:nvCxnSpPr>
        <p:spPr>
          <a:xfrm>
            <a:off x="554910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Oval 21">
            <a:extLst>
              <a:ext uri="{FF2B5EF4-FFF2-40B4-BE49-F238E27FC236}">
                <a16:creationId xmlns:a16="http://schemas.microsoft.com/office/drawing/2014/main" id="{729B5D2C-212F-ACAC-4F78-D5DF71E5CA95}"/>
              </a:ext>
            </a:extLst>
          </p:cNvPr>
          <p:cNvSpPr/>
          <p:nvPr/>
        </p:nvSpPr>
        <p:spPr>
          <a:xfrm>
            <a:off x="6805497"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EBCB6B85-F544-1582-8CEB-B7378BEC9D1E}"/>
              </a:ext>
            </a:extLst>
          </p:cNvPr>
          <p:cNvSpPr/>
          <p:nvPr/>
        </p:nvSpPr>
        <p:spPr>
          <a:xfrm>
            <a:off x="7066516"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4" name="Straight Arrow Connector 23">
            <a:extLst>
              <a:ext uri="{FF2B5EF4-FFF2-40B4-BE49-F238E27FC236}">
                <a16:creationId xmlns:a16="http://schemas.microsoft.com/office/drawing/2014/main" id="{0FF29AEC-0AB4-7D7D-9EA9-E824FC3E92BF}"/>
              </a:ext>
            </a:extLst>
          </p:cNvPr>
          <p:cNvCxnSpPr>
            <a:cxnSpLocks/>
          </p:cNvCxnSpPr>
          <p:nvPr/>
        </p:nvCxnSpPr>
        <p:spPr>
          <a:xfrm>
            <a:off x="9223279" y="373275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2E8FCCEC-39A3-6506-147D-4BF18D810EA1}"/>
              </a:ext>
            </a:extLst>
          </p:cNvPr>
          <p:cNvSpPr txBox="1"/>
          <p:nvPr/>
        </p:nvSpPr>
        <p:spPr>
          <a:xfrm>
            <a:off x="9349855" y="3254912"/>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26" name="Straight Connector 25">
            <a:extLst>
              <a:ext uri="{FF2B5EF4-FFF2-40B4-BE49-F238E27FC236}">
                <a16:creationId xmlns:a16="http://schemas.microsoft.com/office/drawing/2014/main" id="{3B1489B7-4B44-2658-9F90-A319DB05D3EC}"/>
              </a:ext>
            </a:extLst>
          </p:cNvPr>
          <p:cNvCxnSpPr>
            <a:cxnSpLocks/>
          </p:cNvCxnSpPr>
          <p:nvPr/>
        </p:nvCxnSpPr>
        <p:spPr>
          <a:xfrm flipH="1">
            <a:off x="1864575" y="363332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EDD0D69B-16AD-FE88-C9EF-F7BD8F963B6F}"/>
              </a:ext>
            </a:extLst>
          </p:cNvPr>
          <p:cNvCxnSpPr>
            <a:cxnSpLocks/>
          </p:cNvCxnSpPr>
          <p:nvPr/>
        </p:nvCxnSpPr>
        <p:spPr>
          <a:xfrm flipH="1">
            <a:off x="9581317" y="366735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F8A6A221-E926-5C5F-619D-E3CE21F0F46C}"/>
              </a:ext>
            </a:extLst>
          </p:cNvPr>
          <p:cNvSpPr txBox="1"/>
          <p:nvPr/>
        </p:nvSpPr>
        <p:spPr>
          <a:xfrm>
            <a:off x="2052210" y="368994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29" name="TextBox 28">
            <a:extLst>
              <a:ext uri="{FF2B5EF4-FFF2-40B4-BE49-F238E27FC236}">
                <a16:creationId xmlns:a16="http://schemas.microsoft.com/office/drawing/2014/main" id="{2AB8A485-18FA-3BD3-452D-420AC10C3B24}"/>
              </a:ext>
            </a:extLst>
          </p:cNvPr>
          <p:cNvSpPr txBox="1"/>
          <p:nvPr/>
        </p:nvSpPr>
        <p:spPr>
          <a:xfrm>
            <a:off x="9801259" y="370402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30" name="TextBox 29">
            <a:extLst>
              <a:ext uri="{FF2B5EF4-FFF2-40B4-BE49-F238E27FC236}">
                <a16:creationId xmlns:a16="http://schemas.microsoft.com/office/drawing/2014/main" id="{BADE3CA2-A2C2-C984-E758-97082671B837}"/>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31" name="TextBox 30">
            <a:extLst>
              <a:ext uri="{FF2B5EF4-FFF2-40B4-BE49-F238E27FC236}">
                <a16:creationId xmlns:a16="http://schemas.microsoft.com/office/drawing/2014/main" id="{DAA5D524-9B36-0AA8-8908-F93222B6DB19}"/>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32" name="TextBox 31">
            <a:extLst>
              <a:ext uri="{FF2B5EF4-FFF2-40B4-BE49-F238E27FC236}">
                <a16:creationId xmlns:a16="http://schemas.microsoft.com/office/drawing/2014/main" id="{43448D79-5D70-BE74-631A-EE12A2CA1830}"/>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33" name="TextBox 32">
            <a:extLst>
              <a:ext uri="{FF2B5EF4-FFF2-40B4-BE49-F238E27FC236}">
                <a16:creationId xmlns:a16="http://schemas.microsoft.com/office/drawing/2014/main" id="{BE96ECA8-44AC-5776-39F1-C2F4CA8EF95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34" name="TextBox 33">
            <a:extLst>
              <a:ext uri="{FF2B5EF4-FFF2-40B4-BE49-F238E27FC236}">
                <a16:creationId xmlns:a16="http://schemas.microsoft.com/office/drawing/2014/main" id="{D8F38550-F4B7-FB37-A643-030F56486D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5" name="TextBox 34">
            <a:extLst>
              <a:ext uri="{FF2B5EF4-FFF2-40B4-BE49-F238E27FC236}">
                <a16:creationId xmlns:a16="http://schemas.microsoft.com/office/drawing/2014/main" id="{CE6A399D-9914-BFBD-4B8B-1A5E44A9D46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545325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03257-C30C-0B5C-2F93-DD7D9D4608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C82E3F-C310-FBDB-FC2D-22C900465470}"/>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2893E36C-8971-0D72-5DC6-44218721A3D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BAE119D7-8054-DD14-17F2-8FCA5DB5BFA2}"/>
              </a:ext>
            </a:extLst>
          </p:cNvPr>
          <p:cNvSpPr>
            <a:spLocks noGrp="1"/>
          </p:cNvSpPr>
          <p:nvPr>
            <p:ph type="sldNum" sz="quarter" idx="4"/>
          </p:nvPr>
        </p:nvSpPr>
        <p:spPr/>
        <p:txBody>
          <a:bodyPr/>
          <a:lstStyle/>
          <a:p>
            <a:pPr>
              <a:defRPr/>
            </a:pPr>
            <a:fld id="{A9CE67A1-BA7F-A74E-B5D7-615746DEEC2B}" type="slidenum">
              <a:rPr lang="en-US" smtClean="0"/>
              <a:pPr>
                <a:defRPr/>
              </a:pPr>
              <a:t>46</a:t>
            </a:fld>
            <a:endParaRPr lang="en-US" baseline="-11000" dirty="0"/>
          </a:p>
        </p:txBody>
      </p:sp>
      <p:sp>
        <p:nvSpPr>
          <p:cNvPr id="6" name="!!Date Placeholder 5">
            <a:extLst>
              <a:ext uri="{FF2B5EF4-FFF2-40B4-BE49-F238E27FC236}">
                <a16:creationId xmlns:a16="http://schemas.microsoft.com/office/drawing/2014/main" id="{721BBEA8-4CE6-8513-0EF3-3BD019E8CF5D}"/>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25742E1-265D-AFD4-F83F-DBCFEBA47C33}"/>
                  </a:ext>
                </a:extLst>
              </p:cNvPr>
              <p:cNvSpPr txBox="1"/>
              <p:nvPr/>
            </p:nvSpPr>
            <p:spPr>
              <a:xfrm>
                <a:off x="205255" y="949322"/>
                <a:ext cx="7064919" cy="328106"/>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𝑇𝑜𝑡𝑎𝑙</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𝑁𝑢𝑚𝑏𝑒𝑟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𝑜𝑓</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𝐵𝑖𝑡𝑠</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𝐼𝑛𝑡𝑒𝑔𝑒𝑟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𝑏𝑖𝑡𝑠</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𝐹𝑟𝑎𝑐𝑡𝑖𝑜𝑛𝑎𝑙</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𝑏𝑖𝑡𝑠</m:t>
                      </m:r>
                      <m:r>
                        <a:rPr lang="en-US" sz="2000" b="0" i="1" smtClean="0">
                          <a:solidFill>
                            <a:srgbClr val="000000"/>
                          </a:solidFill>
                          <a:latin typeface="Cambria Math" panose="02040503050406030204" pitchFamily="18" charset="0"/>
                        </a:rPr>
                        <m:t> </m:t>
                      </m:r>
                    </m:oMath>
                  </m:oMathPara>
                </a14:m>
                <a:endParaRPr lang="en-US" sz="2000" dirty="0">
                  <a:solidFill>
                    <a:srgbClr val="000000"/>
                  </a:solidFill>
                </a:endParaRPr>
              </a:p>
            </p:txBody>
          </p:sp>
        </mc:Choice>
        <mc:Fallback xmlns="">
          <p:sp>
            <p:nvSpPr>
              <p:cNvPr id="40" name="!!TextBox 39">
                <a:extLst>
                  <a:ext uri="{FF2B5EF4-FFF2-40B4-BE49-F238E27FC236}">
                    <a16:creationId xmlns:a16="http://schemas.microsoft.com/office/drawing/2014/main" id="{325742E1-265D-AFD4-F83F-DBCFEBA47C33}"/>
                  </a:ext>
                </a:extLst>
              </p:cNvPr>
              <p:cNvSpPr txBox="1">
                <a:spLocks noRot="1" noChangeAspect="1" noMove="1" noResize="1" noEditPoints="1" noAdjustHandles="1" noChangeArrowheads="1" noChangeShapeType="1" noTextEdit="1"/>
              </p:cNvSpPr>
              <p:nvPr/>
            </p:nvSpPr>
            <p:spPr>
              <a:xfrm>
                <a:off x="205255" y="949322"/>
                <a:ext cx="7064919" cy="328106"/>
              </a:xfrm>
              <a:prstGeom prst="rect">
                <a:avLst/>
              </a:prstGeom>
              <a:blipFill>
                <a:blip r:embed="rId2"/>
                <a:stretch>
                  <a:fillRect b="-27778"/>
                </a:stretch>
              </a:blipFill>
            </p:spPr>
            <p:txBody>
              <a:bodyPr/>
              <a:lstStyle/>
              <a:p>
                <a:r>
                  <a:rPr lang="en-US">
                    <a:noFill/>
                  </a:rPr>
                  <a:t> </a:t>
                </a:r>
              </a:p>
            </p:txBody>
          </p:sp>
        </mc:Fallback>
      </mc:AlternateContent>
      <p:pic>
        <p:nvPicPr>
          <p:cNvPr id="41" name="!!Graphic 40" descr="Lock with solid fill">
            <a:extLst>
              <a:ext uri="{FF2B5EF4-FFF2-40B4-BE49-F238E27FC236}">
                <a16:creationId xmlns:a16="http://schemas.microsoft.com/office/drawing/2014/main" id="{31F8F0F4-A138-5CCC-F865-3BC6AA99DC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62369" y="1350221"/>
            <a:ext cx="522689" cy="522689"/>
          </a:xfrm>
          <a:prstGeom prst="rect">
            <a:avLst/>
          </a:prstGeom>
        </p:spPr>
      </p:pic>
      <p:pic>
        <p:nvPicPr>
          <p:cNvPr id="42" name="!!Graphic 41" descr="Arrow Up with solid fill">
            <a:extLst>
              <a:ext uri="{FF2B5EF4-FFF2-40B4-BE49-F238E27FC236}">
                <a16:creationId xmlns:a16="http://schemas.microsoft.com/office/drawing/2014/main" id="{3691F1BE-323E-18B1-D6C5-489223E73D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07806" y="1350221"/>
            <a:ext cx="522689" cy="522689"/>
          </a:xfrm>
          <a:prstGeom prst="rect">
            <a:avLst/>
          </a:prstGeom>
        </p:spPr>
      </p:pic>
      <p:pic>
        <p:nvPicPr>
          <p:cNvPr id="43" name="!!Graphic 42" descr="Arrow Up with solid fill">
            <a:extLst>
              <a:ext uri="{FF2B5EF4-FFF2-40B4-BE49-F238E27FC236}">
                <a16:creationId xmlns:a16="http://schemas.microsoft.com/office/drawing/2014/main" id="{BF48C82D-E058-5C85-96DE-84A994BD32F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V="1">
            <a:off x="5555586" y="1339945"/>
            <a:ext cx="522689" cy="522689"/>
          </a:xfrm>
          <a:prstGeom prst="rect">
            <a:avLst/>
          </a:prstGeom>
        </p:spPr>
      </p:pic>
      <p:sp>
        <p:nvSpPr>
          <p:cNvPr id="44" name="TextBox 43">
            <a:extLst>
              <a:ext uri="{FF2B5EF4-FFF2-40B4-BE49-F238E27FC236}">
                <a16:creationId xmlns:a16="http://schemas.microsoft.com/office/drawing/2014/main" id="{67677DD7-0CD1-FF9F-E3F8-2208F9247741}"/>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5" name="TextBox 44">
            <a:extLst>
              <a:ext uri="{FF2B5EF4-FFF2-40B4-BE49-F238E27FC236}">
                <a16:creationId xmlns:a16="http://schemas.microsoft.com/office/drawing/2014/main" id="{0CB8D097-4DD1-A01B-29D2-098E1BCCCA01}"/>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6" name="TextBox 45">
            <a:extLst>
              <a:ext uri="{FF2B5EF4-FFF2-40B4-BE49-F238E27FC236}">
                <a16:creationId xmlns:a16="http://schemas.microsoft.com/office/drawing/2014/main" id="{4764AABC-94AB-88A6-6831-D55333EE91E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7" name="TextBox 46">
            <a:extLst>
              <a:ext uri="{FF2B5EF4-FFF2-40B4-BE49-F238E27FC236}">
                <a16:creationId xmlns:a16="http://schemas.microsoft.com/office/drawing/2014/main" id="{4CA6FC31-C337-29C9-746D-4C61671FCFCE}"/>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8" name="TextBox 47">
            <a:extLst>
              <a:ext uri="{FF2B5EF4-FFF2-40B4-BE49-F238E27FC236}">
                <a16:creationId xmlns:a16="http://schemas.microsoft.com/office/drawing/2014/main" id="{D0459767-4DD7-7AAE-B08E-74C14F587C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49" name="TextBox 48">
            <a:extLst>
              <a:ext uri="{FF2B5EF4-FFF2-40B4-BE49-F238E27FC236}">
                <a16:creationId xmlns:a16="http://schemas.microsoft.com/office/drawing/2014/main" id="{0A4C87F5-FF5F-2AC0-EB95-6A98F0C60D2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
        <p:nvSpPr>
          <p:cNvPr id="50" name="Rectangle 49">
            <a:extLst>
              <a:ext uri="{FF2B5EF4-FFF2-40B4-BE49-F238E27FC236}">
                <a16:creationId xmlns:a16="http://schemas.microsoft.com/office/drawing/2014/main" id="{FCFC24BD-C15E-C2C5-1BF5-1AA88574AEEF}"/>
              </a:ext>
            </a:extLst>
          </p:cNvPr>
          <p:cNvSpPr/>
          <p:nvPr/>
        </p:nvSpPr>
        <p:spPr>
          <a:xfrm>
            <a:off x="2566452" y="297991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51" name="TextBox 50">
            <a:extLst>
              <a:ext uri="{FF2B5EF4-FFF2-40B4-BE49-F238E27FC236}">
                <a16:creationId xmlns:a16="http://schemas.microsoft.com/office/drawing/2014/main" id="{DB5A8FE4-8B1E-7B34-6A62-A058BF1F0DD2}"/>
              </a:ext>
            </a:extLst>
          </p:cNvPr>
          <p:cNvSpPr txBox="1"/>
          <p:nvPr/>
        </p:nvSpPr>
        <p:spPr>
          <a:xfrm>
            <a:off x="4750642" y="248278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53" name="Rectangle 52">
            <a:extLst>
              <a:ext uri="{FF2B5EF4-FFF2-40B4-BE49-F238E27FC236}">
                <a16:creationId xmlns:a16="http://schemas.microsoft.com/office/drawing/2014/main" id="{3BF38126-C453-827E-9104-DF5BBB558750}"/>
              </a:ext>
            </a:extLst>
          </p:cNvPr>
          <p:cNvSpPr/>
          <p:nvPr/>
        </p:nvSpPr>
        <p:spPr>
          <a:xfrm>
            <a:off x="265986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54" name="Rectangle 53">
            <a:extLst>
              <a:ext uri="{FF2B5EF4-FFF2-40B4-BE49-F238E27FC236}">
                <a16:creationId xmlns:a16="http://schemas.microsoft.com/office/drawing/2014/main" id="{80C32C17-9B85-848C-8CEE-BEC5EFB30AFC}"/>
              </a:ext>
            </a:extLst>
          </p:cNvPr>
          <p:cNvSpPr/>
          <p:nvPr/>
        </p:nvSpPr>
        <p:spPr>
          <a:xfrm>
            <a:off x="447391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55" name="Straight Arrow Connector 54">
            <a:extLst>
              <a:ext uri="{FF2B5EF4-FFF2-40B4-BE49-F238E27FC236}">
                <a16:creationId xmlns:a16="http://schemas.microsoft.com/office/drawing/2014/main" id="{760ED986-2D9C-D27D-AE87-812C899C0E05}"/>
              </a:ext>
            </a:extLst>
          </p:cNvPr>
          <p:cNvCxnSpPr>
            <a:cxnSpLocks/>
          </p:cNvCxnSpPr>
          <p:nvPr/>
        </p:nvCxnSpPr>
        <p:spPr>
          <a:xfrm>
            <a:off x="1435744" y="368994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BFCE36F9-F3E6-770A-A404-FB0EBA358750}"/>
              </a:ext>
            </a:extLst>
          </p:cNvPr>
          <p:cNvCxnSpPr>
            <a:cxnSpLocks/>
          </p:cNvCxnSpPr>
          <p:nvPr/>
        </p:nvCxnSpPr>
        <p:spPr>
          <a:xfrm>
            <a:off x="375124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7C0C5949-E3CC-4AED-F386-136204A8796E}"/>
              </a:ext>
            </a:extLst>
          </p:cNvPr>
          <p:cNvSpPr/>
          <p:nvPr/>
        </p:nvSpPr>
        <p:spPr>
          <a:xfrm>
            <a:off x="6254431"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05A642D4-8816-2F0C-9F6D-4F6DD639A633}"/>
              </a:ext>
            </a:extLst>
          </p:cNvPr>
          <p:cNvSpPr/>
          <p:nvPr/>
        </p:nvSpPr>
        <p:spPr>
          <a:xfrm>
            <a:off x="6514168"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72702BB6-F906-FA88-9E1B-E7949D284921}"/>
              </a:ext>
            </a:extLst>
          </p:cNvPr>
          <p:cNvSpPr/>
          <p:nvPr/>
        </p:nvSpPr>
        <p:spPr>
          <a:xfrm>
            <a:off x="7323033"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F14B2167-A7BB-B8E5-0D9F-10CAA3AAE96C}"/>
              </a:ext>
            </a:extLst>
          </p:cNvPr>
          <p:cNvSpPr/>
          <p:nvPr/>
        </p:nvSpPr>
        <p:spPr>
          <a:xfrm>
            <a:off x="8131898"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61" name="Straight Arrow Connector 60">
            <a:extLst>
              <a:ext uri="{FF2B5EF4-FFF2-40B4-BE49-F238E27FC236}">
                <a16:creationId xmlns:a16="http://schemas.microsoft.com/office/drawing/2014/main" id="{F291D348-7117-8C89-9B02-28E53112C25B}"/>
              </a:ext>
            </a:extLst>
          </p:cNvPr>
          <p:cNvCxnSpPr>
            <a:cxnSpLocks/>
          </p:cNvCxnSpPr>
          <p:nvPr/>
        </p:nvCxnSpPr>
        <p:spPr>
          <a:xfrm>
            <a:off x="7409229"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80DFF839-51BB-25AC-73BE-2FE8C61573AF}"/>
              </a:ext>
            </a:extLst>
          </p:cNvPr>
          <p:cNvCxnSpPr>
            <a:cxnSpLocks/>
          </p:cNvCxnSpPr>
          <p:nvPr/>
        </p:nvCxnSpPr>
        <p:spPr>
          <a:xfrm>
            <a:off x="554910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Oval 62">
            <a:extLst>
              <a:ext uri="{FF2B5EF4-FFF2-40B4-BE49-F238E27FC236}">
                <a16:creationId xmlns:a16="http://schemas.microsoft.com/office/drawing/2014/main" id="{643B2669-F415-2C6B-CD22-FA7E962A6602}"/>
              </a:ext>
            </a:extLst>
          </p:cNvPr>
          <p:cNvSpPr/>
          <p:nvPr/>
        </p:nvSpPr>
        <p:spPr>
          <a:xfrm>
            <a:off x="6805497"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E95448F8-914B-2872-A023-4B68CF67EDDB}"/>
              </a:ext>
            </a:extLst>
          </p:cNvPr>
          <p:cNvSpPr/>
          <p:nvPr/>
        </p:nvSpPr>
        <p:spPr>
          <a:xfrm>
            <a:off x="7066516"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65" name="Straight Arrow Connector 64">
            <a:extLst>
              <a:ext uri="{FF2B5EF4-FFF2-40B4-BE49-F238E27FC236}">
                <a16:creationId xmlns:a16="http://schemas.microsoft.com/office/drawing/2014/main" id="{0CCAE5BC-CC33-048B-4AE0-9567E82F161D}"/>
              </a:ext>
            </a:extLst>
          </p:cNvPr>
          <p:cNvCxnSpPr>
            <a:cxnSpLocks/>
          </p:cNvCxnSpPr>
          <p:nvPr/>
        </p:nvCxnSpPr>
        <p:spPr>
          <a:xfrm>
            <a:off x="9223279" y="373275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60EF638E-4377-082F-AF5E-B74537D1904E}"/>
              </a:ext>
            </a:extLst>
          </p:cNvPr>
          <p:cNvCxnSpPr>
            <a:cxnSpLocks/>
          </p:cNvCxnSpPr>
          <p:nvPr/>
        </p:nvCxnSpPr>
        <p:spPr>
          <a:xfrm flipH="1">
            <a:off x="1864575" y="363332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68" name="Straight Connector 67">
            <a:extLst>
              <a:ext uri="{FF2B5EF4-FFF2-40B4-BE49-F238E27FC236}">
                <a16:creationId xmlns:a16="http://schemas.microsoft.com/office/drawing/2014/main" id="{4A9E5FC0-FDF2-1D78-29F7-437158FB31E8}"/>
              </a:ext>
            </a:extLst>
          </p:cNvPr>
          <p:cNvCxnSpPr>
            <a:cxnSpLocks/>
          </p:cNvCxnSpPr>
          <p:nvPr/>
        </p:nvCxnSpPr>
        <p:spPr>
          <a:xfrm flipH="1">
            <a:off x="9581317" y="366735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69" name="TextBox 68">
            <a:extLst>
              <a:ext uri="{FF2B5EF4-FFF2-40B4-BE49-F238E27FC236}">
                <a16:creationId xmlns:a16="http://schemas.microsoft.com/office/drawing/2014/main" id="{2FDC4599-FE2C-422D-4D9F-794BD12DD559}"/>
              </a:ext>
            </a:extLst>
          </p:cNvPr>
          <p:cNvSpPr txBox="1"/>
          <p:nvPr/>
        </p:nvSpPr>
        <p:spPr>
          <a:xfrm>
            <a:off x="2052210" y="368994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0" name="TextBox 69">
            <a:extLst>
              <a:ext uri="{FF2B5EF4-FFF2-40B4-BE49-F238E27FC236}">
                <a16:creationId xmlns:a16="http://schemas.microsoft.com/office/drawing/2014/main" id="{8DB9BEBF-88A2-811F-EA5A-1B1179791B53}"/>
              </a:ext>
            </a:extLst>
          </p:cNvPr>
          <p:cNvSpPr txBox="1"/>
          <p:nvPr/>
        </p:nvSpPr>
        <p:spPr>
          <a:xfrm>
            <a:off x="9801259" y="370402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1" name="TextBox 70">
            <a:extLst>
              <a:ext uri="{FF2B5EF4-FFF2-40B4-BE49-F238E27FC236}">
                <a16:creationId xmlns:a16="http://schemas.microsoft.com/office/drawing/2014/main" id="{B63D3BA3-7C15-7F36-EF1A-44158D6259BC}"/>
              </a:ext>
            </a:extLst>
          </p:cNvPr>
          <p:cNvSpPr txBox="1"/>
          <p:nvPr/>
        </p:nvSpPr>
        <p:spPr>
          <a:xfrm>
            <a:off x="1537969" y="326961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72" name="TextBox 71">
            <a:extLst>
              <a:ext uri="{FF2B5EF4-FFF2-40B4-BE49-F238E27FC236}">
                <a16:creationId xmlns:a16="http://schemas.microsoft.com/office/drawing/2014/main" id="{4F55A353-71B6-C4F8-ADC2-87DFA3C565AF}"/>
              </a:ext>
            </a:extLst>
          </p:cNvPr>
          <p:cNvSpPr txBox="1"/>
          <p:nvPr/>
        </p:nvSpPr>
        <p:spPr>
          <a:xfrm>
            <a:off x="9349855" y="3254912"/>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spTree>
    <p:extLst>
      <p:ext uri="{BB962C8B-B14F-4D97-AF65-F5344CB8AC3E}">
        <p14:creationId xmlns:p14="http://schemas.microsoft.com/office/powerpoint/2010/main" val="338933100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par>
                                <p:cTn id="8" presetID="10" presetClass="entr" presetSubtype="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par>
                                <p:cTn id="11" presetID="10"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26810-E3C8-92F5-885E-AA32F507C5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68713A-42A7-E77C-EEA6-A7F48C5BA8AE}"/>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82D49325-A492-8EBA-672C-DFFE735DA26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0539FFB-B074-A8C2-9B4C-87A98EDAD31F}"/>
              </a:ext>
            </a:extLst>
          </p:cNvPr>
          <p:cNvSpPr>
            <a:spLocks noGrp="1"/>
          </p:cNvSpPr>
          <p:nvPr>
            <p:ph type="sldNum" sz="quarter" idx="4"/>
          </p:nvPr>
        </p:nvSpPr>
        <p:spPr/>
        <p:txBody>
          <a:bodyPr/>
          <a:lstStyle/>
          <a:p>
            <a:pPr>
              <a:defRPr/>
            </a:pPr>
            <a:fld id="{A9CE67A1-BA7F-A74E-B5D7-615746DEEC2B}" type="slidenum">
              <a:rPr lang="en-US" smtClean="0"/>
              <a:pPr>
                <a:defRPr/>
              </a:pPr>
              <a:t>47</a:t>
            </a:fld>
            <a:endParaRPr lang="en-US" baseline="-11000" dirty="0"/>
          </a:p>
        </p:txBody>
      </p:sp>
      <p:sp>
        <p:nvSpPr>
          <p:cNvPr id="6" name="!!Date Placeholder 5">
            <a:extLst>
              <a:ext uri="{FF2B5EF4-FFF2-40B4-BE49-F238E27FC236}">
                <a16:creationId xmlns:a16="http://schemas.microsoft.com/office/drawing/2014/main" id="{CDEA5982-615B-7662-DB03-915EB0AD439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92AF34BD-3F00-D456-5FB8-40CBE1390848}"/>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1 (Floor rounding – No delayed quantization ) </a:t>
            </a:r>
            <a:endParaRPr lang="en-US" sz="2000" b="1" dirty="0">
              <a:solidFill>
                <a:srgbClr val="000000"/>
              </a:solidFill>
              <a:latin typeface="+mj-lt"/>
            </a:endParaRPr>
          </a:p>
        </p:txBody>
      </p:sp>
      <p:grpSp>
        <p:nvGrpSpPr>
          <p:cNvPr id="2" name="Group 1">
            <a:extLst>
              <a:ext uri="{FF2B5EF4-FFF2-40B4-BE49-F238E27FC236}">
                <a16:creationId xmlns:a16="http://schemas.microsoft.com/office/drawing/2014/main" id="{87618EBB-92E6-8BFE-51D0-E7A6E51457C0}"/>
              </a:ext>
            </a:extLst>
          </p:cNvPr>
          <p:cNvGrpSpPr/>
          <p:nvPr/>
        </p:nvGrpSpPr>
        <p:grpSpPr>
          <a:xfrm>
            <a:off x="6252799" y="2375255"/>
            <a:ext cx="1684293" cy="800219"/>
            <a:chOff x="1864907" y="4505166"/>
            <a:chExt cx="1684293" cy="800219"/>
          </a:xfrm>
        </p:grpSpPr>
        <p:sp>
          <p:nvSpPr>
            <p:cNvPr id="8" name="Inhaltsplatzhalter 4">
              <a:extLst>
                <a:ext uri="{FF2B5EF4-FFF2-40B4-BE49-F238E27FC236}">
                  <a16:creationId xmlns:a16="http://schemas.microsoft.com/office/drawing/2014/main" id="{598844D8-6C7F-F5D7-CB30-10C4AD5C3D25}"/>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30" name="Rectangle 29">
              <a:extLst>
                <a:ext uri="{FF2B5EF4-FFF2-40B4-BE49-F238E27FC236}">
                  <a16:creationId xmlns:a16="http://schemas.microsoft.com/office/drawing/2014/main" id="{79B9108D-813B-4837-6D43-48DD1C32EA7A}"/>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31" name="Group 30">
            <a:extLst>
              <a:ext uri="{FF2B5EF4-FFF2-40B4-BE49-F238E27FC236}">
                <a16:creationId xmlns:a16="http://schemas.microsoft.com/office/drawing/2014/main" id="{DDAE3072-BF1E-94B3-C645-8F6C457F6C06}"/>
              </a:ext>
            </a:extLst>
          </p:cNvPr>
          <p:cNvGrpSpPr/>
          <p:nvPr/>
        </p:nvGrpSpPr>
        <p:grpSpPr>
          <a:xfrm>
            <a:off x="6212632" y="4298551"/>
            <a:ext cx="1724460" cy="629565"/>
            <a:chOff x="2341877" y="5257572"/>
            <a:chExt cx="1724460" cy="629565"/>
          </a:xfrm>
        </p:grpSpPr>
        <p:sp>
          <p:nvSpPr>
            <p:cNvPr id="32" name="Freeform: Shape 31">
              <a:extLst>
                <a:ext uri="{FF2B5EF4-FFF2-40B4-BE49-F238E27FC236}">
                  <a16:creationId xmlns:a16="http://schemas.microsoft.com/office/drawing/2014/main" id="{A102B9AC-766E-F738-D30B-5E1816E5476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42FED29-911F-D165-7538-6896F17BCBB6}"/>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34" name="Group 33">
            <a:extLst>
              <a:ext uri="{FF2B5EF4-FFF2-40B4-BE49-F238E27FC236}">
                <a16:creationId xmlns:a16="http://schemas.microsoft.com/office/drawing/2014/main" id="{24E4F7F6-FAEB-43D0-C330-DB4BA97526EE}"/>
              </a:ext>
            </a:extLst>
          </p:cNvPr>
          <p:cNvGrpSpPr/>
          <p:nvPr/>
        </p:nvGrpSpPr>
        <p:grpSpPr>
          <a:xfrm>
            <a:off x="6538106" y="3253084"/>
            <a:ext cx="1122268" cy="1553353"/>
            <a:chOff x="2637498" y="3815049"/>
            <a:chExt cx="1122268" cy="1553353"/>
          </a:xfrm>
        </p:grpSpPr>
        <p:sp>
          <p:nvSpPr>
            <p:cNvPr id="35" name="Freeform: Shape 34">
              <a:extLst>
                <a:ext uri="{FF2B5EF4-FFF2-40B4-BE49-F238E27FC236}">
                  <a16:creationId xmlns:a16="http://schemas.microsoft.com/office/drawing/2014/main" id="{3F4469B3-C30F-C5C1-24ED-7781C7A1D6AA}"/>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A21F800E-445D-AF43-70F9-96B2481AB5B8}"/>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37" name="Picture 36">
            <a:extLst>
              <a:ext uri="{FF2B5EF4-FFF2-40B4-BE49-F238E27FC236}">
                <a16:creationId xmlns:a16="http://schemas.microsoft.com/office/drawing/2014/main" id="{D7F88EDD-39A4-938F-59CF-90CFD772D653}"/>
              </a:ext>
            </a:extLst>
          </p:cNvPr>
          <p:cNvPicPr>
            <a:picLocks noChangeAspect="1"/>
          </p:cNvPicPr>
          <p:nvPr/>
        </p:nvPicPr>
        <p:blipFill>
          <a:blip r:embed="rId2">
            <a:extLst>
              <a:ext uri="{28A0092B-C50C-407E-A947-70E740481C1C}">
                <a14:useLocalDpi xmlns:a14="http://schemas.microsoft.com/office/drawing/2010/main" val="0"/>
              </a:ext>
            </a:extLst>
          </a:blip>
          <a:srcRect l="1565" r="5341"/>
          <a:stretch>
            <a:fillRect/>
          </a:stretch>
        </p:blipFill>
        <p:spPr>
          <a:xfrm>
            <a:off x="680720" y="1321311"/>
            <a:ext cx="4973175" cy="3985605"/>
          </a:xfrm>
          <a:prstGeom prst="rect">
            <a:avLst/>
          </a:prstGeom>
          <a:solidFill>
            <a:schemeClr val="tx1"/>
          </a:solidFill>
          <a:ln>
            <a:solidFill>
              <a:schemeClr val="tx1"/>
            </a:solidFill>
          </a:ln>
        </p:spPr>
      </p:pic>
      <p:sp>
        <p:nvSpPr>
          <p:cNvPr id="38" name="TextBox 37">
            <a:extLst>
              <a:ext uri="{FF2B5EF4-FFF2-40B4-BE49-F238E27FC236}">
                <a16:creationId xmlns:a16="http://schemas.microsoft.com/office/drawing/2014/main" id="{360ECD71-6E89-D755-BB45-984D6CB22585}"/>
              </a:ext>
            </a:extLst>
          </p:cNvPr>
          <p:cNvSpPr txBox="1"/>
          <p:nvPr/>
        </p:nvSpPr>
        <p:spPr>
          <a:xfrm>
            <a:off x="680720" y="5490408"/>
            <a:ext cx="6175076"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Could we do better ? </a:t>
            </a:r>
          </a:p>
        </p:txBody>
      </p:sp>
      <p:sp>
        <p:nvSpPr>
          <p:cNvPr id="44" name="Inhaltsplatzhalter 4">
            <a:extLst>
              <a:ext uri="{FF2B5EF4-FFF2-40B4-BE49-F238E27FC236}">
                <a16:creationId xmlns:a16="http://schemas.microsoft.com/office/drawing/2014/main" id="{E88A6C10-4254-0685-5FEA-231B1B9C2FB5}"/>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sp>
        <p:nvSpPr>
          <p:cNvPr id="45" name="TextBox 44">
            <a:extLst>
              <a:ext uri="{FF2B5EF4-FFF2-40B4-BE49-F238E27FC236}">
                <a16:creationId xmlns:a16="http://schemas.microsoft.com/office/drawing/2014/main" id="{6F1C5FB8-6094-0AB4-E929-EC1AF1BAFA0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6" name="TextBox 45">
            <a:extLst>
              <a:ext uri="{FF2B5EF4-FFF2-40B4-BE49-F238E27FC236}">
                <a16:creationId xmlns:a16="http://schemas.microsoft.com/office/drawing/2014/main" id="{FE670F0B-AAEE-788D-FA6D-C59675AA9090}"/>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7" name="TextBox 46">
            <a:extLst>
              <a:ext uri="{FF2B5EF4-FFF2-40B4-BE49-F238E27FC236}">
                <a16:creationId xmlns:a16="http://schemas.microsoft.com/office/drawing/2014/main" id="{2DF0F1D5-ECA5-507C-E962-C13C4CFFEB7C}"/>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8" name="TextBox 47">
            <a:extLst>
              <a:ext uri="{FF2B5EF4-FFF2-40B4-BE49-F238E27FC236}">
                <a16:creationId xmlns:a16="http://schemas.microsoft.com/office/drawing/2014/main" id="{789F249E-4A43-8077-1E9D-85EA87AC02D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9" name="TextBox 48">
            <a:extLst>
              <a:ext uri="{FF2B5EF4-FFF2-40B4-BE49-F238E27FC236}">
                <a16:creationId xmlns:a16="http://schemas.microsoft.com/office/drawing/2014/main" id="{CC6BDEBC-2967-5C7D-EA94-D6C8CED36629}"/>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50" name="TextBox 49">
            <a:extLst>
              <a:ext uri="{FF2B5EF4-FFF2-40B4-BE49-F238E27FC236}">
                <a16:creationId xmlns:a16="http://schemas.microsoft.com/office/drawing/2014/main" id="{545823AF-8FBF-C687-85B4-49382EF479B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335013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22" presetClass="entr" presetSubtype="4" fill="hold"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down)">
                                      <p:cBhvr>
                                        <p:cTn id="12" dur="500"/>
                                        <p:tgtEl>
                                          <p:spTgt spid="34"/>
                                        </p:tgtEl>
                                      </p:cBhvr>
                                    </p:animEffect>
                                  </p:childTnLst>
                                </p:cTn>
                              </p:par>
                              <p:par>
                                <p:cTn id="13" presetID="42"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anim calcmode="lin" valueType="num">
                                      <p:cBhvr>
                                        <p:cTn id="16" dur="500" fill="hold"/>
                                        <p:tgtEl>
                                          <p:spTgt spid="2"/>
                                        </p:tgtEl>
                                        <p:attrNameLst>
                                          <p:attrName>ppt_x</p:attrName>
                                        </p:attrNameLst>
                                      </p:cBhvr>
                                      <p:tavLst>
                                        <p:tav tm="0">
                                          <p:val>
                                            <p:strVal val="#ppt_x"/>
                                          </p:val>
                                        </p:tav>
                                        <p:tav tm="100000">
                                          <p:val>
                                            <p:strVal val="#ppt_x"/>
                                          </p:val>
                                        </p:tav>
                                      </p:tavLst>
                                    </p:anim>
                                    <p:anim calcmode="lin" valueType="num">
                                      <p:cBhvr>
                                        <p:cTn id="17"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DA3C7-F1A6-760F-CEAE-6390DCD766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1780BD-49EA-81E6-C8AC-8171440E2432}"/>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531BCDF4-AE72-2F33-86AC-E7304B2D7CA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0C070E7-F643-B37B-D0D7-D3BB7121726B}"/>
              </a:ext>
            </a:extLst>
          </p:cNvPr>
          <p:cNvSpPr>
            <a:spLocks noGrp="1"/>
          </p:cNvSpPr>
          <p:nvPr>
            <p:ph type="sldNum" sz="quarter" idx="4"/>
          </p:nvPr>
        </p:nvSpPr>
        <p:spPr/>
        <p:txBody>
          <a:bodyPr/>
          <a:lstStyle/>
          <a:p>
            <a:pPr>
              <a:defRPr/>
            </a:pPr>
            <a:fld id="{A9CE67A1-BA7F-A74E-B5D7-615746DEEC2B}" type="slidenum">
              <a:rPr lang="en-US" smtClean="0"/>
              <a:pPr>
                <a:defRPr/>
              </a:pPr>
              <a:t>48</a:t>
            </a:fld>
            <a:endParaRPr lang="en-US" baseline="-11000" dirty="0"/>
          </a:p>
        </p:txBody>
      </p:sp>
      <p:sp>
        <p:nvSpPr>
          <p:cNvPr id="6" name="Date Placeholder 5">
            <a:extLst>
              <a:ext uri="{FF2B5EF4-FFF2-40B4-BE49-F238E27FC236}">
                <a16:creationId xmlns:a16="http://schemas.microsoft.com/office/drawing/2014/main" id="{071EBCA3-4277-7961-EAA1-DEBFF26FD47D}"/>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F31B1D94-4E65-B7A0-C4B7-85633D42B855}"/>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2 (Floor rounding – No 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9CA9FE14-29B3-DC1A-724D-AD306CA0BCBA}"/>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867FA98E-CFED-5B42-2D61-FD19F47C125C}"/>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12F4A8CA-AD89-409C-06A0-9EE83E3553C1}"/>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45F7035C-57D0-142E-1502-68B8215D40DA}"/>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1BD3D51C-5B0A-E9AD-58AD-A1EF97C5D7D8}"/>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316007-B61C-CC3E-0F80-DEADA4B8F701}"/>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AE0B6038-1A23-CC29-229F-B0A81DA1FFE1}"/>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EE7D7E1E-6C8D-9F5B-A43F-91CB4BB8A8F5}"/>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5E8B35E3-DEAC-E317-F044-3898640267A5}"/>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052A8684-E5D6-20C3-4213-3A30E4DF4B79}"/>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sp>
        <p:nvSpPr>
          <p:cNvPr id="27" name="TextBox 26">
            <a:extLst>
              <a:ext uri="{FF2B5EF4-FFF2-40B4-BE49-F238E27FC236}">
                <a16:creationId xmlns:a16="http://schemas.microsoft.com/office/drawing/2014/main" id="{B7944EBE-ED98-CA57-909A-2127989F750A}"/>
              </a:ext>
            </a:extLst>
          </p:cNvPr>
          <p:cNvSpPr txBox="1"/>
          <p:nvPr/>
        </p:nvSpPr>
        <p:spPr>
          <a:xfrm>
            <a:off x="739360" y="1266492"/>
            <a:ext cx="6175076"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Recall :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EC1512D-0A01-C38D-3A78-29F3C23CD722}"/>
                  </a:ext>
                </a:extLst>
              </p:cNvPr>
              <p:cNvSpPr txBox="1"/>
              <p:nvPr/>
            </p:nvSpPr>
            <p:spPr>
              <a:xfrm>
                <a:off x="637541" y="1584088"/>
                <a:ext cx="6613434" cy="153445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Output equations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solidFill>
                            <a:schemeClr val="tx1">
                              <a:alpha val="20000"/>
                            </a:schemeClr>
                          </a:solidFill>
                          <a:latin typeface="Cambria Math" panose="02040503050406030204" pitchFamily="18" charset="0"/>
                        </a:rPr>
                        <m:t>𝑎</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e>
                      </m:d>
                      <m:r>
                        <a:rPr lang="en-US" b="0" i="1" smtClean="0">
                          <a:solidFill>
                            <a:schemeClr val="tx1">
                              <a:alpha val="20000"/>
                            </a:schemeClr>
                          </a:solidFill>
                          <a:latin typeface="Cambria Math" panose="02040503050406030204" pitchFamily="18" charset="0"/>
                        </a:rPr>
                        <m:t>=</m:t>
                      </m:r>
                      <m:d>
                        <m:dPr>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𝑥</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e>
                          </m:d>
                          <m:r>
                            <a:rPr lang="en-US" b="0" i="1" smtClean="0">
                              <a:solidFill>
                                <a:schemeClr val="tx1">
                                  <a:alpha val="20000"/>
                                </a:schemeClr>
                              </a:solidFill>
                              <a:latin typeface="Cambria Math" panose="02040503050406030204" pitchFamily="18" charset="0"/>
                            </a:rPr>
                            <m:t>+</m:t>
                          </m:r>
                          <m:r>
                            <a:rPr lang="en-US" b="0" i="1" smtClean="0">
                              <a:solidFill>
                                <a:schemeClr val="tx1">
                                  <a:alpha val="20000"/>
                                </a:schemeClr>
                              </a:solidFill>
                              <a:latin typeface="Cambria Math" panose="02040503050406030204" pitchFamily="18" charset="0"/>
                            </a:rPr>
                            <m:t>𝑥</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r>
                                <a:rPr lang="en-US" b="0" i="1" smtClean="0">
                                  <a:solidFill>
                                    <a:schemeClr val="tx1">
                                      <a:alpha val="20000"/>
                                    </a:schemeClr>
                                  </a:solidFill>
                                  <a:latin typeface="Cambria Math" panose="02040503050406030204" pitchFamily="18" charset="0"/>
                                </a:rPr>
                                <m:t>+</m:t>
                              </m:r>
                              <m:f>
                                <m:fPr>
                                  <m:ctrlPr>
                                    <a:rPr lang="en-US" b="0" i="1" smtClean="0">
                                      <a:solidFill>
                                        <a:schemeClr val="tx1">
                                          <a:alpha val="20000"/>
                                        </a:schemeClr>
                                      </a:solidFill>
                                      <a:latin typeface="Cambria Math" panose="02040503050406030204" pitchFamily="18" charset="0"/>
                                    </a:rPr>
                                  </m:ctrlPr>
                                </m:fPr>
                                <m:num>
                                  <m:r>
                                    <a:rPr lang="en-US" b="0" i="1" smtClean="0">
                                      <a:solidFill>
                                        <a:schemeClr val="tx1">
                                          <a:alpha val="20000"/>
                                        </a:schemeClr>
                                      </a:solidFill>
                                      <a:latin typeface="Cambria Math" panose="02040503050406030204" pitchFamily="18" charset="0"/>
                                    </a:rPr>
                                    <m:t>𝑁</m:t>
                                  </m:r>
                                </m:num>
                                <m:den>
                                  <m:r>
                                    <a:rPr lang="en-US" b="0" i="1" smtClean="0">
                                      <a:solidFill>
                                        <a:schemeClr val="tx1">
                                          <a:alpha val="20000"/>
                                        </a:schemeClr>
                                      </a:solidFill>
                                      <a:latin typeface="Cambria Math" panose="02040503050406030204" pitchFamily="18" charset="0"/>
                                    </a:rPr>
                                    <m:t>2</m:t>
                                  </m:r>
                                </m:den>
                              </m:f>
                            </m:e>
                          </m:d>
                        </m:e>
                      </m:d>
                      <m:r>
                        <a:rPr lang="en-US" b="0" i="1" smtClean="0">
                          <a:solidFill>
                            <a:schemeClr val="tx1">
                              <a:alpha val="20000"/>
                            </a:schemeClr>
                          </a:solidFill>
                          <a:latin typeface="Cambria Math" panose="02040503050406030204" pitchFamily="18" charset="0"/>
                        </a:rPr>
                        <m:t> </m:t>
                      </m:r>
                    </m:oMath>
                  </m:oMathPara>
                </a14:m>
                <a:endParaRPr lang="en-US" dirty="0">
                  <a:solidFill>
                    <a:schemeClr val="tx1">
                      <a:alpha val="20000"/>
                    </a:schemeClr>
                  </a:solidFill>
                </a:endParaRPr>
              </a:p>
              <a:p>
                <a:pPr defTabSz="457200">
                  <a:spcBef>
                    <a:spcPts val="1000"/>
                  </a:spcBef>
                  <a:buClr>
                    <a:srgbClr val="1E4056"/>
                  </a:buClr>
                  <a:buSzPct val="75000"/>
                </a:pPr>
                <a:r>
                  <a:rPr lang="en-US" dirty="0">
                    <a:solidFill>
                      <a:schemeClr val="tx1">
                        <a:alpha val="20000"/>
                      </a:schemeClr>
                    </a:solidFill>
                  </a:rPr>
                  <a:t>b</a:t>
                </a:r>
                <a14:m>
                  <m:oMath xmlns:m="http://schemas.openxmlformats.org/officeDocument/2006/math">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e>
                    </m:d>
                    <m:r>
                      <a:rPr lang="en-US" i="1">
                        <a:solidFill>
                          <a:schemeClr val="tx1">
                            <a:alpha val="20000"/>
                          </a:schemeClr>
                        </a:solidFill>
                        <a:latin typeface="Cambria Math" panose="02040503050406030204" pitchFamily="18" charset="0"/>
                      </a:rPr>
                      <m:t>=</m:t>
                    </m:r>
                    <m:d>
                      <m:dPr>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𝑥</m:t>
                        </m:r>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e>
                        </m:d>
                        <m:r>
                          <a:rPr lang="en-US" b="0" i="1" smtClean="0">
                            <a:solidFill>
                              <a:schemeClr val="tx1"/>
                            </a:solidFill>
                            <a:latin typeface="Cambria Math" panose="02040503050406030204" pitchFamily="18" charset="0"/>
                          </a:rPr>
                          <m:t>−</m:t>
                        </m:r>
                        <m:r>
                          <a:rPr lang="en-US" i="1">
                            <a:solidFill>
                              <a:schemeClr val="tx1">
                                <a:alpha val="20000"/>
                              </a:schemeClr>
                            </a:solidFill>
                            <a:latin typeface="Cambria Math" panose="02040503050406030204" pitchFamily="18" charset="0"/>
                          </a:rPr>
                          <m:t>𝑥</m:t>
                        </m:r>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r>
                              <a:rPr lang="en-US" i="1">
                                <a:solidFill>
                                  <a:schemeClr val="tx1">
                                    <a:alpha val="20000"/>
                                  </a:schemeClr>
                                </a:solidFill>
                                <a:latin typeface="Cambria Math" panose="02040503050406030204" pitchFamily="18" charset="0"/>
                              </a:rPr>
                              <m:t>+</m:t>
                            </m:r>
                            <m:f>
                              <m:fPr>
                                <m:ctrlPr>
                                  <a:rPr lang="en-US" i="1">
                                    <a:solidFill>
                                      <a:schemeClr val="tx1">
                                        <a:alpha val="20000"/>
                                      </a:schemeClr>
                                    </a:solidFill>
                                    <a:latin typeface="Cambria Math" panose="02040503050406030204" pitchFamily="18" charset="0"/>
                                  </a:rPr>
                                </m:ctrlPr>
                              </m:fPr>
                              <m:num>
                                <m:r>
                                  <a:rPr lang="en-US" i="1">
                                    <a:solidFill>
                                      <a:schemeClr val="tx1">
                                        <a:alpha val="20000"/>
                                      </a:schemeClr>
                                    </a:solidFill>
                                    <a:latin typeface="Cambria Math" panose="02040503050406030204" pitchFamily="18" charset="0"/>
                                  </a:rPr>
                                  <m:t>𝑁</m:t>
                                </m:r>
                              </m:num>
                              <m:den>
                                <m:r>
                                  <a:rPr lang="en-US" i="1">
                                    <a:solidFill>
                                      <a:schemeClr val="tx1">
                                        <a:alpha val="20000"/>
                                      </a:schemeClr>
                                    </a:solidFill>
                                    <a:latin typeface="Cambria Math" panose="02040503050406030204" pitchFamily="18" charset="0"/>
                                  </a:rPr>
                                  <m:t>2</m:t>
                                </m:r>
                              </m:den>
                            </m:f>
                          </m:e>
                        </m:d>
                      </m:e>
                    </m:d>
                    <m:sSubSup>
                      <m:sSubSupPr>
                        <m:ctrlPr>
                          <a:rPr lang="en-US" i="1">
                            <a:solidFill>
                              <a:schemeClr val="tx1">
                                <a:alpha val="20000"/>
                              </a:schemeClr>
                            </a:solidFill>
                            <a:latin typeface="Cambria Math" panose="02040503050406030204" pitchFamily="18" charset="0"/>
                          </a:rPr>
                        </m:ctrlPr>
                      </m:sSubSupPr>
                      <m:e>
                        <m:r>
                          <a:rPr lang="ar-EG" b="0" i="1" smtClean="0">
                            <a:solidFill>
                              <a:schemeClr val="tx1"/>
                            </a:solidFill>
                            <a:latin typeface="Cambria Math" panose="02040503050406030204" pitchFamily="18" charset="0"/>
                          </a:rPr>
                          <m:t>×</m:t>
                        </m:r>
                        <m:r>
                          <a:rPr lang="en-US" b="0" i="1" smtClean="0">
                            <a:solidFill>
                              <a:schemeClr val="tx1">
                                <a:alpha val="20000"/>
                              </a:schemeClr>
                            </a:solidFill>
                            <a:latin typeface="Cambria Math" panose="02040503050406030204" pitchFamily="18" charset="0"/>
                          </a:rPr>
                          <m:t> </m:t>
                        </m:r>
                        <m:r>
                          <a:rPr lang="en-US" i="1">
                            <a:solidFill>
                              <a:schemeClr val="tx1">
                                <a:alpha val="20000"/>
                              </a:schemeClr>
                            </a:solidFill>
                            <a:latin typeface="Cambria Math" panose="02040503050406030204" pitchFamily="18" charset="0"/>
                          </a:rPr>
                          <m:t>𝑊</m:t>
                        </m:r>
                      </m:e>
                      <m:sub>
                        <m:r>
                          <a:rPr lang="en-US" i="1">
                            <a:solidFill>
                              <a:schemeClr val="tx1">
                                <a:alpha val="20000"/>
                              </a:schemeClr>
                            </a:solidFill>
                            <a:latin typeface="Cambria Math" panose="02040503050406030204" pitchFamily="18" charset="0"/>
                          </a:rPr>
                          <m:t>𝑁</m:t>
                        </m:r>
                      </m:sub>
                      <m:sup>
                        <m:r>
                          <a:rPr lang="en-US" i="1">
                            <a:solidFill>
                              <a:schemeClr val="tx1">
                                <a:alpha val="20000"/>
                              </a:schemeClr>
                            </a:solidFill>
                            <a:latin typeface="Cambria Math" panose="02040503050406030204" pitchFamily="18" charset="0"/>
                          </a:rPr>
                          <m:t>𝑛</m:t>
                        </m:r>
                      </m:sup>
                    </m:sSubSup>
                  </m:oMath>
                </a14:m>
                <a:endParaRPr lang="en-US" dirty="0">
                  <a:solidFill>
                    <a:schemeClr val="tx1">
                      <a:alpha val="20000"/>
                    </a:schemeClr>
                  </a:solidFill>
                </a:endParaRPr>
              </a:p>
            </p:txBody>
          </p:sp>
        </mc:Choice>
        <mc:Fallback xmlns="">
          <p:sp>
            <p:nvSpPr>
              <p:cNvPr id="2" name="TextBox 1">
                <a:extLst>
                  <a:ext uri="{FF2B5EF4-FFF2-40B4-BE49-F238E27FC236}">
                    <a16:creationId xmlns:a16="http://schemas.microsoft.com/office/drawing/2014/main" id="{4EC1512D-0A01-C38D-3A78-29F3C23CD722}"/>
                  </a:ext>
                </a:extLst>
              </p:cNvPr>
              <p:cNvSpPr txBox="1">
                <a:spLocks noRot="1" noChangeAspect="1" noMove="1" noResize="1" noEditPoints="1" noAdjustHandles="1" noChangeArrowheads="1" noChangeShapeType="1" noTextEdit="1"/>
              </p:cNvSpPr>
              <p:nvPr/>
            </p:nvSpPr>
            <p:spPr>
              <a:xfrm>
                <a:off x="637541" y="1584088"/>
                <a:ext cx="6613434" cy="1534459"/>
              </a:xfrm>
              <a:prstGeom prst="rect">
                <a:avLst/>
              </a:prstGeom>
              <a:blipFill>
                <a:blip r:embed="rId2"/>
                <a:stretch>
                  <a:fillRect l="-830" t="-1984" b="-794"/>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0200CBB-E699-08A8-9B56-42719AC6FDA3}"/>
              </a:ext>
            </a:extLst>
          </p:cNvPr>
          <p:cNvSpPr txBox="1"/>
          <p:nvPr/>
        </p:nvSpPr>
        <p:spPr>
          <a:xfrm>
            <a:off x="637541" y="3135220"/>
            <a:ext cx="6613434" cy="646331"/>
          </a:xfrm>
          <a:prstGeom prst="rect">
            <a:avLst/>
          </a:prstGeom>
          <a:noFill/>
        </p:spPr>
        <p:txBody>
          <a:bodyPr wrap="square">
            <a:spAutoFit/>
          </a:bodyPr>
          <a:lstStyle/>
          <a:p>
            <a:pPr defTabSz="457200">
              <a:spcBef>
                <a:spcPts val="1000"/>
              </a:spcBef>
              <a:buClr>
                <a:srgbClr val="1E4056"/>
              </a:buClr>
              <a:buSzPct val="75000"/>
            </a:pPr>
            <a:r>
              <a:rPr lang="en-US" b="1" dirty="0"/>
              <a:t>Datapath Optimization: Delaying truncation until 				 after the twiddle factor multiplication to improve SQNR</a:t>
            </a:r>
          </a:p>
        </p:txBody>
      </p:sp>
      <p:sp>
        <p:nvSpPr>
          <p:cNvPr id="9" name="TextBox 8">
            <a:extLst>
              <a:ext uri="{FF2B5EF4-FFF2-40B4-BE49-F238E27FC236}">
                <a16:creationId xmlns:a16="http://schemas.microsoft.com/office/drawing/2014/main" id="{76C07CAE-3564-63E9-A20C-55F520414F2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1" name="TextBox 10">
            <a:extLst>
              <a:ext uri="{FF2B5EF4-FFF2-40B4-BE49-F238E27FC236}">
                <a16:creationId xmlns:a16="http://schemas.microsoft.com/office/drawing/2014/main" id="{7875AE42-D931-C0E5-B362-4BA4BB86DB0E}"/>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D4B4BFAE-F54F-31B4-1A11-4B137367541E}"/>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6" name="TextBox 15">
            <a:extLst>
              <a:ext uri="{FF2B5EF4-FFF2-40B4-BE49-F238E27FC236}">
                <a16:creationId xmlns:a16="http://schemas.microsoft.com/office/drawing/2014/main" id="{B0A55112-1AE3-01C8-7D65-F8D8EB1EBBBA}"/>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17" name="TextBox 16">
            <a:extLst>
              <a:ext uri="{FF2B5EF4-FFF2-40B4-BE49-F238E27FC236}">
                <a16:creationId xmlns:a16="http://schemas.microsoft.com/office/drawing/2014/main" id="{F3A8F70F-98D1-27CE-A25D-7491354E4EE9}"/>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C6F4534B-3DA2-5818-BBEE-F8034A5725F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5929874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48F52-2101-DD04-4644-7D9861275F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3EFAFF-FF3F-B172-C341-FBC8DFCBC076}"/>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C5ADD820-4796-C035-F60D-CE678F717F1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F59B33C-0D74-5F3E-6CAD-F4BDD535218E}"/>
              </a:ext>
            </a:extLst>
          </p:cNvPr>
          <p:cNvSpPr>
            <a:spLocks noGrp="1"/>
          </p:cNvSpPr>
          <p:nvPr>
            <p:ph type="sldNum" sz="quarter" idx="4"/>
          </p:nvPr>
        </p:nvSpPr>
        <p:spPr/>
        <p:txBody>
          <a:bodyPr/>
          <a:lstStyle/>
          <a:p>
            <a:pPr>
              <a:defRPr/>
            </a:pPr>
            <a:fld id="{A9CE67A1-BA7F-A74E-B5D7-615746DEEC2B}" type="slidenum">
              <a:rPr lang="en-US" smtClean="0"/>
              <a:pPr>
                <a:defRPr/>
              </a:pPr>
              <a:t>49</a:t>
            </a:fld>
            <a:endParaRPr lang="en-US" baseline="-11000" dirty="0"/>
          </a:p>
        </p:txBody>
      </p:sp>
      <p:sp>
        <p:nvSpPr>
          <p:cNvPr id="6" name="Date Placeholder 5">
            <a:extLst>
              <a:ext uri="{FF2B5EF4-FFF2-40B4-BE49-F238E27FC236}">
                <a16:creationId xmlns:a16="http://schemas.microsoft.com/office/drawing/2014/main" id="{2AB961C9-AF6F-F3E5-3A2A-202D41E979E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87755189-DDD1-0CCC-5186-938805FA793C}"/>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a:t>
            </a:r>
            <a:r>
              <a:rPr lang="ar-EG" sz="2000" b="1" dirty="0">
                <a:latin typeface="+mj-lt"/>
              </a:rPr>
              <a:t>2</a:t>
            </a:r>
            <a:r>
              <a:rPr lang="en-US" sz="2000" b="1" dirty="0">
                <a:latin typeface="+mj-lt"/>
              </a:rPr>
              <a:t> (Floor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78D614C5-A9A1-B89B-0B7F-14BF44F3F260}"/>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D0698E49-B392-981C-6B02-08210728350C}"/>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D3E1FDEA-4B96-2563-3DE2-28E42D226412}"/>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24F66C1D-64FB-5A2E-8A75-27E2354E01DF}"/>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D4467932-DDF4-4A93-FE27-FDB8CB926E3B}"/>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0353BA2-95C1-A9AE-1993-D55A9F7FCA8F}"/>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92B49478-7870-614C-F9B3-CF51DFDF14D0}"/>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300B53B5-4092-9C30-4D70-534C8F6D89CB}"/>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68D8A0AA-C031-A5CC-2BE6-EDAA4A9565C9}"/>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5F75130B-53CA-40F7-16E0-159492E24FE8}"/>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213A57E1-047B-8B65-B45E-E9041C24D885}"/>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19466AFC-0291-14A0-EE20-5EFB4C5E9E9B}"/>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827234B1-9F46-2FA8-3CB0-C771C1CDA1A5}"/>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EDFE2BCD-E9E0-3C7C-90E5-E9E147B7293A}"/>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216E3EAD-371F-3B05-C6DC-F9E2DC25A015}"/>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4C8648-C480-8603-08BC-B2D00EB94033}"/>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89ED6354-9555-7568-83BC-5132EB23D11B}"/>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0238EADD-C294-8B26-8F51-B0A51E7275E0}"/>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E36E14E4-B11E-A487-8DBA-D2DAECFAEE59}"/>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E33402C1-ECEE-2376-39A4-37F38BCA2A33}"/>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pic>
        <p:nvPicPr>
          <p:cNvPr id="11" name="Picture 10">
            <a:extLst>
              <a:ext uri="{FF2B5EF4-FFF2-40B4-BE49-F238E27FC236}">
                <a16:creationId xmlns:a16="http://schemas.microsoft.com/office/drawing/2014/main" id="{4C0586A0-DEA9-CEAF-837B-CA342A2E7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559" y="1321934"/>
            <a:ext cx="5319221" cy="3962743"/>
          </a:xfrm>
          <a:prstGeom prst="rect">
            <a:avLst/>
          </a:prstGeom>
          <a:ln>
            <a:solidFill>
              <a:schemeClr val="tx1"/>
            </a:solidFill>
          </a:ln>
        </p:spPr>
      </p:pic>
      <p:sp>
        <p:nvSpPr>
          <p:cNvPr id="14" name="TextBox 13">
            <a:extLst>
              <a:ext uri="{FF2B5EF4-FFF2-40B4-BE49-F238E27FC236}">
                <a16:creationId xmlns:a16="http://schemas.microsoft.com/office/drawing/2014/main" id="{2B68D8B2-6838-C016-ABCD-4E996D7A412A}"/>
              </a:ext>
            </a:extLst>
          </p:cNvPr>
          <p:cNvSpPr txBox="1"/>
          <p:nvPr/>
        </p:nvSpPr>
        <p:spPr>
          <a:xfrm>
            <a:off x="680720" y="5490408"/>
            <a:ext cx="684784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Small change , but can we take the SQNR to the next level ?</a:t>
            </a:r>
          </a:p>
        </p:txBody>
      </p:sp>
      <p:cxnSp>
        <p:nvCxnSpPr>
          <p:cNvPr id="2" name="Straight Connector 1">
            <a:extLst>
              <a:ext uri="{FF2B5EF4-FFF2-40B4-BE49-F238E27FC236}">
                <a16:creationId xmlns:a16="http://schemas.microsoft.com/office/drawing/2014/main" id="{4DA77674-4585-714B-AD7D-94631F33697E}"/>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EE0D0B8D-6624-7523-07E3-723FF422A47B}"/>
              </a:ext>
            </a:extLst>
          </p:cNvPr>
          <p:cNvCxnSpPr>
            <a:cxnSpLocks/>
            <a:endCxn id="213" idx="2"/>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Inhaltsplatzhalter 4">
            <a:extLst>
              <a:ext uri="{FF2B5EF4-FFF2-40B4-BE49-F238E27FC236}">
                <a16:creationId xmlns:a16="http://schemas.microsoft.com/office/drawing/2014/main" id="{91D93A2A-816C-89A6-3B43-E97EFE139045}"/>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25" name="TextBox 24">
            <a:extLst>
              <a:ext uri="{FF2B5EF4-FFF2-40B4-BE49-F238E27FC236}">
                <a16:creationId xmlns:a16="http://schemas.microsoft.com/office/drawing/2014/main" id="{23719E87-E460-B79C-89FE-CAD9A6E7890A}"/>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6" name="TextBox 25">
            <a:extLst>
              <a:ext uri="{FF2B5EF4-FFF2-40B4-BE49-F238E27FC236}">
                <a16:creationId xmlns:a16="http://schemas.microsoft.com/office/drawing/2014/main" id="{019A8A01-0FC7-680C-14D2-4409AA2B70ED}"/>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72A76F89-0D2B-DFEA-39C5-2076A0CAA0DC}"/>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0EEAEB13-F701-D380-1103-74D142BD7D49}"/>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970902E3-79C4-8641-2D65-B4072A43936C}"/>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6C3D7083-2B94-8299-C288-F96712A7948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728915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08"/>
                                        </p:tgtEl>
                                        <p:attrNameLst>
                                          <p:attrName>style.visibility</p:attrName>
                                        </p:attrNameLst>
                                      </p:cBhvr>
                                      <p:to>
                                        <p:strVal val="visible"/>
                                      </p:to>
                                    </p:set>
                                    <p:anim calcmode="lin" valueType="num">
                                      <p:cBhvr>
                                        <p:cTn id="12" dur="500" fill="hold"/>
                                        <p:tgtEl>
                                          <p:spTgt spid="208"/>
                                        </p:tgtEl>
                                        <p:attrNameLst>
                                          <p:attrName>ppt_w</p:attrName>
                                        </p:attrNameLst>
                                      </p:cBhvr>
                                      <p:tavLst>
                                        <p:tav tm="0">
                                          <p:val>
                                            <p:fltVal val="0"/>
                                          </p:val>
                                        </p:tav>
                                        <p:tav tm="100000">
                                          <p:val>
                                            <p:strVal val="#ppt_w"/>
                                          </p:val>
                                        </p:tav>
                                      </p:tavLst>
                                    </p:anim>
                                    <p:anim calcmode="lin" valueType="num">
                                      <p:cBhvr>
                                        <p:cTn id="13" dur="500" fill="hold"/>
                                        <p:tgtEl>
                                          <p:spTgt spid="208"/>
                                        </p:tgtEl>
                                        <p:attrNameLst>
                                          <p:attrName>ppt_h</p:attrName>
                                        </p:attrNameLst>
                                      </p:cBhvr>
                                      <p:tavLst>
                                        <p:tav tm="0">
                                          <p:val>
                                            <p:fltVal val="0"/>
                                          </p:val>
                                        </p:tav>
                                        <p:tav tm="100000">
                                          <p:val>
                                            <p:strVal val="#ppt_h"/>
                                          </p:val>
                                        </p:tav>
                                      </p:tavLst>
                                    </p:anim>
                                    <p:animEffect transition="in" filter="fade">
                                      <p:cBhvr>
                                        <p:cTn id="14" dur="500"/>
                                        <p:tgtEl>
                                          <p:spTgt spid="208"/>
                                        </p:tgtEl>
                                      </p:cBhvr>
                                    </p:animEffect>
                                  </p:childTnLst>
                                </p:cTn>
                              </p:par>
                              <p:par>
                                <p:cTn id="15" presetID="22" presetClass="entr" presetSubtype="4" fill="hold" nodeType="withEffect">
                                  <p:stCondLst>
                                    <p:cond delay="0"/>
                                  </p:stCondLst>
                                  <p:childTnLst>
                                    <p:set>
                                      <p:cBhvr>
                                        <p:cTn id="16" dur="1" fill="hold">
                                          <p:stCondLst>
                                            <p:cond delay="0"/>
                                          </p:stCondLst>
                                        </p:cTn>
                                        <p:tgtEl>
                                          <p:spTgt spid="211"/>
                                        </p:tgtEl>
                                        <p:attrNameLst>
                                          <p:attrName>style.visibility</p:attrName>
                                        </p:attrNameLst>
                                      </p:cBhvr>
                                      <p:to>
                                        <p:strVal val="visible"/>
                                      </p:to>
                                    </p:set>
                                    <p:animEffect transition="in" filter="wipe(down)">
                                      <p:cBhvr>
                                        <p:cTn id="17" dur="500"/>
                                        <p:tgtEl>
                                          <p:spTgt spid="211"/>
                                        </p:tgtEl>
                                      </p:cBhvr>
                                    </p:animEffect>
                                  </p:childTnLst>
                                </p:cTn>
                              </p:par>
                              <p:par>
                                <p:cTn id="18" presetID="42" presetClass="entr" presetSubtype="0" fill="hold" nodeType="withEffect">
                                  <p:stCondLst>
                                    <p:cond delay="0"/>
                                  </p:stCondLst>
                                  <p:childTnLst>
                                    <p:set>
                                      <p:cBhvr>
                                        <p:cTn id="19" dur="1" fill="hold">
                                          <p:stCondLst>
                                            <p:cond delay="0"/>
                                          </p:stCondLst>
                                        </p:cTn>
                                        <p:tgtEl>
                                          <p:spTgt spid="193"/>
                                        </p:tgtEl>
                                        <p:attrNameLst>
                                          <p:attrName>style.visibility</p:attrName>
                                        </p:attrNameLst>
                                      </p:cBhvr>
                                      <p:to>
                                        <p:strVal val="visible"/>
                                      </p:to>
                                    </p:set>
                                    <p:animEffect transition="in" filter="fade">
                                      <p:cBhvr>
                                        <p:cTn id="20" dur="500"/>
                                        <p:tgtEl>
                                          <p:spTgt spid="193"/>
                                        </p:tgtEl>
                                      </p:cBhvr>
                                    </p:animEffect>
                                    <p:anim calcmode="lin" valueType="num">
                                      <p:cBhvr>
                                        <p:cTn id="21" dur="500" fill="hold"/>
                                        <p:tgtEl>
                                          <p:spTgt spid="193"/>
                                        </p:tgtEl>
                                        <p:attrNameLst>
                                          <p:attrName>ppt_x</p:attrName>
                                        </p:attrNameLst>
                                      </p:cBhvr>
                                      <p:tavLst>
                                        <p:tav tm="0">
                                          <p:val>
                                            <p:strVal val="#ppt_x"/>
                                          </p:val>
                                        </p:tav>
                                        <p:tav tm="100000">
                                          <p:val>
                                            <p:strVal val="#ppt_x"/>
                                          </p:val>
                                        </p:tav>
                                      </p:tavLst>
                                    </p:anim>
                                    <p:anim calcmode="lin" valueType="num">
                                      <p:cBhvr>
                                        <p:cTn id="22" dur="500" fill="hold"/>
                                        <p:tgtEl>
                                          <p:spTgt spid="19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113BC-283A-BC75-0788-9691C303008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BF5F38-E34D-74B1-95A2-0006D84CF85C}"/>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7FD9F7D2-9548-72ED-7DED-40345168E07D}"/>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2B9FB7F-69B7-396A-1495-0F796FAB8DD4}"/>
              </a:ext>
            </a:extLst>
          </p:cNvPr>
          <p:cNvSpPr>
            <a:spLocks noGrp="1"/>
          </p:cNvSpPr>
          <p:nvPr>
            <p:ph type="sldNum" sz="quarter" idx="4"/>
          </p:nvPr>
        </p:nvSpPr>
        <p:spPr/>
        <p:txBody>
          <a:bodyPr/>
          <a:lstStyle/>
          <a:p>
            <a:pPr>
              <a:defRPr/>
            </a:pPr>
            <a:fld id="{A9CE67A1-BA7F-A74E-B5D7-615746DEEC2B}" type="slidenum">
              <a:rPr lang="en-US" smtClean="0"/>
              <a:pPr>
                <a:defRPr/>
              </a:pPr>
              <a:t>50</a:t>
            </a:fld>
            <a:endParaRPr lang="en-US" baseline="-11000" dirty="0"/>
          </a:p>
        </p:txBody>
      </p:sp>
      <p:sp>
        <p:nvSpPr>
          <p:cNvPr id="6" name="!!Date Placeholder 5">
            <a:extLst>
              <a:ext uri="{FF2B5EF4-FFF2-40B4-BE49-F238E27FC236}">
                <a16:creationId xmlns:a16="http://schemas.microsoft.com/office/drawing/2014/main" id="{B17A52EE-6F5A-CCA2-BACC-8E6CE23B994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0E567E8F-B5D1-0780-0146-A890E258A872}"/>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742ED203-F6EE-80FE-6228-31B26297791F}"/>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B93862FD-3EAC-B4DD-C29B-BF619BF3D0B8}"/>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AAB2A7F7-168B-F006-7083-C5994229B112}"/>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315030DE-9CE9-5A59-AE67-DD09DB028128}"/>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E79A73B7-F09E-AF4F-952B-51EC214C9C3F}"/>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F11DCB2-387A-F149-C991-A15C4DFADCA0}"/>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8E2A463D-C150-A1C1-4ACF-7228639557D3}"/>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FD0281B6-6AFF-36FB-4F51-A033A0F51214}"/>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A802B4DD-2FBE-7EFB-3E5B-1F922F39C7F6}"/>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141BABC1-41E8-4783-F512-01399923BA79}"/>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8F8978F4-4D32-B66B-6733-50A6B734C1F3}"/>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CE03F8C1-3C36-DE39-D32B-87737FA51C2A}"/>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409408A0-EE6F-C88A-0285-E349596FE1DF}"/>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9EF53CB6-BE05-7FE6-2C18-C12FFE6C3884}"/>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307DDAC3-8388-C1B6-B2B3-DD0DC7B4D32B}"/>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918CC9D8-A5BA-ABD6-2927-F6BFE5793105}"/>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5A38B1D4-730B-BE8B-2B53-5CCCF3FC8CAC}"/>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52C2D5D3-4422-4614-252B-3FB4D35BF4B5}"/>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EB0FAAA4-986B-42B2-0123-2AACB9516726}"/>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689416A0-5A73-5F84-A5E2-A79FD549B7D5}"/>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sp>
        <p:nvSpPr>
          <p:cNvPr id="2" name="!!TextBox 1">
            <a:extLst>
              <a:ext uri="{FF2B5EF4-FFF2-40B4-BE49-F238E27FC236}">
                <a16:creationId xmlns:a16="http://schemas.microsoft.com/office/drawing/2014/main" id="{26F4616E-F9C2-2E6A-CCF6-566A5D46821C}"/>
              </a:ext>
            </a:extLst>
          </p:cNvPr>
          <p:cNvSpPr txBox="1"/>
          <p:nvPr/>
        </p:nvSpPr>
        <p:spPr>
          <a:xfrm>
            <a:off x="1062993" y="1581139"/>
            <a:ext cx="4490720" cy="315903"/>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RoundingMethod</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endParaRPr lang="en-US" sz="2000" dirty="0">
              <a:solidFill>
                <a:srgbClr val="000000"/>
              </a:solidFill>
              <a:latin typeface="+mj-lt"/>
            </a:endParaRPr>
          </a:p>
        </p:txBody>
      </p:sp>
      <p:sp>
        <p:nvSpPr>
          <p:cNvPr id="8" name="!!TextBox 7">
            <a:extLst>
              <a:ext uri="{FF2B5EF4-FFF2-40B4-BE49-F238E27FC236}">
                <a16:creationId xmlns:a16="http://schemas.microsoft.com/office/drawing/2014/main" id="{6E4B5FEA-8B40-E903-A621-F46B8509616A}"/>
              </a:ext>
            </a:extLst>
          </p:cNvPr>
          <p:cNvSpPr txBox="1"/>
          <p:nvPr/>
        </p:nvSpPr>
        <p:spPr>
          <a:xfrm>
            <a:off x="1030628" y="4445659"/>
            <a:ext cx="4490720" cy="1328911"/>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t>OverflowAction</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r>
              <a:rPr lang="en-US" sz="1600" dirty="0">
                <a:solidFill>
                  <a:srgbClr val="000000"/>
                </a:solidFill>
                <a:latin typeface="+mj-lt"/>
              </a:rPr>
              <a:t>1-Saturate  </a:t>
            </a:r>
          </a:p>
          <a:p>
            <a:pPr defTabSz="457200">
              <a:spcBef>
                <a:spcPts val="1000"/>
              </a:spcBef>
              <a:buClr>
                <a:srgbClr val="1E4056"/>
              </a:buClr>
              <a:buSzPct val="75000"/>
            </a:pPr>
            <a:r>
              <a:rPr lang="en-US" sz="1600" dirty="0">
                <a:solidFill>
                  <a:srgbClr val="000000"/>
                </a:solidFill>
                <a:latin typeface="+mj-lt"/>
              </a:rPr>
              <a:t>2-Wrap </a:t>
            </a: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sp>
        <p:nvSpPr>
          <p:cNvPr id="9" name="!!TextBox 8">
            <a:extLst>
              <a:ext uri="{FF2B5EF4-FFF2-40B4-BE49-F238E27FC236}">
                <a16:creationId xmlns:a16="http://schemas.microsoft.com/office/drawing/2014/main" id="{0D932C3E-D832-395C-55D2-30827F2E3054}"/>
              </a:ext>
            </a:extLst>
          </p:cNvPr>
          <p:cNvSpPr txBox="1"/>
          <p:nvPr/>
        </p:nvSpPr>
        <p:spPr>
          <a:xfrm>
            <a:off x="594546" y="1177486"/>
            <a:ext cx="449072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Fimath</a:t>
            </a:r>
            <a:r>
              <a:rPr lang="en-US" dirty="0">
                <a:latin typeface="+mj-lt"/>
              </a:rPr>
              <a:t> </a:t>
            </a:r>
            <a:r>
              <a:rPr lang="en-US" sz="1600" dirty="0">
                <a:latin typeface="+mj-lt"/>
              </a:rPr>
              <a:t>(Fixed-point Mathematic object) </a:t>
            </a:r>
            <a:endParaRPr lang="en-US" sz="1600" dirty="0">
              <a:solidFill>
                <a:srgbClr val="000000"/>
              </a:solidFill>
              <a:latin typeface="+mj-lt"/>
            </a:endParaRP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cxnSp>
        <p:nvCxnSpPr>
          <p:cNvPr id="25" name="!!Elbow Connector 24">
            <a:extLst>
              <a:ext uri="{FF2B5EF4-FFF2-40B4-BE49-F238E27FC236}">
                <a16:creationId xmlns:a16="http://schemas.microsoft.com/office/drawing/2014/main" id="{6C86ED0C-4515-E604-343D-382A5617598D}"/>
              </a:ext>
            </a:extLst>
          </p:cNvPr>
          <p:cNvCxnSpPr>
            <a:cxnSpLocks/>
            <a:stCxn id="9" idx="1"/>
          </p:cNvCxnSpPr>
          <p:nvPr/>
        </p:nvCxnSpPr>
        <p:spPr>
          <a:xfrm rot="10800000" flipH="1" flipV="1">
            <a:off x="594545" y="1360223"/>
            <a:ext cx="446735" cy="441831"/>
          </a:xfrm>
          <a:prstGeom prst="bentConnector3">
            <a:avLst>
              <a:gd name="adj1" fmla="val -5117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Elbow Connector 28">
            <a:extLst>
              <a:ext uri="{FF2B5EF4-FFF2-40B4-BE49-F238E27FC236}">
                <a16:creationId xmlns:a16="http://schemas.microsoft.com/office/drawing/2014/main" id="{617358FE-D45A-03D2-0327-A580106CE00B}"/>
              </a:ext>
            </a:extLst>
          </p:cNvPr>
          <p:cNvCxnSpPr>
            <a:cxnSpLocks/>
          </p:cNvCxnSpPr>
          <p:nvPr/>
        </p:nvCxnSpPr>
        <p:spPr>
          <a:xfrm rot="16200000" flipH="1">
            <a:off x="-832149" y="2736549"/>
            <a:ext cx="3010196" cy="616579"/>
          </a:xfrm>
          <a:prstGeom prst="bentConnector3">
            <a:avLst>
              <a:gd name="adj1" fmla="val 99615"/>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0A16415-11DA-DB74-46BD-86FAF05773CB}"/>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2A5AE2AF-9261-5A3D-B160-94F65FB4A0C3}"/>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Inhaltsplatzhalter 4">
            <a:extLst>
              <a:ext uri="{FF2B5EF4-FFF2-40B4-BE49-F238E27FC236}">
                <a16:creationId xmlns:a16="http://schemas.microsoft.com/office/drawing/2014/main" id="{3E5290CB-BADF-5D21-B487-A078D23DA65D}"/>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17" name="TextBox 16">
            <a:extLst>
              <a:ext uri="{FF2B5EF4-FFF2-40B4-BE49-F238E27FC236}">
                <a16:creationId xmlns:a16="http://schemas.microsoft.com/office/drawing/2014/main" id="{7F3683E6-5976-0651-5FBB-BF2738FA4783}"/>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8" name="TextBox 17">
            <a:extLst>
              <a:ext uri="{FF2B5EF4-FFF2-40B4-BE49-F238E27FC236}">
                <a16:creationId xmlns:a16="http://schemas.microsoft.com/office/drawing/2014/main" id="{A59E039C-F15B-7434-5165-3AC27519AD4C}"/>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6" name="TextBox 25">
            <a:extLst>
              <a:ext uri="{FF2B5EF4-FFF2-40B4-BE49-F238E27FC236}">
                <a16:creationId xmlns:a16="http://schemas.microsoft.com/office/drawing/2014/main" id="{A4481488-E3D0-4AB1-1FF3-03A6DBD38BA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00F470DE-F03C-4A54-8E04-BC95D1392D46}"/>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455398F7-A877-3F10-4F9B-21BADE66AF8D}"/>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48ACCE93-552B-104B-CC7A-F43115165E56}"/>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
        <p:nvSpPr>
          <p:cNvPr id="31" name="Rectangle 30">
            <a:extLst>
              <a:ext uri="{FF2B5EF4-FFF2-40B4-BE49-F238E27FC236}">
                <a16:creationId xmlns:a16="http://schemas.microsoft.com/office/drawing/2014/main" id="{14B44221-F054-48EB-F9EE-36125CFE879F}"/>
              </a:ext>
            </a:extLst>
          </p:cNvPr>
          <p:cNvSpPr/>
          <p:nvPr/>
        </p:nvSpPr>
        <p:spPr>
          <a:xfrm>
            <a:off x="981239" y="3799840"/>
            <a:ext cx="1670521" cy="397451"/>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15D6E40-4586-A6E6-F509-FB726454F76E}"/>
              </a:ext>
            </a:extLst>
          </p:cNvPr>
          <p:cNvSpPr txBox="1"/>
          <p:nvPr/>
        </p:nvSpPr>
        <p:spPr>
          <a:xfrm>
            <a:off x="983705" y="1802055"/>
            <a:ext cx="6111240" cy="2395528"/>
          </a:xfrm>
          <a:prstGeom prst="rect">
            <a:avLst/>
          </a:prstGeom>
          <a:noFill/>
        </p:spPr>
        <p:txBody>
          <a:bodyPr wrap="square">
            <a:spAutoFit/>
          </a:bodyPr>
          <a:lstStyle/>
          <a:p>
            <a:pPr defTabSz="457200">
              <a:spcBef>
                <a:spcPts val="1000"/>
              </a:spcBef>
              <a:buClr>
                <a:srgbClr val="1E4056"/>
              </a:buClr>
              <a:buSzPct val="75000"/>
            </a:pPr>
            <a:r>
              <a:rPr lang="en-US" sz="1800" dirty="0">
                <a:solidFill>
                  <a:srgbClr val="000000"/>
                </a:solidFill>
                <a:latin typeface="+mj-lt"/>
              </a:rPr>
              <a:t>1-Floor </a:t>
            </a:r>
          </a:p>
          <a:p>
            <a:pPr defTabSz="457200">
              <a:spcBef>
                <a:spcPts val="1000"/>
              </a:spcBef>
              <a:buClr>
                <a:srgbClr val="1E4056"/>
              </a:buClr>
              <a:buSzPct val="75000"/>
            </a:pPr>
            <a:r>
              <a:rPr lang="en-US" sz="1800" dirty="0">
                <a:solidFill>
                  <a:srgbClr val="000000"/>
                </a:solidFill>
                <a:latin typeface="+mj-lt"/>
              </a:rPr>
              <a:t>2-Celling </a:t>
            </a:r>
          </a:p>
          <a:p>
            <a:pPr defTabSz="457200">
              <a:spcBef>
                <a:spcPts val="1000"/>
              </a:spcBef>
              <a:buClr>
                <a:srgbClr val="1E4056"/>
              </a:buClr>
              <a:buSzPct val="75000"/>
            </a:pPr>
            <a:r>
              <a:rPr lang="en-US" sz="1800" dirty="0">
                <a:solidFill>
                  <a:srgbClr val="000000"/>
                </a:solidFill>
                <a:latin typeface="+mj-lt"/>
              </a:rPr>
              <a:t>3-Zero</a:t>
            </a:r>
          </a:p>
          <a:p>
            <a:pPr defTabSz="457200">
              <a:spcBef>
                <a:spcPts val="1000"/>
              </a:spcBef>
              <a:buClr>
                <a:srgbClr val="1E4056"/>
              </a:buClr>
              <a:buSzPct val="75000"/>
            </a:pPr>
            <a:r>
              <a:rPr lang="en-US" sz="1800" dirty="0">
                <a:solidFill>
                  <a:srgbClr val="000000"/>
                </a:solidFill>
                <a:latin typeface="+mj-lt"/>
              </a:rPr>
              <a:t>4-Nearest </a:t>
            </a:r>
          </a:p>
          <a:p>
            <a:pPr defTabSz="457200">
              <a:spcBef>
                <a:spcPts val="1000"/>
              </a:spcBef>
              <a:buClr>
                <a:srgbClr val="1E4056"/>
              </a:buClr>
              <a:buSzPct val="75000"/>
            </a:pPr>
            <a:r>
              <a:rPr lang="en-US" sz="1800" dirty="0">
                <a:solidFill>
                  <a:srgbClr val="000000"/>
                </a:solidFill>
                <a:latin typeface="+mj-lt"/>
              </a:rPr>
              <a:t>5-Round </a:t>
            </a:r>
          </a:p>
          <a:p>
            <a:pPr defTabSz="457200">
              <a:spcBef>
                <a:spcPts val="1000"/>
              </a:spcBef>
              <a:buClr>
                <a:srgbClr val="1E4056"/>
              </a:buClr>
              <a:buSzPct val="75000"/>
            </a:pPr>
            <a:r>
              <a:rPr lang="en-US" sz="1800" dirty="0">
                <a:latin typeface="+mj-lt"/>
              </a:rPr>
              <a:t>6-Convergent</a:t>
            </a:r>
          </a:p>
        </p:txBody>
      </p:sp>
    </p:spTree>
    <p:extLst>
      <p:ext uri="{BB962C8B-B14F-4D97-AF65-F5344CB8AC3E}">
        <p14:creationId xmlns:p14="http://schemas.microsoft.com/office/powerpoint/2010/main" val="12726994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31" grpId="0" animBg="1"/>
      <p:bldP spid="3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DC55-6832-9E97-EA3F-0E61B0395A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0514C6-BF91-7365-3147-4F587A9532B8}"/>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7469CF3A-F577-3ABD-F17E-E3394E5CF61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B9A8C37-C67F-914D-EF7C-6A41069A6B41}"/>
              </a:ext>
            </a:extLst>
          </p:cNvPr>
          <p:cNvSpPr>
            <a:spLocks noGrp="1"/>
          </p:cNvSpPr>
          <p:nvPr>
            <p:ph type="sldNum" sz="quarter" idx="4"/>
          </p:nvPr>
        </p:nvSpPr>
        <p:spPr/>
        <p:txBody>
          <a:bodyPr/>
          <a:lstStyle/>
          <a:p>
            <a:pPr>
              <a:defRPr/>
            </a:pPr>
            <a:fld id="{A9CE67A1-BA7F-A74E-B5D7-615746DEEC2B}" type="slidenum">
              <a:rPr lang="en-US" smtClean="0"/>
              <a:pPr>
                <a:defRPr/>
              </a:pPr>
              <a:t>51</a:t>
            </a:fld>
            <a:endParaRPr lang="en-US" baseline="-11000" dirty="0"/>
          </a:p>
        </p:txBody>
      </p:sp>
      <p:sp>
        <p:nvSpPr>
          <p:cNvPr id="6" name="!!Date Placeholder 5">
            <a:extLst>
              <a:ext uri="{FF2B5EF4-FFF2-40B4-BE49-F238E27FC236}">
                <a16:creationId xmlns:a16="http://schemas.microsoft.com/office/drawing/2014/main" id="{BA04F11F-DA96-660A-1070-D666805F2EB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21A29E69-5A60-C48A-1E54-CF93AD5E9655}"/>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C8F8A45E-DA81-8B6B-AECC-0450E94F3FA7}"/>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1C8C521D-DD2C-B26D-B3A0-A73D709BEC09}"/>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D8A1B38D-8801-0C19-420B-75D8797F1E2A}"/>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EDD9DEEB-B2F7-9CAC-ABA3-DC4FA4161170}"/>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A1B0478A-3E70-718F-D609-6C3B7139858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DA1ECB4-93D5-F851-661F-C7390AAABC4F}"/>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6355A191-068F-C287-41C1-22BA4608C1B1}"/>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03BCD68F-C782-670B-21A8-A51CF74E8AEF}"/>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DE14361A-CD6D-EAFE-6399-FC87EC768759}"/>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7F0A0B8A-4F5C-7077-F88B-281A1D1AB325}"/>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ED63E50F-6333-E5C8-DE20-A80E3E365E60}"/>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E763F9D5-67C5-B1EB-EBE3-9C83189508AF}"/>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B3B98CC1-E71A-8D90-39E3-0EFB592FEF94}"/>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B30BD042-C171-DF32-2AE5-6C20BDCB8B58}"/>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13ED6611-0467-A344-F1C3-0A435B094C29}"/>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C6BB9997-81CE-54FC-AD0C-F8E2CC8BE122}"/>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EC18F327-C224-22BB-3842-6036F5B17357}"/>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FD5B3D2C-E25F-B25E-CF24-0D723D63880B}"/>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862E680D-2ED0-29AA-B976-B0265B2BC5A5}"/>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E946304B-6545-4704-AF73-0772303723B2}"/>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sp>
        <p:nvSpPr>
          <p:cNvPr id="2" name="!!TextBox 1">
            <a:extLst>
              <a:ext uri="{FF2B5EF4-FFF2-40B4-BE49-F238E27FC236}">
                <a16:creationId xmlns:a16="http://schemas.microsoft.com/office/drawing/2014/main" id="{CA9D7E6C-38BE-8262-C420-BBD71B8EF90F}"/>
              </a:ext>
            </a:extLst>
          </p:cNvPr>
          <p:cNvSpPr txBox="1"/>
          <p:nvPr/>
        </p:nvSpPr>
        <p:spPr>
          <a:xfrm>
            <a:off x="1062993" y="1581139"/>
            <a:ext cx="4490720" cy="315903"/>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RoundingMethod</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endParaRPr lang="en-US" sz="2000" dirty="0">
              <a:solidFill>
                <a:srgbClr val="000000"/>
              </a:solidFill>
              <a:latin typeface="+mj-lt"/>
            </a:endParaRPr>
          </a:p>
        </p:txBody>
      </p:sp>
      <p:sp>
        <p:nvSpPr>
          <p:cNvPr id="9" name="!!TextBox 8">
            <a:extLst>
              <a:ext uri="{FF2B5EF4-FFF2-40B4-BE49-F238E27FC236}">
                <a16:creationId xmlns:a16="http://schemas.microsoft.com/office/drawing/2014/main" id="{6DB70024-8C9C-D56E-BEE7-F2676BE5A864}"/>
              </a:ext>
            </a:extLst>
          </p:cNvPr>
          <p:cNvSpPr txBox="1"/>
          <p:nvPr/>
        </p:nvSpPr>
        <p:spPr>
          <a:xfrm>
            <a:off x="594546" y="1177486"/>
            <a:ext cx="449072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Fimath</a:t>
            </a:r>
            <a:r>
              <a:rPr lang="en-US" dirty="0">
                <a:latin typeface="+mj-lt"/>
              </a:rPr>
              <a:t> </a:t>
            </a:r>
            <a:r>
              <a:rPr lang="en-US" sz="1600" dirty="0">
                <a:latin typeface="+mj-lt"/>
              </a:rPr>
              <a:t>(Fixed-point Mathematic object) </a:t>
            </a:r>
            <a:endParaRPr lang="en-US" sz="1600" dirty="0">
              <a:solidFill>
                <a:srgbClr val="000000"/>
              </a:solidFill>
              <a:latin typeface="+mj-lt"/>
            </a:endParaRP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cxnSp>
        <p:nvCxnSpPr>
          <p:cNvPr id="25" name="!!Elbow Connector 24">
            <a:extLst>
              <a:ext uri="{FF2B5EF4-FFF2-40B4-BE49-F238E27FC236}">
                <a16:creationId xmlns:a16="http://schemas.microsoft.com/office/drawing/2014/main" id="{06676902-BD79-A557-E34A-F0A43598ECC8}"/>
              </a:ext>
            </a:extLst>
          </p:cNvPr>
          <p:cNvCxnSpPr>
            <a:cxnSpLocks/>
            <a:stCxn id="9" idx="1"/>
          </p:cNvCxnSpPr>
          <p:nvPr/>
        </p:nvCxnSpPr>
        <p:spPr>
          <a:xfrm rot="10800000" flipH="1" flipV="1">
            <a:off x="594545" y="1360223"/>
            <a:ext cx="446735" cy="441831"/>
          </a:xfrm>
          <a:prstGeom prst="bentConnector3">
            <a:avLst>
              <a:gd name="adj1" fmla="val -5117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27AD9B0-0CA6-94DA-1209-A2298086D5F7}"/>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EB1033D8-815E-D2E1-EC20-6F4BC84E265F}"/>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Inhaltsplatzhalter 4">
            <a:extLst>
              <a:ext uri="{FF2B5EF4-FFF2-40B4-BE49-F238E27FC236}">
                <a16:creationId xmlns:a16="http://schemas.microsoft.com/office/drawing/2014/main" id="{CC54DC36-0103-A9B5-935E-BE695B40EFAA}"/>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17" name="TextBox 16">
            <a:extLst>
              <a:ext uri="{FF2B5EF4-FFF2-40B4-BE49-F238E27FC236}">
                <a16:creationId xmlns:a16="http://schemas.microsoft.com/office/drawing/2014/main" id="{F93E4B86-DF8C-B312-D913-D1AD8133C10F}"/>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8" name="TextBox 17">
            <a:extLst>
              <a:ext uri="{FF2B5EF4-FFF2-40B4-BE49-F238E27FC236}">
                <a16:creationId xmlns:a16="http://schemas.microsoft.com/office/drawing/2014/main" id="{A0BF9D63-3201-7DE1-89C0-6D6F1E9D375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6" name="TextBox 25">
            <a:extLst>
              <a:ext uri="{FF2B5EF4-FFF2-40B4-BE49-F238E27FC236}">
                <a16:creationId xmlns:a16="http://schemas.microsoft.com/office/drawing/2014/main" id="{8CECAAB2-6CF4-9027-FC07-C72A19EE36E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650F6FB5-28E0-14F9-0398-DDA6356C5254}"/>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5AAD7338-372A-DB2F-428C-8EF9EC8C6F26}"/>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7FC613AA-CB11-7DE9-8A3E-CAB8B2018C8F}"/>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
        <p:nvSpPr>
          <p:cNvPr id="31" name="Rectangle 30">
            <a:extLst>
              <a:ext uri="{FF2B5EF4-FFF2-40B4-BE49-F238E27FC236}">
                <a16:creationId xmlns:a16="http://schemas.microsoft.com/office/drawing/2014/main" id="{00800888-5FF3-F667-B07E-BE9BC1305817}"/>
              </a:ext>
            </a:extLst>
          </p:cNvPr>
          <p:cNvSpPr/>
          <p:nvPr/>
        </p:nvSpPr>
        <p:spPr>
          <a:xfrm>
            <a:off x="1030628" y="1842976"/>
            <a:ext cx="1670521" cy="397451"/>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EACCB88-997B-8EB2-A04D-DC11075C7D15}"/>
              </a:ext>
            </a:extLst>
          </p:cNvPr>
          <p:cNvSpPr txBox="1"/>
          <p:nvPr/>
        </p:nvSpPr>
        <p:spPr>
          <a:xfrm>
            <a:off x="998284" y="-218145"/>
            <a:ext cx="6111240" cy="2395528"/>
          </a:xfrm>
          <a:prstGeom prst="rect">
            <a:avLst/>
          </a:prstGeom>
          <a:noFill/>
        </p:spPr>
        <p:txBody>
          <a:bodyPr wrap="square">
            <a:spAutoFit/>
          </a:bodyPr>
          <a:lstStyle/>
          <a:p>
            <a:pPr defTabSz="457200">
              <a:spcBef>
                <a:spcPts val="1000"/>
              </a:spcBef>
              <a:buClr>
                <a:srgbClr val="1E4056"/>
              </a:buClr>
              <a:buSzPct val="75000"/>
            </a:pPr>
            <a:r>
              <a:rPr lang="en-US" sz="1800" dirty="0">
                <a:solidFill>
                  <a:srgbClr val="000000">
                    <a:alpha val="0"/>
                  </a:srgbClr>
                </a:solidFill>
                <a:latin typeface="+mj-lt"/>
              </a:rPr>
              <a:t>1-Floor </a:t>
            </a:r>
          </a:p>
          <a:p>
            <a:pPr defTabSz="457200">
              <a:spcBef>
                <a:spcPts val="1000"/>
              </a:spcBef>
              <a:buClr>
                <a:srgbClr val="1E4056"/>
              </a:buClr>
              <a:buSzPct val="75000"/>
            </a:pPr>
            <a:r>
              <a:rPr lang="en-US" sz="1800" dirty="0">
                <a:solidFill>
                  <a:srgbClr val="000000">
                    <a:alpha val="0"/>
                  </a:srgbClr>
                </a:solidFill>
                <a:latin typeface="+mj-lt"/>
              </a:rPr>
              <a:t>2-Celling </a:t>
            </a:r>
          </a:p>
          <a:p>
            <a:pPr defTabSz="457200">
              <a:spcBef>
                <a:spcPts val="1000"/>
              </a:spcBef>
              <a:buClr>
                <a:srgbClr val="1E4056"/>
              </a:buClr>
              <a:buSzPct val="75000"/>
            </a:pPr>
            <a:r>
              <a:rPr lang="en-US" sz="1800" dirty="0">
                <a:solidFill>
                  <a:srgbClr val="000000">
                    <a:alpha val="0"/>
                  </a:srgbClr>
                </a:solidFill>
                <a:latin typeface="+mj-lt"/>
              </a:rPr>
              <a:t>3-Zero</a:t>
            </a:r>
          </a:p>
          <a:p>
            <a:pPr defTabSz="457200">
              <a:spcBef>
                <a:spcPts val="1000"/>
              </a:spcBef>
              <a:buClr>
                <a:srgbClr val="1E4056"/>
              </a:buClr>
              <a:buSzPct val="75000"/>
            </a:pPr>
            <a:r>
              <a:rPr lang="en-US" sz="1800" dirty="0">
                <a:solidFill>
                  <a:srgbClr val="000000">
                    <a:alpha val="0"/>
                  </a:srgbClr>
                </a:solidFill>
                <a:latin typeface="+mj-lt"/>
              </a:rPr>
              <a:t>4-Nearest </a:t>
            </a:r>
          </a:p>
          <a:p>
            <a:pPr defTabSz="457200">
              <a:spcBef>
                <a:spcPts val="1000"/>
              </a:spcBef>
              <a:buClr>
                <a:srgbClr val="1E4056"/>
              </a:buClr>
              <a:buSzPct val="75000"/>
            </a:pPr>
            <a:r>
              <a:rPr lang="en-US" sz="1800" dirty="0">
                <a:solidFill>
                  <a:srgbClr val="000000">
                    <a:alpha val="0"/>
                  </a:srgbClr>
                </a:solidFill>
                <a:latin typeface="+mj-lt"/>
              </a:rPr>
              <a:t>5-Round </a:t>
            </a:r>
          </a:p>
          <a:p>
            <a:pPr defTabSz="457200">
              <a:spcBef>
                <a:spcPts val="1000"/>
              </a:spcBef>
              <a:buClr>
                <a:srgbClr val="1E4056"/>
              </a:buClr>
              <a:buSzPct val="75000"/>
            </a:pPr>
            <a:r>
              <a:rPr lang="en-US" sz="1800" dirty="0">
                <a:latin typeface="+mj-lt"/>
              </a:rPr>
              <a:t>6-Convergent</a:t>
            </a:r>
          </a:p>
        </p:txBody>
      </p:sp>
      <p:sp>
        <p:nvSpPr>
          <p:cNvPr id="32" name="TextBox 31">
            <a:extLst>
              <a:ext uri="{FF2B5EF4-FFF2-40B4-BE49-F238E27FC236}">
                <a16:creationId xmlns:a16="http://schemas.microsoft.com/office/drawing/2014/main" id="{4FB22A67-19DE-FB52-3CAD-048C25C0ED0F}"/>
              </a:ext>
            </a:extLst>
          </p:cNvPr>
          <p:cNvSpPr txBox="1"/>
          <p:nvPr/>
        </p:nvSpPr>
        <p:spPr>
          <a:xfrm>
            <a:off x="964114" y="2206006"/>
            <a:ext cx="4900954" cy="1754326"/>
          </a:xfrm>
          <a:prstGeom prst="rect">
            <a:avLst/>
          </a:prstGeom>
          <a:noFill/>
        </p:spPr>
        <p:txBody>
          <a:bodyPr wrap="square">
            <a:spAutoFit/>
          </a:bodyPr>
          <a:lstStyle/>
          <a:p>
            <a:r>
              <a:rPr lang="en-US" sz="1800" b="1" dirty="0"/>
              <a:t>Advantages:</a:t>
            </a:r>
          </a:p>
          <a:p>
            <a:pPr marL="285750" indent="-285750">
              <a:buFont typeface="Arial" panose="020B0604020202020204" pitchFamily="34" charset="0"/>
              <a:buChar char="•"/>
            </a:pPr>
            <a:r>
              <a:rPr lang="en-US" sz="1800" dirty="0"/>
              <a:t>Eliminates rounding bias </a:t>
            </a:r>
          </a:p>
          <a:p>
            <a:pPr marL="285750" indent="-285750">
              <a:buFont typeface="Arial" panose="020B0604020202020204" pitchFamily="34" charset="0"/>
              <a:buChar char="•"/>
            </a:pPr>
            <a:r>
              <a:rPr lang="en-US" sz="1800" dirty="0"/>
              <a:t>Prevents error accumulation across stages</a:t>
            </a:r>
          </a:p>
          <a:p>
            <a:pPr marL="285750" indent="-285750">
              <a:buFont typeface="Arial" panose="020B0604020202020204" pitchFamily="34" charset="0"/>
              <a:buChar char="•"/>
            </a:pPr>
            <a:r>
              <a:rPr lang="en-US" sz="1800" dirty="0"/>
              <a:t>Improves SQNR performance</a:t>
            </a:r>
          </a:p>
          <a:p>
            <a:pPr marL="285750" indent="-285750">
              <a:buFont typeface="Arial" panose="020B0604020202020204" pitchFamily="34" charset="0"/>
              <a:buChar char="•"/>
            </a:pPr>
            <a:r>
              <a:rPr lang="en-US" sz="1800" dirty="0"/>
              <a:t>Matches RTL hardware implementation</a:t>
            </a:r>
          </a:p>
          <a:p>
            <a:pPr marL="285750" indent="-285750">
              <a:buFont typeface="Arial" panose="020B0604020202020204" pitchFamily="34" charset="0"/>
              <a:buChar char="•"/>
            </a:pPr>
            <a:r>
              <a:rPr lang="en-US" sz="1800" dirty="0"/>
              <a:t>Industry standard in DSP hardware</a:t>
            </a:r>
          </a:p>
        </p:txBody>
      </p:sp>
    </p:spTree>
    <p:extLst>
      <p:ext uri="{BB962C8B-B14F-4D97-AF65-F5344CB8AC3E}">
        <p14:creationId xmlns:p14="http://schemas.microsoft.com/office/powerpoint/2010/main" val="6539975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FC2EC-85FD-82B9-1B48-2960230EAE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A5A7E0-26A9-EEE6-31F4-DDC393805C6A}"/>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ABD05B6C-A550-8E1E-7375-A312C5AAE32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C89F024-035E-5AE6-132F-765AC8A8400B}"/>
              </a:ext>
            </a:extLst>
          </p:cNvPr>
          <p:cNvSpPr>
            <a:spLocks noGrp="1"/>
          </p:cNvSpPr>
          <p:nvPr>
            <p:ph type="sldNum" sz="quarter" idx="4"/>
          </p:nvPr>
        </p:nvSpPr>
        <p:spPr/>
        <p:txBody>
          <a:bodyPr/>
          <a:lstStyle/>
          <a:p>
            <a:pPr>
              <a:defRPr/>
            </a:pPr>
            <a:fld id="{A9CE67A1-BA7F-A74E-B5D7-615746DEEC2B}" type="slidenum">
              <a:rPr lang="en-US" smtClean="0"/>
              <a:pPr>
                <a:defRPr/>
              </a:pPr>
              <a:t>52</a:t>
            </a:fld>
            <a:endParaRPr lang="en-US" baseline="-11000" dirty="0"/>
          </a:p>
        </p:txBody>
      </p:sp>
      <p:sp>
        <p:nvSpPr>
          <p:cNvPr id="6" name="!!Date Placeholder 5">
            <a:extLst>
              <a:ext uri="{FF2B5EF4-FFF2-40B4-BE49-F238E27FC236}">
                <a16:creationId xmlns:a16="http://schemas.microsoft.com/office/drawing/2014/main" id="{F27C8BA3-D4C9-A887-9652-AEACA34794B1}"/>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7B33B24F-ACE1-2EC2-4CC0-8D1DDCE0D82C}"/>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A025C537-5794-58DD-86D1-3DF01630841D}"/>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9ABAB47C-35BD-FA48-D434-8D1910FC581F}"/>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63DAA88D-B9DF-D1C6-42B6-7634397E92F4}"/>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4C8EF626-7C0B-B438-B04B-550B61BB1EEF}"/>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E693257B-79DF-8C53-5775-87A00031B88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8B44612-BD35-A9F0-DA80-8BCC3B7BAC47}"/>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778AF647-1569-2AF5-D0A6-F7E5616ADFCE}"/>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AD7C7CF8-AC20-2A20-0E53-E42C4ED4DD77}"/>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FD647407-9C3F-669B-C244-075EB04F88BC}"/>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1F40D5E6-BDA6-11CA-DA7E-D74859CABC5A}"/>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D35FC018-4338-ABEB-B25D-E89F00E39FF1}"/>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3BEFBB5F-D0F2-1E5B-47C3-744152A72E2B}"/>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EB65D859-C04A-11AC-0BAE-AC943EC1DCBB}"/>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4793A5ED-6463-4D4D-9BBD-92A1DA041296}"/>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A917275B-7D5E-6599-824E-AD450D522AFE}"/>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C111A378-BD9D-53A0-5211-3CDE9A0AFD0C}"/>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A4FAAA7E-E844-C04C-8225-7F61932BE998}"/>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4BA17C56-E2B5-B1FD-92AC-5EBD75D794B3}"/>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B83AA854-AEEA-DA46-8F22-C088558861F5}"/>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9CC8290C-F045-35A9-C344-F3C3F433C17B}"/>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grpSp>
        <p:nvGrpSpPr>
          <p:cNvPr id="11" name="!!Group 10">
            <a:extLst>
              <a:ext uri="{FF2B5EF4-FFF2-40B4-BE49-F238E27FC236}">
                <a16:creationId xmlns:a16="http://schemas.microsoft.com/office/drawing/2014/main" id="{6BC0F2B2-0C65-B420-0FC6-83B5D6D84F7B}"/>
              </a:ext>
            </a:extLst>
          </p:cNvPr>
          <p:cNvGrpSpPr/>
          <p:nvPr/>
        </p:nvGrpSpPr>
        <p:grpSpPr>
          <a:xfrm>
            <a:off x="9810184" y="1138253"/>
            <a:ext cx="1684293" cy="800220"/>
            <a:chOff x="1722803" y="4505166"/>
            <a:chExt cx="1684293" cy="800220"/>
          </a:xfrm>
        </p:grpSpPr>
        <p:sp>
          <p:nvSpPr>
            <p:cNvPr id="14" name="Inhaltsplatzhalter 4">
              <a:extLst>
                <a:ext uri="{FF2B5EF4-FFF2-40B4-BE49-F238E27FC236}">
                  <a16:creationId xmlns:a16="http://schemas.microsoft.com/office/drawing/2014/main" id="{30BB5CF9-BAF8-1CDC-EBB3-C11D0CE2AD4D}"/>
                </a:ext>
              </a:extLst>
            </p:cNvPr>
            <p:cNvSpPr txBox="1">
              <a:spLocks/>
            </p:cNvSpPr>
            <p:nvPr/>
          </p:nvSpPr>
          <p:spPr>
            <a:xfrm>
              <a:off x="1939042" y="4505166"/>
              <a:ext cx="1251814"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24B6AB"/>
                  </a:solidFill>
                  <a:latin typeface="+mj-lt"/>
                  <a:ea typeface="Roboto Light" panose="02000000000000000000" pitchFamily="2" charset="0"/>
                </a:rPr>
                <a:t>Level 3</a:t>
              </a:r>
            </a:p>
          </p:txBody>
        </p:sp>
        <p:sp>
          <p:nvSpPr>
            <p:cNvPr id="16" name="Rectangle 15">
              <a:extLst>
                <a:ext uri="{FF2B5EF4-FFF2-40B4-BE49-F238E27FC236}">
                  <a16:creationId xmlns:a16="http://schemas.microsoft.com/office/drawing/2014/main" id="{E3D62B85-20E2-D78A-3A61-349E8FF32785}"/>
                </a:ext>
              </a:extLst>
            </p:cNvPr>
            <p:cNvSpPr/>
            <p:nvPr/>
          </p:nvSpPr>
          <p:spPr>
            <a:xfrm>
              <a:off x="1722803" y="4751388"/>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Convergent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p:txBody>
        </p:sp>
      </p:grpSp>
      <p:grpSp>
        <p:nvGrpSpPr>
          <p:cNvPr id="17" name="!!Group 16">
            <a:extLst>
              <a:ext uri="{FF2B5EF4-FFF2-40B4-BE49-F238E27FC236}">
                <a16:creationId xmlns:a16="http://schemas.microsoft.com/office/drawing/2014/main" id="{616189CE-2EE9-8E4E-F913-70BDF942CFF1}"/>
              </a:ext>
            </a:extLst>
          </p:cNvPr>
          <p:cNvGrpSpPr/>
          <p:nvPr/>
        </p:nvGrpSpPr>
        <p:grpSpPr>
          <a:xfrm>
            <a:off x="9841823" y="4352866"/>
            <a:ext cx="1724460" cy="629565"/>
            <a:chOff x="8125663" y="5257572"/>
            <a:chExt cx="1724460" cy="629565"/>
          </a:xfrm>
        </p:grpSpPr>
        <p:sp>
          <p:nvSpPr>
            <p:cNvPr id="18" name="Freeform: Shape 17">
              <a:extLst>
                <a:ext uri="{FF2B5EF4-FFF2-40B4-BE49-F238E27FC236}">
                  <a16:creationId xmlns:a16="http://schemas.microsoft.com/office/drawing/2014/main" id="{3133BCF8-A68D-518B-C9D5-3534E5CA9F30}"/>
                </a:ext>
              </a:extLst>
            </p:cNvPr>
            <p:cNvSpPr/>
            <p:nvPr/>
          </p:nvSpPr>
          <p:spPr>
            <a:xfrm>
              <a:off x="8125663"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rgbClr val="D9D9D9"/>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785E4209-8C04-1509-120E-203C9341563F}"/>
                </a:ext>
              </a:extLst>
            </p:cNvPr>
            <p:cNvSpPr/>
            <p:nvPr/>
          </p:nvSpPr>
          <p:spPr>
            <a:xfrm>
              <a:off x="8198473"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6"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7" name="!!Group 26">
            <a:extLst>
              <a:ext uri="{FF2B5EF4-FFF2-40B4-BE49-F238E27FC236}">
                <a16:creationId xmlns:a16="http://schemas.microsoft.com/office/drawing/2014/main" id="{051A6F5A-6225-4901-30B8-0008C01880F8}"/>
              </a:ext>
            </a:extLst>
          </p:cNvPr>
          <p:cNvGrpSpPr/>
          <p:nvPr/>
        </p:nvGrpSpPr>
        <p:grpSpPr>
          <a:xfrm>
            <a:off x="10137445" y="1960707"/>
            <a:ext cx="1122541" cy="2867070"/>
            <a:chOff x="8421285" y="2865413"/>
            <a:chExt cx="1122541" cy="2867070"/>
          </a:xfrm>
        </p:grpSpPr>
        <p:sp>
          <p:nvSpPr>
            <p:cNvPr id="28" name="Freeform: Shape 27">
              <a:extLst>
                <a:ext uri="{FF2B5EF4-FFF2-40B4-BE49-F238E27FC236}">
                  <a16:creationId xmlns:a16="http://schemas.microsoft.com/office/drawing/2014/main" id="{6FA3C621-9066-F11A-8695-C5B8391905C1}"/>
                </a:ext>
              </a:extLst>
            </p:cNvPr>
            <p:cNvSpPr/>
            <p:nvPr/>
          </p:nvSpPr>
          <p:spPr>
            <a:xfrm>
              <a:off x="8421558" y="3043333"/>
              <a:ext cx="1122268" cy="2689150"/>
            </a:xfrm>
            <a:custGeom>
              <a:avLst/>
              <a:gdLst>
                <a:gd name="connsiteX0" fmla="*/ 0 w 390525"/>
                <a:gd name="connsiteY0" fmla="*/ 0 h 800100"/>
                <a:gd name="connsiteX1" fmla="*/ 0 w 390525"/>
                <a:gd name="connsiteY1" fmla="*/ 740188 h 800100"/>
                <a:gd name="connsiteX2" fmla="*/ 198882 w 390525"/>
                <a:gd name="connsiteY2" fmla="*/ 803434 h 800100"/>
                <a:gd name="connsiteX3" fmla="*/ 397764 w 390525"/>
                <a:gd name="connsiteY3" fmla="*/ 740188 h 800100"/>
                <a:gd name="connsiteX4" fmla="*/ 397764 w 390525"/>
                <a:gd name="connsiteY4" fmla="*/ 0 h 800100"/>
                <a:gd name="connsiteX5" fmla="*/ 0 w 390525"/>
                <a:gd name="connsiteY5" fmla="*/ 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800100">
                  <a:moveTo>
                    <a:pt x="0" y="0"/>
                  </a:moveTo>
                  <a:lnTo>
                    <a:pt x="0" y="740188"/>
                  </a:lnTo>
                  <a:cubicBezTo>
                    <a:pt x="0" y="775145"/>
                    <a:pt x="89059" y="803434"/>
                    <a:pt x="198882" y="803434"/>
                  </a:cubicBezTo>
                  <a:cubicBezTo>
                    <a:pt x="308705" y="803434"/>
                    <a:pt x="397764" y="775145"/>
                    <a:pt x="397764" y="740188"/>
                  </a:cubicBezTo>
                  <a:lnTo>
                    <a:pt x="397764" y="0"/>
                  </a:lnTo>
                  <a:lnTo>
                    <a:pt x="0" y="0"/>
                  </a:lnTo>
                  <a:close/>
                </a:path>
              </a:pathLst>
            </a:custGeom>
            <a:gradFill flip="none" rotWithShape="1">
              <a:gsLst>
                <a:gs pos="0">
                  <a:srgbClr val="24B6AB">
                    <a:shade val="30000"/>
                    <a:satMod val="115000"/>
                  </a:srgbClr>
                </a:gs>
                <a:gs pos="50000">
                  <a:srgbClr val="24B6AB">
                    <a:shade val="67500"/>
                    <a:satMod val="115000"/>
                  </a:srgbClr>
                </a:gs>
                <a:gs pos="100000">
                  <a:srgbClr val="24B6AB">
                    <a:shade val="100000"/>
                    <a:satMod val="115000"/>
                  </a:srgbClr>
                </a:gs>
              </a:gsLst>
              <a:lin ang="0" scaled="1"/>
              <a:tileRect/>
            </a:grad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C54477E1-1865-6190-79DF-2020A6CC6B23}"/>
                </a:ext>
              </a:extLst>
            </p:cNvPr>
            <p:cNvSpPr/>
            <p:nvPr/>
          </p:nvSpPr>
          <p:spPr>
            <a:xfrm>
              <a:off x="8421285" y="2865413"/>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24B6AB">
                    <a:shade val="67500"/>
                    <a:satMod val="115000"/>
                  </a:srgbClr>
                </a:gs>
                <a:gs pos="100000">
                  <a:srgbClr val="24B6AB">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31" name="!!Picture 30">
            <a:extLst>
              <a:ext uri="{FF2B5EF4-FFF2-40B4-BE49-F238E27FC236}">
                <a16:creationId xmlns:a16="http://schemas.microsoft.com/office/drawing/2014/main" id="{AB9D3D91-9FED-8A1F-FED9-F47F14E529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075" y="1318430"/>
            <a:ext cx="5273497" cy="3985605"/>
          </a:xfrm>
          <a:prstGeom prst="rect">
            <a:avLst/>
          </a:prstGeom>
        </p:spPr>
      </p:pic>
      <p:sp>
        <p:nvSpPr>
          <p:cNvPr id="32" name="!!Inhaltsplatzhalter 4">
            <a:extLst>
              <a:ext uri="{FF2B5EF4-FFF2-40B4-BE49-F238E27FC236}">
                <a16:creationId xmlns:a16="http://schemas.microsoft.com/office/drawing/2014/main" id="{FF2AC8B9-428C-02DA-513F-E84BE0593DF6}"/>
              </a:ext>
            </a:extLst>
          </p:cNvPr>
          <p:cNvSpPr txBox="1">
            <a:spLocks/>
          </p:cNvSpPr>
          <p:nvPr/>
        </p:nvSpPr>
        <p:spPr>
          <a:xfrm>
            <a:off x="10202784" y="3364157"/>
            <a:ext cx="991589"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48.35 dB</a:t>
            </a:r>
            <a:endParaRPr lang="en-US" sz="1800" b="1" dirty="0">
              <a:latin typeface="+mj-lt"/>
              <a:ea typeface="Roboto Light" panose="02000000000000000000" pitchFamily="2" charset="0"/>
            </a:endParaRPr>
          </a:p>
        </p:txBody>
      </p:sp>
      <p:cxnSp>
        <p:nvCxnSpPr>
          <p:cNvPr id="2" name="Straight Connector 1">
            <a:extLst>
              <a:ext uri="{FF2B5EF4-FFF2-40B4-BE49-F238E27FC236}">
                <a16:creationId xmlns:a16="http://schemas.microsoft.com/office/drawing/2014/main" id="{400356EF-0615-A5BF-D44A-5D408428522F}"/>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EAF29BFE-3941-18F2-5F8F-00583E341B45}"/>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Inhaltsplatzhalter 4">
            <a:extLst>
              <a:ext uri="{FF2B5EF4-FFF2-40B4-BE49-F238E27FC236}">
                <a16:creationId xmlns:a16="http://schemas.microsoft.com/office/drawing/2014/main" id="{BABBFA44-0382-166F-1324-31270C5211B9}"/>
              </a:ext>
            </a:extLst>
          </p:cNvPr>
          <p:cNvSpPr txBox="1">
            <a:spLocks/>
          </p:cNvSpPr>
          <p:nvPr/>
        </p:nvSpPr>
        <p:spPr>
          <a:xfrm>
            <a:off x="7163869" y="299987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cxnSp>
        <p:nvCxnSpPr>
          <p:cNvPr id="29" name="Straight Connector 28">
            <a:extLst>
              <a:ext uri="{FF2B5EF4-FFF2-40B4-BE49-F238E27FC236}">
                <a16:creationId xmlns:a16="http://schemas.microsoft.com/office/drawing/2014/main" id="{6E5A9C09-B824-5055-989C-1B929CA11206}"/>
              </a:ext>
            </a:extLst>
          </p:cNvPr>
          <p:cNvCxnSpPr>
            <a:cxnSpLocks/>
            <a:stCxn id="213" idx="0"/>
          </p:cNvCxnSpPr>
          <p:nvPr/>
        </p:nvCxnSpPr>
        <p:spPr>
          <a:xfrm>
            <a:off x="9474415" y="3320780"/>
            <a:ext cx="663030"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Straight Connector 33">
            <a:extLst>
              <a:ext uri="{FF2B5EF4-FFF2-40B4-BE49-F238E27FC236}">
                <a16:creationId xmlns:a16="http://schemas.microsoft.com/office/drawing/2014/main" id="{4AA978B8-ADAD-B9AA-61D9-5744277900A6}"/>
              </a:ext>
            </a:extLst>
          </p:cNvPr>
          <p:cNvCxnSpPr>
            <a:cxnSpLocks/>
          </p:cNvCxnSpPr>
          <p:nvPr/>
        </p:nvCxnSpPr>
        <p:spPr>
          <a:xfrm>
            <a:off x="8321184" y="2138627"/>
            <a:ext cx="1837376" cy="239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Inhaltsplatzhalter 4">
            <a:extLst>
              <a:ext uri="{FF2B5EF4-FFF2-40B4-BE49-F238E27FC236}">
                <a16:creationId xmlns:a16="http://schemas.microsoft.com/office/drawing/2014/main" id="{4C17695F-D210-A1C3-0A79-A363C20B82A4}"/>
              </a:ext>
            </a:extLst>
          </p:cNvPr>
          <p:cNvSpPr txBox="1">
            <a:spLocks/>
          </p:cNvSpPr>
          <p:nvPr/>
        </p:nvSpPr>
        <p:spPr>
          <a:xfrm>
            <a:off x="8409937" y="1839390"/>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6.45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40" name="TextBox 39">
            <a:extLst>
              <a:ext uri="{FF2B5EF4-FFF2-40B4-BE49-F238E27FC236}">
                <a16:creationId xmlns:a16="http://schemas.microsoft.com/office/drawing/2014/main" id="{D6D71FB1-F5BE-9E41-74B4-34AAA8B114A9}"/>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1" name="TextBox 40">
            <a:extLst>
              <a:ext uri="{FF2B5EF4-FFF2-40B4-BE49-F238E27FC236}">
                <a16:creationId xmlns:a16="http://schemas.microsoft.com/office/drawing/2014/main" id="{80BDFF30-A742-C04C-9894-48966C15B8E2}"/>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2" name="TextBox 41">
            <a:extLst>
              <a:ext uri="{FF2B5EF4-FFF2-40B4-BE49-F238E27FC236}">
                <a16:creationId xmlns:a16="http://schemas.microsoft.com/office/drawing/2014/main" id="{D5D98C25-9F64-6CEC-E07E-BDB43FB5FEA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3" name="TextBox 42">
            <a:extLst>
              <a:ext uri="{FF2B5EF4-FFF2-40B4-BE49-F238E27FC236}">
                <a16:creationId xmlns:a16="http://schemas.microsoft.com/office/drawing/2014/main" id="{02B5EEAB-A9AF-550C-E8F9-731A604F6E4D}"/>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4" name="TextBox 43">
            <a:extLst>
              <a:ext uri="{FF2B5EF4-FFF2-40B4-BE49-F238E27FC236}">
                <a16:creationId xmlns:a16="http://schemas.microsoft.com/office/drawing/2014/main" id="{1E283C08-77C2-5CCB-F2EE-F1F1C20C5E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45" name="TextBox 44">
            <a:extLst>
              <a:ext uri="{FF2B5EF4-FFF2-40B4-BE49-F238E27FC236}">
                <a16:creationId xmlns:a16="http://schemas.microsoft.com/office/drawing/2014/main" id="{7C047348-EDF5-ECB9-77E1-855E17F3AA0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cxnSp>
        <p:nvCxnSpPr>
          <p:cNvPr id="46" name="Straight Connector 45">
            <a:extLst>
              <a:ext uri="{FF2B5EF4-FFF2-40B4-BE49-F238E27FC236}">
                <a16:creationId xmlns:a16="http://schemas.microsoft.com/office/drawing/2014/main" id="{A9723E68-B800-74BC-9720-58FDE454B3B6}"/>
              </a:ext>
            </a:extLst>
          </p:cNvPr>
          <p:cNvCxnSpPr>
            <a:cxnSpLocks/>
          </p:cNvCxnSpPr>
          <p:nvPr/>
        </p:nvCxnSpPr>
        <p:spPr>
          <a:xfrm flipH="1">
            <a:off x="8321184" y="2138627"/>
            <a:ext cx="0" cy="118215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4220350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22" presetClass="entr" presetSubtype="4" fill="hold"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down)">
                                      <p:cBhvr>
                                        <p:cTn id="12" dur="500"/>
                                        <p:tgtEl>
                                          <p:spTgt spid="27"/>
                                        </p:tgtEl>
                                      </p:cBhvr>
                                    </p:animEffect>
                                  </p:childTnLst>
                                </p:cTn>
                              </p:par>
                              <p:par>
                                <p:cTn id="13" presetID="42"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anim calcmode="lin" valueType="num">
                                      <p:cBhvr>
                                        <p:cTn id="16" dur="500" fill="hold"/>
                                        <p:tgtEl>
                                          <p:spTgt spid="11"/>
                                        </p:tgtEl>
                                        <p:attrNameLst>
                                          <p:attrName>ppt_x</p:attrName>
                                        </p:attrNameLst>
                                      </p:cBhvr>
                                      <p:tavLst>
                                        <p:tav tm="0">
                                          <p:val>
                                            <p:strVal val="#ppt_x"/>
                                          </p:val>
                                        </p:tav>
                                        <p:tav tm="100000">
                                          <p:val>
                                            <p:strVal val="#ppt_x"/>
                                          </p:val>
                                        </p:tav>
                                      </p:tavLst>
                                    </p:anim>
                                    <p:anim calcmode="lin" valueType="num">
                                      <p:cBhvr>
                                        <p:cTn id="17"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par>
                                <p:cTn id="23" presetID="10"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DA4DF-9153-BEA0-A755-A4B7284CF4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C418C8-72A4-0347-6501-B646DE5E930E}"/>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endParaRPr lang="en-US" b="1" dirty="0">
              <a:solidFill>
                <a:srgbClr val="000000">
                  <a:alpha val="20000"/>
                </a:srgbClr>
              </a:solidFill>
            </a:endParaRPr>
          </a:p>
          <a:p>
            <a:r>
              <a:rPr lang="en-US" b="1" dirty="0">
                <a:solidFill>
                  <a:srgbClr val="000000">
                    <a:alpha val="20000"/>
                  </a:srgbClr>
                </a:solidFill>
              </a:rPr>
              <a:t>HW/SW Co-design (HW Part)</a:t>
            </a:r>
          </a:p>
          <a:p>
            <a:r>
              <a:rPr lang="en-US" b="1" dirty="0">
                <a:solidFill>
                  <a:srgbClr val="000000">
                    <a:alpha val="20000"/>
                  </a:srgbClr>
                </a:solidFill>
              </a:rPr>
              <a:t>HW/SW Co-design (SW Part)</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6FA85D13-454D-9819-7EFF-F2DCA397C8CA}"/>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06081317-2C69-CE96-65C1-D5C5777283E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C5B7803-ED8A-DF6E-EA98-3C1B344795F2}"/>
              </a:ext>
            </a:extLst>
          </p:cNvPr>
          <p:cNvSpPr>
            <a:spLocks noGrp="1"/>
          </p:cNvSpPr>
          <p:nvPr>
            <p:ph type="sldNum" sz="quarter" idx="4"/>
          </p:nvPr>
        </p:nvSpPr>
        <p:spPr/>
        <p:txBody>
          <a:bodyPr/>
          <a:lstStyle/>
          <a:p>
            <a:pPr>
              <a:defRPr/>
            </a:pPr>
            <a:fld id="{A9CE67A1-BA7F-A74E-B5D7-615746DEEC2B}" type="slidenum">
              <a:rPr lang="en-US" smtClean="0"/>
              <a:pPr>
                <a:defRPr/>
              </a:pPr>
              <a:t>53</a:t>
            </a:fld>
            <a:endParaRPr lang="en-US" baseline="-11000" dirty="0"/>
          </a:p>
        </p:txBody>
      </p:sp>
      <p:sp>
        <p:nvSpPr>
          <p:cNvPr id="6" name="Date Placeholder 5">
            <a:extLst>
              <a:ext uri="{FF2B5EF4-FFF2-40B4-BE49-F238E27FC236}">
                <a16:creationId xmlns:a16="http://schemas.microsoft.com/office/drawing/2014/main" id="{061140B0-0223-F238-807D-7107742A4BAF}"/>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516833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8F000-1DD3-D3FE-FF46-6AE8909045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053C43-049D-C6C1-3009-C5499C348D10}"/>
              </a:ext>
            </a:extLst>
          </p:cNvPr>
          <p:cNvSpPr>
            <a:spLocks noGrp="1"/>
          </p:cNvSpPr>
          <p:nvPr>
            <p:ph type="title"/>
          </p:nvPr>
        </p:nvSpPr>
        <p:spPr>
          <a:xfrm>
            <a:off x="347472" y="3827812"/>
            <a:ext cx="7755668" cy="664797"/>
          </a:xfrm>
        </p:spPr>
        <p:txBody>
          <a:bodyPr/>
          <a:lstStyle/>
          <a:p>
            <a:r>
              <a:rPr lang="en-US" dirty="0"/>
              <a:t>RTL</a:t>
            </a:r>
          </a:p>
        </p:txBody>
      </p:sp>
      <p:sp>
        <p:nvSpPr>
          <p:cNvPr id="4" name="Footer Placeholder 3">
            <a:extLst>
              <a:ext uri="{FF2B5EF4-FFF2-40B4-BE49-F238E27FC236}">
                <a16:creationId xmlns:a16="http://schemas.microsoft.com/office/drawing/2014/main" id="{0255B585-D6C1-91A4-DCA0-0F822592428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89D4BB8-FFA5-B4E1-4C37-FBC997792AC4}"/>
              </a:ext>
            </a:extLst>
          </p:cNvPr>
          <p:cNvSpPr>
            <a:spLocks noGrp="1"/>
          </p:cNvSpPr>
          <p:nvPr>
            <p:ph type="sldNum" sz="quarter" idx="4"/>
          </p:nvPr>
        </p:nvSpPr>
        <p:spPr/>
        <p:txBody>
          <a:bodyPr/>
          <a:lstStyle/>
          <a:p>
            <a:pPr>
              <a:defRPr/>
            </a:pPr>
            <a:fld id="{A9CE67A1-BA7F-A74E-B5D7-615746DEEC2B}" type="slidenum">
              <a:rPr lang="en-US" smtClean="0"/>
              <a:pPr>
                <a:defRPr/>
              </a:pPr>
              <a:t>54</a:t>
            </a:fld>
            <a:endParaRPr lang="en-US" baseline="-11000" dirty="0"/>
          </a:p>
        </p:txBody>
      </p:sp>
      <p:sp>
        <p:nvSpPr>
          <p:cNvPr id="6" name="Date Placeholder 5">
            <a:extLst>
              <a:ext uri="{FF2B5EF4-FFF2-40B4-BE49-F238E27FC236}">
                <a16:creationId xmlns:a16="http://schemas.microsoft.com/office/drawing/2014/main" id="{65EA9C21-4165-FA2A-BA0F-9775BF63AF9A}"/>
              </a:ext>
            </a:extLst>
          </p:cNvPr>
          <p:cNvSpPr>
            <a:spLocks noGrp="1"/>
          </p:cNvSpPr>
          <p:nvPr>
            <p:ph type="dt" sz="half" idx="2"/>
          </p:nvPr>
        </p:nvSpPr>
        <p:spPr/>
        <p:txBody>
          <a:body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3827170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0A2AE-352B-B272-D097-5C1229CB28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04D1C2-25A3-D5DE-80DD-477A0E900FDB}"/>
              </a:ext>
            </a:extLst>
          </p:cNvPr>
          <p:cNvSpPr>
            <a:spLocks noGrp="1"/>
          </p:cNvSpPr>
          <p:nvPr>
            <p:ph idx="1"/>
          </p:nvPr>
        </p:nvSpPr>
        <p:spPr>
          <a:xfrm>
            <a:off x="342901" y="971550"/>
            <a:ext cx="10274300" cy="4914900"/>
          </a:xfrm>
        </p:spPr>
        <p:txBody>
          <a:bodyPr>
            <a:normAutofit/>
          </a:bodyPr>
          <a:lstStyle/>
          <a:p>
            <a:r>
              <a:rPr lang="en-US" b="1" dirty="0"/>
              <a:t>RTL </a:t>
            </a:r>
            <a:endParaRPr lang="en-US" dirty="0"/>
          </a:p>
          <a:p>
            <a:pPr lvl="1"/>
            <a:r>
              <a:rPr lang="en-US" b="1" dirty="0"/>
              <a:t>SDF Block diagram </a:t>
            </a:r>
          </a:p>
          <a:p>
            <a:pPr lvl="1"/>
            <a:r>
              <a:rPr lang="en-US" b="1" dirty="0"/>
              <a:t>Stage Block diagram </a:t>
            </a:r>
          </a:p>
          <a:p>
            <a:pPr lvl="1"/>
            <a:r>
              <a:rPr lang="en-US" b="1" dirty="0"/>
              <a:t>Stage main component </a:t>
            </a:r>
          </a:p>
          <a:p>
            <a:pPr lvl="1"/>
            <a:r>
              <a:rPr lang="en-US" b="1" dirty="0"/>
              <a:t>FSM</a:t>
            </a:r>
          </a:p>
          <a:p>
            <a:pPr lvl="1"/>
            <a:r>
              <a:rPr lang="en-US" b="1" dirty="0"/>
              <a:t>Simulation results</a:t>
            </a:r>
          </a:p>
          <a:p>
            <a:pPr lvl="1"/>
            <a:r>
              <a:rPr lang="en-US" b="1" dirty="0"/>
              <a:t>Challenges  </a:t>
            </a:r>
          </a:p>
          <a:p>
            <a:pPr lvl="1"/>
            <a:r>
              <a:rPr lang="en-US" b="1" dirty="0"/>
              <a:t>Final Architecture </a:t>
            </a: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3641A1FA-6D9A-1B68-2972-ED66E52941D9}"/>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25F8317E-222F-3FD2-E07A-3DD95FFCE1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0809473-143D-8351-8CC3-53D003441CC6}"/>
              </a:ext>
            </a:extLst>
          </p:cNvPr>
          <p:cNvSpPr>
            <a:spLocks noGrp="1"/>
          </p:cNvSpPr>
          <p:nvPr>
            <p:ph type="sldNum" sz="quarter" idx="4"/>
          </p:nvPr>
        </p:nvSpPr>
        <p:spPr/>
        <p:txBody>
          <a:bodyPr/>
          <a:lstStyle/>
          <a:p>
            <a:pPr>
              <a:defRPr/>
            </a:pPr>
            <a:fld id="{A9CE67A1-BA7F-A74E-B5D7-615746DEEC2B}" type="slidenum">
              <a:rPr lang="en-US" smtClean="0"/>
              <a:pPr>
                <a:defRPr/>
              </a:pPr>
              <a:t>55</a:t>
            </a:fld>
            <a:endParaRPr lang="en-US" baseline="-11000" dirty="0"/>
          </a:p>
        </p:txBody>
      </p:sp>
      <p:sp>
        <p:nvSpPr>
          <p:cNvPr id="6" name="Date Placeholder 5">
            <a:extLst>
              <a:ext uri="{FF2B5EF4-FFF2-40B4-BE49-F238E27FC236}">
                <a16:creationId xmlns:a16="http://schemas.microsoft.com/office/drawing/2014/main" id="{E6F2AFC9-4283-D31C-3B04-DA04BE20613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2249898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26363-BB09-E246-3E64-11CBA13C4D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6F5399E-FFB7-2452-7286-8AEE0A9EBB0F}"/>
              </a:ext>
            </a:extLst>
          </p:cNvPr>
          <p:cNvSpPr>
            <a:spLocks noGrp="1"/>
          </p:cNvSpPr>
          <p:nvPr>
            <p:ph type="title"/>
          </p:nvPr>
        </p:nvSpPr>
        <p:spPr>
          <a:xfrm>
            <a:off x="342901" y="219456"/>
            <a:ext cx="10287001" cy="470898"/>
          </a:xfrm>
        </p:spPr>
        <p:txBody>
          <a:bodyPr/>
          <a:lstStyle/>
          <a:p>
            <a:r>
              <a:rPr lang="en-US" dirty="0"/>
              <a:t>RTL : stage block diagram </a:t>
            </a:r>
          </a:p>
        </p:txBody>
      </p:sp>
      <p:sp>
        <p:nvSpPr>
          <p:cNvPr id="4" name="!!Footer Placeholder 3">
            <a:extLst>
              <a:ext uri="{FF2B5EF4-FFF2-40B4-BE49-F238E27FC236}">
                <a16:creationId xmlns:a16="http://schemas.microsoft.com/office/drawing/2014/main" id="{7848574A-23C1-FAD7-C417-C6F21C16D79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759C7CE-E94D-FB13-A438-C47EC81D23D0}"/>
              </a:ext>
            </a:extLst>
          </p:cNvPr>
          <p:cNvSpPr>
            <a:spLocks noGrp="1"/>
          </p:cNvSpPr>
          <p:nvPr>
            <p:ph type="sldNum" sz="quarter" idx="4"/>
          </p:nvPr>
        </p:nvSpPr>
        <p:spPr/>
        <p:txBody>
          <a:bodyPr/>
          <a:lstStyle/>
          <a:p>
            <a:pPr>
              <a:defRPr/>
            </a:pPr>
            <a:fld id="{A9CE67A1-BA7F-A74E-B5D7-615746DEEC2B}" type="slidenum">
              <a:rPr lang="en-US" smtClean="0"/>
              <a:pPr>
                <a:defRPr/>
              </a:pPr>
              <a:t>56</a:t>
            </a:fld>
            <a:endParaRPr lang="en-US" baseline="-11000" dirty="0"/>
          </a:p>
        </p:txBody>
      </p:sp>
      <p:sp>
        <p:nvSpPr>
          <p:cNvPr id="6" name="!!Date Placeholder 5">
            <a:extLst>
              <a:ext uri="{FF2B5EF4-FFF2-40B4-BE49-F238E27FC236}">
                <a16:creationId xmlns:a16="http://schemas.microsoft.com/office/drawing/2014/main" id="{716A9AFD-783E-3774-A37E-A2255626A38B}"/>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50" name="!!TextBox 49">
            <a:extLst>
              <a:ext uri="{FF2B5EF4-FFF2-40B4-BE49-F238E27FC236}">
                <a16:creationId xmlns:a16="http://schemas.microsoft.com/office/drawing/2014/main" id="{07E673DD-D4B5-5CC3-00A8-4E91F393C673}"/>
              </a:ext>
            </a:extLst>
          </p:cNvPr>
          <p:cNvSpPr txBox="1"/>
          <p:nvPr/>
        </p:nvSpPr>
        <p:spPr>
          <a:xfrm>
            <a:off x="205576" y="3249437"/>
            <a:ext cx="5686070"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t>Let's focus on the architecture of a single stage</a:t>
            </a:r>
            <a:endParaRPr lang="en-US" sz="2000" b="1" dirty="0">
              <a:solidFill>
                <a:srgbClr val="000000"/>
              </a:solidFill>
            </a:endParaRPr>
          </a:p>
        </p:txBody>
      </p:sp>
      <p:grpSp>
        <p:nvGrpSpPr>
          <p:cNvPr id="122" name="!!Group 121">
            <a:extLst>
              <a:ext uri="{FF2B5EF4-FFF2-40B4-BE49-F238E27FC236}">
                <a16:creationId xmlns:a16="http://schemas.microsoft.com/office/drawing/2014/main" id="{400658C6-5280-DBF8-E1EC-08737C2F040C}"/>
              </a:ext>
            </a:extLst>
          </p:cNvPr>
          <p:cNvGrpSpPr/>
          <p:nvPr/>
        </p:nvGrpSpPr>
        <p:grpSpPr>
          <a:xfrm>
            <a:off x="688258" y="845183"/>
            <a:ext cx="11248103" cy="2312030"/>
            <a:chOff x="688258" y="845183"/>
            <a:chExt cx="11248103" cy="2312030"/>
          </a:xfrm>
        </p:grpSpPr>
        <p:grpSp>
          <p:nvGrpSpPr>
            <p:cNvPr id="13" name="Group 12">
              <a:extLst>
                <a:ext uri="{FF2B5EF4-FFF2-40B4-BE49-F238E27FC236}">
                  <a16:creationId xmlns:a16="http://schemas.microsoft.com/office/drawing/2014/main" id="{3C68AB80-F340-6BDA-EB51-D7C7D0F8869C}"/>
                </a:ext>
              </a:extLst>
            </p:cNvPr>
            <p:cNvGrpSpPr/>
            <p:nvPr/>
          </p:nvGrpSpPr>
          <p:grpSpPr>
            <a:xfrm>
              <a:off x="688258" y="845183"/>
              <a:ext cx="11248103" cy="2312030"/>
              <a:chOff x="666836" y="1922151"/>
              <a:chExt cx="11248103" cy="2293434"/>
            </a:xfrm>
          </p:grpSpPr>
          <p:sp>
            <p:nvSpPr>
              <p:cNvPr id="14" name="Rectangle 13">
                <a:extLst>
                  <a:ext uri="{FF2B5EF4-FFF2-40B4-BE49-F238E27FC236}">
                    <a16:creationId xmlns:a16="http://schemas.microsoft.com/office/drawing/2014/main" id="{E43BC898-8BE0-C1C4-D0A5-BA3C650092E6}"/>
                  </a:ext>
                </a:extLst>
              </p:cNvPr>
              <p:cNvSpPr/>
              <p:nvPr/>
            </p:nvSpPr>
            <p:spPr>
              <a:xfrm>
                <a:off x="2432201" y="2326148"/>
                <a:ext cx="8017732" cy="188943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5" name="TextBox 14">
                <a:extLst>
                  <a:ext uri="{FF2B5EF4-FFF2-40B4-BE49-F238E27FC236}">
                    <a16:creationId xmlns:a16="http://schemas.microsoft.com/office/drawing/2014/main" id="{E675E4B0-AE36-3B99-DCD6-C727C3275FC2}"/>
                  </a:ext>
                </a:extLst>
              </p:cNvPr>
              <p:cNvSpPr txBox="1"/>
              <p:nvPr/>
            </p:nvSpPr>
            <p:spPr>
              <a:xfrm>
                <a:off x="4848731" y="1922151"/>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6" name="TextBox 15">
                <a:extLst>
                  <a:ext uri="{FF2B5EF4-FFF2-40B4-BE49-F238E27FC236}">
                    <a16:creationId xmlns:a16="http://schemas.microsoft.com/office/drawing/2014/main" id="{3DCADAA6-4C45-2D77-924C-93191BCA3533}"/>
                  </a:ext>
                </a:extLst>
              </p:cNvPr>
              <p:cNvSpPr txBox="1"/>
              <p:nvPr/>
            </p:nvSpPr>
            <p:spPr>
              <a:xfrm>
                <a:off x="1491152" y="2864260"/>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7" name="Rectangle 16">
                <a:extLst>
                  <a:ext uri="{FF2B5EF4-FFF2-40B4-BE49-F238E27FC236}">
                    <a16:creationId xmlns:a16="http://schemas.microsoft.com/office/drawing/2014/main" id="{E7BC7327-59D2-F1C2-4256-FA1BB4D858F8}"/>
                  </a:ext>
                </a:extLst>
              </p:cNvPr>
              <p:cNvSpPr/>
              <p:nvPr/>
            </p:nvSpPr>
            <p:spPr>
              <a:xfrm>
                <a:off x="275795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sp>
            <p:nvSpPr>
              <p:cNvPr id="18" name="Rectangle 17">
                <a:extLst>
                  <a:ext uri="{FF2B5EF4-FFF2-40B4-BE49-F238E27FC236}">
                    <a16:creationId xmlns:a16="http://schemas.microsoft.com/office/drawing/2014/main" id="{730B035D-2E4B-4A08-4A07-5841FBB9BAF7}"/>
                  </a:ext>
                </a:extLst>
              </p:cNvPr>
              <p:cNvSpPr/>
              <p:nvPr/>
            </p:nvSpPr>
            <p:spPr>
              <a:xfrm>
                <a:off x="457200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cxnSp>
            <p:nvCxnSpPr>
              <p:cNvPr id="19" name="Straight Arrow Connector 18">
                <a:extLst>
                  <a:ext uri="{FF2B5EF4-FFF2-40B4-BE49-F238E27FC236}">
                    <a16:creationId xmlns:a16="http://schemas.microsoft.com/office/drawing/2014/main" id="{33D1CB56-212D-1977-5506-077ABE2A2BC2}"/>
                  </a:ext>
                </a:extLst>
              </p:cNvPr>
              <p:cNvCxnSpPr>
                <a:cxnSpLocks/>
              </p:cNvCxnSpPr>
              <p:nvPr/>
            </p:nvCxnSpPr>
            <p:spPr>
              <a:xfrm>
                <a:off x="666836" y="3274638"/>
                <a:ext cx="209111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F8F3A14-B0B9-04F4-F996-AAE6F71B18D9}"/>
                  </a:ext>
                </a:extLst>
              </p:cNvPr>
              <p:cNvCxnSpPr>
                <a:cxnSpLocks/>
              </p:cNvCxnSpPr>
              <p:nvPr/>
            </p:nvCxnSpPr>
            <p:spPr>
              <a:xfrm>
                <a:off x="384933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1E57CB1A-A90A-85CA-9A69-C942772B5453}"/>
                  </a:ext>
                </a:extLst>
              </p:cNvPr>
              <p:cNvSpPr/>
              <p:nvPr/>
            </p:nvSpPr>
            <p:spPr>
              <a:xfrm>
                <a:off x="6352520"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F6C61050-9DAF-1945-C969-9AD4CF1D12D8}"/>
                  </a:ext>
                </a:extLst>
              </p:cNvPr>
              <p:cNvSpPr/>
              <p:nvPr/>
            </p:nvSpPr>
            <p:spPr>
              <a:xfrm>
                <a:off x="6612257"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FA1A1494-89F5-9120-3F73-D6FEE92FBAB8}"/>
                  </a:ext>
                </a:extLst>
              </p:cNvPr>
              <p:cNvSpPr/>
              <p:nvPr/>
            </p:nvSpPr>
            <p:spPr>
              <a:xfrm>
                <a:off x="7421122"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19DECCB0-D3CD-6F43-5A88-D2066A849111}"/>
                  </a:ext>
                </a:extLst>
              </p:cNvPr>
              <p:cNvSpPr/>
              <p:nvPr/>
            </p:nvSpPr>
            <p:spPr>
              <a:xfrm>
                <a:off x="8229987"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cxnSp>
            <p:nvCxnSpPr>
              <p:cNvPr id="25" name="Straight Arrow Connector 24">
                <a:extLst>
                  <a:ext uri="{FF2B5EF4-FFF2-40B4-BE49-F238E27FC236}">
                    <a16:creationId xmlns:a16="http://schemas.microsoft.com/office/drawing/2014/main" id="{C262CF48-A1B4-1229-75C9-5FBABF315086}"/>
                  </a:ext>
                </a:extLst>
              </p:cNvPr>
              <p:cNvCxnSpPr>
                <a:cxnSpLocks/>
              </p:cNvCxnSpPr>
              <p:nvPr/>
            </p:nvCxnSpPr>
            <p:spPr>
              <a:xfrm>
                <a:off x="7507318"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21E448E1-A999-3840-7AC5-4449CFAD6226}"/>
                  </a:ext>
                </a:extLst>
              </p:cNvPr>
              <p:cNvCxnSpPr>
                <a:cxnSpLocks/>
              </p:cNvCxnSpPr>
              <p:nvPr/>
            </p:nvCxnSpPr>
            <p:spPr>
              <a:xfrm>
                <a:off x="564719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87143491-AE1E-CE80-6B57-B92BC35A0584}"/>
                  </a:ext>
                </a:extLst>
              </p:cNvPr>
              <p:cNvSpPr/>
              <p:nvPr/>
            </p:nvSpPr>
            <p:spPr>
              <a:xfrm>
                <a:off x="6903586"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5F9F5D8-FDFA-3DB7-20B0-692B418EBA59}"/>
                  </a:ext>
                </a:extLst>
              </p:cNvPr>
              <p:cNvSpPr/>
              <p:nvPr/>
            </p:nvSpPr>
            <p:spPr>
              <a:xfrm>
                <a:off x="7164605"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9" name="Straight Arrow Connector 28">
                <a:extLst>
                  <a:ext uri="{FF2B5EF4-FFF2-40B4-BE49-F238E27FC236}">
                    <a16:creationId xmlns:a16="http://schemas.microsoft.com/office/drawing/2014/main" id="{0200ECF7-142A-9D2B-3865-CAEA38A7B226}"/>
                  </a:ext>
                </a:extLst>
              </p:cNvPr>
              <p:cNvCxnSpPr>
                <a:cxnSpLocks/>
              </p:cNvCxnSpPr>
              <p:nvPr/>
            </p:nvCxnSpPr>
            <p:spPr>
              <a:xfrm>
                <a:off x="9321368" y="3317448"/>
                <a:ext cx="259357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392B3F40-B2C9-218F-C42A-4AED4754EA20}"/>
                  </a:ext>
                </a:extLst>
              </p:cNvPr>
              <p:cNvSpPr txBox="1"/>
              <p:nvPr/>
            </p:nvSpPr>
            <p:spPr>
              <a:xfrm>
                <a:off x="10701219" y="3008259"/>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31" name="Straight Connector 30">
                <a:extLst>
                  <a:ext uri="{FF2B5EF4-FFF2-40B4-BE49-F238E27FC236}">
                    <a16:creationId xmlns:a16="http://schemas.microsoft.com/office/drawing/2014/main" id="{5C32BCA3-1C3D-77F7-79F9-0536F38E877F}"/>
                  </a:ext>
                </a:extLst>
              </p:cNvPr>
              <p:cNvCxnSpPr>
                <a:cxnSpLocks/>
              </p:cNvCxnSpPr>
              <p:nvPr/>
            </p:nvCxnSpPr>
            <p:spPr>
              <a:xfrm flipH="1">
                <a:off x="1962664" y="321801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11FD4C12-188B-5081-66E5-73633CF89E45}"/>
                  </a:ext>
                </a:extLst>
              </p:cNvPr>
              <p:cNvCxnSpPr>
                <a:cxnSpLocks/>
              </p:cNvCxnSpPr>
              <p:nvPr/>
            </p:nvCxnSpPr>
            <p:spPr>
              <a:xfrm flipH="1">
                <a:off x="10473264" y="3252402"/>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33" name="TextBox 32">
                <a:extLst>
                  <a:ext uri="{FF2B5EF4-FFF2-40B4-BE49-F238E27FC236}">
                    <a16:creationId xmlns:a16="http://schemas.microsoft.com/office/drawing/2014/main" id="{383099DC-8078-3967-901B-90AFB3630994}"/>
                  </a:ext>
                </a:extLst>
              </p:cNvPr>
              <p:cNvSpPr txBox="1"/>
              <p:nvPr/>
            </p:nvSpPr>
            <p:spPr>
              <a:xfrm>
                <a:off x="2150299" y="327463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34" name="TextBox 33">
                <a:extLst>
                  <a:ext uri="{FF2B5EF4-FFF2-40B4-BE49-F238E27FC236}">
                    <a16:creationId xmlns:a16="http://schemas.microsoft.com/office/drawing/2014/main" id="{2CFD66F9-8606-5EBE-7E55-3FD69870F3E4}"/>
                  </a:ext>
                </a:extLst>
              </p:cNvPr>
              <p:cNvSpPr txBox="1"/>
              <p:nvPr/>
            </p:nvSpPr>
            <p:spPr>
              <a:xfrm>
                <a:off x="10733976" y="3330831"/>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52" name="Rectangle 51">
              <a:extLst>
                <a:ext uri="{FF2B5EF4-FFF2-40B4-BE49-F238E27FC236}">
                  <a16:creationId xmlns:a16="http://schemas.microsoft.com/office/drawing/2014/main" id="{DFFCEA89-64DF-A82C-9B89-54C4282C7316}"/>
                </a:ext>
              </a:extLst>
            </p:cNvPr>
            <p:cNvSpPr/>
            <p:nvPr/>
          </p:nvSpPr>
          <p:spPr>
            <a:xfrm>
              <a:off x="2945896" y="1330936"/>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3" name="Connector: Elbow 52">
              <a:extLst>
                <a:ext uri="{FF2B5EF4-FFF2-40B4-BE49-F238E27FC236}">
                  <a16:creationId xmlns:a16="http://schemas.microsoft.com/office/drawing/2014/main" id="{363B76D0-173B-55F7-2084-A53D8B301087}"/>
                </a:ext>
              </a:extLst>
            </p:cNvPr>
            <p:cNvCxnSpPr>
              <a:cxnSpLocks/>
              <a:stCxn id="52" idx="1"/>
            </p:cNvCxnSpPr>
            <p:nvPr/>
          </p:nvCxnSpPr>
          <p:spPr>
            <a:xfrm rot="10800000" flipV="1">
              <a:off x="2592530" y="1550504"/>
              <a:ext cx="353367" cy="658124"/>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766EECF-0C63-B2B1-2BEB-279B79F2CF0E}"/>
                    </a:ext>
                  </a:extLst>
                </p:cNvPr>
                <p:cNvSpPr txBox="1"/>
                <p:nvPr/>
              </p:nvSpPr>
              <p:spPr>
                <a:xfrm flipH="1">
                  <a:off x="2997369" y="1377474"/>
                  <a:ext cx="704914" cy="384593"/>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smtClean="0">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𝟐</m:t>
                            </m:r>
                          </m:den>
                        </m:f>
                        <m:r>
                          <a:rPr lang="en-US" sz="1200" b="1" i="1" smtClean="0">
                            <a:solidFill>
                              <a:srgbClr val="000000"/>
                            </a:solidFill>
                            <a:latin typeface="Cambria Math" panose="02040503050406030204" pitchFamily="18" charset="0"/>
                          </a:rPr>
                          <m:t> </m:t>
                        </m:r>
                        <m:r>
                          <a:rPr lang="en-US" sz="1200" b="1" i="1" smtClean="0">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xmlns="">
            <p:sp>
              <p:nvSpPr>
                <p:cNvPr id="55" name="TextBox 54">
                  <a:extLst>
                    <a:ext uri="{FF2B5EF4-FFF2-40B4-BE49-F238E27FC236}">
                      <a16:creationId xmlns:a16="http://schemas.microsoft.com/office/drawing/2014/main" id="{4766EECF-0C63-B2B1-2BEB-279B79F2CF0E}"/>
                    </a:ext>
                  </a:extLst>
                </p:cNvPr>
                <p:cNvSpPr txBox="1">
                  <a:spLocks noRot="1" noChangeAspect="1" noMove="1" noResize="1" noEditPoints="1" noAdjustHandles="1" noChangeArrowheads="1" noChangeShapeType="1" noTextEdit="1"/>
                </p:cNvSpPr>
                <p:nvPr/>
              </p:nvSpPr>
              <p:spPr>
                <a:xfrm flipH="1">
                  <a:off x="2997369" y="1377474"/>
                  <a:ext cx="704914" cy="384593"/>
                </a:xfrm>
                <a:prstGeom prst="rect">
                  <a:avLst/>
                </a:prstGeom>
                <a:blipFill>
                  <a:blip r:embed="rId2"/>
                  <a:stretch>
                    <a:fillRect t="-3175" b="-3175"/>
                  </a:stretch>
                </a:blipFill>
              </p:spPr>
              <p:txBody>
                <a:bodyPr/>
                <a:lstStyle/>
                <a:p>
                  <a:r>
                    <a:rPr lang="en-US">
                      <a:noFill/>
                    </a:rPr>
                    <a:t> </a:t>
                  </a:r>
                </a:p>
              </p:txBody>
            </p:sp>
          </mc:Fallback>
        </mc:AlternateContent>
        <p:cxnSp>
          <p:nvCxnSpPr>
            <p:cNvPr id="67" name="Connector: Elbow 66">
              <a:extLst>
                <a:ext uri="{FF2B5EF4-FFF2-40B4-BE49-F238E27FC236}">
                  <a16:creationId xmlns:a16="http://schemas.microsoft.com/office/drawing/2014/main" id="{9E2A8D73-1DD8-54B2-CF6C-5DDE6C0A85C9}"/>
                </a:ext>
              </a:extLst>
            </p:cNvPr>
            <p:cNvCxnSpPr>
              <a:cxnSpLocks/>
            </p:cNvCxnSpPr>
            <p:nvPr/>
          </p:nvCxnSpPr>
          <p:spPr>
            <a:xfrm rot="16200000" flipV="1">
              <a:off x="3593982" y="1592191"/>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A5649CA-6600-37E5-1E9D-7B6549225B36}"/>
                    </a:ext>
                  </a:extLst>
                </p:cNvPr>
                <p:cNvSpPr/>
                <p:nvPr/>
              </p:nvSpPr>
              <p:spPr>
                <a:xfrm>
                  <a:off x="4722030" y="1300988"/>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𝟒</m:t>
                            </m:r>
                          </m:den>
                        </m:f>
                        <m:r>
                          <a:rPr lang="en-US" sz="1200" b="1" i="1">
                            <a:solidFill>
                              <a:srgbClr val="000000"/>
                            </a:solidFill>
                            <a:latin typeface="Cambria Math" panose="02040503050406030204" pitchFamily="18" charset="0"/>
                          </a:rPr>
                          <m:t> </m:t>
                        </m:r>
                        <m:r>
                          <a:rPr lang="en-US" sz="1200" b="1" i="1">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xmlns="">
            <p:sp>
              <p:nvSpPr>
                <p:cNvPr id="86" name="Rectangle 85">
                  <a:extLst>
                    <a:ext uri="{FF2B5EF4-FFF2-40B4-BE49-F238E27FC236}">
                      <a16:creationId xmlns:a16="http://schemas.microsoft.com/office/drawing/2014/main" id="{AA5649CA-6600-37E5-1E9D-7B6549225B36}"/>
                    </a:ext>
                  </a:extLst>
                </p:cNvPr>
                <p:cNvSpPr>
                  <a:spLocks noRot="1" noChangeAspect="1" noMove="1" noResize="1" noEditPoints="1" noAdjustHandles="1" noChangeArrowheads="1" noChangeShapeType="1" noTextEdit="1"/>
                </p:cNvSpPr>
                <p:nvPr/>
              </p:nvSpPr>
              <p:spPr>
                <a:xfrm>
                  <a:off x="4722030" y="1300988"/>
                  <a:ext cx="727193" cy="439135"/>
                </a:xfrm>
                <a:prstGeom prst="rect">
                  <a:avLst/>
                </a:prstGeom>
                <a:blipFill>
                  <a:blip r:embed="rId3"/>
                  <a:stretch>
                    <a:fillRect/>
                  </a:stretch>
                </a:blipFill>
                <a:ln/>
              </p:spPr>
              <p:txBody>
                <a:bodyPr/>
                <a:lstStyle/>
                <a:p>
                  <a:r>
                    <a:rPr lang="en-US">
                      <a:noFill/>
                    </a:rPr>
                    <a:t> </a:t>
                  </a:r>
                </a:p>
              </p:txBody>
            </p:sp>
          </mc:Fallback>
        </mc:AlternateContent>
        <p:cxnSp>
          <p:nvCxnSpPr>
            <p:cNvPr id="87" name="Connector: Elbow 86">
              <a:extLst>
                <a:ext uri="{FF2B5EF4-FFF2-40B4-BE49-F238E27FC236}">
                  <a16:creationId xmlns:a16="http://schemas.microsoft.com/office/drawing/2014/main" id="{83E7ACD5-C935-026C-C5FC-83D516F39A99}"/>
                </a:ext>
              </a:extLst>
            </p:cNvPr>
            <p:cNvCxnSpPr>
              <a:cxnSpLocks/>
              <a:stCxn id="86" idx="1"/>
            </p:cNvCxnSpPr>
            <p:nvPr/>
          </p:nvCxnSpPr>
          <p:spPr>
            <a:xfrm rot="10800000" flipV="1">
              <a:off x="4342136" y="1520555"/>
              <a:ext cx="379895" cy="718899"/>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8" name="Connector: Elbow 87">
              <a:extLst>
                <a:ext uri="{FF2B5EF4-FFF2-40B4-BE49-F238E27FC236}">
                  <a16:creationId xmlns:a16="http://schemas.microsoft.com/office/drawing/2014/main" id="{FFDA34E3-30DC-DC08-40DF-773D1354C351}"/>
                </a:ext>
              </a:extLst>
            </p:cNvPr>
            <p:cNvCxnSpPr>
              <a:cxnSpLocks/>
            </p:cNvCxnSpPr>
            <p:nvPr/>
          </p:nvCxnSpPr>
          <p:spPr>
            <a:xfrm rot="16200000" flipV="1">
              <a:off x="5376790" y="1623690"/>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90" name="Rectangle 89">
                  <a:extLst>
                    <a:ext uri="{FF2B5EF4-FFF2-40B4-BE49-F238E27FC236}">
                      <a16:creationId xmlns:a16="http://schemas.microsoft.com/office/drawing/2014/main" id="{43D966D8-8AD7-F9A5-378A-5AC8AE1281F1}"/>
                    </a:ext>
                  </a:extLst>
                </p:cNvPr>
                <p:cNvSpPr/>
                <p:nvPr/>
              </p:nvSpPr>
              <p:spPr>
                <a:xfrm>
                  <a:off x="8432672" y="1326819"/>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1600" b="1" i="1" smtClean="0">
                            <a:solidFill>
                              <a:srgbClr val="000000"/>
                            </a:solidFill>
                            <a:latin typeface="Cambria Math" panose="02040503050406030204" pitchFamily="18" charset="0"/>
                          </a:rPr>
                          <m:t>𝟏</m:t>
                        </m:r>
                      </m:oMath>
                    </m:oMathPara>
                  </a14:m>
                  <a:endParaRPr lang="en-US" sz="1600" b="1" dirty="0">
                    <a:solidFill>
                      <a:srgbClr val="000000"/>
                    </a:solidFill>
                  </a:endParaRPr>
                </a:p>
              </p:txBody>
            </p:sp>
          </mc:Choice>
          <mc:Fallback xmlns="">
            <p:sp>
              <p:nvSpPr>
                <p:cNvPr id="90" name="Rectangle 89">
                  <a:extLst>
                    <a:ext uri="{FF2B5EF4-FFF2-40B4-BE49-F238E27FC236}">
                      <a16:creationId xmlns:a16="http://schemas.microsoft.com/office/drawing/2014/main" id="{43D966D8-8AD7-F9A5-378A-5AC8AE1281F1}"/>
                    </a:ext>
                  </a:extLst>
                </p:cNvPr>
                <p:cNvSpPr>
                  <a:spLocks noRot="1" noChangeAspect="1" noMove="1" noResize="1" noEditPoints="1" noAdjustHandles="1" noChangeArrowheads="1" noChangeShapeType="1" noTextEdit="1"/>
                </p:cNvSpPr>
                <p:nvPr/>
              </p:nvSpPr>
              <p:spPr>
                <a:xfrm>
                  <a:off x="8432672" y="1326819"/>
                  <a:ext cx="727193" cy="439135"/>
                </a:xfrm>
                <a:prstGeom prst="rect">
                  <a:avLst/>
                </a:prstGeom>
                <a:blipFill>
                  <a:blip r:embed="rId4"/>
                  <a:stretch>
                    <a:fillRect/>
                  </a:stretch>
                </a:blipFill>
                <a:ln/>
              </p:spPr>
              <p:txBody>
                <a:bodyPr/>
                <a:lstStyle/>
                <a:p>
                  <a:r>
                    <a:rPr lang="en-US">
                      <a:noFill/>
                    </a:rPr>
                    <a:t> </a:t>
                  </a:r>
                </a:p>
              </p:txBody>
            </p:sp>
          </mc:Fallback>
        </mc:AlternateContent>
        <p:cxnSp>
          <p:nvCxnSpPr>
            <p:cNvPr id="91" name="Connector: Elbow 90">
              <a:extLst>
                <a:ext uri="{FF2B5EF4-FFF2-40B4-BE49-F238E27FC236}">
                  <a16:creationId xmlns:a16="http://schemas.microsoft.com/office/drawing/2014/main" id="{DFDAB9BF-F326-F1D0-7CE0-A77804ADD444}"/>
                </a:ext>
              </a:extLst>
            </p:cNvPr>
            <p:cNvCxnSpPr>
              <a:cxnSpLocks/>
              <a:stCxn id="90" idx="1"/>
            </p:cNvCxnSpPr>
            <p:nvPr/>
          </p:nvCxnSpPr>
          <p:spPr>
            <a:xfrm rot="10800000" flipV="1">
              <a:off x="8052778" y="1546386"/>
              <a:ext cx="379895" cy="718899"/>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2" name="Connector: Elbow 91">
              <a:extLst>
                <a:ext uri="{FF2B5EF4-FFF2-40B4-BE49-F238E27FC236}">
                  <a16:creationId xmlns:a16="http://schemas.microsoft.com/office/drawing/2014/main" id="{B6ECD92D-7F6A-F789-7D17-8F81A2928DA3}"/>
                </a:ext>
              </a:extLst>
            </p:cNvPr>
            <p:cNvCxnSpPr>
              <a:cxnSpLocks/>
            </p:cNvCxnSpPr>
            <p:nvPr/>
          </p:nvCxnSpPr>
          <p:spPr>
            <a:xfrm rot="16200000" flipV="1">
              <a:off x="9087432" y="1649521"/>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135" name="!!Rectangle 134">
            <a:extLst>
              <a:ext uri="{FF2B5EF4-FFF2-40B4-BE49-F238E27FC236}">
                <a16:creationId xmlns:a16="http://schemas.microsoft.com/office/drawing/2014/main" id="{600CCA2C-FE05-48F8-7C82-EE3AB937C78C}"/>
              </a:ext>
            </a:extLst>
          </p:cNvPr>
          <p:cNvSpPr/>
          <p:nvPr/>
        </p:nvSpPr>
        <p:spPr>
          <a:xfrm>
            <a:off x="2453623" y="4271663"/>
            <a:ext cx="8017732" cy="190475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36" name="!!TextBox 135">
            <a:extLst>
              <a:ext uri="{FF2B5EF4-FFF2-40B4-BE49-F238E27FC236}">
                <a16:creationId xmlns:a16="http://schemas.microsoft.com/office/drawing/2014/main" id="{DA246A53-A15D-D9CB-926F-C7B5EBB7E668}"/>
              </a:ext>
            </a:extLst>
          </p:cNvPr>
          <p:cNvSpPr txBox="1"/>
          <p:nvPr/>
        </p:nvSpPr>
        <p:spPr>
          <a:xfrm>
            <a:off x="4870153" y="3864390"/>
            <a:ext cx="1849722" cy="35019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37" name="!!TextBox 136">
            <a:extLst>
              <a:ext uri="{FF2B5EF4-FFF2-40B4-BE49-F238E27FC236}">
                <a16:creationId xmlns:a16="http://schemas.microsoft.com/office/drawing/2014/main" id="{416A1596-B91E-B10A-DC36-29D831E7BE95}"/>
              </a:ext>
            </a:extLst>
          </p:cNvPr>
          <p:cNvSpPr txBox="1"/>
          <p:nvPr/>
        </p:nvSpPr>
        <p:spPr>
          <a:xfrm>
            <a:off x="1512574" y="481413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38" name="!!Rectangle 137">
            <a:extLst>
              <a:ext uri="{FF2B5EF4-FFF2-40B4-BE49-F238E27FC236}">
                <a16:creationId xmlns:a16="http://schemas.microsoft.com/office/drawing/2014/main" id="{0AE2FAF0-2EF1-3FD3-3B14-DB98909B7A33}"/>
              </a:ext>
            </a:extLst>
          </p:cNvPr>
          <p:cNvSpPr/>
          <p:nvPr/>
        </p:nvSpPr>
        <p:spPr>
          <a:xfrm>
            <a:off x="2779372" y="4847176"/>
            <a:ext cx="1091381" cy="73348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R2</a:t>
            </a:r>
          </a:p>
        </p:txBody>
      </p:sp>
      <p:sp>
        <p:nvSpPr>
          <p:cNvPr id="139" name="!!Rectangle 138">
            <a:extLst>
              <a:ext uri="{FF2B5EF4-FFF2-40B4-BE49-F238E27FC236}">
                <a16:creationId xmlns:a16="http://schemas.microsoft.com/office/drawing/2014/main" id="{4D5D4361-34C8-C9C1-26EE-CF9BF8BF1AF6}"/>
              </a:ext>
            </a:extLst>
          </p:cNvPr>
          <p:cNvSpPr/>
          <p:nvPr/>
        </p:nvSpPr>
        <p:spPr>
          <a:xfrm>
            <a:off x="4593422" y="4847176"/>
            <a:ext cx="1091381" cy="733486"/>
          </a:xfrm>
          <a:prstGeom prst="rect">
            <a:avLst/>
          </a:prstGeom>
          <a:solidFill>
            <a:schemeClr val="bg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alpha val="20000"/>
                  </a:schemeClr>
                </a:solidFill>
              </a:rPr>
              <a:t>R2</a:t>
            </a:r>
          </a:p>
        </p:txBody>
      </p:sp>
      <p:cxnSp>
        <p:nvCxnSpPr>
          <p:cNvPr id="140" name="!!Straight Arrow Connector 139">
            <a:extLst>
              <a:ext uri="{FF2B5EF4-FFF2-40B4-BE49-F238E27FC236}">
                <a16:creationId xmlns:a16="http://schemas.microsoft.com/office/drawing/2014/main" id="{D2C9225D-D078-6157-FC90-2B3E2EAC81A9}"/>
              </a:ext>
            </a:extLst>
          </p:cNvPr>
          <p:cNvCxnSpPr>
            <a:cxnSpLocks/>
          </p:cNvCxnSpPr>
          <p:nvPr/>
        </p:nvCxnSpPr>
        <p:spPr>
          <a:xfrm>
            <a:off x="589935" y="5227843"/>
            <a:ext cx="218943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CA7F6CE5-E869-1962-8B08-1F1982897A3F}"/>
              </a:ext>
            </a:extLst>
          </p:cNvPr>
          <p:cNvCxnSpPr>
            <a:cxnSpLocks/>
          </p:cNvCxnSpPr>
          <p:nvPr/>
        </p:nvCxnSpPr>
        <p:spPr>
          <a:xfrm>
            <a:off x="3870753" y="5227843"/>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2" name="!!Oval 141">
            <a:extLst>
              <a:ext uri="{FF2B5EF4-FFF2-40B4-BE49-F238E27FC236}">
                <a16:creationId xmlns:a16="http://schemas.microsoft.com/office/drawing/2014/main" id="{4D0DD39C-848B-108C-A790-FAC11EB45169}"/>
              </a:ext>
            </a:extLst>
          </p:cNvPr>
          <p:cNvSpPr/>
          <p:nvPr/>
        </p:nvSpPr>
        <p:spPr>
          <a:xfrm>
            <a:off x="6373942"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3" name="!!Oval 142">
            <a:extLst>
              <a:ext uri="{FF2B5EF4-FFF2-40B4-BE49-F238E27FC236}">
                <a16:creationId xmlns:a16="http://schemas.microsoft.com/office/drawing/2014/main" id="{5B40A77A-DACE-3C69-FBB0-AB46C2ACF93A}"/>
              </a:ext>
            </a:extLst>
          </p:cNvPr>
          <p:cNvSpPr/>
          <p:nvPr/>
        </p:nvSpPr>
        <p:spPr>
          <a:xfrm>
            <a:off x="6633679"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4" name="!!Oval 143">
            <a:extLst>
              <a:ext uri="{FF2B5EF4-FFF2-40B4-BE49-F238E27FC236}">
                <a16:creationId xmlns:a16="http://schemas.microsoft.com/office/drawing/2014/main" id="{78AA1EAF-AEC0-7340-C194-6178E6137A04}"/>
              </a:ext>
            </a:extLst>
          </p:cNvPr>
          <p:cNvSpPr/>
          <p:nvPr/>
        </p:nvSpPr>
        <p:spPr>
          <a:xfrm>
            <a:off x="7442544"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5" name="!!Rectangle 144">
            <a:extLst>
              <a:ext uri="{FF2B5EF4-FFF2-40B4-BE49-F238E27FC236}">
                <a16:creationId xmlns:a16="http://schemas.microsoft.com/office/drawing/2014/main" id="{80E9E65E-206D-C6C2-FD60-A179FC25E5D0}"/>
              </a:ext>
            </a:extLst>
          </p:cNvPr>
          <p:cNvSpPr/>
          <p:nvPr/>
        </p:nvSpPr>
        <p:spPr>
          <a:xfrm>
            <a:off x="8251409" y="4847176"/>
            <a:ext cx="1091381" cy="733486"/>
          </a:xfrm>
          <a:prstGeom prst="rect">
            <a:avLst/>
          </a:prstGeom>
          <a:solidFill>
            <a:schemeClr val="bg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alpha val="20000"/>
                  </a:schemeClr>
                </a:solidFill>
              </a:rPr>
              <a:t>R2</a:t>
            </a:r>
          </a:p>
        </p:txBody>
      </p:sp>
      <p:cxnSp>
        <p:nvCxnSpPr>
          <p:cNvPr id="146" name="!!Straight Arrow Connector 145">
            <a:extLst>
              <a:ext uri="{FF2B5EF4-FFF2-40B4-BE49-F238E27FC236}">
                <a16:creationId xmlns:a16="http://schemas.microsoft.com/office/drawing/2014/main" id="{1006909F-5D2A-9037-5D0F-47F7B7B4C6BD}"/>
              </a:ext>
            </a:extLst>
          </p:cNvPr>
          <p:cNvCxnSpPr>
            <a:cxnSpLocks/>
          </p:cNvCxnSpPr>
          <p:nvPr/>
        </p:nvCxnSpPr>
        <p:spPr>
          <a:xfrm>
            <a:off x="7528740" y="5227843"/>
            <a:ext cx="722669"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7" name="!!Straight Arrow Connector 146">
            <a:extLst>
              <a:ext uri="{FF2B5EF4-FFF2-40B4-BE49-F238E27FC236}">
                <a16:creationId xmlns:a16="http://schemas.microsoft.com/office/drawing/2014/main" id="{824E6EBE-98EB-EEB0-C62D-E93ABE3739C1}"/>
              </a:ext>
            </a:extLst>
          </p:cNvPr>
          <p:cNvCxnSpPr>
            <a:cxnSpLocks/>
          </p:cNvCxnSpPr>
          <p:nvPr/>
        </p:nvCxnSpPr>
        <p:spPr>
          <a:xfrm>
            <a:off x="5668613" y="5227843"/>
            <a:ext cx="722669"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48" name="!!Oval 147">
            <a:extLst>
              <a:ext uri="{FF2B5EF4-FFF2-40B4-BE49-F238E27FC236}">
                <a16:creationId xmlns:a16="http://schemas.microsoft.com/office/drawing/2014/main" id="{F1354CD7-3C17-1D8F-6A4A-C6E6FBD09A8A}"/>
              </a:ext>
            </a:extLst>
          </p:cNvPr>
          <p:cNvSpPr/>
          <p:nvPr/>
        </p:nvSpPr>
        <p:spPr>
          <a:xfrm>
            <a:off x="6925008"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9" name="!!Oval 148">
            <a:extLst>
              <a:ext uri="{FF2B5EF4-FFF2-40B4-BE49-F238E27FC236}">
                <a16:creationId xmlns:a16="http://schemas.microsoft.com/office/drawing/2014/main" id="{94E84744-8D33-01DD-C58B-EEF342353B9F}"/>
              </a:ext>
            </a:extLst>
          </p:cNvPr>
          <p:cNvSpPr/>
          <p:nvPr/>
        </p:nvSpPr>
        <p:spPr>
          <a:xfrm>
            <a:off x="7186027"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50" name="!!Straight Arrow Connector 149">
            <a:extLst>
              <a:ext uri="{FF2B5EF4-FFF2-40B4-BE49-F238E27FC236}">
                <a16:creationId xmlns:a16="http://schemas.microsoft.com/office/drawing/2014/main" id="{8A4F50CF-34AA-EEC7-0F18-300154254E65}"/>
              </a:ext>
            </a:extLst>
          </p:cNvPr>
          <p:cNvCxnSpPr>
            <a:cxnSpLocks/>
          </p:cNvCxnSpPr>
          <p:nvPr/>
        </p:nvCxnSpPr>
        <p:spPr>
          <a:xfrm>
            <a:off x="9342790" y="5271001"/>
            <a:ext cx="2593571"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51" name="!!TextBox 150">
            <a:extLst>
              <a:ext uri="{FF2B5EF4-FFF2-40B4-BE49-F238E27FC236}">
                <a16:creationId xmlns:a16="http://schemas.microsoft.com/office/drawing/2014/main" id="{C78682E3-01EC-E80F-FEA4-82991B88FDBD}"/>
              </a:ext>
            </a:extLst>
          </p:cNvPr>
          <p:cNvSpPr txBox="1"/>
          <p:nvPr/>
        </p:nvSpPr>
        <p:spPr>
          <a:xfrm>
            <a:off x="10524057" y="4885819"/>
            <a:ext cx="1152401"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52" name="!!Straight Connector 151">
            <a:extLst>
              <a:ext uri="{FF2B5EF4-FFF2-40B4-BE49-F238E27FC236}">
                <a16:creationId xmlns:a16="http://schemas.microsoft.com/office/drawing/2014/main" id="{99B0B1C2-236B-9EF7-B648-191849C19C67}"/>
              </a:ext>
            </a:extLst>
          </p:cNvPr>
          <p:cNvCxnSpPr>
            <a:cxnSpLocks/>
          </p:cNvCxnSpPr>
          <p:nvPr/>
        </p:nvCxnSpPr>
        <p:spPr>
          <a:xfrm flipH="1">
            <a:off x="1984086" y="5170760"/>
            <a:ext cx="249595" cy="134801"/>
          </a:xfrm>
          <a:prstGeom prst="line">
            <a:avLst/>
          </a:prstGeom>
          <a:ln/>
        </p:spPr>
        <p:style>
          <a:lnRef idx="3">
            <a:schemeClr val="dk1"/>
          </a:lnRef>
          <a:fillRef idx="0">
            <a:schemeClr val="dk1"/>
          </a:fillRef>
          <a:effectRef idx="2">
            <a:schemeClr val="dk1"/>
          </a:effectRef>
          <a:fontRef idx="minor">
            <a:schemeClr val="tx1"/>
          </a:fontRef>
        </p:style>
      </p:cxnSp>
      <p:cxnSp>
        <p:nvCxnSpPr>
          <p:cNvPr id="153" name="!!Straight Connector 152">
            <a:extLst>
              <a:ext uri="{FF2B5EF4-FFF2-40B4-BE49-F238E27FC236}">
                <a16:creationId xmlns:a16="http://schemas.microsoft.com/office/drawing/2014/main" id="{2EB7C5A9-720F-B937-943F-918B14D81658}"/>
              </a:ext>
            </a:extLst>
          </p:cNvPr>
          <p:cNvCxnSpPr>
            <a:cxnSpLocks/>
          </p:cNvCxnSpPr>
          <p:nvPr/>
        </p:nvCxnSpPr>
        <p:spPr>
          <a:xfrm flipH="1">
            <a:off x="10494686" y="5205427"/>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BF3D214C-D673-BF86-489C-E2E8E0E8FC7A}"/>
              </a:ext>
            </a:extLst>
          </p:cNvPr>
          <p:cNvSpPr txBox="1"/>
          <p:nvPr/>
        </p:nvSpPr>
        <p:spPr>
          <a:xfrm>
            <a:off x="2171721" y="522784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55" name="!!TextBox 154">
            <a:extLst>
              <a:ext uri="{FF2B5EF4-FFF2-40B4-BE49-F238E27FC236}">
                <a16:creationId xmlns:a16="http://schemas.microsoft.com/office/drawing/2014/main" id="{7AF73F72-6ADA-0155-2B92-922C9B738789}"/>
              </a:ext>
            </a:extLst>
          </p:cNvPr>
          <p:cNvSpPr txBox="1"/>
          <p:nvPr/>
        </p:nvSpPr>
        <p:spPr>
          <a:xfrm>
            <a:off x="10691127" y="5357795"/>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25" name="!!Rectangle 124">
            <a:extLst>
              <a:ext uri="{FF2B5EF4-FFF2-40B4-BE49-F238E27FC236}">
                <a16:creationId xmlns:a16="http://schemas.microsoft.com/office/drawing/2014/main" id="{F18FA912-FF41-E328-8FD9-BA9463CFC00F}"/>
              </a:ext>
            </a:extLst>
          </p:cNvPr>
          <p:cNvSpPr/>
          <p:nvPr/>
        </p:nvSpPr>
        <p:spPr>
          <a:xfrm>
            <a:off x="2945896" y="4350143"/>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26" name="!!Elbow Connector 125">
            <a:extLst>
              <a:ext uri="{FF2B5EF4-FFF2-40B4-BE49-F238E27FC236}">
                <a16:creationId xmlns:a16="http://schemas.microsoft.com/office/drawing/2014/main" id="{BCEB18E6-433A-C5C7-47DB-F5204EEBB1A5}"/>
              </a:ext>
            </a:extLst>
          </p:cNvPr>
          <p:cNvCxnSpPr>
            <a:cxnSpLocks/>
            <a:stCxn id="125" idx="1"/>
          </p:cNvCxnSpPr>
          <p:nvPr/>
        </p:nvCxnSpPr>
        <p:spPr>
          <a:xfrm rot="10800000" flipV="1">
            <a:off x="2592530" y="4569711"/>
            <a:ext cx="353367" cy="658124"/>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A54E0263-B91F-090A-061C-8D904AD320F8}"/>
                  </a:ext>
                </a:extLst>
              </p:cNvPr>
              <p:cNvSpPr txBox="1"/>
              <p:nvPr/>
            </p:nvSpPr>
            <p:spPr>
              <a:xfrm flipH="1">
                <a:off x="2997369" y="4396681"/>
                <a:ext cx="704914" cy="384593"/>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smtClean="0">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𝟐</m:t>
                          </m:r>
                        </m:den>
                      </m:f>
                      <m:r>
                        <a:rPr lang="en-US" sz="1200" b="1" i="1" smtClean="0">
                          <a:solidFill>
                            <a:srgbClr val="000000"/>
                          </a:solidFill>
                          <a:latin typeface="Cambria Math" panose="02040503050406030204" pitchFamily="18" charset="0"/>
                        </a:rPr>
                        <m:t> </m:t>
                      </m:r>
                      <m:r>
                        <a:rPr lang="en-US" sz="1200" b="1" i="1" smtClean="0">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xmlns="">
          <p:sp>
            <p:nvSpPr>
              <p:cNvPr id="127" name="!!TextBox 126">
                <a:extLst>
                  <a:ext uri="{FF2B5EF4-FFF2-40B4-BE49-F238E27FC236}">
                    <a16:creationId xmlns:a16="http://schemas.microsoft.com/office/drawing/2014/main" id="{A54E0263-B91F-090A-061C-8D904AD320F8}"/>
                  </a:ext>
                </a:extLst>
              </p:cNvPr>
              <p:cNvSpPr txBox="1">
                <a:spLocks noRot="1" noChangeAspect="1" noMove="1" noResize="1" noEditPoints="1" noAdjustHandles="1" noChangeArrowheads="1" noChangeShapeType="1" noTextEdit="1"/>
              </p:cNvSpPr>
              <p:nvPr/>
            </p:nvSpPr>
            <p:spPr>
              <a:xfrm flipH="1">
                <a:off x="2997369" y="4396681"/>
                <a:ext cx="704914" cy="384593"/>
              </a:xfrm>
              <a:prstGeom prst="rect">
                <a:avLst/>
              </a:prstGeom>
              <a:blipFill>
                <a:blip r:embed="rId5"/>
                <a:stretch>
                  <a:fillRect t="-3175" b="-3175"/>
                </a:stretch>
              </a:blipFill>
            </p:spPr>
            <p:txBody>
              <a:bodyPr/>
              <a:lstStyle/>
              <a:p>
                <a:r>
                  <a:rPr lang="en-US">
                    <a:noFill/>
                  </a:rPr>
                  <a:t> </a:t>
                </a:r>
              </a:p>
            </p:txBody>
          </p:sp>
        </mc:Fallback>
      </mc:AlternateContent>
      <p:cxnSp>
        <p:nvCxnSpPr>
          <p:cNvPr id="128" name="!!Elbow Connector 127">
            <a:extLst>
              <a:ext uri="{FF2B5EF4-FFF2-40B4-BE49-F238E27FC236}">
                <a16:creationId xmlns:a16="http://schemas.microsoft.com/office/drawing/2014/main" id="{1B994B42-0F1C-AFBE-AC3E-AFF9F7F6F967}"/>
              </a:ext>
            </a:extLst>
          </p:cNvPr>
          <p:cNvCxnSpPr>
            <a:cxnSpLocks/>
          </p:cNvCxnSpPr>
          <p:nvPr/>
        </p:nvCxnSpPr>
        <p:spPr>
          <a:xfrm rot="16200000" flipV="1">
            <a:off x="3593982" y="4611398"/>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29" name="!!Rectangle 128">
                <a:extLst>
                  <a:ext uri="{FF2B5EF4-FFF2-40B4-BE49-F238E27FC236}">
                    <a16:creationId xmlns:a16="http://schemas.microsoft.com/office/drawing/2014/main" id="{4B9CBDA5-03BD-145B-937F-DC70E06AF43A}"/>
                  </a:ext>
                </a:extLst>
              </p:cNvPr>
              <p:cNvSpPr/>
              <p:nvPr/>
            </p:nvSpPr>
            <p:spPr>
              <a:xfrm>
                <a:off x="4722030" y="4320195"/>
                <a:ext cx="727193" cy="439135"/>
              </a:xfrm>
              <a:prstGeom prst="rect">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alpha val="20000"/>
                                </a:srgbClr>
                              </a:solidFill>
                              <a:latin typeface="Cambria Math" panose="02040503050406030204" pitchFamily="18" charset="0"/>
                            </a:rPr>
                          </m:ctrlPr>
                        </m:fPr>
                        <m:num>
                          <m:r>
                            <a:rPr lang="en-US" sz="1200" b="1" i="1">
                              <a:solidFill>
                                <a:srgbClr val="000000">
                                  <a:alpha val="20000"/>
                                </a:srgbClr>
                              </a:solidFill>
                              <a:latin typeface="Cambria Math" panose="02040503050406030204" pitchFamily="18" charset="0"/>
                            </a:rPr>
                            <m:t>𝑵</m:t>
                          </m:r>
                        </m:num>
                        <m:den>
                          <m:r>
                            <a:rPr lang="en-US" sz="1200" b="1" i="1" smtClean="0">
                              <a:solidFill>
                                <a:srgbClr val="000000">
                                  <a:alpha val="20000"/>
                                </a:srgbClr>
                              </a:solidFill>
                              <a:latin typeface="Cambria Math" panose="02040503050406030204" pitchFamily="18" charset="0"/>
                            </a:rPr>
                            <m:t>𝟒</m:t>
                          </m:r>
                        </m:den>
                      </m:f>
                      <m:r>
                        <a:rPr lang="en-US" sz="1200" b="1" i="1">
                          <a:solidFill>
                            <a:srgbClr val="000000">
                              <a:alpha val="20000"/>
                            </a:srgbClr>
                          </a:solidFill>
                          <a:latin typeface="Cambria Math" panose="02040503050406030204" pitchFamily="18" charset="0"/>
                        </a:rPr>
                        <m:t> </m:t>
                      </m:r>
                      <m:r>
                        <a:rPr lang="en-US" sz="1200" b="1" i="1">
                          <a:solidFill>
                            <a:srgbClr val="000000">
                              <a:alpha val="20000"/>
                            </a:srgbClr>
                          </a:solidFill>
                          <a:latin typeface="Cambria Math" panose="02040503050406030204" pitchFamily="18" charset="0"/>
                        </a:rPr>
                        <m:t>𝑭𝑰𝑭𝑶</m:t>
                      </m:r>
                    </m:oMath>
                  </m:oMathPara>
                </a14:m>
                <a:endParaRPr lang="en-US" sz="1200" b="1" dirty="0">
                  <a:solidFill>
                    <a:srgbClr val="000000">
                      <a:alpha val="20000"/>
                    </a:srgbClr>
                  </a:solidFill>
                </a:endParaRPr>
              </a:p>
            </p:txBody>
          </p:sp>
        </mc:Choice>
        <mc:Fallback xmlns="">
          <p:sp>
            <p:nvSpPr>
              <p:cNvPr id="129" name="!!Rectangle 128">
                <a:extLst>
                  <a:ext uri="{FF2B5EF4-FFF2-40B4-BE49-F238E27FC236}">
                    <a16:creationId xmlns:a16="http://schemas.microsoft.com/office/drawing/2014/main" id="{4B9CBDA5-03BD-145B-937F-DC70E06AF43A}"/>
                  </a:ext>
                </a:extLst>
              </p:cNvPr>
              <p:cNvSpPr>
                <a:spLocks noRot="1" noChangeAspect="1" noMove="1" noResize="1" noEditPoints="1" noAdjustHandles="1" noChangeArrowheads="1" noChangeShapeType="1" noTextEdit="1"/>
              </p:cNvSpPr>
              <p:nvPr/>
            </p:nvSpPr>
            <p:spPr>
              <a:xfrm>
                <a:off x="4722030" y="4320195"/>
                <a:ext cx="727193" cy="439135"/>
              </a:xfrm>
              <a:prstGeom prst="rect">
                <a:avLst/>
              </a:prstGeom>
              <a:blipFill>
                <a:blip r:embed="rId6"/>
                <a:stretch>
                  <a:fillRect/>
                </a:stretch>
              </a:blipFill>
              <a:ln>
                <a:solidFill>
                  <a:schemeClr val="dk1">
                    <a:alpha val="20000"/>
                  </a:schemeClr>
                </a:solidFill>
              </a:ln>
            </p:spPr>
            <p:txBody>
              <a:bodyPr/>
              <a:lstStyle/>
              <a:p>
                <a:r>
                  <a:rPr lang="en-US">
                    <a:noFill/>
                  </a:rPr>
                  <a:t> </a:t>
                </a:r>
              </a:p>
            </p:txBody>
          </p:sp>
        </mc:Fallback>
      </mc:AlternateContent>
      <p:cxnSp>
        <p:nvCxnSpPr>
          <p:cNvPr id="130" name="!!Elbow Connector 129">
            <a:extLst>
              <a:ext uri="{FF2B5EF4-FFF2-40B4-BE49-F238E27FC236}">
                <a16:creationId xmlns:a16="http://schemas.microsoft.com/office/drawing/2014/main" id="{74D7BB24-1574-616D-C27B-78BE75F7208E}"/>
              </a:ext>
            </a:extLst>
          </p:cNvPr>
          <p:cNvCxnSpPr>
            <a:cxnSpLocks/>
            <a:stCxn id="129" idx="1"/>
          </p:cNvCxnSpPr>
          <p:nvPr/>
        </p:nvCxnSpPr>
        <p:spPr>
          <a:xfrm rot="10800000" flipV="1">
            <a:off x="4342136" y="4539762"/>
            <a:ext cx="379895" cy="718899"/>
          </a:xfrm>
          <a:prstGeom prst="bentConnector2">
            <a:avLst/>
          </a:prstGeom>
          <a:solidFill>
            <a:schemeClr val="lt1"/>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1" name="!!Elbow Connector 130">
            <a:extLst>
              <a:ext uri="{FF2B5EF4-FFF2-40B4-BE49-F238E27FC236}">
                <a16:creationId xmlns:a16="http://schemas.microsoft.com/office/drawing/2014/main" id="{C7A285C7-C7AE-7988-115E-778950BC3AEC}"/>
              </a:ext>
            </a:extLst>
          </p:cNvPr>
          <p:cNvCxnSpPr>
            <a:cxnSpLocks/>
          </p:cNvCxnSpPr>
          <p:nvPr/>
        </p:nvCxnSpPr>
        <p:spPr>
          <a:xfrm rot="16200000" flipV="1">
            <a:off x="5376790" y="4642897"/>
            <a:ext cx="674954" cy="530087"/>
          </a:xfrm>
          <a:prstGeom prst="bentConnector3">
            <a:avLst>
              <a:gd name="adj1" fmla="val 99529"/>
            </a:avLst>
          </a:prstGeom>
          <a:solidFill>
            <a:schemeClr val="lt1"/>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32" name="!!Rectangle 131">
                <a:extLst>
                  <a:ext uri="{FF2B5EF4-FFF2-40B4-BE49-F238E27FC236}">
                    <a16:creationId xmlns:a16="http://schemas.microsoft.com/office/drawing/2014/main" id="{E03B3416-42CB-833D-70D3-4BF198293318}"/>
                  </a:ext>
                </a:extLst>
              </p:cNvPr>
              <p:cNvSpPr/>
              <p:nvPr/>
            </p:nvSpPr>
            <p:spPr>
              <a:xfrm>
                <a:off x="8432672" y="4346026"/>
                <a:ext cx="727193" cy="439135"/>
              </a:xfrm>
              <a:prstGeom prst="rect">
                <a:avLst/>
              </a:prstGeom>
              <a:ln>
                <a:solidFill>
                  <a:schemeClr val="tx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1600" b="1" i="1" smtClean="0">
                          <a:solidFill>
                            <a:srgbClr val="000000">
                              <a:alpha val="20000"/>
                            </a:srgbClr>
                          </a:solidFill>
                          <a:latin typeface="Cambria Math" panose="02040503050406030204" pitchFamily="18" charset="0"/>
                        </a:rPr>
                        <m:t>𝟏</m:t>
                      </m:r>
                    </m:oMath>
                  </m:oMathPara>
                </a14:m>
                <a:endParaRPr lang="en-US" sz="1600" b="1" dirty="0">
                  <a:solidFill>
                    <a:srgbClr val="000000">
                      <a:alpha val="20000"/>
                    </a:srgbClr>
                  </a:solidFill>
                </a:endParaRPr>
              </a:p>
            </p:txBody>
          </p:sp>
        </mc:Choice>
        <mc:Fallback xmlns="">
          <p:sp>
            <p:nvSpPr>
              <p:cNvPr id="132" name="!!Rectangle 131">
                <a:extLst>
                  <a:ext uri="{FF2B5EF4-FFF2-40B4-BE49-F238E27FC236}">
                    <a16:creationId xmlns:a16="http://schemas.microsoft.com/office/drawing/2014/main" id="{E03B3416-42CB-833D-70D3-4BF198293318}"/>
                  </a:ext>
                </a:extLst>
              </p:cNvPr>
              <p:cNvSpPr>
                <a:spLocks noRot="1" noChangeAspect="1" noMove="1" noResize="1" noEditPoints="1" noAdjustHandles="1" noChangeArrowheads="1" noChangeShapeType="1" noTextEdit="1"/>
              </p:cNvSpPr>
              <p:nvPr/>
            </p:nvSpPr>
            <p:spPr>
              <a:xfrm>
                <a:off x="8432672" y="4346026"/>
                <a:ext cx="727193" cy="439135"/>
              </a:xfrm>
              <a:prstGeom prst="rect">
                <a:avLst/>
              </a:prstGeom>
              <a:blipFill>
                <a:blip r:embed="rId7"/>
                <a:stretch>
                  <a:fillRect/>
                </a:stretch>
              </a:blipFill>
              <a:ln>
                <a:solidFill>
                  <a:schemeClr val="tx1">
                    <a:alpha val="20000"/>
                  </a:schemeClr>
                </a:solidFill>
              </a:ln>
            </p:spPr>
            <p:txBody>
              <a:bodyPr/>
              <a:lstStyle/>
              <a:p>
                <a:r>
                  <a:rPr lang="en-US">
                    <a:noFill/>
                  </a:rPr>
                  <a:t> </a:t>
                </a:r>
              </a:p>
            </p:txBody>
          </p:sp>
        </mc:Fallback>
      </mc:AlternateContent>
      <p:cxnSp>
        <p:nvCxnSpPr>
          <p:cNvPr id="133" name="!!Elbow Connector 132">
            <a:extLst>
              <a:ext uri="{FF2B5EF4-FFF2-40B4-BE49-F238E27FC236}">
                <a16:creationId xmlns:a16="http://schemas.microsoft.com/office/drawing/2014/main" id="{BC6E6A8F-C80C-6299-325A-420E45D83EED}"/>
              </a:ext>
            </a:extLst>
          </p:cNvPr>
          <p:cNvCxnSpPr>
            <a:cxnSpLocks/>
            <a:stCxn id="132" idx="1"/>
          </p:cNvCxnSpPr>
          <p:nvPr/>
        </p:nvCxnSpPr>
        <p:spPr>
          <a:xfrm rot="10800000" flipV="1">
            <a:off x="8052778" y="4565593"/>
            <a:ext cx="379895" cy="718899"/>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4" name="!!Elbow Connector 133">
            <a:extLst>
              <a:ext uri="{FF2B5EF4-FFF2-40B4-BE49-F238E27FC236}">
                <a16:creationId xmlns:a16="http://schemas.microsoft.com/office/drawing/2014/main" id="{B8750F77-9517-D4B6-0FC1-F796831EB2F0}"/>
              </a:ext>
            </a:extLst>
          </p:cNvPr>
          <p:cNvCxnSpPr>
            <a:cxnSpLocks/>
          </p:cNvCxnSpPr>
          <p:nvPr/>
        </p:nvCxnSpPr>
        <p:spPr>
          <a:xfrm rot="16200000" flipV="1">
            <a:off x="9087432" y="4668728"/>
            <a:ext cx="674954" cy="530087"/>
          </a:xfrm>
          <a:prstGeom prst="bentConnector3">
            <a:avLst>
              <a:gd name="adj1" fmla="val 9952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4371576A-C4DE-1E87-0445-460D00DDBF1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9D067896-A803-350D-FFD0-85543617C7F1}"/>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ACC16DD0-D144-954F-DED8-D66C268B100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alpha val="30000"/>
                  </a:schemeClr>
                </a:solidFill>
              </a:rPr>
              <a:t>Stage Main Component</a:t>
            </a:r>
          </a:p>
        </p:txBody>
      </p:sp>
      <p:sp>
        <p:nvSpPr>
          <p:cNvPr id="12" name="!!TextBox 11">
            <a:extLst>
              <a:ext uri="{FF2B5EF4-FFF2-40B4-BE49-F238E27FC236}">
                <a16:creationId xmlns:a16="http://schemas.microsoft.com/office/drawing/2014/main" id="{C46C02B3-03FB-E8D5-D5CB-EBC4784DF2E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3CFC64E7-9FFB-DC7C-4B5A-08D41392C76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D82B1984-96CD-1F0B-4E63-AE4AB22C5468}"/>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29BEBC8B-2472-FE31-B710-98303D3CD2C9}"/>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38566544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animEffect transition="in" filter="fade">
                                      <p:cBhvr>
                                        <p:cTn id="7" dur="500"/>
                                        <p:tgtEl>
                                          <p:spTgt spid="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5"/>
                                        </p:tgtEl>
                                        <p:attrNameLst>
                                          <p:attrName>style.visibility</p:attrName>
                                        </p:attrNameLst>
                                      </p:cBhvr>
                                      <p:to>
                                        <p:strVal val="visible"/>
                                      </p:to>
                                    </p:set>
                                    <p:animEffect transition="in" filter="fade">
                                      <p:cBhvr>
                                        <p:cTn id="12" dur="500"/>
                                        <p:tgtEl>
                                          <p:spTgt spid="13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6"/>
                                        </p:tgtEl>
                                        <p:attrNameLst>
                                          <p:attrName>style.visibility</p:attrName>
                                        </p:attrNameLst>
                                      </p:cBhvr>
                                      <p:to>
                                        <p:strVal val="visible"/>
                                      </p:to>
                                    </p:set>
                                    <p:animEffect transition="in" filter="fade">
                                      <p:cBhvr>
                                        <p:cTn id="15" dur="500"/>
                                        <p:tgtEl>
                                          <p:spTgt spid="13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7"/>
                                        </p:tgtEl>
                                        <p:attrNameLst>
                                          <p:attrName>style.visibility</p:attrName>
                                        </p:attrNameLst>
                                      </p:cBhvr>
                                      <p:to>
                                        <p:strVal val="visible"/>
                                      </p:to>
                                    </p:set>
                                    <p:animEffect transition="in" filter="fade">
                                      <p:cBhvr>
                                        <p:cTn id="18" dur="500"/>
                                        <p:tgtEl>
                                          <p:spTgt spid="13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8"/>
                                        </p:tgtEl>
                                        <p:attrNameLst>
                                          <p:attrName>style.visibility</p:attrName>
                                        </p:attrNameLst>
                                      </p:cBhvr>
                                      <p:to>
                                        <p:strVal val="visible"/>
                                      </p:to>
                                    </p:set>
                                    <p:animEffect transition="in" filter="fade">
                                      <p:cBhvr>
                                        <p:cTn id="21" dur="500"/>
                                        <p:tgtEl>
                                          <p:spTgt spid="13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9"/>
                                        </p:tgtEl>
                                        <p:attrNameLst>
                                          <p:attrName>style.visibility</p:attrName>
                                        </p:attrNameLst>
                                      </p:cBhvr>
                                      <p:to>
                                        <p:strVal val="visible"/>
                                      </p:to>
                                    </p:set>
                                    <p:animEffect transition="in" filter="fade">
                                      <p:cBhvr>
                                        <p:cTn id="24" dur="500"/>
                                        <p:tgtEl>
                                          <p:spTgt spid="139"/>
                                        </p:tgtEl>
                                      </p:cBhvr>
                                    </p:animEffect>
                                  </p:childTnLst>
                                </p:cTn>
                              </p:par>
                              <p:par>
                                <p:cTn id="25" presetID="10" presetClass="entr" presetSubtype="0" fill="hold" nodeType="withEffect">
                                  <p:stCondLst>
                                    <p:cond delay="0"/>
                                  </p:stCondLst>
                                  <p:childTnLst>
                                    <p:set>
                                      <p:cBhvr>
                                        <p:cTn id="26" dur="1" fill="hold">
                                          <p:stCondLst>
                                            <p:cond delay="0"/>
                                          </p:stCondLst>
                                        </p:cTn>
                                        <p:tgtEl>
                                          <p:spTgt spid="140"/>
                                        </p:tgtEl>
                                        <p:attrNameLst>
                                          <p:attrName>style.visibility</p:attrName>
                                        </p:attrNameLst>
                                      </p:cBhvr>
                                      <p:to>
                                        <p:strVal val="visible"/>
                                      </p:to>
                                    </p:set>
                                    <p:animEffect transition="in" filter="fade">
                                      <p:cBhvr>
                                        <p:cTn id="27" dur="500"/>
                                        <p:tgtEl>
                                          <p:spTgt spid="140"/>
                                        </p:tgtEl>
                                      </p:cBhvr>
                                    </p:animEffect>
                                  </p:childTnLst>
                                </p:cTn>
                              </p:par>
                              <p:par>
                                <p:cTn id="28" presetID="10" presetClass="entr" presetSubtype="0" fill="hold" nodeType="withEffect">
                                  <p:stCondLst>
                                    <p:cond delay="0"/>
                                  </p:stCondLst>
                                  <p:childTnLst>
                                    <p:set>
                                      <p:cBhvr>
                                        <p:cTn id="29" dur="1" fill="hold">
                                          <p:stCondLst>
                                            <p:cond delay="0"/>
                                          </p:stCondLst>
                                        </p:cTn>
                                        <p:tgtEl>
                                          <p:spTgt spid="141"/>
                                        </p:tgtEl>
                                        <p:attrNameLst>
                                          <p:attrName>style.visibility</p:attrName>
                                        </p:attrNameLst>
                                      </p:cBhvr>
                                      <p:to>
                                        <p:strVal val="visible"/>
                                      </p:to>
                                    </p:set>
                                    <p:animEffect transition="in" filter="fade">
                                      <p:cBhvr>
                                        <p:cTn id="30" dur="500"/>
                                        <p:tgtEl>
                                          <p:spTgt spid="14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2"/>
                                        </p:tgtEl>
                                        <p:attrNameLst>
                                          <p:attrName>style.visibility</p:attrName>
                                        </p:attrNameLst>
                                      </p:cBhvr>
                                      <p:to>
                                        <p:strVal val="visible"/>
                                      </p:to>
                                    </p:set>
                                    <p:animEffect transition="in" filter="fade">
                                      <p:cBhvr>
                                        <p:cTn id="33" dur="500"/>
                                        <p:tgtEl>
                                          <p:spTgt spid="14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3"/>
                                        </p:tgtEl>
                                        <p:attrNameLst>
                                          <p:attrName>style.visibility</p:attrName>
                                        </p:attrNameLst>
                                      </p:cBhvr>
                                      <p:to>
                                        <p:strVal val="visible"/>
                                      </p:to>
                                    </p:set>
                                    <p:animEffect transition="in" filter="fade">
                                      <p:cBhvr>
                                        <p:cTn id="36" dur="500"/>
                                        <p:tgtEl>
                                          <p:spTgt spid="14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4"/>
                                        </p:tgtEl>
                                        <p:attrNameLst>
                                          <p:attrName>style.visibility</p:attrName>
                                        </p:attrNameLst>
                                      </p:cBhvr>
                                      <p:to>
                                        <p:strVal val="visible"/>
                                      </p:to>
                                    </p:set>
                                    <p:animEffect transition="in" filter="fade">
                                      <p:cBhvr>
                                        <p:cTn id="39" dur="500"/>
                                        <p:tgtEl>
                                          <p:spTgt spid="14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5"/>
                                        </p:tgtEl>
                                        <p:attrNameLst>
                                          <p:attrName>style.visibility</p:attrName>
                                        </p:attrNameLst>
                                      </p:cBhvr>
                                      <p:to>
                                        <p:strVal val="visible"/>
                                      </p:to>
                                    </p:set>
                                    <p:animEffect transition="in" filter="fade">
                                      <p:cBhvr>
                                        <p:cTn id="42" dur="500"/>
                                        <p:tgtEl>
                                          <p:spTgt spid="145"/>
                                        </p:tgtEl>
                                      </p:cBhvr>
                                    </p:animEffect>
                                  </p:childTnLst>
                                </p:cTn>
                              </p:par>
                              <p:par>
                                <p:cTn id="43" presetID="10" presetClass="entr" presetSubtype="0" fill="hold" nodeType="withEffect">
                                  <p:stCondLst>
                                    <p:cond delay="0"/>
                                  </p:stCondLst>
                                  <p:childTnLst>
                                    <p:set>
                                      <p:cBhvr>
                                        <p:cTn id="44" dur="1" fill="hold">
                                          <p:stCondLst>
                                            <p:cond delay="0"/>
                                          </p:stCondLst>
                                        </p:cTn>
                                        <p:tgtEl>
                                          <p:spTgt spid="146"/>
                                        </p:tgtEl>
                                        <p:attrNameLst>
                                          <p:attrName>style.visibility</p:attrName>
                                        </p:attrNameLst>
                                      </p:cBhvr>
                                      <p:to>
                                        <p:strVal val="visible"/>
                                      </p:to>
                                    </p:set>
                                    <p:animEffect transition="in" filter="fade">
                                      <p:cBhvr>
                                        <p:cTn id="45" dur="500"/>
                                        <p:tgtEl>
                                          <p:spTgt spid="146"/>
                                        </p:tgtEl>
                                      </p:cBhvr>
                                    </p:animEffect>
                                  </p:childTnLst>
                                </p:cTn>
                              </p:par>
                              <p:par>
                                <p:cTn id="46" presetID="10" presetClass="entr" presetSubtype="0" fill="hold" nodeType="withEffect">
                                  <p:stCondLst>
                                    <p:cond delay="0"/>
                                  </p:stCondLst>
                                  <p:childTnLst>
                                    <p:set>
                                      <p:cBhvr>
                                        <p:cTn id="47" dur="1" fill="hold">
                                          <p:stCondLst>
                                            <p:cond delay="0"/>
                                          </p:stCondLst>
                                        </p:cTn>
                                        <p:tgtEl>
                                          <p:spTgt spid="147"/>
                                        </p:tgtEl>
                                        <p:attrNameLst>
                                          <p:attrName>style.visibility</p:attrName>
                                        </p:attrNameLst>
                                      </p:cBhvr>
                                      <p:to>
                                        <p:strVal val="visible"/>
                                      </p:to>
                                    </p:set>
                                    <p:animEffect transition="in" filter="fade">
                                      <p:cBhvr>
                                        <p:cTn id="48" dur="500"/>
                                        <p:tgtEl>
                                          <p:spTgt spid="14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8"/>
                                        </p:tgtEl>
                                        <p:attrNameLst>
                                          <p:attrName>style.visibility</p:attrName>
                                        </p:attrNameLst>
                                      </p:cBhvr>
                                      <p:to>
                                        <p:strVal val="visible"/>
                                      </p:to>
                                    </p:set>
                                    <p:animEffect transition="in" filter="fade">
                                      <p:cBhvr>
                                        <p:cTn id="51" dur="500"/>
                                        <p:tgtEl>
                                          <p:spTgt spid="14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9"/>
                                        </p:tgtEl>
                                        <p:attrNameLst>
                                          <p:attrName>style.visibility</p:attrName>
                                        </p:attrNameLst>
                                      </p:cBhvr>
                                      <p:to>
                                        <p:strVal val="visible"/>
                                      </p:to>
                                    </p:set>
                                    <p:animEffect transition="in" filter="fade">
                                      <p:cBhvr>
                                        <p:cTn id="54" dur="500"/>
                                        <p:tgtEl>
                                          <p:spTgt spid="149"/>
                                        </p:tgtEl>
                                      </p:cBhvr>
                                    </p:animEffect>
                                  </p:childTnLst>
                                </p:cTn>
                              </p:par>
                              <p:par>
                                <p:cTn id="55" presetID="10" presetClass="entr" presetSubtype="0" fill="hold" nodeType="withEffect">
                                  <p:stCondLst>
                                    <p:cond delay="0"/>
                                  </p:stCondLst>
                                  <p:childTnLst>
                                    <p:set>
                                      <p:cBhvr>
                                        <p:cTn id="56" dur="1" fill="hold">
                                          <p:stCondLst>
                                            <p:cond delay="0"/>
                                          </p:stCondLst>
                                        </p:cTn>
                                        <p:tgtEl>
                                          <p:spTgt spid="150"/>
                                        </p:tgtEl>
                                        <p:attrNameLst>
                                          <p:attrName>style.visibility</p:attrName>
                                        </p:attrNameLst>
                                      </p:cBhvr>
                                      <p:to>
                                        <p:strVal val="visible"/>
                                      </p:to>
                                    </p:set>
                                    <p:animEffect transition="in" filter="fade">
                                      <p:cBhvr>
                                        <p:cTn id="57" dur="500"/>
                                        <p:tgtEl>
                                          <p:spTgt spid="15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51"/>
                                        </p:tgtEl>
                                        <p:attrNameLst>
                                          <p:attrName>style.visibility</p:attrName>
                                        </p:attrNameLst>
                                      </p:cBhvr>
                                      <p:to>
                                        <p:strVal val="visible"/>
                                      </p:to>
                                    </p:set>
                                    <p:animEffect transition="in" filter="fade">
                                      <p:cBhvr>
                                        <p:cTn id="60" dur="500"/>
                                        <p:tgtEl>
                                          <p:spTgt spid="151"/>
                                        </p:tgtEl>
                                      </p:cBhvr>
                                    </p:animEffect>
                                  </p:childTnLst>
                                </p:cTn>
                              </p:par>
                              <p:par>
                                <p:cTn id="61" presetID="10" presetClass="entr" presetSubtype="0" fill="hold" nodeType="withEffect">
                                  <p:stCondLst>
                                    <p:cond delay="0"/>
                                  </p:stCondLst>
                                  <p:childTnLst>
                                    <p:set>
                                      <p:cBhvr>
                                        <p:cTn id="62" dur="1" fill="hold">
                                          <p:stCondLst>
                                            <p:cond delay="0"/>
                                          </p:stCondLst>
                                        </p:cTn>
                                        <p:tgtEl>
                                          <p:spTgt spid="152"/>
                                        </p:tgtEl>
                                        <p:attrNameLst>
                                          <p:attrName>style.visibility</p:attrName>
                                        </p:attrNameLst>
                                      </p:cBhvr>
                                      <p:to>
                                        <p:strVal val="visible"/>
                                      </p:to>
                                    </p:set>
                                    <p:animEffect transition="in" filter="fade">
                                      <p:cBhvr>
                                        <p:cTn id="63" dur="500"/>
                                        <p:tgtEl>
                                          <p:spTgt spid="152"/>
                                        </p:tgtEl>
                                      </p:cBhvr>
                                    </p:animEffect>
                                  </p:childTnLst>
                                </p:cTn>
                              </p:par>
                              <p:par>
                                <p:cTn id="64" presetID="10" presetClass="entr" presetSubtype="0" fill="hold" nodeType="withEffect">
                                  <p:stCondLst>
                                    <p:cond delay="0"/>
                                  </p:stCondLst>
                                  <p:childTnLst>
                                    <p:set>
                                      <p:cBhvr>
                                        <p:cTn id="65" dur="1" fill="hold">
                                          <p:stCondLst>
                                            <p:cond delay="0"/>
                                          </p:stCondLst>
                                        </p:cTn>
                                        <p:tgtEl>
                                          <p:spTgt spid="153"/>
                                        </p:tgtEl>
                                        <p:attrNameLst>
                                          <p:attrName>style.visibility</p:attrName>
                                        </p:attrNameLst>
                                      </p:cBhvr>
                                      <p:to>
                                        <p:strVal val="visible"/>
                                      </p:to>
                                    </p:set>
                                    <p:animEffect transition="in" filter="fade">
                                      <p:cBhvr>
                                        <p:cTn id="66" dur="500"/>
                                        <p:tgtEl>
                                          <p:spTgt spid="15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54"/>
                                        </p:tgtEl>
                                        <p:attrNameLst>
                                          <p:attrName>style.visibility</p:attrName>
                                        </p:attrNameLst>
                                      </p:cBhvr>
                                      <p:to>
                                        <p:strVal val="visible"/>
                                      </p:to>
                                    </p:set>
                                    <p:animEffect transition="in" filter="fade">
                                      <p:cBhvr>
                                        <p:cTn id="69" dur="500"/>
                                        <p:tgtEl>
                                          <p:spTgt spid="15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55"/>
                                        </p:tgtEl>
                                        <p:attrNameLst>
                                          <p:attrName>style.visibility</p:attrName>
                                        </p:attrNameLst>
                                      </p:cBhvr>
                                      <p:to>
                                        <p:strVal val="visible"/>
                                      </p:to>
                                    </p:set>
                                    <p:animEffect transition="in" filter="fade">
                                      <p:cBhvr>
                                        <p:cTn id="72" dur="500"/>
                                        <p:tgtEl>
                                          <p:spTgt spid="15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25"/>
                                        </p:tgtEl>
                                        <p:attrNameLst>
                                          <p:attrName>style.visibility</p:attrName>
                                        </p:attrNameLst>
                                      </p:cBhvr>
                                      <p:to>
                                        <p:strVal val="visible"/>
                                      </p:to>
                                    </p:set>
                                    <p:animEffect transition="in" filter="fade">
                                      <p:cBhvr>
                                        <p:cTn id="75" dur="500"/>
                                        <p:tgtEl>
                                          <p:spTgt spid="125"/>
                                        </p:tgtEl>
                                      </p:cBhvr>
                                    </p:animEffect>
                                  </p:childTnLst>
                                </p:cTn>
                              </p:par>
                              <p:par>
                                <p:cTn id="76" presetID="10" presetClass="entr" presetSubtype="0" fill="hold" nodeType="withEffect">
                                  <p:stCondLst>
                                    <p:cond delay="0"/>
                                  </p:stCondLst>
                                  <p:childTnLst>
                                    <p:set>
                                      <p:cBhvr>
                                        <p:cTn id="77" dur="1" fill="hold">
                                          <p:stCondLst>
                                            <p:cond delay="0"/>
                                          </p:stCondLst>
                                        </p:cTn>
                                        <p:tgtEl>
                                          <p:spTgt spid="126"/>
                                        </p:tgtEl>
                                        <p:attrNameLst>
                                          <p:attrName>style.visibility</p:attrName>
                                        </p:attrNameLst>
                                      </p:cBhvr>
                                      <p:to>
                                        <p:strVal val="visible"/>
                                      </p:to>
                                    </p:set>
                                    <p:animEffect transition="in" filter="fade">
                                      <p:cBhvr>
                                        <p:cTn id="78" dur="500"/>
                                        <p:tgtEl>
                                          <p:spTgt spid="1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27"/>
                                        </p:tgtEl>
                                        <p:attrNameLst>
                                          <p:attrName>style.visibility</p:attrName>
                                        </p:attrNameLst>
                                      </p:cBhvr>
                                      <p:to>
                                        <p:strVal val="visible"/>
                                      </p:to>
                                    </p:set>
                                    <p:animEffect transition="in" filter="fade">
                                      <p:cBhvr>
                                        <p:cTn id="81" dur="500"/>
                                        <p:tgtEl>
                                          <p:spTgt spid="127"/>
                                        </p:tgtEl>
                                      </p:cBhvr>
                                    </p:animEffect>
                                  </p:childTnLst>
                                </p:cTn>
                              </p:par>
                              <p:par>
                                <p:cTn id="82" presetID="10" presetClass="entr" presetSubtype="0" fill="hold" nodeType="withEffect">
                                  <p:stCondLst>
                                    <p:cond delay="0"/>
                                  </p:stCondLst>
                                  <p:childTnLst>
                                    <p:set>
                                      <p:cBhvr>
                                        <p:cTn id="83" dur="1" fill="hold">
                                          <p:stCondLst>
                                            <p:cond delay="0"/>
                                          </p:stCondLst>
                                        </p:cTn>
                                        <p:tgtEl>
                                          <p:spTgt spid="128"/>
                                        </p:tgtEl>
                                        <p:attrNameLst>
                                          <p:attrName>style.visibility</p:attrName>
                                        </p:attrNameLst>
                                      </p:cBhvr>
                                      <p:to>
                                        <p:strVal val="visible"/>
                                      </p:to>
                                    </p:set>
                                    <p:animEffect transition="in" filter="fade">
                                      <p:cBhvr>
                                        <p:cTn id="84" dur="500"/>
                                        <p:tgtEl>
                                          <p:spTgt spid="1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29"/>
                                        </p:tgtEl>
                                        <p:attrNameLst>
                                          <p:attrName>style.visibility</p:attrName>
                                        </p:attrNameLst>
                                      </p:cBhvr>
                                      <p:to>
                                        <p:strVal val="visible"/>
                                      </p:to>
                                    </p:set>
                                    <p:animEffect transition="in" filter="fade">
                                      <p:cBhvr>
                                        <p:cTn id="87" dur="500"/>
                                        <p:tgtEl>
                                          <p:spTgt spid="129"/>
                                        </p:tgtEl>
                                      </p:cBhvr>
                                    </p:animEffect>
                                  </p:childTnLst>
                                </p:cTn>
                              </p:par>
                              <p:par>
                                <p:cTn id="88" presetID="10" presetClass="entr" presetSubtype="0" fill="hold" nodeType="withEffect">
                                  <p:stCondLst>
                                    <p:cond delay="0"/>
                                  </p:stCondLst>
                                  <p:childTnLst>
                                    <p:set>
                                      <p:cBhvr>
                                        <p:cTn id="89" dur="1" fill="hold">
                                          <p:stCondLst>
                                            <p:cond delay="0"/>
                                          </p:stCondLst>
                                        </p:cTn>
                                        <p:tgtEl>
                                          <p:spTgt spid="130"/>
                                        </p:tgtEl>
                                        <p:attrNameLst>
                                          <p:attrName>style.visibility</p:attrName>
                                        </p:attrNameLst>
                                      </p:cBhvr>
                                      <p:to>
                                        <p:strVal val="visible"/>
                                      </p:to>
                                    </p:set>
                                    <p:animEffect transition="in" filter="fade">
                                      <p:cBhvr>
                                        <p:cTn id="90" dur="500"/>
                                        <p:tgtEl>
                                          <p:spTgt spid="130"/>
                                        </p:tgtEl>
                                      </p:cBhvr>
                                    </p:animEffect>
                                  </p:childTnLst>
                                </p:cTn>
                              </p:par>
                              <p:par>
                                <p:cTn id="91" presetID="10" presetClass="entr" presetSubtype="0" fill="hold" nodeType="withEffect">
                                  <p:stCondLst>
                                    <p:cond delay="0"/>
                                  </p:stCondLst>
                                  <p:childTnLst>
                                    <p:set>
                                      <p:cBhvr>
                                        <p:cTn id="92" dur="1" fill="hold">
                                          <p:stCondLst>
                                            <p:cond delay="0"/>
                                          </p:stCondLst>
                                        </p:cTn>
                                        <p:tgtEl>
                                          <p:spTgt spid="131"/>
                                        </p:tgtEl>
                                        <p:attrNameLst>
                                          <p:attrName>style.visibility</p:attrName>
                                        </p:attrNameLst>
                                      </p:cBhvr>
                                      <p:to>
                                        <p:strVal val="visible"/>
                                      </p:to>
                                    </p:set>
                                    <p:animEffect transition="in" filter="fade">
                                      <p:cBhvr>
                                        <p:cTn id="93" dur="500"/>
                                        <p:tgtEl>
                                          <p:spTgt spid="1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32"/>
                                        </p:tgtEl>
                                        <p:attrNameLst>
                                          <p:attrName>style.visibility</p:attrName>
                                        </p:attrNameLst>
                                      </p:cBhvr>
                                      <p:to>
                                        <p:strVal val="visible"/>
                                      </p:to>
                                    </p:set>
                                    <p:animEffect transition="in" filter="fade">
                                      <p:cBhvr>
                                        <p:cTn id="96" dur="500"/>
                                        <p:tgtEl>
                                          <p:spTgt spid="132"/>
                                        </p:tgtEl>
                                      </p:cBhvr>
                                    </p:animEffect>
                                  </p:childTnLst>
                                </p:cTn>
                              </p:par>
                              <p:par>
                                <p:cTn id="97" presetID="10" presetClass="entr" presetSubtype="0" fill="hold" nodeType="withEffect">
                                  <p:stCondLst>
                                    <p:cond delay="0"/>
                                  </p:stCondLst>
                                  <p:childTnLst>
                                    <p:set>
                                      <p:cBhvr>
                                        <p:cTn id="98" dur="1" fill="hold">
                                          <p:stCondLst>
                                            <p:cond delay="0"/>
                                          </p:stCondLst>
                                        </p:cTn>
                                        <p:tgtEl>
                                          <p:spTgt spid="133"/>
                                        </p:tgtEl>
                                        <p:attrNameLst>
                                          <p:attrName>style.visibility</p:attrName>
                                        </p:attrNameLst>
                                      </p:cBhvr>
                                      <p:to>
                                        <p:strVal val="visible"/>
                                      </p:to>
                                    </p:set>
                                    <p:animEffect transition="in" filter="fade">
                                      <p:cBhvr>
                                        <p:cTn id="99" dur="500"/>
                                        <p:tgtEl>
                                          <p:spTgt spid="133"/>
                                        </p:tgtEl>
                                      </p:cBhvr>
                                    </p:animEffect>
                                  </p:childTnLst>
                                </p:cTn>
                              </p:par>
                              <p:par>
                                <p:cTn id="100" presetID="10" presetClass="entr" presetSubtype="0" fill="hold" nodeType="withEffect">
                                  <p:stCondLst>
                                    <p:cond delay="0"/>
                                  </p:stCondLst>
                                  <p:childTnLst>
                                    <p:set>
                                      <p:cBhvr>
                                        <p:cTn id="101" dur="1" fill="hold">
                                          <p:stCondLst>
                                            <p:cond delay="0"/>
                                          </p:stCondLst>
                                        </p:cTn>
                                        <p:tgtEl>
                                          <p:spTgt spid="134"/>
                                        </p:tgtEl>
                                        <p:attrNameLst>
                                          <p:attrName>style.visibility</p:attrName>
                                        </p:attrNameLst>
                                      </p:cBhvr>
                                      <p:to>
                                        <p:strVal val="visible"/>
                                      </p:to>
                                    </p:set>
                                    <p:animEffect transition="in" filter="fade">
                                      <p:cBhvr>
                                        <p:cTn id="10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136" grpId="0"/>
      <p:bldP spid="137" grpId="0"/>
      <p:bldP spid="138" grpId="0" animBg="1"/>
      <p:bldP spid="139" grpId="0" animBg="1"/>
      <p:bldP spid="142" grpId="0" animBg="1"/>
      <p:bldP spid="143" grpId="0" animBg="1"/>
      <p:bldP spid="144" grpId="0" animBg="1"/>
      <p:bldP spid="145" grpId="0" animBg="1"/>
      <p:bldP spid="148" grpId="0" animBg="1"/>
      <p:bldP spid="149" grpId="0" animBg="1"/>
      <p:bldP spid="151" grpId="0"/>
      <p:bldP spid="154" grpId="0"/>
      <p:bldP spid="155" grpId="0"/>
      <p:bldP spid="125" grpId="0" animBg="1"/>
      <p:bldP spid="127" grpId="0"/>
      <p:bldP spid="129" grpId="0" animBg="1"/>
      <p:bldP spid="13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03D0-C0A2-BAC1-9D92-E0EE9C2AC7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F98D2F-52A8-D6D1-B3E6-7EE9F5164309}"/>
              </a:ext>
            </a:extLst>
          </p:cNvPr>
          <p:cNvSpPr>
            <a:spLocks noGrp="1"/>
          </p:cNvSpPr>
          <p:nvPr>
            <p:ph type="title"/>
          </p:nvPr>
        </p:nvSpPr>
        <p:spPr>
          <a:xfrm>
            <a:off x="342901" y="219456"/>
            <a:ext cx="10287001" cy="470898"/>
          </a:xfrm>
        </p:spPr>
        <p:txBody>
          <a:bodyPr/>
          <a:lstStyle/>
          <a:p>
            <a:r>
              <a:rPr lang="en-US" dirty="0"/>
              <a:t>RTL : stage block diagram </a:t>
            </a:r>
          </a:p>
        </p:txBody>
      </p:sp>
      <p:sp>
        <p:nvSpPr>
          <p:cNvPr id="4" name="!!Footer Placeholder 3">
            <a:extLst>
              <a:ext uri="{FF2B5EF4-FFF2-40B4-BE49-F238E27FC236}">
                <a16:creationId xmlns:a16="http://schemas.microsoft.com/office/drawing/2014/main" id="{B7D1D9C7-04EA-B8D8-19BA-060A60A3E541}"/>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31D0CBE-3017-BA94-7CF7-6216D1197D78}"/>
              </a:ext>
            </a:extLst>
          </p:cNvPr>
          <p:cNvSpPr>
            <a:spLocks noGrp="1"/>
          </p:cNvSpPr>
          <p:nvPr>
            <p:ph type="sldNum" sz="quarter" idx="4"/>
          </p:nvPr>
        </p:nvSpPr>
        <p:spPr/>
        <p:txBody>
          <a:bodyPr/>
          <a:lstStyle/>
          <a:p>
            <a:pPr>
              <a:defRPr/>
            </a:pPr>
            <a:fld id="{A9CE67A1-BA7F-A74E-B5D7-615746DEEC2B}" type="slidenum">
              <a:rPr lang="en-US" smtClean="0"/>
              <a:pPr>
                <a:defRPr/>
              </a:pPr>
              <a:t>57</a:t>
            </a:fld>
            <a:endParaRPr lang="en-US" baseline="-11000" dirty="0"/>
          </a:p>
        </p:txBody>
      </p:sp>
      <p:sp>
        <p:nvSpPr>
          <p:cNvPr id="6" name="!!Date Placeholder 5">
            <a:extLst>
              <a:ext uri="{FF2B5EF4-FFF2-40B4-BE49-F238E27FC236}">
                <a16:creationId xmlns:a16="http://schemas.microsoft.com/office/drawing/2014/main" id="{36D0182F-1E2C-345C-D376-DD7DA56E85A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37" name="!!TextBox 136">
            <a:extLst>
              <a:ext uri="{FF2B5EF4-FFF2-40B4-BE49-F238E27FC236}">
                <a16:creationId xmlns:a16="http://schemas.microsoft.com/office/drawing/2014/main" id="{9FCA6099-5015-FF7F-6304-59F04E01B658}"/>
              </a:ext>
            </a:extLst>
          </p:cNvPr>
          <p:cNvSpPr txBox="1"/>
          <p:nvPr/>
        </p:nvSpPr>
        <p:spPr>
          <a:xfrm>
            <a:off x="395414" y="3324361"/>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38" name="!!Rectangle 137">
            <a:extLst>
              <a:ext uri="{FF2B5EF4-FFF2-40B4-BE49-F238E27FC236}">
                <a16:creationId xmlns:a16="http://schemas.microsoft.com/office/drawing/2014/main" id="{323701F9-A952-791A-7868-7C79C1D60987}"/>
              </a:ext>
            </a:extLst>
          </p:cNvPr>
          <p:cNvSpPr/>
          <p:nvPr/>
        </p:nvSpPr>
        <p:spPr>
          <a:xfrm>
            <a:off x="1435514" y="956850"/>
            <a:ext cx="9081317" cy="372447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147A81FF-6DDE-28D3-53D3-FDF2838BEB5A}"/>
              </a:ext>
            </a:extLst>
          </p:cNvPr>
          <p:cNvCxnSpPr>
            <a:cxnSpLocks/>
          </p:cNvCxnSpPr>
          <p:nvPr/>
        </p:nvCxnSpPr>
        <p:spPr>
          <a:xfrm>
            <a:off x="438095" y="3738066"/>
            <a:ext cx="223356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E6824F84-CD1E-796D-86CB-61DF3570E75E}"/>
              </a:ext>
            </a:extLst>
          </p:cNvPr>
          <p:cNvCxnSpPr>
            <a:cxnSpLocks/>
          </p:cNvCxnSpPr>
          <p:nvPr/>
        </p:nvCxnSpPr>
        <p:spPr>
          <a:xfrm>
            <a:off x="10504680" y="2955026"/>
            <a:ext cx="93022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9C100E7D-B251-988F-5188-40D1253BAE81}"/>
              </a:ext>
            </a:extLst>
          </p:cNvPr>
          <p:cNvCxnSpPr>
            <a:cxnSpLocks/>
          </p:cNvCxnSpPr>
          <p:nvPr/>
        </p:nvCxnSpPr>
        <p:spPr>
          <a:xfrm flipH="1">
            <a:off x="866926" y="3680983"/>
            <a:ext cx="249595" cy="134801"/>
          </a:xfrm>
          <a:prstGeom prst="line">
            <a:avLst/>
          </a:prstGeom>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09292A7A-E088-8070-C36E-1058C3F345CA}"/>
              </a:ext>
            </a:extLst>
          </p:cNvPr>
          <p:cNvSpPr txBox="1"/>
          <p:nvPr/>
        </p:nvSpPr>
        <p:spPr>
          <a:xfrm>
            <a:off x="1054561" y="3738066"/>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9" name="!!TextBox 8">
            <a:extLst>
              <a:ext uri="{FF2B5EF4-FFF2-40B4-BE49-F238E27FC236}">
                <a16:creationId xmlns:a16="http://schemas.microsoft.com/office/drawing/2014/main" id="{0B4CEC1A-1EEA-E6D1-5F88-D168110DCF3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0EC1AF23-82FB-E960-090D-6BC337DFA6B9}"/>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4C7C66D9-8A54-DCCA-20AE-EF2CC3388A0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alpha val="30000"/>
                  </a:schemeClr>
                </a:solidFill>
              </a:rPr>
              <a:t>Stage Main Component</a:t>
            </a:r>
          </a:p>
        </p:txBody>
      </p:sp>
      <p:sp>
        <p:nvSpPr>
          <p:cNvPr id="12" name="!!TextBox 11">
            <a:extLst>
              <a:ext uri="{FF2B5EF4-FFF2-40B4-BE49-F238E27FC236}">
                <a16:creationId xmlns:a16="http://schemas.microsoft.com/office/drawing/2014/main" id="{88F3361A-00F7-95FE-624D-54610A5834F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9DA3E6F9-9FFB-94B9-F1AE-B7F69CC91BE3}"/>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F318100E-182C-D5BA-6C84-61D44D5A8A46}"/>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C08E965C-CD17-FBB2-DD9D-5CB502299B9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48107971-DA2D-961A-6D1D-03E91E4B4CBF}"/>
              </a:ext>
            </a:extLst>
          </p:cNvPr>
          <p:cNvSpPr txBox="1"/>
          <p:nvPr/>
        </p:nvSpPr>
        <p:spPr>
          <a:xfrm>
            <a:off x="10648189" y="2580108"/>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42" name="!!Straight Connector 41">
            <a:extLst>
              <a:ext uri="{FF2B5EF4-FFF2-40B4-BE49-F238E27FC236}">
                <a16:creationId xmlns:a16="http://schemas.microsoft.com/office/drawing/2014/main" id="{9334A111-65D4-8418-0344-B624870EE39E}"/>
              </a:ext>
            </a:extLst>
          </p:cNvPr>
          <p:cNvCxnSpPr>
            <a:cxnSpLocks/>
          </p:cNvCxnSpPr>
          <p:nvPr/>
        </p:nvCxnSpPr>
        <p:spPr>
          <a:xfrm flipH="1">
            <a:off x="10699820" y="2833922"/>
            <a:ext cx="375745" cy="319647"/>
          </a:xfrm>
          <a:prstGeom prst="line">
            <a:avLst/>
          </a:prstGeom>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CDFFF219-A154-54FC-9B1E-95384642748E}"/>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44" name="!!Rectangle 43">
            <a:extLst>
              <a:ext uri="{FF2B5EF4-FFF2-40B4-BE49-F238E27FC236}">
                <a16:creationId xmlns:a16="http://schemas.microsoft.com/office/drawing/2014/main" id="{ACC5D78B-3CD5-56F3-0D06-B29921DC8082}"/>
              </a:ext>
            </a:extLst>
          </p:cNvPr>
          <p:cNvSpPr/>
          <p:nvPr/>
        </p:nvSpPr>
        <p:spPr>
          <a:xfrm>
            <a:off x="2671659" y="2275292"/>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5E7E612F-E9CF-1B49-C86C-651036A8F7B0}"/>
              </a:ext>
            </a:extLst>
          </p:cNvPr>
          <p:cNvCxnSpPr>
            <a:cxnSpLocks/>
          </p:cNvCxnSpPr>
          <p:nvPr/>
        </p:nvCxnSpPr>
        <p:spPr>
          <a:xfrm>
            <a:off x="2671659" y="2769242"/>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6C32B86D-4482-0EFA-D96D-502EAD0F554F}"/>
              </a:ext>
            </a:extLst>
          </p:cNvPr>
          <p:cNvCxnSpPr>
            <a:cxnSpLocks/>
          </p:cNvCxnSpPr>
          <p:nvPr/>
        </p:nvCxnSpPr>
        <p:spPr>
          <a:xfrm>
            <a:off x="2671659" y="375297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2EE08244-6F59-6E5D-E3BD-22D29DB28746}"/>
              </a:ext>
            </a:extLst>
          </p:cNvPr>
          <p:cNvGrpSpPr/>
          <p:nvPr/>
        </p:nvGrpSpPr>
        <p:grpSpPr>
          <a:xfrm>
            <a:off x="3382766" y="2583458"/>
            <a:ext cx="371568" cy="371568"/>
            <a:chOff x="5114833" y="2825052"/>
            <a:chExt cx="371568" cy="371568"/>
          </a:xfrm>
        </p:grpSpPr>
        <p:sp>
          <p:nvSpPr>
            <p:cNvPr id="48" name="Oval 47">
              <a:extLst>
                <a:ext uri="{FF2B5EF4-FFF2-40B4-BE49-F238E27FC236}">
                  <a16:creationId xmlns:a16="http://schemas.microsoft.com/office/drawing/2014/main" id="{72B24CAC-CCE2-6A42-8955-9F74ED334E38}"/>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A40B1104-55F7-F533-1633-7E005D324989}"/>
                </a:ext>
              </a:extLst>
            </p:cNvPr>
            <p:cNvCxnSpPr>
              <a:cxnSpLocks/>
              <a:stCxn id="48" idx="6"/>
              <a:endCxn id="4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C257269C-5943-508B-6304-9B5329E9A6EF}"/>
                </a:ext>
              </a:extLst>
            </p:cNvPr>
            <p:cNvCxnSpPr>
              <a:cxnSpLocks/>
              <a:stCxn id="48" idx="4"/>
              <a:endCxn id="4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7E4D2543-ED5C-579B-9531-0098DEF2AD4C}"/>
              </a:ext>
            </a:extLst>
          </p:cNvPr>
          <p:cNvGrpSpPr/>
          <p:nvPr/>
        </p:nvGrpSpPr>
        <p:grpSpPr>
          <a:xfrm>
            <a:off x="3403179" y="3576527"/>
            <a:ext cx="371568" cy="371568"/>
            <a:chOff x="5114833" y="2825052"/>
            <a:chExt cx="371568" cy="371568"/>
          </a:xfrm>
        </p:grpSpPr>
        <p:sp>
          <p:nvSpPr>
            <p:cNvPr id="56" name="Oval 55">
              <a:extLst>
                <a:ext uri="{FF2B5EF4-FFF2-40B4-BE49-F238E27FC236}">
                  <a16:creationId xmlns:a16="http://schemas.microsoft.com/office/drawing/2014/main" id="{5C3303F8-7767-E756-D8F9-90DD03AB09E1}"/>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26073F26-0CF1-ADAB-EB3A-BDA7AB81296A}"/>
                </a:ext>
              </a:extLst>
            </p:cNvPr>
            <p:cNvCxnSpPr>
              <a:cxnSpLocks/>
              <a:stCxn id="56" idx="6"/>
              <a:endCxn id="56"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AFABDFED-DAE4-0C76-84BD-B351BE844782}"/>
                </a:ext>
              </a:extLst>
            </p:cNvPr>
            <p:cNvCxnSpPr>
              <a:cxnSpLocks/>
              <a:stCxn id="56" idx="4"/>
              <a:endCxn id="56"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B5A609D0-D976-8207-BFB2-E6E9062587D5}"/>
              </a:ext>
            </a:extLst>
          </p:cNvPr>
          <p:cNvCxnSpPr>
            <a:cxnSpLocks/>
            <a:endCxn id="56" idx="0"/>
          </p:cNvCxnSpPr>
          <p:nvPr/>
        </p:nvCxnSpPr>
        <p:spPr>
          <a:xfrm>
            <a:off x="2871705" y="2759911"/>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7BDA3480-EC88-BE1F-12C4-F217BCE274D9}"/>
              </a:ext>
            </a:extLst>
          </p:cNvPr>
          <p:cNvCxnSpPr>
            <a:cxnSpLocks/>
            <a:endCxn id="48" idx="4"/>
          </p:cNvCxnSpPr>
          <p:nvPr/>
        </p:nvCxnSpPr>
        <p:spPr>
          <a:xfrm flipV="1">
            <a:off x="2949708" y="2955026"/>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76CA1924-6526-F572-BEC0-08FA6CBF2DFF}"/>
              </a:ext>
            </a:extLst>
          </p:cNvPr>
          <p:cNvCxnSpPr/>
          <p:nvPr/>
        </p:nvCxnSpPr>
        <p:spPr>
          <a:xfrm flipH="1">
            <a:off x="3125499" y="3885749"/>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944636D3-0715-DAA5-6D4B-0E5A64E67E42}"/>
              </a:ext>
            </a:extLst>
          </p:cNvPr>
          <p:cNvCxnSpPr>
            <a:cxnSpLocks/>
          </p:cNvCxnSpPr>
          <p:nvPr/>
        </p:nvCxnSpPr>
        <p:spPr>
          <a:xfrm>
            <a:off x="3739844" y="2769242"/>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83A52644-B118-F63B-D472-ADF355A61669}"/>
              </a:ext>
            </a:extLst>
          </p:cNvPr>
          <p:cNvCxnSpPr>
            <a:cxnSpLocks/>
            <a:stCxn id="56" idx="6"/>
          </p:cNvCxnSpPr>
          <p:nvPr/>
        </p:nvCxnSpPr>
        <p:spPr>
          <a:xfrm flipV="1">
            <a:off x="3774747" y="3752979"/>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CDF2C0D5-2302-92A9-BB22-9774B2F7906D}"/>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3D1DA939-8529-C324-5693-8E559260C3A2}"/>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120C2307-6DED-CECA-A1E1-507B5F697FA6}"/>
              </a:ext>
            </a:extLst>
          </p:cNvPr>
          <p:cNvCxnSpPr/>
          <p:nvPr/>
        </p:nvCxnSpPr>
        <p:spPr>
          <a:xfrm>
            <a:off x="2051098" y="3740126"/>
            <a:ext cx="2445509" cy="574853"/>
          </a:xfrm>
          <a:prstGeom prst="bentConnector3">
            <a:avLst>
              <a:gd name="adj1" fmla="val -12720"/>
            </a:avLst>
          </a:prstGeom>
          <a:ln w="127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3B6AD901-3A3A-D2AC-CFA0-7F32C1265113}"/>
              </a:ext>
            </a:extLst>
          </p:cNvPr>
          <p:cNvCxnSpPr>
            <a:cxnSpLocks/>
          </p:cNvCxnSpPr>
          <p:nvPr/>
        </p:nvCxnSpPr>
        <p:spPr>
          <a:xfrm rot="5400000" flipH="1" flipV="1">
            <a:off x="3987937" y="2492595"/>
            <a:ext cx="2740588" cy="554822"/>
          </a:xfrm>
          <a:prstGeom prst="bentConnector3">
            <a:avLst>
              <a:gd name="adj1" fmla="val -586"/>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21811F78-076E-82D8-DB5D-A4EE59070F75}"/>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26F27CFC-AA8D-9C1D-65E4-4FDEBB28EAB2}"/>
              </a:ext>
            </a:extLst>
          </p:cNvPr>
          <p:cNvSpPr/>
          <p:nvPr/>
        </p:nvSpPr>
        <p:spPr>
          <a:xfrm>
            <a:off x="3022871" y="1194812"/>
            <a:ext cx="1433945" cy="409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0B303247-9301-F01E-810F-A2F0409DA4F1}"/>
              </a:ext>
            </a:extLst>
          </p:cNvPr>
          <p:cNvCxnSpPr>
            <a:cxnSpLocks/>
            <a:stCxn id="71" idx="1"/>
          </p:cNvCxnSpPr>
          <p:nvPr/>
        </p:nvCxnSpPr>
        <p:spPr>
          <a:xfrm rot="10800000" flipV="1">
            <a:off x="1784353" y="1399712"/>
            <a:ext cx="1238519" cy="1398250"/>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F0F9BAB5-17CA-3CDD-D60B-81D389778A15}"/>
              </a:ext>
            </a:extLst>
          </p:cNvPr>
          <p:cNvCxnSpPr>
            <a:cxnSpLocks/>
          </p:cNvCxnSpPr>
          <p:nvPr/>
        </p:nvCxnSpPr>
        <p:spPr>
          <a:xfrm>
            <a:off x="1784352" y="2782101"/>
            <a:ext cx="8873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ECEB3311-F1BD-5FF5-AEEE-709C1C086564}"/>
              </a:ext>
            </a:extLst>
          </p:cNvPr>
          <p:cNvCxnSpPr>
            <a:cxnSpLocks/>
          </p:cNvCxnSpPr>
          <p:nvPr/>
        </p:nvCxnSpPr>
        <p:spPr>
          <a:xfrm flipV="1">
            <a:off x="2075647" y="2070393"/>
            <a:ext cx="2454973" cy="727569"/>
          </a:xfrm>
          <a:prstGeom prst="bentConnector3">
            <a:avLst>
              <a:gd name="adj1" fmla="val -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21C06E61-F2AF-7630-E281-D1A5773CC548}"/>
              </a:ext>
            </a:extLst>
          </p:cNvPr>
          <p:cNvCxnSpPr>
            <a:cxnSpLocks/>
          </p:cNvCxnSpPr>
          <p:nvPr/>
        </p:nvCxnSpPr>
        <p:spPr>
          <a:xfrm>
            <a:off x="5080820" y="2434177"/>
            <a:ext cx="2449577" cy="1191359"/>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093687BD-EEF1-7D24-DDD8-F0F334050FE0}"/>
              </a:ext>
            </a:extLst>
          </p:cNvPr>
          <p:cNvGrpSpPr/>
          <p:nvPr/>
        </p:nvGrpSpPr>
        <p:grpSpPr>
          <a:xfrm>
            <a:off x="7507806" y="3424807"/>
            <a:ext cx="371568" cy="371568"/>
            <a:chOff x="5114833" y="2825052"/>
            <a:chExt cx="371568" cy="371568"/>
          </a:xfrm>
        </p:grpSpPr>
        <p:sp>
          <p:nvSpPr>
            <p:cNvPr id="77" name="Oval 76">
              <a:extLst>
                <a:ext uri="{FF2B5EF4-FFF2-40B4-BE49-F238E27FC236}">
                  <a16:creationId xmlns:a16="http://schemas.microsoft.com/office/drawing/2014/main" id="{47581AB8-79C2-F2B9-EF2F-F840667F0029}"/>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157812E0-CC4A-E27D-0DF1-185AAC6EA798}"/>
                </a:ext>
              </a:extLst>
            </p:cNvPr>
            <p:cNvCxnSpPr>
              <a:cxnSpLocks/>
              <a:stCxn id="77" idx="7"/>
              <a:endCxn id="77" idx="3"/>
            </p:cNvCxnSpPr>
            <p:nvPr/>
          </p:nvCxnSpPr>
          <p:spPr>
            <a:xfrm flipH="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3FF3ECBE-ABC6-DB10-B610-C950C09FEC94}"/>
                </a:ext>
              </a:extLst>
            </p:cNvPr>
            <p:cNvCxnSpPr>
              <a:cxnSpLocks/>
              <a:stCxn id="77" idx="5"/>
              <a:endCxn id="77" idx="1"/>
            </p:cNvCxnSpPr>
            <p:nvPr/>
          </p:nvCxnSpPr>
          <p:spPr>
            <a:xfrm flipH="1" flipV="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EFC4CF6E-F692-5C18-8F99-DA6CA8CA7DF2}"/>
              </a:ext>
            </a:extLst>
          </p:cNvPr>
          <p:cNvSpPr txBox="1"/>
          <p:nvPr/>
        </p:nvSpPr>
        <p:spPr>
          <a:xfrm>
            <a:off x="3097543" y="2275291"/>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81" name="!!TextBox 80">
            <a:extLst>
              <a:ext uri="{FF2B5EF4-FFF2-40B4-BE49-F238E27FC236}">
                <a16:creationId xmlns:a16="http://schemas.microsoft.com/office/drawing/2014/main" id="{3C0943E5-7798-B333-983D-5429C9FBBEC5}"/>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2" name="!!TextBox 81">
            <a:extLst>
              <a:ext uri="{FF2B5EF4-FFF2-40B4-BE49-F238E27FC236}">
                <a16:creationId xmlns:a16="http://schemas.microsoft.com/office/drawing/2014/main" id="{80F1D10E-ABF7-DFED-9148-0F69A6A7F71E}"/>
              </a:ext>
            </a:extLst>
          </p:cNvPr>
          <p:cNvSpPr txBox="1"/>
          <p:nvPr/>
        </p:nvSpPr>
        <p:spPr>
          <a:xfrm>
            <a:off x="4552980" y="365675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3" name="!!TextBox 82">
            <a:extLst>
              <a:ext uri="{FF2B5EF4-FFF2-40B4-BE49-F238E27FC236}">
                <a16:creationId xmlns:a16="http://schemas.microsoft.com/office/drawing/2014/main" id="{A6AE317F-428D-8AD9-F0C3-F824A2BE7E22}"/>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4" name="!!TextBox 83">
            <a:extLst>
              <a:ext uri="{FF2B5EF4-FFF2-40B4-BE49-F238E27FC236}">
                <a16:creationId xmlns:a16="http://schemas.microsoft.com/office/drawing/2014/main" id="{9CF2E097-DFFB-D57D-AEF6-8D3CB679E797}"/>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5" name="!!TextBox 84">
            <a:extLst>
              <a:ext uri="{FF2B5EF4-FFF2-40B4-BE49-F238E27FC236}">
                <a16:creationId xmlns:a16="http://schemas.microsoft.com/office/drawing/2014/main" id="{EF31B544-AC1B-A6C1-3AF7-6597E4C90393}"/>
              </a:ext>
            </a:extLst>
          </p:cNvPr>
          <p:cNvSpPr txBox="1"/>
          <p:nvPr/>
        </p:nvSpPr>
        <p:spPr>
          <a:xfrm>
            <a:off x="4652957" y="2319875"/>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89" name="!!TextBox 88">
            <a:extLst>
              <a:ext uri="{FF2B5EF4-FFF2-40B4-BE49-F238E27FC236}">
                <a16:creationId xmlns:a16="http://schemas.microsoft.com/office/drawing/2014/main" id="{63CB8F12-495C-2359-EF1B-CAB66899DC62}"/>
              </a:ext>
            </a:extLst>
          </p:cNvPr>
          <p:cNvSpPr txBox="1"/>
          <p:nvPr/>
        </p:nvSpPr>
        <p:spPr>
          <a:xfrm>
            <a:off x="4661031"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93" name="!!Rectangle 81">
            <a:extLst>
              <a:ext uri="{FF2B5EF4-FFF2-40B4-BE49-F238E27FC236}">
                <a16:creationId xmlns:a16="http://schemas.microsoft.com/office/drawing/2014/main" id="{BBD4B8B2-4543-AE41-A621-57614A6459CC}"/>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856D0CE8-F92D-848F-30D9-2A83CE22F2CC}"/>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95" name="!!TextBox 94">
            <a:extLst>
              <a:ext uri="{FF2B5EF4-FFF2-40B4-BE49-F238E27FC236}">
                <a16:creationId xmlns:a16="http://schemas.microsoft.com/office/drawing/2014/main" id="{6082D8FD-69E2-8EF9-5426-764039FBF32D}"/>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96" name="!!TextBox 95">
            <a:extLst>
              <a:ext uri="{FF2B5EF4-FFF2-40B4-BE49-F238E27FC236}">
                <a16:creationId xmlns:a16="http://schemas.microsoft.com/office/drawing/2014/main" id="{E98B7E7F-C937-9DAA-2442-A6B1F2F50964}"/>
              </a:ext>
            </a:extLst>
          </p:cNvPr>
          <p:cNvSpPr txBox="1"/>
          <p:nvPr/>
        </p:nvSpPr>
        <p:spPr>
          <a:xfrm>
            <a:off x="8481401" y="355383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97" name="!!Elbow Connector 96">
            <a:extLst>
              <a:ext uri="{FF2B5EF4-FFF2-40B4-BE49-F238E27FC236}">
                <a16:creationId xmlns:a16="http://schemas.microsoft.com/office/drawing/2014/main" id="{8696EA9B-A21D-9D60-8C03-5F99ADD93D16}"/>
              </a:ext>
            </a:extLst>
          </p:cNvPr>
          <p:cNvCxnSpPr>
            <a:cxnSpLocks/>
            <a:stCxn id="77" idx="6"/>
          </p:cNvCxnSpPr>
          <p:nvPr/>
        </p:nvCxnSpPr>
        <p:spPr>
          <a:xfrm>
            <a:off x="7879374" y="3610591"/>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85BC9D7B-3F43-F74E-FAD2-B72F9AB1AD26}"/>
              </a:ext>
            </a:extLst>
          </p:cNvPr>
          <p:cNvCxnSpPr>
            <a:cxnSpLocks/>
          </p:cNvCxnSpPr>
          <p:nvPr/>
        </p:nvCxnSpPr>
        <p:spPr>
          <a:xfrm flipV="1">
            <a:off x="7068818" y="3342825"/>
            <a:ext cx="1260522" cy="282711"/>
          </a:xfrm>
          <a:prstGeom prst="bentConnector3">
            <a:avLst>
              <a:gd name="adj1" fmla="val 7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AE048E76-2683-F018-43BA-28A8E3CFB02B}"/>
              </a:ext>
            </a:extLst>
          </p:cNvPr>
          <p:cNvCxnSpPr>
            <a:cxnSpLocks/>
          </p:cNvCxnSpPr>
          <p:nvPr/>
        </p:nvCxnSpPr>
        <p:spPr>
          <a:xfrm flipV="1">
            <a:off x="8899298" y="2955026"/>
            <a:ext cx="2535609" cy="691952"/>
          </a:xfrm>
          <a:prstGeom prst="bentConnector3">
            <a:avLst>
              <a:gd name="adj1" fmla="val 24407"/>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10A305C4-3E7B-5262-708A-23D3FBEF0ABA}"/>
              </a:ext>
            </a:extLst>
          </p:cNvPr>
          <p:cNvSpPr txBox="1"/>
          <p:nvPr/>
        </p:nvSpPr>
        <p:spPr>
          <a:xfrm>
            <a:off x="3562968" y="1263461"/>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FIFO</a:t>
            </a:r>
          </a:p>
        </p:txBody>
      </p:sp>
      <p:sp>
        <p:nvSpPr>
          <p:cNvPr id="101" name="!!Oval 100">
            <a:extLst>
              <a:ext uri="{FF2B5EF4-FFF2-40B4-BE49-F238E27FC236}">
                <a16:creationId xmlns:a16="http://schemas.microsoft.com/office/drawing/2014/main" id="{E854C1FE-710F-F09C-5BF7-B7E30FBB0790}"/>
              </a:ext>
            </a:extLst>
          </p:cNvPr>
          <p:cNvSpPr/>
          <p:nvPr/>
        </p:nvSpPr>
        <p:spPr>
          <a:xfrm>
            <a:off x="2017882" y="274824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DDD2FCBD-7E8F-0D60-1862-9186CBC4E498}"/>
              </a:ext>
            </a:extLst>
          </p:cNvPr>
          <p:cNvSpPr/>
          <p:nvPr/>
        </p:nvSpPr>
        <p:spPr>
          <a:xfrm>
            <a:off x="7033456" y="357581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2EA28198-D846-BF76-F289-9B1CB45FEBB5}"/>
              </a:ext>
            </a:extLst>
          </p:cNvPr>
          <p:cNvSpPr/>
          <p:nvPr/>
        </p:nvSpPr>
        <p:spPr>
          <a:xfrm>
            <a:off x="1721903" y="3712593"/>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B0A2170E-0030-FD1B-8018-811F2E3E3A1B}"/>
              </a:ext>
            </a:extLst>
          </p:cNvPr>
          <p:cNvCxnSpPr>
            <a:cxnSpLocks/>
            <a:stCxn id="105" idx="0"/>
            <a:endCxn id="77" idx="4"/>
          </p:cNvCxnSpPr>
          <p:nvPr/>
        </p:nvCxnSpPr>
        <p:spPr>
          <a:xfrm flipV="1">
            <a:off x="7693590" y="3796375"/>
            <a:ext cx="0" cy="42251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5F3980FC-10A5-CDC8-F439-944101B50E2F}"/>
              </a:ext>
            </a:extLst>
          </p:cNvPr>
          <p:cNvSpPr/>
          <p:nvPr/>
        </p:nvSpPr>
        <p:spPr>
          <a:xfrm>
            <a:off x="6854952" y="4218886"/>
            <a:ext cx="1677276" cy="3306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AEE4E85D-90DD-E87A-DEDF-8FEF979D34B4}"/>
                  </a:ext>
                </a:extLst>
              </p:cNvPr>
              <p:cNvSpPr txBox="1"/>
              <p:nvPr/>
            </p:nvSpPr>
            <p:spPr>
              <a:xfrm>
                <a:off x="342901" y="4821784"/>
                <a:ext cx="6613434" cy="153445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Output equations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2</m:t>
                                  </m:r>
                                </m:den>
                              </m:f>
                            </m:e>
                          </m:d>
                        </m:e>
                      </m:d>
                      <m:r>
                        <a:rPr lang="en-US" b="0" i="1" smtClean="0">
                          <a:latin typeface="Cambria Math" panose="02040503050406030204" pitchFamily="18" charset="0"/>
                        </a:rPr>
                        <m:t> </m:t>
                      </m:r>
                    </m:oMath>
                  </m:oMathPara>
                </a14:m>
                <a:endParaRPr lang="en-US" dirty="0"/>
              </a:p>
              <a:p>
                <a:pPr defTabSz="457200">
                  <a:spcBef>
                    <a:spcPts val="1000"/>
                  </a:spcBef>
                  <a:buClr>
                    <a:srgbClr val="1E4056"/>
                  </a:buClr>
                  <a:buSzPct val="75000"/>
                </a:pPr>
                <a:r>
                  <a:rPr lang="en-US" dirty="0"/>
                  <a:t>b</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e>
                        </m:d>
                      </m:e>
                    </m:d>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𝑛</m:t>
                        </m:r>
                      </m:sup>
                    </m:sSubSup>
                  </m:oMath>
                </a14:m>
                <a:endParaRPr lang="en-US" dirty="0"/>
              </a:p>
            </p:txBody>
          </p:sp>
        </mc:Choice>
        <mc:Fallback xmlns="">
          <p:sp>
            <p:nvSpPr>
              <p:cNvPr id="110" name="TextBox 109">
                <a:extLst>
                  <a:ext uri="{FF2B5EF4-FFF2-40B4-BE49-F238E27FC236}">
                    <a16:creationId xmlns:a16="http://schemas.microsoft.com/office/drawing/2014/main" id="{AEE4E85D-90DD-E87A-DEDF-8FEF979D34B4}"/>
                  </a:ext>
                </a:extLst>
              </p:cNvPr>
              <p:cNvSpPr txBox="1">
                <a:spLocks noRot="1" noChangeAspect="1" noMove="1" noResize="1" noEditPoints="1" noAdjustHandles="1" noChangeArrowheads="1" noChangeShapeType="1" noTextEdit="1"/>
              </p:cNvSpPr>
              <p:nvPr/>
            </p:nvSpPr>
            <p:spPr>
              <a:xfrm>
                <a:off x="342901" y="4821784"/>
                <a:ext cx="6613434" cy="1534459"/>
              </a:xfrm>
              <a:prstGeom prst="rect">
                <a:avLst/>
              </a:prstGeom>
              <a:blipFill>
                <a:blip r:embed="rId2"/>
                <a:stretch>
                  <a:fillRect l="-737" t="-1984" b="-397"/>
                </a:stretch>
              </a:blipFill>
            </p:spPr>
            <p:txBody>
              <a:bodyPr/>
              <a:lstStyle/>
              <a:p>
                <a:r>
                  <a:rPr lang="en-US">
                    <a:noFill/>
                  </a:rPr>
                  <a:t> </a:t>
                </a:r>
              </a:p>
            </p:txBody>
          </p:sp>
        </mc:Fallback>
      </mc:AlternateContent>
    </p:spTree>
    <p:extLst>
      <p:ext uri="{BB962C8B-B14F-4D97-AF65-F5344CB8AC3E}">
        <p14:creationId xmlns:p14="http://schemas.microsoft.com/office/powerpoint/2010/main" val="34289549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500"/>
                                        <p:tgtEl>
                                          <p:spTgt spid="103"/>
                                        </p:tgtEl>
                                      </p:cBhvr>
                                    </p:animEffect>
                                  </p:childTnLst>
                                </p:cTn>
                              </p:par>
                              <p:par>
                                <p:cTn id="8" presetID="10" presetClass="entr" presetSubtype="0" fill="hold" nodeType="with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animEffect transition="in" filter="fade">
                                      <p:cBhvr>
                                        <p:cTn id="13" dur="500"/>
                                        <p:tgtEl>
                                          <p:spTgt spid="71"/>
                                        </p:tgtEl>
                                      </p:cBhvr>
                                    </p:animEffect>
                                  </p:childTnLst>
                                </p:cTn>
                              </p:par>
                              <p:par>
                                <p:cTn id="14" presetID="10" presetClass="entr" presetSubtype="0" fill="hold" nodeType="withEffect">
                                  <p:stCondLst>
                                    <p:cond delay="0"/>
                                  </p:stCondLst>
                                  <p:childTnLst>
                                    <p:set>
                                      <p:cBhvr>
                                        <p:cTn id="15" dur="1" fill="hold">
                                          <p:stCondLst>
                                            <p:cond delay="0"/>
                                          </p:stCondLst>
                                        </p:cTn>
                                        <p:tgtEl>
                                          <p:spTgt spid="70"/>
                                        </p:tgtEl>
                                        <p:attrNameLst>
                                          <p:attrName>style.visibility</p:attrName>
                                        </p:attrNameLst>
                                      </p:cBhvr>
                                      <p:to>
                                        <p:strVal val="visible"/>
                                      </p:to>
                                    </p:set>
                                    <p:animEffect transition="in" filter="fade">
                                      <p:cBhvr>
                                        <p:cTn id="16" dur="500"/>
                                        <p:tgtEl>
                                          <p:spTgt spid="70"/>
                                        </p:tgtEl>
                                      </p:cBhvr>
                                    </p:animEffect>
                                  </p:childTnLst>
                                </p:cTn>
                              </p:par>
                              <p:par>
                                <p:cTn id="17" presetID="10" presetClass="entr" presetSubtype="0"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fade">
                                      <p:cBhvr>
                                        <p:cTn id="19" dur="500"/>
                                        <p:tgtEl>
                                          <p:spTgt spid="7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fade">
                                      <p:cBhvr>
                                        <p:cTn id="22" dur="500"/>
                                        <p:tgtEl>
                                          <p:spTgt spid="6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fade">
                                      <p:cBhvr>
                                        <p:cTn id="25" dur="500"/>
                                        <p:tgtEl>
                                          <p:spTgt spid="65"/>
                                        </p:tgtEl>
                                      </p:cBhvr>
                                    </p:animEffect>
                                  </p:childTnLst>
                                </p:cTn>
                              </p:par>
                              <p:par>
                                <p:cTn id="26" presetID="10" presetClass="entr" presetSubtype="0" fill="hold" nodeType="withEffect">
                                  <p:stCondLst>
                                    <p:cond delay="0"/>
                                  </p:stCondLst>
                                  <p:childTnLst>
                                    <p:set>
                                      <p:cBhvr>
                                        <p:cTn id="27" dur="1" fill="hold">
                                          <p:stCondLst>
                                            <p:cond delay="0"/>
                                          </p:stCondLst>
                                        </p:cTn>
                                        <p:tgtEl>
                                          <p:spTgt spid="76"/>
                                        </p:tgtEl>
                                        <p:attrNameLst>
                                          <p:attrName>style.visibility</p:attrName>
                                        </p:attrNameLst>
                                      </p:cBhvr>
                                      <p:to>
                                        <p:strVal val="visible"/>
                                      </p:to>
                                    </p:set>
                                    <p:animEffect transition="in" filter="fade">
                                      <p:cBhvr>
                                        <p:cTn id="28" dur="500"/>
                                        <p:tgtEl>
                                          <p:spTgt spid="7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animEffect transition="in" filter="fade">
                                      <p:cBhvr>
                                        <p:cTn id="31" dur="500"/>
                                        <p:tgtEl>
                                          <p:spTgt spid="105"/>
                                        </p:tgtEl>
                                      </p:cBhvr>
                                    </p:animEffect>
                                  </p:childTnLst>
                                </p:cTn>
                              </p:par>
                              <p:par>
                                <p:cTn id="32" presetID="10" presetClass="entr" presetSubtype="0" fill="hold" nodeType="withEffect">
                                  <p:stCondLst>
                                    <p:cond delay="0"/>
                                  </p:stCondLst>
                                  <p:childTnLst>
                                    <p:set>
                                      <p:cBhvr>
                                        <p:cTn id="33" dur="1" fill="hold">
                                          <p:stCondLst>
                                            <p:cond delay="0"/>
                                          </p:stCondLst>
                                        </p:cTn>
                                        <p:tgtEl>
                                          <p:spTgt spid="104"/>
                                        </p:tgtEl>
                                        <p:attrNameLst>
                                          <p:attrName>style.visibility</p:attrName>
                                        </p:attrNameLst>
                                      </p:cBhvr>
                                      <p:to>
                                        <p:strVal val="visible"/>
                                      </p:to>
                                    </p:set>
                                    <p:animEffect transition="in" filter="fade">
                                      <p:cBhvr>
                                        <p:cTn id="34" dur="500"/>
                                        <p:tgtEl>
                                          <p:spTgt spid="104"/>
                                        </p:tgtEl>
                                      </p:cBhvr>
                                    </p:animEffect>
                                  </p:childTnLst>
                                </p:cTn>
                              </p:par>
                              <p:par>
                                <p:cTn id="35" presetID="10" presetClass="entr" presetSubtype="0" fill="hold" nodeType="withEffect">
                                  <p:stCondLst>
                                    <p:cond delay="0"/>
                                  </p:stCondLst>
                                  <p:childTnLst>
                                    <p:set>
                                      <p:cBhvr>
                                        <p:cTn id="36" dur="1" fill="hold">
                                          <p:stCondLst>
                                            <p:cond delay="0"/>
                                          </p:stCondLst>
                                        </p:cTn>
                                        <p:tgtEl>
                                          <p:spTgt spid="97"/>
                                        </p:tgtEl>
                                        <p:attrNameLst>
                                          <p:attrName>style.visibility</p:attrName>
                                        </p:attrNameLst>
                                      </p:cBhvr>
                                      <p:to>
                                        <p:strVal val="visible"/>
                                      </p:to>
                                    </p:set>
                                    <p:animEffect transition="in" filter="fade">
                                      <p:cBhvr>
                                        <p:cTn id="37" dur="500"/>
                                        <p:tgtEl>
                                          <p:spTgt spid="9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gtEl>
                                        <p:attrNameLst>
                                          <p:attrName>style.visibility</p:attrName>
                                        </p:attrNameLst>
                                      </p:cBhvr>
                                      <p:to>
                                        <p:strVal val="visible"/>
                                      </p:to>
                                    </p:set>
                                    <p:animEffect transition="in" filter="fade">
                                      <p:cBhvr>
                                        <p:cTn id="40" dur="500"/>
                                        <p:tgtEl>
                                          <p:spTgt spid="93"/>
                                        </p:tgtEl>
                                      </p:cBhvr>
                                    </p:animEffect>
                                  </p:childTnLst>
                                </p:cTn>
                              </p:par>
                              <p:par>
                                <p:cTn id="41" presetID="10"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fade">
                                      <p:cBhvr>
                                        <p:cTn id="43" dur="500"/>
                                        <p:tgtEl>
                                          <p:spTgt spid="6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500"/>
                                        <p:tgtEl>
                                          <p:spTgt spid="44"/>
                                        </p:tgtEl>
                                      </p:cBhvr>
                                    </p:animEffect>
                                  </p:childTnLst>
                                </p:cTn>
                              </p:par>
                              <p:par>
                                <p:cTn id="47" presetID="10"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500"/>
                                        <p:tgtEl>
                                          <p:spTgt spid="47"/>
                                        </p:tgtEl>
                                      </p:cBhvr>
                                    </p:animEffect>
                                  </p:childTnLst>
                                </p:cTn>
                              </p:par>
                              <p:par>
                                <p:cTn id="50" presetID="10" presetClass="entr" presetSubtype="0" fill="hold" nodeType="with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500"/>
                                        <p:tgtEl>
                                          <p:spTgt spid="45"/>
                                        </p:tgtEl>
                                      </p:cBhvr>
                                    </p:animEffect>
                                  </p:childTnLst>
                                </p:cTn>
                              </p:par>
                              <p:par>
                                <p:cTn id="53" presetID="10"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nodeType="with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par>
                                <p:cTn id="62" presetID="10" presetClass="entr" presetSubtype="0" fill="hold" nodeType="with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500"/>
                                        <p:tgtEl>
                                          <p:spTgt spid="6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80"/>
                                        </p:tgtEl>
                                        <p:attrNameLst>
                                          <p:attrName>style.visibility</p:attrName>
                                        </p:attrNameLst>
                                      </p:cBhvr>
                                      <p:to>
                                        <p:strVal val="visible"/>
                                      </p:to>
                                    </p:set>
                                    <p:animEffect transition="in" filter="fade">
                                      <p:cBhvr>
                                        <p:cTn id="67" dur="500"/>
                                        <p:tgtEl>
                                          <p:spTgt spid="80"/>
                                        </p:tgtEl>
                                      </p:cBhvr>
                                    </p:animEffect>
                                  </p:childTnLst>
                                </p:cTn>
                              </p:par>
                              <p:par>
                                <p:cTn id="68" presetID="10" presetClass="entr" presetSubtype="0" fill="hold" nodeType="withEffect">
                                  <p:stCondLst>
                                    <p:cond delay="0"/>
                                  </p:stCondLst>
                                  <p:childTnLst>
                                    <p:set>
                                      <p:cBhvr>
                                        <p:cTn id="69" dur="1" fill="hold">
                                          <p:stCondLst>
                                            <p:cond delay="0"/>
                                          </p:stCondLst>
                                        </p:cTn>
                                        <p:tgtEl>
                                          <p:spTgt spid="73"/>
                                        </p:tgtEl>
                                        <p:attrNameLst>
                                          <p:attrName>style.visibility</p:attrName>
                                        </p:attrNameLst>
                                      </p:cBhvr>
                                      <p:to>
                                        <p:strVal val="visible"/>
                                      </p:to>
                                    </p:set>
                                    <p:animEffect transition="in" filter="fade">
                                      <p:cBhvr>
                                        <p:cTn id="70" dur="500"/>
                                        <p:tgtEl>
                                          <p:spTgt spid="73"/>
                                        </p:tgtEl>
                                      </p:cBhvr>
                                    </p:animEffect>
                                  </p:childTnLst>
                                </p:cTn>
                              </p:par>
                              <p:par>
                                <p:cTn id="71" presetID="10" presetClass="entr" presetSubtype="0" fill="hold" nodeType="with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fade">
                                      <p:cBhvr>
                                        <p:cTn id="73" dur="500"/>
                                        <p:tgtEl>
                                          <p:spTgt spid="54"/>
                                        </p:tgtEl>
                                      </p:cBhvr>
                                    </p:animEffect>
                                  </p:childTnLst>
                                </p:cTn>
                              </p:par>
                              <p:par>
                                <p:cTn id="74" presetID="10" presetClass="entr" presetSubtype="0" fill="hold" nodeType="withEffect">
                                  <p:stCondLst>
                                    <p:cond delay="0"/>
                                  </p:stCondLst>
                                  <p:childTnLst>
                                    <p:set>
                                      <p:cBhvr>
                                        <p:cTn id="75" dur="1" fill="hold">
                                          <p:stCondLst>
                                            <p:cond delay="0"/>
                                          </p:stCondLst>
                                        </p:cTn>
                                        <p:tgtEl>
                                          <p:spTgt spid="63"/>
                                        </p:tgtEl>
                                        <p:attrNameLst>
                                          <p:attrName>style.visibility</p:attrName>
                                        </p:attrNameLst>
                                      </p:cBhvr>
                                      <p:to>
                                        <p:strVal val="visible"/>
                                      </p:to>
                                    </p:set>
                                    <p:animEffect transition="in" filter="fade">
                                      <p:cBhvr>
                                        <p:cTn id="76" dur="500"/>
                                        <p:tgtEl>
                                          <p:spTgt spid="6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83"/>
                                        </p:tgtEl>
                                        <p:attrNameLst>
                                          <p:attrName>style.visibility</p:attrName>
                                        </p:attrNameLst>
                                      </p:cBhvr>
                                      <p:to>
                                        <p:strVal val="visible"/>
                                      </p:to>
                                    </p:set>
                                    <p:animEffect transition="in" filter="fade">
                                      <p:cBhvr>
                                        <p:cTn id="79" dur="500"/>
                                        <p:tgtEl>
                                          <p:spTgt spid="83"/>
                                        </p:tgtEl>
                                      </p:cBhvr>
                                    </p:animEffect>
                                  </p:childTnLst>
                                </p:cTn>
                              </p:par>
                              <p:par>
                                <p:cTn id="80" presetID="10" presetClass="entr" presetSubtype="0" fill="hold" nodeType="withEffect">
                                  <p:stCondLst>
                                    <p:cond delay="0"/>
                                  </p:stCondLst>
                                  <p:childTnLst>
                                    <p:set>
                                      <p:cBhvr>
                                        <p:cTn id="81" dur="1" fill="hold">
                                          <p:stCondLst>
                                            <p:cond delay="0"/>
                                          </p:stCondLst>
                                        </p:cTn>
                                        <p:tgtEl>
                                          <p:spTgt spid="62"/>
                                        </p:tgtEl>
                                        <p:attrNameLst>
                                          <p:attrName>style.visibility</p:attrName>
                                        </p:attrNameLst>
                                      </p:cBhvr>
                                      <p:to>
                                        <p:strVal val="visible"/>
                                      </p:to>
                                    </p:set>
                                    <p:animEffect transition="in" filter="fade">
                                      <p:cBhvr>
                                        <p:cTn id="82" dur="500"/>
                                        <p:tgtEl>
                                          <p:spTgt spid="6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1"/>
                                        </p:tgtEl>
                                        <p:attrNameLst>
                                          <p:attrName>style.visibility</p:attrName>
                                        </p:attrNameLst>
                                      </p:cBhvr>
                                      <p:to>
                                        <p:strVal val="visible"/>
                                      </p:to>
                                    </p:set>
                                    <p:animEffect transition="in" filter="fade">
                                      <p:cBhvr>
                                        <p:cTn id="85" dur="500"/>
                                        <p:tgtEl>
                                          <p:spTgt spid="81"/>
                                        </p:tgtEl>
                                      </p:cBhvr>
                                    </p:animEffect>
                                  </p:childTnLst>
                                </p:cTn>
                              </p:par>
                              <p:par>
                                <p:cTn id="86" presetID="10" presetClass="entr" presetSubtype="0" fill="hold" nodeType="withEffect">
                                  <p:stCondLst>
                                    <p:cond delay="0"/>
                                  </p:stCondLst>
                                  <p:childTnLst>
                                    <p:set>
                                      <p:cBhvr>
                                        <p:cTn id="87" dur="1" fill="hold">
                                          <p:stCondLst>
                                            <p:cond delay="0"/>
                                          </p:stCondLst>
                                        </p:cTn>
                                        <p:tgtEl>
                                          <p:spTgt spid="74"/>
                                        </p:tgtEl>
                                        <p:attrNameLst>
                                          <p:attrName>style.visibility</p:attrName>
                                        </p:attrNameLst>
                                      </p:cBhvr>
                                      <p:to>
                                        <p:strVal val="visible"/>
                                      </p:to>
                                    </p:set>
                                    <p:animEffect transition="in" filter="fade">
                                      <p:cBhvr>
                                        <p:cTn id="88" dur="500"/>
                                        <p:tgtEl>
                                          <p:spTgt spid="7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5"/>
                                        </p:tgtEl>
                                        <p:attrNameLst>
                                          <p:attrName>style.visibility</p:attrName>
                                        </p:attrNameLst>
                                      </p:cBhvr>
                                      <p:to>
                                        <p:strVal val="visible"/>
                                      </p:to>
                                    </p:set>
                                    <p:animEffect transition="in" filter="fade">
                                      <p:cBhvr>
                                        <p:cTn id="91" dur="500"/>
                                        <p:tgtEl>
                                          <p:spTgt spid="8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89"/>
                                        </p:tgtEl>
                                        <p:attrNameLst>
                                          <p:attrName>style.visibility</p:attrName>
                                        </p:attrNameLst>
                                      </p:cBhvr>
                                      <p:to>
                                        <p:strVal val="visible"/>
                                      </p:to>
                                    </p:set>
                                    <p:animEffect transition="in" filter="fade">
                                      <p:cBhvr>
                                        <p:cTn id="94" dur="500"/>
                                        <p:tgtEl>
                                          <p:spTgt spid="8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2"/>
                                        </p:tgtEl>
                                        <p:attrNameLst>
                                          <p:attrName>style.visibility</p:attrName>
                                        </p:attrNameLst>
                                      </p:cBhvr>
                                      <p:to>
                                        <p:strVal val="visible"/>
                                      </p:to>
                                    </p:set>
                                    <p:animEffect transition="in" filter="fade">
                                      <p:cBhvr>
                                        <p:cTn id="97" dur="500"/>
                                        <p:tgtEl>
                                          <p:spTgt spid="102"/>
                                        </p:tgtEl>
                                      </p:cBhvr>
                                    </p:animEffect>
                                  </p:childTnLst>
                                </p:cTn>
                              </p:par>
                              <p:par>
                                <p:cTn id="98" presetID="10" presetClass="entr" presetSubtype="0" fill="hold" nodeType="withEffect">
                                  <p:stCondLst>
                                    <p:cond delay="0"/>
                                  </p:stCondLst>
                                  <p:childTnLst>
                                    <p:set>
                                      <p:cBhvr>
                                        <p:cTn id="99" dur="1" fill="hold">
                                          <p:stCondLst>
                                            <p:cond delay="0"/>
                                          </p:stCondLst>
                                        </p:cTn>
                                        <p:tgtEl>
                                          <p:spTgt spid="98"/>
                                        </p:tgtEl>
                                        <p:attrNameLst>
                                          <p:attrName>style.visibility</p:attrName>
                                        </p:attrNameLst>
                                      </p:cBhvr>
                                      <p:to>
                                        <p:strVal val="visible"/>
                                      </p:to>
                                    </p:set>
                                    <p:animEffect transition="in" filter="fade">
                                      <p:cBhvr>
                                        <p:cTn id="100" dur="500"/>
                                        <p:tgtEl>
                                          <p:spTgt spid="9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00"/>
                                        </p:tgtEl>
                                        <p:attrNameLst>
                                          <p:attrName>style.visibility</p:attrName>
                                        </p:attrNameLst>
                                      </p:cBhvr>
                                      <p:to>
                                        <p:strVal val="visible"/>
                                      </p:to>
                                    </p:set>
                                    <p:animEffect transition="in" filter="fade">
                                      <p:cBhvr>
                                        <p:cTn id="103" dur="500"/>
                                        <p:tgtEl>
                                          <p:spTgt spid="100"/>
                                        </p:tgtEl>
                                      </p:cBhvr>
                                    </p:animEffect>
                                  </p:childTnLst>
                                </p:cTn>
                              </p:par>
                              <p:par>
                                <p:cTn id="104" presetID="10" presetClass="entr" presetSubtype="0" fill="hold" nodeType="withEffect">
                                  <p:stCondLst>
                                    <p:cond delay="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500"/>
                                        <p:tgtEl>
                                          <p:spTgt spid="6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2"/>
                                        </p:tgtEl>
                                        <p:attrNameLst>
                                          <p:attrName>style.visibility</p:attrName>
                                        </p:attrNameLst>
                                      </p:cBhvr>
                                      <p:to>
                                        <p:strVal val="visible"/>
                                      </p:to>
                                    </p:set>
                                    <p:animEffect transition="in" filter="fade">
                                      <p:cBhvr>
                                        <p:cTn id="109" dur="500"/>
                                        <p:tgtEl>
                                          <p:spTgt spid="8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84"/>
                                        </p:tgtEl>
                                        <p:attrNameLst>
                                          <p:attrName>style.visibility</p:attrName>
                                        </p:attrNameLst>
                                      </p:cBhvr>
                                      <p:to>
                                        <p:strVal val="visible"/>
                                      </p:to>
                                    </p:set>
                                    <p:animEffect transition="in" filter="fade">
                                      <p:cBhvr>
                                        <p:cTn id="112" dur="500"/>
                                        <p:tgtEl>
                                          <p:spTgt spid="8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96"/>
                                        </p:tgtEl>
                                        <p:attrNameLst>
                                          <p:attrName>style.visibility</p:attrName>
                                        </p:attrNameLst>
                                      </p:cBhvr>
                                      <p:to>
                                        <p:strVal val="visible"/>
                                      </p:to>
                                    </p:set>
                                    <p:animEffect transition="in" filter="fade">
                                      <p:cBhvr>
                                        <p:cTn id="115" dur="500"/>
                                        <p:tgtEl>
                                          <p:spTgt spid="96"/>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94"/>
                                        </p:tgtEl>
                                        <p:attrNameLst>
                                          <p:attrName>style.visibility</p:attrName>
                                        </p:attrNameLst>
                                      </p:cBhvr>
                                      <p:to>
                                        <p:strVal val="visible"/>
                                      </p:to>
                                    </p:set>
                                    <p:animEffect transition="in" filter="fade">
                                      <p:cBhvr>
                                        <p:cTn id="118" dur="500"/>
                                        <p:tgtEl>
                                          <p:spTgt spid="94"/>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95"/>
                                        </p:tgtEl>
                                        <p:attrNameLst>
                                          <p:attrName>style.visibility</p:attrName>
                                        </p:attrNameLst>
                                      </p:cBhvr>
                                      <p:to>
                                        <p:strVal val="visible"/>
                                      </p:to>
                                    </p:set>
                                    <p:animEffect transition="in" filter="fade">
                                      <p:cBhvr>
                                        <p:cTn id="121" dur="500"/>
                                        <p:tgtEl>
                                          <p:spTgt spid="95"/>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01"/>
                                        </p:tgtEl>
                                        <p:attrNameLst>
                                          <p:attrName>style.visibility</p:attrName>
                                        </p:attrNameLst>
                                      </p:cBhvr>
                                      <p:to>
                                        <p:strVal val="visible"/>
                                      </p:to>
                                    </p:set>
                                    <p:animEffect transition="in" filter="fade">
                                      <p:cBhvr>
                                        <p:cTn id="124" dur="500"/>
                                        <p:tgtEl>
                                          <p:spTgt spid="101"/>
                                        </p:tgtEl>
                                      </p:cBhvr>
                                    </p:animEffect>
                                  </p:childTnLst>
                                </p:cTn>
                              </p:par>
                              <p:par>
                                <p:cTn id="125" presetID="10" presetClass="entr" presetSubtype="0" fill="hold" nodeType="withEffect">
                                  <p:stCondLst>
                                    <p:cond delay="0"/>
                                  </p:stCondLst>
                                  <p:childTnLst>
                                    <p:set>
                                      <p:cBhvr>
                                        <p:cTn id="126" dur="1" fill="hold">
                                          <p:stCondLst>
                                            <p:cond delay="0"/>
                                          </p:stCondLst>
                                        </p:cTn>
                                        <p:tgtEl>
                                          <p:spTgt spid="99"/>
                                        </p:tgtEl>
                                        <p:attrNameLst>
                                          <p:attrName>style.visibility</p:attrName>
                                        </p:attrNameLst>
                                      </p:cBhvr>
                                      <p:to>
                                        <p:strVal val="visible"/>
                                      </p:to>
                                    </p:set>
                                    <p:animEffect transition="in" filter="fade">
                                      <p:cBhvr>
                                        <p:cTn id="127" dur="500"/>
                                        <p:tgtEl>
                                          <p:spTgt spid="99"/>
                                        </p:tgtEl>
                                      </p:cBhvr>
                                    </p:animEffect>
                                  </p:childTnLst>
                                </p:cTn>
                              </p:par>
                              <p:par>
                                <p:cTn id="128" presetID="10" presetClass="entr" presetSubtype="0" fill="hold" nodeType="with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500"/>
                                        <p:tgtEl>
                                          <p:spTgt spid="43"/>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110"/>
                                        </p:tgtEl>
                                        <p:attrNameLst>
                                          <p:attrName>style.visibility</p:attrName>
                                        </p:attrNameLst>
                                      </p:cBhvr>
                                      <p:to>
                                        <p:strVal val="visible"/>
                                      </p:to>
                                    </p:set>
                                    <p:animEffect transition="in" filter="fade">
                                      <p:cBhvr>
                                        <p:cTn id="138"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animBg="1"/>
      <p:bldP spid="64" grpId="0" animBg="1"/>
      <p:bldP spid="65" grpId="0" animBg="1"/>
      <p:bldP spid="71" grpId="0" animBg="1"/>
      <p:bldP spid="80" grpId="0"/>
      <p:bldP spid="81" grpId="0"/>
      <p:bldP spid="82" grpId="0"/>
      <p:bldP spid="83" grpId="0"/>
      <p:bldP spid="84" grpId="0"/>
      <p:bldP spid="85" grpId="0"/>
      <p:bldP spid="89" grpId="0"/>
      <p:bldP spid="93" grpId="0" animBg="1"/>
      <p:bldP spid="94" grpId="0"/>
      <p:bldP spid="95" grpId="0"/>
      <p:bldP spid="96" grpId="0"/>
      <p:bldP spid="100" grpId="0"/>
      <p:bldP spid="101" grpId="0" animBg="1"/>
      <p:bldP spid="102" grpId="0" animBg="1"/>
      <p:bldP spid="103" grpId="0" animBg="1"/>
      <p:bldP spid="105" grpId="0" animBg="1"/>
      <p:bldP spid="11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0A28D-F2B6-AE51-FE61-7454ED5BA8D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CF389D-A475-75D2-5649-CADDD67229B7}"/>
              </a:ext>
            </a:extLst>
          </p:cNvPr>
          <p:cNvSpPr>
            <a:spLocks noGrp="1"/>
          </p:cNvSpPr>
          <p:nvPr>
            <p:ph type="title"/>
          </p:nvPr>
        </p:nvSpPr>
        <p:spPr>
          <a:xfrm>
            <a:off x="342901" y="219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FC0DADB2-B781-9CB5-9CA5-B79EB55AE67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35AE538-194A-2D3C-C860-623D2B9F3BDB}"/>
              </a:ext>
            </a:extLst>
          </p:cNvPr>
          <p:cNvSpPr>
            <a:spLocks noGrp="1"/>
          </p:cNvSpPr>
          <p:nvPr>
            <p:ph type="sldNum" sz="quarter" idx="4"/>
          </p:nvPr>
        </p:nvSpPr>
        <p:spPr/>
        <p:txBody>
          <a:bodyPr/>
          <a:lstStyle/>
          <a:p>
            <a:pPr>
              <a:defRPr/>
            </a:pPr>
            <a:fld id="{A9CE67A1-BA7F-A74E-B5D7-615746DEEC2B}" type="slidenum">
              <a:rPr lang="en-US" smtClean="0"/>
              <a:pPr>
                <a:defRPr/>
              </a:pPr>
              <a:t>58</a:t>
            </a:fld>
            <a:endParaRPr lang="en-US" baseline="-11000" dirty="0"/>
          </a:p>
        </p:txBody>
      </p:sp>
      <p:sp>
        <p:nvSpPr>
          <p:cNvPr id="6" name="!!Date Placeholder 5">
            <a:extLst>
              <a:ext uri="{FF2B5EF4-FFF2-40B4-BE49-F238E27FC236}">
                <a16:creationId xmlns:a16="http://schemas.microsoft.com/office/drawing/2014/main" id="{678A6BA9-944A-0B1A-AD11-BF3A674D9B0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37" name="!!TextBox 136">
            <a:extLst>
              <a:ext uri="{FF2B5EF4-FFF2-40B4-BE49-F238E27FC236}">
                <a16:creationId xmlns:a16="http://schemas.microsoft.com/office/drawing/2014/main" id="{0DF82DDB-BCE6-825B-0D93-EF2D28ADCC87}"/>
              </a:ext>
            </a:extLst>
          </p:cNvPr>
          <p:cNvSpPr txBox="1"/>
          <p:nvPr/>
        </p:nvSpPr>
        <p:spPr>
          <a:xfrm>
            <a:off x="395414" y="4966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0E65F201-66C7-81CA-7F60-B5330F20929B}"/>
              </a:ext>
            </a:extLst>
          </p:cNvPr>
          <p:cNvSpPr/>
          <p:nvPr/>
        </p:nvSpPr>
        <p:spPr>
          <a:xfrm>
            <a:off x="1435514" y="2743199"/>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49A09E92-857F-7F10-2749-AD0650145AC9}"/>
              </a:ext>
            </a:extLst>
          </p:cNvPr>
          <p:cNvCxnSpPr>
            <a:cxnSpLocks/>
          </p:cNvCxnSpPr>
          <p:nvPr/>
        </p:nvCxnSpPr>
        <p:spPr>
          <a:xfrm>
            <a:off x="438095" y="5380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9994F945-BB39-C048-8D88-5EC392138467}"/>
              </a:ext>
            </a:extLst>
          </p:cNvPr>
          <p:cNvCxnSpPr>
            <a:cxnSpLocks/>
          </p:cNvCxnSpPr>
          <p:nvPr/>
        </p:nvCxnSpPr>
        <p:spPr>
          <a:xfrm>
            <a:off x="10504680" y="4597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A5B457DC-8EC5-5943-4810-A0F0E6DC99AC}"/>
              </a:ext>
            </a:extLst>
          </p:cNvPr>
          <p:cNvCxnSpPr>
            <a:cxnSpLocks/>
          </p:cNvCxnSpPr>
          <p:nvPr/>
        </p:nvCxnSpPr>
        <p:spPr>
          <a:xfrm flipH="1">
            <a:off x="866926" y="5322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7C49E280-2194-0FB7-AF30-4A4044F13422}"/>
              </a:ext>
            </a:extLst>
          </p:cNvPr>
          <p:cNvSpPr txBox="1"/>
          <p:nvPr/>
        </p:nvSpPr>
        <p:spPr>
          <a:xfrm>
            <a:off x="1054561" y="5380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2A93533C-4692-54D2-DDBF-F7025B976641}"/>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039EABE0-18EE-2C40-A712-599714861CA1}"/>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F8612E49-6A8D-615C-1CC1-3C873A38A13C}"/>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E1695E0B-4484-5A9C-1FAF-E1241511DFB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D96E1742-28FC-7BAF-AC74-44C44A01C38A}"/>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04C084B7-78C0-E516-1396-968AE88502E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30B0C461-DAA0-4CEA-7A97-EF2BFE5638A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FB9D267B-004A-CA58-7FE3-7CC2AA499B65}"/>
              </a:ext>
            </a:extLst>
          </p:cNvPr>
          <p:cNvSpPr txBox="1"/>
          <p:nvPr/>
        </p:nvSpPr>
        <p:spPr>
          <a:xfrm>
            <a:off x="10648189" y="4222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614691C7-5981-AB5A-0673-A1660F4591BA}"/>
              </a:ext>
            </a:extLst>
          </p:cNvPr>
          <p:cNvCxnSpPr>
            <a:cxnSpLocks/>
          </p:cNvCxnSpPr>
          <p:nvPr/>
        </p:nvCxnSpPr>
        <p:spPr>
          <a:xfrm flipH="1">
            <a:off x="10699820" y="4475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ADD5F1ED-F040-15BF-7105-B505B4339BAF}"/>
              </a:ext>
            </a:extLst>
          </p:cNvPr>
          <p:cNvSpPr txBox="1"/>
          <p:nvPr/>
        </p:nvSpPr>
        <p:spPr>
          <a:xfrm>
            <a:off x="10981630" y="4603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B23A5EE3-BB14-755A-8A8F-E51818CE9D39}"/>
              </a:ext>
            </a:extLst>
          </p:cNvPr>
          <p:cNvSpPr/>
          <p:nvPr/>
        </p:nvSpPr>
        <p:spPr>
          <a:xfrm>
            <a:off x="2671659" y="3917279"/>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A86B4B53-B106-B8B9-B455-92D2BC412069}"/>
              </a:ext>
            </a:extLst>
          </p:cNvPr>
          <p:cNvCxnSpPr>
            <a:cxnSpLocks/>
          </p:cNvCxnSpPr>
          <p:nvPr/>
        </p:nvCxnSpPr>
        <p:spPr>
          <a:xfrm>
            <a:off x="2671659" y="441122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440A745E-EF4F-859A-455E-A4FB393BF120}"/>
              </a:ext>
            </a:extLst>
          </p:cNvPr>
          <p:cNvCxnSpPr>
            <a:cxnSpLocks/>
          </p:cNvCxnSpPr>
          <p:nvPr/>
        </p:nvCxnSpPr>
        <p:spPr>
          <a:xfrm>
            <a:off x="2671659" y="5394966"/>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9990ACDA-881D-B931-91CB-34BC56F27173}"/>
              </a:ext>
            </a:extLst>
          </p:cNvPr>
          <p:cNvGrpSpPr/>
          <p:nvPr/>
        </p:nvGrpSpPr>
        <p:grpSpPr>
          <a:xfrm>
            <a:off x="3382766" y="4225445"/>
            <a:ext cx="371568" cy="371568"/>
            <a:chOff x="5114833" y="2825052"/>
            <a:chExt cx="371568" cy="371568"/>
          </a:xfrm>
        </p:grpSpPr>
        <p:sp>
          <p:nvSpPr>
            <p:cNvPr id="48" name="Oval 47">
              <a:extLst>
                <a:ext uri="{FF2B5EF4-FFF2-40B4-BE49-F238E27FC236}">
                  <a16:creationId xmlns:a16="http://schemas.microsoft.com/office/drawing/2014/main" id="{61E0D1AE-1737-D960-1A17-2BCC0CB65825}"/>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8BD408ED-C944-2E66-488E-0E67ACB19BA5}"/>
                </a:ext>
              </a:extLst>
            </p:cNvPr>
            <p:cNvCxnSpPr>
              <a:cxnSpLocks/>
              <a:stCxn id="48" idx="6"/>
              <a:endCxn id="4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3F092FEC-0C92-3BF3-8C7E-F1F7E7EA9D88}"/>
                </a:ext>
              </a:extLst>
            </p:cNvPr>
            <p:cNvCxnSpPr>
              <a:cxnSpLocks/>
              <a:stCxn id="48" idx="4"/>
              <a:endCxn id="4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17A24CFA-D841-A8E9-4B64-08C734C28230}"/>
              </a:ext>
            </a:extLst>
          </p:cNvPr>
          <p:cNvGrpSpPr/>
          <p:nvPr/>
        </p:nvGrpSpPr>
        <p:grpSpPr>
          <a:xfrm>
            <a:off x="3403179" y="5218514"/>
            <a:ext cx="371568" cy="371568"/>
            <a:chOff x="5114833" y="2825052"/>
            <a:chExt cx="371568" cy="371568"/>
          </a:xfrm>
        </p:grpSpPr>
        <p:sp>
          <p:nvSpPr>
            <p:cNvPr id="56" name="Oval 55">
              <a:extLst>
                <a:ext uri="{FF2B5EF4-FFF2-40B4-BE49-F238E27FC236}">
                  <a16:creationId xmlns:a16="http://schemas.microsoft.com/office/drawing/2014/main" id="{43F4A6B7-6A9C-4723-0CE5-B991BB9EAF64}"/>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4F1662AF-503D-1E07-D0BF-398CE6F2D2B8}"/>
                </a:ext>
              </a:extLst>
            </p:cNvPr>
            <p:cNvCxnSpPr>
              <a:cxnSpLocks/>
              <a:stCxn id="56" idx="6"/>
              <a:endCxn id="56"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016F2C52-457D-72CE-0582-62012915EAA3}"/>
                </a:ext>
              </a:extLst>
            </p:cNvPr>
            <p:cNvCxnSpPr>
              <a:cxnSpLocks/>
              <a:stCxn id="56" idx="4"/>
              <a:endCxn id="56"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62987E5D-6997-12AC-8B63-57F1BC1F3646}"/>
              </a:ext>
            </a:extLst>
          </p:cNvPr>
          <p:cNvCxnSpPr>
            <a:cxnSpLocks/>
            <a:endCxn id="56" idx="0"/>
          </p:cNvCxnSpPr>
          <p:nvPr/>
        </p:nvCxnSpPr>
        <p:spPr>
          <a:xfrm>
            <a:off x="2871705" y="4401898"/>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6B41FB6C-6861-8F89-7607-FD37F7ADE54A}"/>
              </a:ext>
            </a:extLst>
          </p:cNvPr>
          <p:cNvCxnSpPr>
            <a:cxnSpLocks/>
            <a:endCxn id="48" idx="4"/>
          </p:cNvCxnSpPr>
          <p:nvPr/>
        </p:nvCxnSpPr>
        <p:spPr>
          <a:xfrm flipV="1">
            <a:off x="2949708" y="4597013"/>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2B919495-9180-8128-205E-2DF3B65E9FB8}"/>
              </a:ext>
            </a:extLst>
          </p:cNvPr>
          <p:cNvCxnSpPr/>
          <p:nvPr/>
        </p:nvCxnSpPr>
        <p:spPr>
          <a:xfrm flipH="1">
            <a:off x="3125499" y="5527736"/>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4AD9E89E-1A27-B740-505E-DB4ADB8B5FBC}"/>
              </a:ext>
            </a:extLst>
          </p:cNvPr>
          <p:cNvCxnSpPr>
            <a:cxnSpLocks/>
          </p:cNvCxnSpPr>
          <p:nvPr/>
        </p:nvCxnSpPr>
        <p:spPr>
          <a:xfrm>
            <a:off x="3739844" y="4411229"/>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5F169815-8445-4D93-9997-B313ACE85A60}"/>
              </a:ext>
            </a:extLst>
          </p:cNvPr>
          <p:cNvCxnSpPr>
            <a:cxnSpLocks/>
            <a:stCxn id="56" idx="6"/>
          </p:cNvCxnSpPr>
          <p:nvPr/>
        </p:nvCxnSpPr>
        <p:spPr>
          <a:xfrm flipV="1">
            <a:off x="3774747" y="5394966"/>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7E7D4202-BFC0-9DBA-66B1-FDD824131EFA}"/>
              </a:ext>
            </a:extLst>
          </p:cNvPr>
          <p:cNvSpPr/>
          <p:nvPr/>
        </p:nvSpPr>
        <p:spPr>
          <a:xfrm>
            <a:off x="4500896" y="3579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67706A2E-8930-77BB-A8E5-3410BBFA407E}"/>
              </a:ext>
            </a:extLst>
          </p:cNvPr>
          <p:cNvSpPr/>
          <p:nvPr/>
        </p:nvSpPr>
        <p:spPr>
          <a:xfrm>
            <a:off x="4506267" y="5212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EA885D50-67C5-7D10-67C1-CEC5E3D504AE}"/>
              </a:ext>
            </a:extLst>
          </p:cNvPr>
          <p:cNvCxnSpPr/>
          <p:nvPr/>
        </p:nvCxnSpPr>
        <p:spPr>
          <a:xfrm>
            <a:off x="2051098" y="5382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6DA39382-C9F7-2ED4-7D19-1857E90985F1}"/>
              </a:ext>
            </a:extLst>
          </p:cNvPr>
          <p:cNvCxnSpPr>
            <a:cxnSpLocks/>
          </p:cNvCxnSpPr>
          <p:nvPr/>
        </p:nvCxnSpPr>
        <p:spPr>
          <a:xfrm rot="5400000" flipH="1" flipV="1">
            <a:off x="3987937" y="4134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57632ED2-8B25-7BFF-0F58-33E5B48D5181}"/>
              </a:ext>
            </a:extLst>
          </p:cNvPr>
          <p:cNvCxnSpPr>
            <a:cxnSpLocks/>
          </p:cNvCxnSpPr>
          <p:nvPr/>
        </p:nvCxnSpPr>
        <p:spPr>
          <a:xfrm flipH="1">
            <a:off x="4472756" y="3041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3819684B-5D60-7D1F-36B4-7CEB085F9D42}"/>
              </a:ext>
            </a:extLst>
          </p:cNvPr>
          <p:cNvSpPr/>
          <p:nvPr/>
        </p:nvSpPr>
        <p:spPr>
          <a:xfrm>
            <a:off x="3022871" y="2836799"/>
            <a:ext cx="143394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D35CB3E5-FCA2-F54C-C2CB-4E88BB6BEECF}"/>
              </a:ext>
            </a:extLst>
          </p:cNvPr>
          <p:cNvCxnSpPr>
            <a:cxnSpLocks/>
            <a:stCxn id="71" idx="1"/>
          </p:cNvCxnSpPr>
          <p:nvPr/>
        </p:nvCxnSpPr>
        <p:spPr>
          <a:xfrm rot="10800000" flipV="1">
            <a:off x="1784353" y="3041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28DAF9E3-444F-5C74-57D6-03F0C37B69C3}"/>
              </a:ext>
            </a:extLst>
          </p:cNvPr>
          <p:cNvCxnSpPr>
            <a:cxnSpLocks/>
          </p:cNvCxnSpPr>
          <p:nvPr/>
        </p:nvCxnSpPr>
        <p:spPr>
          <a:xfrm>
            <a:off x="1784352" y="4424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71DA4E85-1D86-2B37-0160-1DB034523628}"/>
              </a:ext>
            </a:extLst>
          </p:cNvPr>
          <p:cNvCxnSpPr>
            <a:cxnSpLocks/>
          </p:cNvCxnSpPr>
          <p:nvPr/>
        </p:nvCxnSpPr>
        <p:spPr>
          <a:xfrm flipV="1">
            <a:off x="2075647" y="3712380"/>
            <a:ext cx="2454973" cy="727569"/>
          </a:xfrm>
          <a:prstGeom prst="bentConnector3">
            <a:avLst>
              <a:gd name="adj1" fmla="val -63"/>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D5A0416F-F140-F2CA-4DCF-80064A06B964}"/>
              </a:ext>
            </a:extLst>
          </p:cNvPr>
          <p:cNvCxnSpPr>
            <a:cxnSpLocks/>
          </p:cNvCxnSpPr>
          <p:nvPr/>
        </p:nvCxnSpPr>
        <p:spPr>
          <a:xfrm>
            <a:off x="5080820" y="4076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F195D25D-8D78-E5A1-9E40-405CFFF5A283}"/>
              </a:ext>
            </a:extLst>
          </p:cNvPr>
          <p:cNvGrpSpPr/>
          <p:nvPr/>
        </p:nvGrpSpPr>
        <p:grpSpPr>
          <a:xfrm>
            <a:off x="7507806" y="5066794"/>
            <a:ext cx="371568" cy="371568"/>
            <a:chOff x="5114833" y="2825052"/>
            <a:chExt cx="371568" cy="371568"/>
          </a:xfrm>
        </p:grpSpPr>
        <p:sp>
          <p:nvSpPr>
            <p:cNvPr id="77" name="Oval 76">
              <a:extLst>
                <a:ext uri="{FF2B5EF4-FFF2-40B4-BE49-F238E27FC236}">
                  <a16:creationId xmlns:a16="http://schemas.microsoft.com/office/drawing/2014/main" id="{689C8D58-3C08-8B4E-2CE6-E66E9751D975}"/>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8DC40344-E6EE-B100-3891-9E236F901165}"/>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F1F87117-B0AE-A0E4-6542-979B2912AA30}"/>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6BD7F1BF-531B-8F83-36C2-9FB3A053797D}"/>
              </a:ext>
            </a:extLst>
          </p:cNvPr>
          <p:cNvSpPr txBox="1"/>
          <p:nvPr/>
        </p:nvSpPr>
        <p:spPr>
          <a:xfrm>
            <a:off x="3097543" y="3917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81" name="!!TextBox 80">
            <a:extLst>
              <a:ext uri="{FF2B5EF4-FFF2-40B4-BE49-F238E27FC236}">
                <a16:creationId xmlns:a16="http://schemas.microsoft.com/office/drawing/2014/main" id="{799344E1-4AFB-17F7-AE6B-546D7A084156}"/>
              </a:ext>
            </a:extLst>
          </p:cNvPr>
          <p:cNvSpPr txBox="1"/>
          <p:nvPr/>
        </p:nvSpPr>
        <p:spPr>
          <a:xfrm>
            <a:off x="4545287" y="3622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2" name="!!TextBox 81">
            <a:extLst>
              <a:ext uri="{FF2B5EF4-FFF2-40B4-BE49-F238E27FC236}">
                <a16:creationId xmlns:a16="http://schemas.microsoft.com/office/drawing/2014/main" id="{50996F02-1FA3-ED05-C4D8-24616DC8B04C}"/>
              </a:ext>
            </a:extLst>
          </p:cNvPr>
          <p:cNvSpPr txBox="1"/>
          <p:nvPr/>
        </p:nvSpPr>
        <p:spPr>
          <a:xfrm>
            <a:off x="4552980" y="5298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047A88B5-D503-CBA3-DE38-5C8DE1707896}"/>
              </a:ext>
            </a:extLst>
          </p:cNvPr>
          <p:cNvSpPr txBox="1"/>
          <p:nvPr/>
        </p:nvSpPr>
        <p:spPr>
          <a:xfrm>
            <a:off x="4558961" y="4282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4" name="!!TextBox 83">
            <a:extLst>
              <a:ext uri="{FF2B5EF4-FFF2-40B4-BE49-F238E27FC236}">
                <a16:creationId xmlns:a16="http://schemas.microsoft.com/office/drawing/2014/main" id="{DD5DA133-1E81-D4AA-2391-C954D01A6059}"/>
              </a:ext>
            </a:extLst>
          </p:cNvPr>
          <p:cNvSpPr txBox="1"/>
          <p:nvPr/>
        </p:nvSpPr>
        <p:spPr>
          <a:xfrm>
            <a:off x="4552980" y="5839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743537B0-9843-743D-4A5A-6194CF66B46D}"/>
              </a:ext>
            </a:extLst>
          </p:cNvPr>
          <p:cNvSpPr txBox="1"/>
          <p:nvPr/>
        </p:nvSpPr>
        <p:spPr>
          <a:xfrm>
            <a:off x="4652957" y="3961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89" name="!!TextBox 88">
            <a:extLst>
              <a:ext uri="{FF2B5EF4-FFF2-40B4-BE49-F238E27FC236}">
                <a16:creationId xmlns:a16="http://schemas.microsoft.com/office/drawing/2014/main" id="{AA746E07-A07A-BFB5-7220-99A1F3B0F949}"/>
              </a:ext>
            </a:extLst>
          </p:cNvPr>
          <p:cNvSpPr txBox="1"/>
          <p:nvPr/>
        </p:nvSpPr>
        <p:spPr>
          <a:xfrm>
            <a:off x="4661031" y="5588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34E1EBB9-69D3-084C-35B5-87589B87575B}"/>
              </a:ext>
            </a:extLst>
          </p:cNvPr>
          <p:cNvSpPr/>
          <p:nvPr/>
        </p:nvSpPr>
        <p:spPr>
          <a:xfrm>
            <a:off x="8329340" y="4813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17A8A871-DF33-48DD-B7B3-AC3F79F5BEBC}"/>
              </a:ext>
            </a:extLst>
          </p:cNvPr>
          <p:cNvSpPr txBox="1"/>
          <p:nvPr/>
        </p:nvSpPr>
        <p:spPr>
          <a:xfrm>
            <a:off x="8373731" y="4856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FB4E7085-1624-DCA0-4FFC-287E585D9F17}"/>
              </a:ext>
            </a:extLst>
          </p:cNvPr>
          <p:cNvSpPr txBox="1"/>
          <p:nvPr/>
        </p:nvSpPr>
        <p:spPr>
          <a:xfrm>
            <a:off x="8379726" y="5485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AB5AC476-D691-5C49-A944-DB6D461D1F85}"/>
              </a:ext>
            </a:extLst>
          </p:cNvPr>
          <p:cNvSpPr txBox="1"/>
          <p:nvPr/>
        </p:nvSpPr>
        <p:spPr>
          <a:xfrm>
            <a:off x="8481401" y="5195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C0DB215F-7C79-AC0A-DB7E-9BB7F4B0CBD1}"/>
              </a:ext>
            </a:extLst>
          </p:cNvPr>
          <p:cNvCxnSpPr>
            <a:cxnSpLocks/>
            <a:stCxn id="77" idx="6"/>
          </p:cNvCxnSpPr>
          <p:nvPr/>
        </p:nvCxnSpPr>
        <p:spPr>
          <a:xfrm>
            <a:off x="7879374" y="5252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0E1B4211-394C-9723-AD33-BF6ACBC11340}"/>
              </a:ext>
            </a:extLst>
          </p:cNvPr>
          <p:cNvCxnSpPr>
            <a:cxnSpLocks/>
          </p:cNvCxnSpPr>
          <p:nvPr/>
        </p:nvCxnSpPr>
        <p:spPr>
          <a:xfrm flipV="1">
            <a:off x="7068818" y="4984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87207A56-9465-329D-C5B2-80303A5916CA}"/>
              </a:ext>
            </a:extLst>
          </p:cNvPr>
          <p:cNvCxnSpPr>
            <a:cxnSpLocks/>
          </p:cNvCxnSpPr>
          <p:nvPr/>
        </p:nvCxnSpPr>
        <p:spPr>
          <a:xfrm flipV="1">
            <a:off x="8899298" y="4597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65C50CA0-2FE8-3935-9A0D-BD242D1D876C}"/>
              </a:ext>
            </a:extLst>
          </p:cNvPr>
          <p:cNvSpPr txBox="1"/>
          <p:nvPr/>
        </p:nvSpPr>
        <p:spPr>
          <a:xfrm>
            <a:off x="3562968" y="2905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101" name="!!Oval 100">
            <a:extLst>
              <a:ext uri="{FF2B5EF4-FFF2-40B4-BE49-F238E27FC236}">
                <a16:creationId xmlns:a16="http://schemas.microsoft.com/office/drawing/2014/main" id="{B53E8759-C7B9-AFEC-8E1E-B92FF86D7AD9}"/>
              </a:ext>
            </a:extLst>
          </p:cNvPr>
          <p:cNvSpPr/>
          <p:nvPr/>
        </p:nvSpPr>
        <p:spPr>
          <a:xfrm>
            <a:off x="2017882" y="4390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510D948A-391C-4B8A-7656-81A358DB8F8B}"/>
              </a:ext>
            </a:extLst>
          </p:cNvPr>
          <p:cNvSpPr/>
          <p:nvPr/>
        </p:nvSpPr>
        <p:spPr>
          <a:xfrm>
            <a:off x="7033456" y="5217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266B6287-E378-8A31-7B66-C32088078E48}"/>
              </a:ext>
            </a:extLst>
          </p:cNvPr>
          <p:cNvSpPr/>
          <p:nvPr/>
        </p:nvSpPr>
        <p:spPr>
          <a:xfrm>
            <a:off x="1721903" y="5354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0651BD1B-A67C-5A61-DFD9-4A66C1A66FB6}"/>
              </a:ext>
            </a:extLst>
          </p:cNvPr>
          <p:cNvCxnSpPr>
            <a:cxnSpLocks/>
            <a:stCxn id="105" idx="0"/>
            <a:endCxn id="77" idx="4"/>
          </p:cNvCxnSpPr>
          <p:nvPr/>
        </p:nvCxnSpPr>
        <p:spPr>
          <a:xfrm flipV="1">
            <a:off x="7693590" y="5438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330616A8-D28C-CF32-F67A-1C6DF00C184B}"/>
              </a:ext>
            </a:extLst>
          </p:cNvPr>
          <p:cNvSpPr/>
          <p:nvPr/>
        </p:nvSpPr>
        <p:spPr>
          <a:xfrm>
            <a:off x="6854952" y="5860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2" name="TextBox 1">
            <a:extLst>
              <a:ext uri="{FF2B5EF4-FFF2-40B4-BE49-F238E27FC236}">
                <a16:creationId xmlns:a16="http://schemas.microsoft.com/office/drawing/2014/main" id="{279E18C6-5A47-8F15-1ED1-CAE12BDE236B}"/>
              </a:ext>
            </a:extLst>
          </p:cNvPr>
          <p:cNvSpPr txBox="1"/>
          <p:nvPr/>
        </p:nvSpPr>
        <p:spPr>
          <a:xfrm>
            <a:off x="354861" y="810580"/>
            <a:ext cx="10833779" cy="1605568"/>
          </a:xfrm>
          <a:prstGeom prst="rect">
            <a:avLst/>
          </a:prstGeom>
          <a:noFill/>
        </p:spPr>
        <p:txBody>
          <a:bodyPr wrap="square">
            <a:spAutoFit/>
          </a:bodyPr>
          <a:lstStyle/>
          <a:p>
            <a:pPr defTabSz="457200">
              <a:spcBef>
                <a:spcPts val="1000"/>
              </a:spcBef>
              <a:buClr>
                <a:srgbClr val="1E4056"/>
              </a:buClr>
              <a:buSzPct val="75000"/>
            </a:pPr>
            <a:r>
              <a:rPr lang="en-US" b="1" dirty="0"/>
              <a:t>1- Butterfly</a:t>
            </a:r>
            <a:r>
              <a:rPr lang="en-US" dirty="0"/>
              <a:t>  																			  </a:t>
            </a:r>
            <a:r>
              <a:rPr lang="en-US" b="1" dirty="0"/>
              <a:t>Function: the core of the stage it does both addition and subtraction, and, in some implementation, it contains also the multiplier block   </a:t>
            </a:r>
          </a:p>
          <a:p>
            <a:pPr defTabSz="457200">
              <a:spcBef>
                <a:spcPts val="1000"/>
              </a:spcBef>
              <a:buClr>
                <a:srgbClr val="1E4056"/>
              </a:buClr>
              <a:buSzPct val="75000"/>
            </a:pPr>
            <a:r>
              <a:rPr lang="en-US" b="1" dirty="0"/>
              <a:t>2- Multiplier 																			      Function: Multiplication the output difference from the Butterfly unit </a:t>
            </a:r>
            <a:endParaRPr lang="en-US" dirty="0"/>
          </a:p>
        </p:txBody>
      </p:sp>
      <p:grpSp>
        <p:nvGrpSpPr>
          <p:cNvPr id="16" name="!!Group 75">
            <a:extLst>
              <a:ext uri="{FF2B5EF4-FFF2-40B4-BE49-F238E27FC236}">
                <a16:creationId xmlns:a16="http://schemas.microsoft.com/office/drawing/2014/main" id="{C9E5568A-2999-1C41-D475-C2298EFE5659}"/>
              </a:ext>
            </a:extLst>
          </p:cNvPr>
          <p:cNvGrpSpPr/>
          <p:nvPr/>
        </p:nvGrpSpPr>
        <p:grpSpPr>
          <a:xfrm>
            <a:off x="7510413" y="5074793"/>
            <a:ext cx="371568" cy="371568"/>
            <a:chOff x="5114833" y="2825052"/>
            <a:chExt cx="371568" cy="371568"/>
          </a:xfrm>
        </p:grpSpPr>
        <p:sp>
          <p:nvSpPr>
            <p:cNvPr id="17" name="Oval 16">
              <a:extLst>
                <a:ext uri="{FF2B5EF4-FFF2-40B4-BE49-F238E27FC236}">
                  <a16:creationId xmlns:a16="http://schemas.microsoft.com/office/drawing/2014/main" id="{73CE1284-A4B3-765A-7E4F-FC4335875AE7}"/>
                </a:ext>
              </a:extLst>
            </p:cNvPr>
            <p:cNvSpPr/>
            <p:nvPr/>
          </p:nvSpPr>
          <p:spPr>
            <a:xfrm>
              <a:off x="5114833" y="2825052"/>
              <a:ext cx="371568" cy="371568"/>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99121C54-793A-4117-CAD8-AF2CBBFA2205}"/>
                </a:ext>
              </a:extLst>
            </p:cNvPr>
            <p:cNvCxnSpPr>
              <a:cxnSpLocks/>
              <a:stCxn id="17" idx="7"/>
              <a:endCxn id="17" idx="3"/>
            </p:cNvCxnSpPr>
            <p:nvPr/>
          </p:nvCxnSpPr>
          <p:spPr>
            <a:xfrm flipH="1">
              <a:off x="5169248" y="2879467"/>
              <a:ext cx="262738" cy="26273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959EFE7C-E0C1-1F35-3AF5-6CCDCFD59499}"/>
                </a:ext>
              </a:extLst>
            </p:cNvPr>
            <p:cNvCxnSpPr>
              <a:cxnSpLocks/>
              <a:stCxn id="17" idx="5"/>
              <a:endCxn id="17" idx="1"/>
            </p:cNvCxnSpPr>
            <p:nvPr/>
          </p:nvCxnSpPr>
          <p:spPr>
            <a:xfrm flipH="1" flipV="1">
              <a:off x="5169248" y="2879467"/>
              <a:ext cx="262738" cy="26273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7101368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8B43EEB0-3A92-3F5D-6F72-91A833F5FE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98B550-A9A0-A8EF-5B29-0687C5303165}"/>
              </a:ext>
            </a:extLst>
          </p:cNvPr>
          <p:cNvSpPr>
            <a:spLocks noGrp="1"/>
          </p:cNvSpPr>
          <p:nvPr>
            <p:ph type="title"/>
          </p:nvPr>
        </p:nvSpPr>
        <p:spPr>
          <a:xfrm>
            <a:off x="354860" y="216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75D003F8-2A5A-7A8D-C180-30973B865778}"/>
              </a:ext>
            </a:extLst>
          </p:cNvPr>
          <p:cNvSpPr>
            <a:spLocks noGrp="1"/>
          </p:cNvSpPr>
          <p:nvPr>
            <p:ph type="ftr" sz="quarter" idx="3"/>
          </p:nvPr>
        </p:nvSpPr>
        <p:spPr>
          <a:xfrm>
            <a:off x="354860" y="6613018"/>
            <a:ext cx="8059641" cy="241982"/>
          </a:xfrm>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75A7A93-9D10-091E-E802-DB8E298D706A}"/>
              </a:ext>
            </a:extLst>
          </p:cNvPr>
          <p:cNvSpPr>
            <a:spLocks noGrp="1"/>
          </p:cNvSpPr>
          <p:nvPr>
            <p:ph type="sldNum" sz="quarter" idx="4"/>
          </p:nvPr>
        </p:nvSpPr>
        <p:spPr>
          <a:xfrm>
            <a:off x="10641861" y="6610018"/>
            <a:ext cx="1219198" cy="241982"/>
          </a:xfrm>
        </p:spPr>
        <p:txBody>
          <a:bodyPr/>
          <a:lstStyle/>
          <a:p>
            <a:pPr>
              <a:defRPr/>
            </a:pPr>
            <a:fld id="{A9CE67A1-BA7F-A74E-B5D7-615746DEEC2B}" type="slidenum">
              <a:rPr lang="en-US" smtClean="0"/>
              <a:pPr>
                <a:defRPr/>
              </a:pPr>
              <a:t>59</a:t>
            </a:fld>
            <a:endParaRPr lang="en-US" baseline="-11000" dirty="0"/>
          </a:p>
        </p:txBody>
      </p:sp>
      <p:sp>
        <p:nvSpPr>
          <p:cNvPr id="6" name="!!Date Placeholder 5">
            <a:extLst>
              <a:ext uri="{FF2B5EF4-FFF2-40B4-BE49-F238E27FC236}">
                <a16:creationId xmlns:a16="http://schemas.microsoft.com/office/drawing/2014/main" id="{CD9FBF3B-0EE8-A5C6-034C-529D64B73DA6}"/>
              </a:ext>
            </a:extLst>
          </p:cNvPr>
          <p:cNvSpPr>
            <a:spLocks noGrp="1"/>
          </p:cNvSpPr>
          <p:nvPr>
            <p:ph type="dt" sz="half" idx="2"/>
          </p:nvPr>
        </p:nvSpPr>
        <p:spPr>
          <a:xfrm>
            <a:off x="8414501" y="6613018"/>
            <a:ext cx="2227358" cy="241982"/>
          </a:xfrm>
        </p:spPr>
        <p:txBody>
          <a:bodyPr/>
          <a:lstStyle/>
          <a:p>
            <a:fld id="{EAFD7BB1-AB7F-4336-A8B3-6627E5D36FE4}" type="datetime3">
              <a:rPr lang="en-US" smtClean="0"/>
              <a:t>19 March 2026</a:t>
            </a:fld>
            <a:endParaRPr lang="en-US" dirty="0"/>
          </a:p>
        </p:txBody>
      </p:sp>
      <p:sp>
        <p:nvSpPr>
          <p:cNvPr id="137" name="!!TextBox 136">
            <a:extLst>
              <a:ext uri="{FF2B5EF4-FFF2-40B4-BE49-F238E27FC236}">
                <a16:creationId xmlns:a16="http://schemas.microsoft.com/office/drawing/2014/main" id="{AD8D4D8E-DAB1-72F3-97DD-6A6ED10EC10F}"/>
              </a:ext>
            </a:extLst>
          </p:cNvPr>
          <p:cNvSpPr txBox="1"/>
          <p:nvPr/>
        </p:nvSpPr>
        <p:spPr>
          <a:xfrm>
            <a:off x="407373" y="4963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35A45DF2-423B-D4ED-61F4-4E7499076567}"/>
              </a:ext>
            </a:extLst>
          </p:cNvPr>
          <p:cNvSpPr/>
          <p:nvPr/>
        </p:nvSpPr>
        <p:spPr>
          <a:xfrm>
            <a:off x="1447473" y="2740199"/>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E07CAD67-F072-9280-BA77-3DEFF2E37740}"/>
              </a:ext>
            </a:extLst>
          </p:cNvPr>
          <p:cNvCxnSpPr>
            <a:cxnSpLocks/>
          </p:cNvCxnSpPr>
          <p:nvPr/>
        </p:nvCxnSpPr>
        <p:spPr>
          <a:xfrm>
            <a:off x="450054" y="5377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CDF74F7C-5459-E4E8-B83B-2794294353D8}"/>
              </a:ext>
            </a:extLst>
          </p:cNvPr>
          <p:cNvCxnSpPr>
            <a:cxnSpLocks/>
          </p:cNvCxnSpPr>
          <p:nvPr/>
        </p:nvCxnSpPr>
        <p:spPr>
          <a:xfrm>
            <a:off x="10516639" y="4594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6E81CA56-44A7-ED52-401C-7DAE69A04E13}"/>
              </a:ext>
            </a:extLst>
          </p:cNvPr>
          <p:cNvCxnSpPr>
            <a:cxnSpLocks/>
          </p:cNvCxnSpPr>
          <p:nvPr/>
        </p:nvCxnSpPr>
        <p:spPr>
          <a:xfrm flipH="1">
            <a:off x="878885" y="5319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14945E76-15BC-6173-041A-355F4DF9DFD9}"/>
              </a:ext>
            </a:extLst>
          </p:cNvPr>
          <p:cNvSpPr txBox="1"/>
          <p:nvPr/>
        </p:nvSpPr>
        <p:spPr>
          <a:xfrm>
            <a:off x="1066520"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A1B6B124-3568-846B-0098-1500DF01E52A}"/>
              </a:ext>
            </a:extLst>
          </p:cNvPr>
          <p:cNvSpPr txBox="1"/>
          <p:nvPr/>
        </p:nvSpPr>
        <p:spPr>
          <a:xfrm>
            <a:off x="1567214" y="6592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63DEA4E1-25CF-C3BE-7F92-A998AD6388C2}"/>
              </a:ext>
            </a:extLst>
          </p:cNvPr>
          <p:cNvSpPr txBox="1"/>
          <p:nvPr/>
        </p:nvSpPr>
        <p:spPr>
          <a:xfrm>
            <a:off x="2923385" y="6592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FA219C1A-FD66-39B7-5F5F-2C56C848001D}"/>
              </a:ext>
            </a:extLst>
          </p:cNvPr>
          <p:cNvSpPr txBox="1"/>
          <p:nvPr/>
        </p:nvSpPr>
        <p:spPr>
          <a:xfrm>
            <a:off x="4222120" y="6592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2EC0EE0D-6DF8-D7C8-B342-3A59BE8BB51C}"/>
              </a:ext>
            </a:extLst>
          </p:cNvPr>
          <p:cNvSpPr txBox="1"/>
          <p:nvPr/>
        </p:nvSpPr>
        <p:spPr>
          <a:xfrm>
            <a:off x="5709749" y="6592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C72AA836-8689-FD29-4379-BCAA41469D15}"/>
              </a:ext>
            </a:extLst>
          </p:cNvPr>
          <p:cNvSpPr txBox="1"/>
          <p:nvPr/>
        </p:nvSpPr>
        <p:spPr>
          <a:xfrm>
            <a:off x="6025486" y="6592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472461B4-3BF8-C4A5-32DE-2325BE7E5DBB}"/>
              </a:ext>
            </a:extLst>
          </p:cNvPr>
          <p:cNvSpPr txBox="1"/>
          <p:nvPr/>
        </p:nvSpPr>
        <p:spPr>
          <a:xfrm>
            <a:off x="7241514" y="6592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E51CE617-8C2D-C181-70FC-42EA256D7A87}"/>
              </a:ext>
            </a:extLst>
          </p:cNvPr>
          <p:cNvSpPr txBox="1"/>
          <p:nvPr/>
        </p:nvSpPr>
        <p:spPr>
          <a:xfrm>
            <a:off x="7972318" y="6592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470B6581-09E1-2712-8CD3-4E9AD10E0269}"/>
              </a:ext>
            </a:extLst>
          </p:cNvPr>
          <p:cNvSpPr txBox="1"/>
          <p:nvPr/>
        </p:nvSpPr>
        <p:spPr>
          <a:xfrm>
            <a:off x="10660148" y="4219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EE56D375-4C7C-BBD5-FAB1-631C26E8493A}"/>
              </a:ext>
            </a:extLst>
          </p:cNvPr>
          <p:cNvCxnSpPr>
            <a:cxnSpLocks/>
          </p:cNvCxnSpPr>
          <p:nvPr/>
        </p:nvCxnSpPr>
        <p:spPr>
          <a:xfrm flipH="1">
            <a:off x="10711779" y="4472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DCA1666D-6B27-6241-6762-350AAF281146}"/>
              </a:ext>
            </a:extLst>
          </p:cNvPr>
          <p:cNvSpPr txBox="1"/>
          <p:nvPr/>
        </p:nvSpPr>
        <p:spPr>
          <a:xfrm>
            <a:off x="10993589" y="4600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9C27CAC3-B0EB-55A0-C58D-07C5F7EBBFA0}"/>
              </a:ext>
            </a:extLst>
          </p:cNvPr>
          <p:cNvSpPr/>
          <p:nvPr/>
        </p:nvSpPr>
        <p:spPr>
          <a:xfrm>
            <a:off x="2683618" y="3914279"/>
            <a:ext cx="1433945" cy="1865008"/>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51D666A1-5CF5-B895-0061-2425D7F4FB01}"/>
              </a:ext>
            </a:extLst>
          </p:cNvPr>
          <p:cNvCxnSpPr>
            <a:cxnSpLocks/>
          </p:cNvCxnSpPr>
          <p:nvPr/>
        </p:nvCxnSpPr>
        <p:spPr>
          <a:xfrm>
            <a:off x="2683618" y="440822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A80A65D2-FA8D-4381-AB80-39639C819803}"/>
              </a:ext>
            </a:extLst>
          </p:cNvPr>
          <p:cNvCxnSpPr>
            <a:cxnSpLocks/>
          </p:cNvCxnSpPr>
          <p:nvPr/>
        </p:nvCxnSpPr>
        <p:spPr>
          <a:xfrm>
            <a:off x="2683618" y="5391966"/>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29124717-4797-BE69-6BDF-89B24E94BCD8}"/>
              </a:ext>
            </a:extLst>
          </p:cNvPr>
          <p:cNvGrpSpPr/>
          <p:nvPr/>
        </p:nvGrpSpPr>
        <p:grpSpPr>
          <a:xfrm>
            <a:off x="3394725" y="4222445"/>
            <a:ext cx="371568" cy="371568"/>
            <a:chOff x="5114833" y="2825052"/>
            <a:chExt cx="371568" cy="371568"/>
          </a:xfrm>
        </p:grpSpPr>
        <p:sp>
          <p:nvSpPr>
            <p:cNvPr id="48" name="Oval 47">
              <a:extLst>
                <a:ext uri="{FF2B5EF4-FFF2-40B4-BE49-F238E27FC236}">
                  <a16:creationId xmlns:a16="http://schemas.microsoft.com/office/drawing/2014/main" id="{7216CB1A-0638-FABE-3A8E-0C4F05532BE0}"/>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B20C23F1-48EC-B7AC-DF1D-BC5903830FDC}"/>
                </a:ext>
              </a:extLst>
            </p:cNvPr>
            <p:cNvCxnSpPr>
              <a:cxnSpLocks/>
              <a:stCxn id="48" idx="6"/>
              <a:endCxn id="48"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BB9C356E-76F0-7C48-A840-B203273C6744}"/>
                </a:ext>
              </a:extLst>
            </p:cNvPr>
            <p:cNvCxnSpPr>
              <a:cxnSpLocks/>
              <a:stCxn id="48" idx="4"/>
              <a:endCxn id="48"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8BB38DBD-A6EE-34E5-8E43-6D7C42CB443A}"/>
              </a:ext>
            </a:extLst>
          </p:cNvPr>
          <p:cNvGrpSpPr/>
          <p:nvPr/>
        </p:nvGrpSpPr>
        <p:grpSpPr>
          <a:xfrm>
            <a:off x="3415138" y="5215514"/>
            <a:ext cx="371568" cy="371568"/>
            <a:chOff x="5114833" y="2825052"/>
            <a:chExt cx="371568" cy="371568"/>
          </a:xfrm>
        </p:grpSpPr>
        <p:sp>
          <p:nvSpPr>
            <p:cNvPr id="56" name="Oval 55">
              <a:extLst>
                <a:ext uri="{FF2B5EF4-FFF2-40B4-BE49-F238E27FC236}">
                  <a16:creationId xmlns:a16="http://schemas.microsoft.com/office/drawing/2014/main" id="{05743E75-47B7-48D4-3139-C545154CC599}"/>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A5947456-2123-C4D3-BFA5-2A83F630E006}"/>
                </a:ext>
              </a:extLst>
            </p:cNvPr>
            <p:cNvCxnSpPr>
              <a:cxnSpLocks/>
              <a:stCxn id="56" idx="6"/>
              <a:endCxn id="56"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7C365F37-CA2D-63BD-A276-0414D69E9DC7}"/>
                </a:ext>
              </a:extLst>
            </p:cNvPr>
            <p:cNvCxnSpPr>
              <a:cxnSpLocks/>
              <a:stCxn id="56" idx="4"/>
              <a:endCxn id="56"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66EA525E-2FED-DE3E-4F95-DB4399601DFA}"/>
              </a:ext>
            </a:extLst>
          </p:cNvPr>
          <p:cNvCxnSpPr>
            <a:cxnSpLocks/>
            <a:endCxn id="56" idx="0"/>
          </p:cNvCxnSpPr>
          <p:nvPr/>
        </p:nvCxnSpPr>
        <p:spPr>
          <a:xfrm>
            <a:off x="2883664" y="4398898"/>
            <a:ext cx="717258" cy="8166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0DA174E1-AAE1-5C7E-647A-74F30263233B}"/>
              </a:ext>
            </a:extLst>
          </p:cNvPr>
          <p:cNvCxnSpPr>
            <a:cxnSpLocks/>
            <a:endCxn id="48" idx="4"/>
          </p:cNvCxnSpPr>
          <p:nvPr/>
        </p:nvCxnSpPr>
        <p:spPr>
          <a:xfrm flipV="1">
            <a:off x="2961667" y="4594013"/>
            <a:ext cx="618842" cy="79795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B29C7261-0AC3-4B21-A505-DDA45891B002}"/>
              </a:ext>
            </a:extLst>
          </p:cNvPr>
          <p:cNvCxnSpPr/>
          <p:nvPr/>
        </p:nvCxnSpPr>
        <p:spPr>
          <a:xfrm flipH="1">
            <a:off x="3137458" y="5524736"/>
            <a:ext cx="182880"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25E7FCBC-DFE8-EB7C-AEA1-EC774A44EF8A}"/>
              </a:ext>
            </a:extLst>
          </p:cNvPr>
          <p:cNvCxnSpPr>
            <a:cxnSpLocks/>
          </p:cNvCxnSpPr>
          <p:nvPr/>
        </p:nvCxnSpPr>
        <p:spPr>
          <a:xfrm>
            <a:off x="3751803" y="4408229"/>
            <a:ext cx="781312"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2A24AC57-B9FC-4E88-DB7E-2E61DE85A4AB}"/>
              </a:ext>
            </a:extLst>
          </p:cNvPr>
          <p:cNvCxnSpPr>
            <a:cxnSpLocks/>
            <a:stCxn id="56" idx="6"/>
          </p:cNvCxnSpPr>
          <p:nvPr/>
        </p:nvCxnSpPr>
        <p:spPr>
          <a:xfrm flipV="1">
            <a:off x="3786706" y="5391966"/>
            <a:ext cx="746409"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B9DF31EC-7CE9-5AF3-73CC-D567E582F34D}"/>
              </a:ext>
            </a:extLst>
          </p:cNvPr>
          <p:cNvSpPr/>
          <p:nvPr/>
        </p:nvSpPr>
        <p:spPr>
          <a:xfrm>
            <a:off x="4512855" y="3576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EE3B5200-AD72-EE65-1F44-B053323A6D03}"/>
              </a:ext>
            </a:extLst>
          </p:cNvPr>
          <p:cNvSpPr/>
          <p:nvPr/>
        </p:nvSpPr>
        <p:spPr>
          <a:xfrm>
            <a:off x="4518226"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424AFA1B-2921-CCDB-D947-3C84DBC96690}"/>
              </a:ext>
            </a:extLst>
          </p:cNvPr>
          <p:cNvCxnSpPr/>
          <p:nvPr/>
        </p:nvCxnSpPr>
        <p:spPr>
          <a:xfrm>
            <a:off x="2063057" y="5379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A0BBA527-0724-C11F-073C-FD8F74B1D5F2}"/>
              </a:ext>
            </a:extLst>
          </p:cNvPr>
          <p:cNvCxnSpPr>
            <a:cxnSpLocks/>
          </p:cNvCxnSpPr>
          <p:nvPr/>
        </p:nvCxnSpPr>
        <p:spPr>
          <a:xfrm rot="5400000" flipH="1" flipV="1">
            <a:off x="3999896" y="4131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706BDE1A-E692-3236-B4D5-E115E6235292}"/>
              </a:ext>
            </a:extLst>
          </p:cNvPr>
          <p:cNvCxnSpPr>
            <a:cxnSpLocks/>
          </p:cNvCxnSpPr>
          <p:nvPr/>
        </p:nvCxnSpPr>
        <p:spPr>
          <a:xfrm flipH="1">
            <a:off x="4484715" y="3038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ACC1327C-E474-1420-2C66-BF00873D58EE}"/>
              </a:ext>
            </a:extLst>
          </p:cNvPr>
          <p:cNvSpPr/>
          <p:nvPr/>
        </p:nvSpPr>
        <p:spPr>
          <a:xfrm>
            <a:off x="3034830" y="2833799"/>
            <a:ext cx="143394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1FE2078B-4875-1933-F62D-733043237796}"/>
              </a:ext>
            </a:extLst>
          </p:cNvPr>
          <p:cNvCxnSpPr>
            <a:cxnSpLocks/>
            <a:stCxn id="71" idx="1"/>
          </p:cNvCxnSpPr>
          <p:nvPr/>
        </p:nvCxnSpPr>
        <p:spPr>
          <a:xfrm rot="10800000" flipV="1">
            <a:off x="1796312" y="3038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0B7D7A5C-53DE-0502-1DC9-11317A4A9844}"/>
              </a:ext>
            </a:extLst>
          </p:cNvPr>
          <p:cNvCxnSpPr>
            <a:cxnSpLocks/>
          </p:cNvCxnSpPr>
          <p:nvPr/>
        </p:nvCxnSpPr>
        <p:spPr>
          <a:xfrm>
            <a:off x="1796311" y="4421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82AD5C83-21C2-7397-EC7A-528461213F21}"/>
              </a:ext>
            </a:extLst>
          </p:cNvPr>
          <p:cNvCxnSpPr>
            <a:cxnSpLocks/>
          </p:cNvCxnSpPr>
          <p:nvPr/>
        </p:nvCxnSpPr>
        <p:spPr>
          <a:xfrm flipV="1">
            <a:off x="2087606" y="3709380"/>
            <a:ext cx="2454973" cy="727569"/>
          </a:xfrm>
          <a:prstGeom prst="bentConnector3">
            <a:avLst>
              <a:gd name="adj1" fmla="val -63"/>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6C46BE8E-FBFF-50BD-F120-E966B7F74CF3}"/>
              </a:ext>
            </a:extLst>
          </p:cNvPr>
          <p:cNvCxnSpPr>
            <a:cxnSpLocks/>
          </p:cNvCxnSpPr>
          <p:nvPr/>
        </p:nvCxnSpPr>
        <p:spPr>
          <a:xfrm>
            <a:off x="5092779" y="4073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E62EA5C9-35F0-0813-13BD-509C19051339}"/>
              </a:ext>
            </a:extLst>
          </p:cNvPr>
          <p:cNvGrpSpPr/>
          <p:nvPr/>
        </p:nvGrpSpPr>
        <p:grpSpPr>
          <a:xfrm>
            <a:off x="7519765" y="5063794"/>
            <a:ext cx="371568" cy="371568"/>
            <a:chOff x="5114833" y="2825052"/>
            <a:chExt cx="371568" cy="371568"/>
          </a:xfrm>
        </p:grpSpPr>
        <p:sp>
          <p:nvSpPr>
            <p:cNvPr id="77" name="Oval 76">
              <a:extLst>
                <a:ext uri="{FF2B5EF4-FFF2-40B4-BE49-F238E27FC236}">
                  <a16:creationId xmlns:a16="http://schemas.microsoft.com/office/drawing/2014/main" id="{E6F71810-D05F-460D-3D05-32A073774F3F}"/>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4A26093B-6D36-E10D-1401-364CBC0C7A5B}"/>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972D136C-C426-7CEE-5D0A-DA19E671124E}"/>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9114B0A3-78DF-1EF7-9E8E-34ED928D9597}"/>
              </a:ext>
            </a:extLst>
          </p:cNvPr>
          <p:cNvSpPr txBox="1"/>
          <p:nvPr/>
        </p:nvSpPr>
        <p:spPr>
          <a:xfrm>
            <a:off x="3109502" y="3914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81" name="!!TextBox 80">
            <a:extLst>
              <a:ext uri="{FF2B5EF4-FFF2-40B4-BE49-F238E27FC236}">
                <a16:creationId xmlns:a16="http://schemas.microsoft.com/office/drawing/2014/main" id="{F3B77AAA-9201-6CFA-04CA-9174075C6517}"/>
              </a:ext>
            </a:extLst>
          </p:cNvPr>
          <p:cNvSpPr txBox="1"/>
          <p:nvPr/>
        </p:nvSpPr>
        <p:spPr>
          <a:xfrm>
            <a:off x="4557246" y="3619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2" name="!!TextBox 81">
            <a:extLst>
              <a:ext uri="{FF2B5EF4-FFF2-40B4-BE49-F238E27FC236}">
                <a16:creationId xmlns:a16="http://schemas.microsoft.com/office/drawing/2014/main" id="{B64EBF5A-3DB8-5AE9-1ECD-915224016CF3}"/>
              </a:ext>
            </a:extLst>
          </p:cNvPr>
          <p:cNvSpPr txBox="1"/>
          <p:nvPr/>
        </p:nvSpPr>
        <p:spPr>
          <a:xfrm>
            <a:off x="4564939"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10856C63-ECEC-1A2D-13F3-06B6B3734C39}"/>
              </a:ext>
            </a:extLst>
          </p:cNvPr>
          <p:cNvSpPr txBox="1"/>
          <p:nvPr/>
        </p:nvSpPr>
        <p:spPr>
          <a:xfrm>
            <a:off x="4570920" y="4279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4" name="!!TextBox 83">
            <a:extLst>
              <a:ext uri="{FF2B5EF4-FFF2-40B4-BE49-F238E27FC236}">
                <a16:creationId xmlns:a16="http://schemas.microsoft.com/office/drawing/2014/main" id="{51F13CD9-A0E4-9D6C-8FCB-BEC3DB721BDC}"/>
              </a:ext>
            </a:extLst>
          </p:cNvPr>
          <p:cNvSpPr txBox="1"/>
          <p:nvPr/>
        </p:nvSpPr>
        <p:spPr>
          <a:xfrm>
            <a:off x="4564939"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8BDD036B-AB3C-76A4-CEBD-BB8436D2527A}"/>
              </a:ext>
            </a:extLst>
          </p:cNvPr>
          <p:cNvSpPr txBox="1"/>
          <p:nvPr/>
        </p:nvSpPr>
        <p:spPr>
          <a:xfrm>
            <a:off x="4664916" y="3958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89" name="!!TextBox 88">
            <a:extLst>
              <a:ext uri="{FF2B5EF4-FFF2-40B4-BE49-F238E27FC236}">
                <a16:creationId xmlns:a16="http://schemas.microsoft.com/office/drawing/2014/main" id="{CA09286E-2B22-0D35-9F68-1AD096AC59FD}"/>
              </a:ext>
            </a:extLst>
          </p:cNvPr>
          <p:cNvSpPr txBox="1"/>
          <p:nvPr/>
        </p:nvSpPr>
        <p:spPr>
          <a:xfrm>
            <a:off x="4672990"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D7986325-D8C2-2475-CB73-E2BE85534CA0}"/>
              </a:ext>
            </a:extLst>
          </p:cNvPr>
          <p:cNvSpPr/>
          <p:nvPr/>
        </p:nvSpPr>
        <p:spPr>
          <a:xfrm>
            <a:off x="8341299" y="4810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F90FCF0F-D59B-940D-0353-D6967EB5F1A4}"/>
              </a:ext>
            </a:extLst>
          </p:cNvPr>
          <p:cNvSpPr txBox="1"/>
          <p:nvPr/>
        </p:nvSpPr>
        <p:spPr>
          <a:xfrm>
            <a:off x="8385690" y="4853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57C5DBBF-A08B-37BE-7F03-FDCC40ED3928}"/>
              </a:ext>
            </a:extLst>
          </p:cNvPr>
          <p:cNvSpPr txBox="1"/>
          <p:nvPr/>
        </p:nvSpPr>
        <p:spPr>
          <a:xfrm>
            <a:off x="8391685" y="5482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287E3ECE-58FD-2208-AF1E-63E99B566625}"/>
              </a:ext>
            </a:extLst>
          </p:cNvPr>
          <p:cNvSpPr txBox="1"/>
          <p:nvPr/>
        </p:nvSpPr>
        <p:spPr>
          <a:xfrm>
            <a:off x="8493360" y="5192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01674445-EF61-0452-FBB9-2F5E20E5B2BD}"/>
              </a:ext>
            </a:extLst>
          </p:cNvPr>
          <p:cNvCxnSpPr>
            <a:cxnSpLocks/>
            <a:stCxn id="77" idx="6"/>
          </p:cNvCxnSpPr>
          <p:nvPr/>
        </p:nvCxnSpPr>
        <p:spPr>
          <a:xfrm>
            <a:off x="7891333" y="5249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E07B43AB-6949-B089-031C-2C9F3BAF2A02}"/>
              </a:ext>
            </a:extLst>
          </p:cNvPr>
          <p:cNvCxnSpPr>
            <a:cxnSpLocks/>
          </p:cNvCxnSpPr>
          <p:nvPr/>
        </p:nvCxnSpPr>
        <p:spPr>
          <a:xfrm flipV="1">
            <a:off x="7080777" y="4981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776C0B0F-B1CE-E866-C88C-59743700DE53}"/>
              </a:ext>
            </a:extLst>
          </p:cNvPr>
          <p:cNvCxnSpPr>
            <a:cxnSpLocks/>
          </p:cNvCxnSpPr>
          <p:nvPr/>
        </p:nvCxnSpPr>
        <p:spPr>
          <a:xfrm flipV="1">
            <a:off x="8911257" y="4594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9A7179A7-31AA-B3B4-357A-96C63B7306C4}"/>
              </a:ext>
            </a:extLst>
          </p:cNvPr>
          <p:cNvSpPr txBox="1"/>
          <p:nvPr/>
        </p:nvSpPr>
        <p:spPr>
          <a:xfrm>
            <a:off x="3574927" y="2902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101" name="!!Oval 100">
            <a:extLst>
              <a:ext uri="{FF2B5EF4-FFF2-40B4-BE49-F238E27FC236}">
                <a16:creationId xmlns:a16="http://schemas.microsoft.com/office/drawing/2014/main" id="{9699FD29-AECE-CCCB-4D71-E84E622028B1}"/>
              </a:ext>
            </a:extLst>
          </p:cNvPr>
          <p:cNvSpPr/>
          <p:nvPr/>
        </p:nvSpPr>
        <p:spPr>
          <a:xfrm>
            <a:off x="2029841" y="4387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5370746E-ECDD-D102-1F66-71D769EE5509}"/>
              </a:ext>
            </a:extLst>
          </p:cNvPr>
          <p:cNvSpPr/>
          <p:nvPr/>
        </p:nvSpPr>
        <p:spPr>
          <a:xfrm>
            <a:off x="7045415" y="5214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531F005E-8FED-3BB5-E96C-C8902C6EE007}"/>
              </a:ext>
            </a:extLst>
          </p:cNvPr>
          <p:cNvSpPr/>
          <p:nvPr/>
        </p:nvSpPr>
        <p:spPr>
          <a:xfrm>
            <a:off x="1733862" y="5351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75868FD7-C4C4-6AB9-0D98-548A3DCDA590}"/>
              </a:ext>
            </a:extLst>
          </p:cNvPr>
          <p:cNvCxnSpPr>
            <a:cxnSpLocks/>
            <a:stCxn id="105" idx="0"/>
            <a:endCxn id="77" idx="4"/>
          </p:cNvCxnSpPr>
          <p:nvPr/>
        </p:nvCxnSpPr>
        <p:spPr>
          <a:xfrm flipV="1">
            <a:off x="7705549" y="5435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5DA29BAE-228E-82EB-A09C-5BA42A77B603}"/>
              </a:ext>
            </a:extLst>
          </p:cNvPr>
          <p:cNvSpPr/>
          <p:nvPr/>
        </p:nvSpPr>
        <p:spPr>
          <a:xfrm>
            <a:off x="6866911" y="5857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2" name="TextBox 1">
            <a:extLst>
              <a:ext uri="{FF2B5EF4-FFF2-40B4-BE49-F238E27FC236}">
                <a16:creationId xmlns:a16="http://schemas.microsoft.com/office/drawing/2014/main" id="{76A7DACB-63F9-2C41-6342-BD55729132BA}"/>
              </a:ext>
            </a:extLst>
          </p:cNvPr>
          <p:cNvSpPr txBox="1"/>
          <p:nvPr/>
        </p:nvSpPr>
        <p:spPr>
          <a:xfrm>
            <a:off x="354860" y="680242"/>
            <a:ext cx="11494239" cy="2010807"/>
          </a:xfrm>
          <a:prstGeom prst="rect">
            <a:avLst/>
          </a:prstGeom>
          <a:noFill/>
        </p:spPr>
        <p:txBody>
          <a:bodyPr wrap="square">
            <a:spAutoFit/>
          </a:bodyPr>
          <a:lstStyle/>
          <a:p>
            <a:pPr defTabSz="457200">
              <a:spcBef>
                <a:spcPts val="1000"/>
              </a:spcBef>
              <a:buClr>
                <a:srgbClr val="1E4056"/>
              </a:buClr>
              <a:buSzPct val="75000"/>
            </a:pPr>
            <a:r>
              <a:rPr lang="en-US" b="1" dirty="0"/>
              <a:t>3- Output multiplexer </a:t>
            </a:r>
            <a:r>
              <a:rPr lang="en-US" dirty="0"/>
              <a:t>  																                </a:t>
            </a:r>
            <a:r>
              <a:rPr lang="en-US" b="1" dirty="0"/>
              <a:t>Function: It is used to route the difference (output of the FIFO) and summation to the output (the next stage) </a:t>
            </a:r>
          </a:p>
          <a:p>
            <a:pPr defTabSz="457200">
              <a:spcBef>
                <a:spcPts val="1000"/>
              </a:spcBef>
              <a:buClr>
                <a:srgbClr val="1E4056"/>
              </a:buClr>
              <a:buSzPct val="75000"/>
            </a:pPr>
            <a:r>
              <a:rPr lang="en-US" b="1" dirty="0"/>
              <a:t>4- Bypass multiplexer 																			      Function: It is used to Bypass the summation without multiplying it by the twiddle factors </a:t>
            </a:r>
          </a:p>
          <a:p>
            <a:pPr defTabSz="457200">
              <a:spcBef>
                <a:spcPts val="1000"/>
              </a:spcBef>
              <a:buClr>
                <a:srgbClr val="1E4056"/>
              </a:buClr>
              <a:buSzPct val="75000"/>
            </a:pPr>
            <a:r>
              <a:rPr lang="en-US" b="1" dirty="0"/>
              <a:t>5- Twiddle factor ROM 																			      Function: It holds the values of twiddle factors </a:t>
            </a:r>
            <a:endParaRPr lang="en-US" dirty="0"/>
          </a:p>
        </p:txBody>
      </p:sp>
      <p:sp>
        <p:nvSpPr>
          <p:cNvPr id="13" name="!!Rectangle 81">
            <a:extLst>
              <a:ext uri="{FF2B5EF4-FFF2-40B4-BE49-F238E27FC236}">
                <a16:creationId xmlns:a16="http://schemas.microsoft.com/office/drawing/2014/main" id="{CABDEBAD-B7DD-D0DA-B46E-AEC9FDFB355C}"/>
              </a:ext>
            </a:extLst>
          </p:cNvPr>
          <p:cNvSpPr/>
          <p:nvPr/>
        </p:nvSpPr>
        <p:spPr>
          <a:xfrm>
            <a:off x="8343693" y="4803468"/>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TextBox 93">
            <a:extLst>
              <a:ext uri="{FF2B5EF4-FFF2-40B4-BE49-F238E27FC236}">
                <a16:creationId xmlns:a16="http://schemas.microsoft.com/office/drawing/2014/main" id="{5C930E7F-D40B-3A0A-E46E-2C0AE0FFA872}"/>
              </a:ext>
            </a:extLst>
          </p:cNvPr>
          <p:cNvSpPr txBox="1"/>
          <p:nvPr/>
        </p:nvSpPr>
        <p:spPr>
          <a:xfrm>
            <a:off x="8388084" y="4845874"/>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5" name="!!TextBox 94">
            <a:extLst>
              <a:ext uri="{FF2B5EF4-FFF2-40B4-BE49-F238E27FC236}">
                <a16:creationId xmlns:a16="http://schemas.microsoft.com/office/drawing/2014/main" id="{609DFB24-D462-C9A7-D346-E8E705F5F790}"/>
              </a:ext>
            </a:extLst>
          </p:cNvPr>
          <p:cNvSpPr txBox="1"/>
          <p:nvPr/>
        </p:nvSpPr>
        <p:spPr>
          <a:xfrm>
            <a:off x="8394079" y="5475424"/>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0" name="!!TextBox 95">
            <a:extLst>
              <a:ext uri="{FF2B5EF4-FFF2-40B4-BE49-F238E27FC236}">
                <a16:creationId xmlns:a16="http://schemas.microsoft.com/office/drawing/2014/main" id="{3441AE1F-4097-B91A-572A-4146B8CB9875}"/>
              </a:ext>
            </a:extLst>
          </p:cNvPr>
          <p:cNvSpPr txBox="1"/>
          <p:nvPr/>
        </p:nvSpPr>
        <p:spPr>
          <a:xfrm>
            <a:off x="8495754" y="5185480"/>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1" name="!!Elbow Connector 74">
            <a:extLst>
              <a:ext uri="{FF2B5EF4-FFF2-40B4-BE49-F238E27FC236}">
                <a16:creationId xmlns:a16="http://schemas.microsoft.com/office/drawing/2014/main" id="{4DDB777D-9FCD-DC1C-28AB-A948B8288C18}"/>
              </a:ext>
            </a:extLst>
          </p:cNvPr>
          <p:cNvCxnSpPr>
            <a:cxnSpLocks/>
          </p:cNvCxnSpPr>
          <p:nvPr/>
        </p:nvCxnSpPr>
        <p:spPr>
          <a:xfrm>
            <a:off x="5092779" y="4058298"/>
            <a:ext cx="2449577" cy="1191359"/>
          </a:xfrm>
          <a:prstGeom prst="bentConnector3">
            <a:avLst>
              <a:gd name="adj1" fmla="val 50000"/>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Elbow Connector 97">
            <a:extLst>
              <a:ext uri="{FF2B5EF4-FFF2-40B4-BE49-F238E27FC236}">
                <a16:creationId xmlns:a16="http://schemas.microsoft.com/office/drawing/2014/main" id="{A860D1E9-1522-EC8F-2F51-4386505E5AE6}"/>
              </a:ext>
            </a:extLst>
          </p:cNvPr>
          <p:cNvCxnSpPr>
            <a:cxnSpLocks/>
          </p:cNvCxnSpPr>
          <p:nvPr/>
        </p:nvCxnSpPr>
        <p:spPr>
          <a:xfrm flipV="1">
            <a:off x="7080777" y="4966946"/>
            <a:ext cx="1260522" cy="282711"/>
          </a:xfrm>
          <a:prstGeom prst="bentConnector3">
            <a:avLst>
              <a:gd name="adj1" fmla="val 79"/>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 name="!!Oval 101">
            <a:extLst>
              <a:ext uri="{FF2B5EF4-FFF2-40B4-BE49-F238E27FC236}">
                <a16:creationId xmlns:a16="http://schemas.microsoft.com/office/drawing/2014/main" id="{210F6D97-33D3-3F5B-12B1-A4246C524CB2}"/>
              </a:ext>
            </a:extLst>
          </p:cNvPr>
          <p:cNvSpPr/>
          <p:nvPr/>
        </p:nvSpPr>
        <p:spPr>
          <a:xfrm>
            <a:off x="7047929" y="521271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4" name="!!Elbow Connector 96">
            <a:extLst>
              <a:ext uri="{FF2B5EF4-FFF2-40B4-BE49-F238E27FC236}">
                <a16:creationId xmlns:a16="http://schemas.microsoft.com/office/drawing/2014/main" id="{C425FBCA-4DC1-C745-A9C3-6943FC09BBF6}"/>
              </a:ext>
            </a:extLst>
          </p:cNvPr>
          <p:cNvCxnSpPr>
            <a:cxnSpLocks/>
          </p:cNvCxnSpPr>
          <p:nvPr/>
        </p:nvCxnSpPr>
        <p:spPr>
          <a:xfrm>
            <a:off x="7891333" y="5250835"/>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Rectangle 104">
            <a:extLst>
              <a:ext uri="{FF2B5EF4-FFF2-40B4-BE49-F238E27FC236}">
                <a16:creationId xmlns:a16="http://schemas.microsoft.com/office/drawing/2014/main" id="{060ACC5E-CB92-CCD0-8660-34C993FDD018}"/>
              </a:ext>
            </a:extLst>
          </p:cNvPr>
          <p:cNvSpPr/>
          <p:nvPr/>
        </p:nvSpPr>
        <p:spPr>
          <a:xfrm>
            <a:off x="6866911" y="5853030"/>
            <a:ext cx="1677276" cy="330604"/>
          </a:xfrm>
          <a:prstGeom prst="rect">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spTree>
    <p:extLst>
      <p:ext uri="{BB962C8B-B14F-4D97-AF65-F5344CB8AC3E}">
        <p14:creationId xmlns:p14="http://schemas.microsoft.com/office/powerpoint/2010/main" val="97384858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
                                            <p:txEl>
                                              <p:pRg st="2" end="2"/>
                                            </p:txEl>
                                          </p:spTgt>
                                        </p:tgtEl>
                                        <p:attrNameLst>
                                          <p:attrName>style.visibility</p:attrName>
                                        </p:attrNameLst>
                                      </p:cBhvr>
                                      <p:to>
                                        <p:strVal val="visible"/>
                                      </p:to>
                                    </p:set>
                                    <p:animEffect transition="in" filter="fade">
                                      <p:cBhvr>
                                        <p:cTn id="36" dur="500"/>
                                        <p:tgtEl>
                                          <p:spTgt spid="2">
                                            <p:txEl>
                                              <p:pRg st="2" end="2"/>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20" grpId="0"/>
      <p:bldP spid="23" grpId="0" animBg="1"/>
      <p:bldP spid="2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CEA316D-316E-CCF5-E9C2-C76F71B25A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E7F28-1B2F-9C94-8165-68F66089FB4A}"/>
              </a:ext>
            </a:extLst>
          </p:cNvPr>
          <p:cNvSpPr>
            <a:spLocks noGrp="1"/>
          </p:cNvSpPr>
          <p:nvPr>
            <p:ph type="title"/>
          </p:nvPr>
        </p:nvSpPr>
        <p:spPr>
          <a:xfrm>
            <a:off x="354860" y="216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CC25782C-4B5B-98D2-987E-15B4080BA0F8}"/>
              </a:ext>
            </a:extLst>
          </p:cNvPr>
          <p:cNvSpPr>
            <a:spLocks noGrp="1"/>
          </p:cNvSpPr>
          <p:nvPr>
            <p:ph type="ftr" sz="quarter" idx="3"/>
          </p:nvPr>
        </p:nvSpPr>
        <p:spPr>
          <a:xfrm>
            <a:off x="354860" y="6613018"/>
            <a:ext cx="8059641" cy="241982"/>
          </a:xfrm>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3DA416B-F930-E7DB-DBF9-771DE86A73FE}"/>
              </a:ext>
            </a:extLst>
          </p:cNvPr>
          <p:cNvSpPr>
            <a:spLocks noGrp="1"/>
          </p:cNvSpPr>
          <p:nvPr>
            <p:ph type="sldNum" sz="quarter" idx="4"/>
          </p:nvPr>
        </p:nvSpPr>
        <p:spPr>
          <a:xfrm>
            <a:off x="10641861" y="6610018"/>
            <a:ext cx="1219198" cy="241982"/>
          </a:xfrm>
        </p:spPr>
        <p:txBody>
          <a:bodyPr/>
          <a:lstStyle/>
          <a:p>
            <a:pPr>
              <a:defRPr/>
            </a:pPr>
            <a:fld id="{A9CE67A1-BA7F-A74E-B5D7-615746DEEC2B}" type="slidenum">
              <a:rPr lang="en-US" smtClean="0"/>
              <a:pPr>
                <a:defRPr/>
              </a:pPr>
              <a:t>60</a:t>
            </a:fld>
            <a:endParaRPr lang="en-US" baseline="-11000" dirty="0"/>
          </a:p>
        </p:txBody>
      </p:sp>
      <p:sp>
        <p:nvSpPr>
          <p:cNvPr id="6" name="!!Date Placeholder 5">
            <a:extLst>
              <a:ext uri="{FF2B5EF4-FFF2-40B4-BE49-F238E27FC236}">
                <a16:creationId xmlns:a16="http://schemas.microsoft.com/office/drawing/2014/main" id="{7ECDC511-0F02-64D2-63D2-A838B2A3F3AD}"/>
              </a:ext>
            </a:extLst>
          </p:cNvPr>
          <p:cNvSpPr>
            <a:spLocks noGrp="1"/>
          </p:cNvSpPr>
          <p:nvPr>
            <p:ph type="dt" sz="half" idx="2"/>
          </p:nvPr>
        </p:nvSpPr>
        <p:spPr>
          <a:xfrm>
            <a:off x="8414501" y="6613018"/>
            <a:ext cx="2227358" cy="241982"/>
          </a:xfrm>
        </p:spPr>
        <p:txBody>
          <a:bodyPr/>
          <a:lstStyle/>
          <a:p>
            <a:fld id="{EAFD7BB1-AB7F-4336-A8B3-6627E5D36FE4}" type="datetime3">
              <a:rPr lang="en-US" smtClean="0"/>
              <a:t>19 March 2026</a:t>
            </a:fld>
            <a:endParaRPr lang="en-US" dirty="0"/>
          </a:p>
        </p:txBody>
      </p:sp>
      <p:sp>
        <p:nvSpPr>
          <p:cNvPr id="137" name="!!TextBox 136">
            <a:extLst>
              <a:ext uri="{FF2B5EF4-FFF2-40B4-BE49-F238E27FC236}">
                <a16:creationId xmlns:a16="http://schemas.microsoft.com/office/drawing/2014/main" id="{E63989DA-D2BC-7F56-ED72-4ACCC83485B1}"/>
              </a:ext>
            </a:extLst>
          </p:cNvPr>
          <p:cNvSpPr txBox="1"/>
          <p:nvPr/>
        </p:nvSpPr>
        <p:spPr>
          <a:xfrm>
            <a:off x="407373" y="4963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48FDA6AB-0BEB-1FE3-051A-9B749BE2C49F}"/>
              </a:ext>
            </a:extLst>
          </p:cNvPr>
          <p:cNvSpPr/>
          <p:nvPr/>
        </p:nvSpPr>
        <p:spPr>
          <a:xfrm>
            <a:off x="1457811" y="2745914"/>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D046B1B7-07C8-B66A-ADEF-A14267200B69}"/>
              </a:ext>
            </a:extLst>
          </p:cNvPr>
          <p:cNvCxnSpPr>
            <a:cxnSpLocks/>
          </p:cNvCxnSpPr>
          <p:nvPr/>
        </p:nvCxnSpPr>
        <p:spPr>
          <a:xfrm>
            <a:off x="450054" y="5377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2763E7B7-1615-68D7-0E83-940172D6F897}"/>
              </a:ext>
            </a:extLst>
          </p:cNvPr>
          <p:cNvCxnSpPr>
            <a:cxnSpLocks/>
          </p:cNvCxnSpPr>
          <p:nvPr/>
        </p:nvCxnSpPr>
        <p:spPr>
          <a:xfrm>
            <a:off x="10516639" y="4594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E01F239C-181F-AB82-93FD-0BA87F600FB8}"/>
              </a:ext>
            </a:extLst>
          </p:cNvPr>
          <p:cNvCxnSpPr>
            <a:cxnSpLocks/>
          </p:cNvCxnSpPr>
          <p:nvPr/>
        </p:nvCxnSpPr>
        <p:spPr>
          <a:xfrm flipH="1">
            <a:off x="878885" y="5319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F5817A09-EB19-6BF8-B867-081774E3AD76}"/>
              </a:ext>
            </a:extLst>
          </p:cNvPr>
          <p:cNvSpPr txBox="1"/>
          <p:nvPr/>
        </p:nvSpPr>
        <p:spPr>
          <a:xfrm>
            <a:off x="1066520"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85DFA214-C3D0-48BA-CF5A-D1428598B79F}"/>
              </a:ext>
            </a:extLst>
          </p:cNvPr>
          <p:cNvSpPr txBox="1"/>
          <p:nvPr/>
        </p:nvSpPr>
        <p:spPr>
          <a:xfrm>
            <a:off x="1567214" y="6592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337B0661-CB1A-420F-FDFE-D4E9F380A12B}"/>
              </a:ext>
            </a:extLst>
          </p:cNvPr>
          <p:cNvSpPr txBox="1"/>
          <p:nvPr/>
        </p:nvSpPr>
        <p:spPr>
          <a:xfrm>
            <a:off x="2923385" y="6592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B2C7356B-E104-B9A2-D19B-65783189DCC0}"/>
              </a:ext>
            </a:extLst>
          </p:cNvPr>
          <p:cNvSpPr txBox="1"/>
          <p:nvPr/>
        </p:nvSpPr>
        <p:spPr>
          <a:xfrm>
            <a:off x="4222120" y="6592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3F4DF11C-CB62-DA37-5D21-3B107D7631DA}"/>
              </a:ext>
            </a:extLst>
          </p:cNvPr>
          <p:cNvSpPr txBox="1"/>
          <p:nvPr/>
        </p:nvSpPr>
        <p:spPr>
          <a:xfrm>
            <a:off x="5709749" y="6592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B1EAAD74-6CF0-6649-F47C-183C01DCD37F}"/>
              </a:ext>
            </a:extLst>
          </p:cNvPr>
          <p:cNvSpPr txBox="1"/>
          <p:nvPr/>
        </p:nvSpPr>
        <p:spPr>
          <a:xfrm>
            <a:off x="6025486" y="6592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6BE32ADB-6EB0-DC6B-51A5-0CFE9F9B34BC}"/>
              </a:ext>
            </a:extLst>
          </p:cNvPr>
          <p:cNvSpPr txBox="1"/>
          <p:nvPr/>
        </p:nvSpPr>
        <p:spPr>
          <a:xfrm>
            <a:off x="7241514" y="6592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9454676A-FA0F-F778-AC8C-36A8CBE16467}"/>
              </a:ext>
            </a:extLst>
          </p:cNvPr>
          <p:cNvSpPr txBox="1"/>
          <p:nvPr/>
        </p:nvSpPr>
        <p:spPr>
          <a:xfrm>
            <a:off x="7972318" y="6592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912AC4B0-C278-AB72-E5A2-EF4499EAA80E}"/>
              </a:ext>
            </a:extLst>
          </p:cNvPr>
          <p:cNvSpPr txBox="1"/>
          <p:nvPr/>
        </p:nvSpPr>
        <p:spPr>
          <a:xfrm>
            <a:off x="10660148" y="4219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EE805C41-845E-E62A-E340-D9788F82AE92}"/>
              </a:ext>
            </a:extLst>
          </p:cNvPr>
          <p:cNvCxnSpPr>
            <a:cxnSpLocks/>
          </p:cNvCxnSpPr>
          <p:nvPr/>
        </p:nvCxnSpPr>
        <p:spPr>
          <a:xfrm flipH="1">
            <a:off x="10711779" y="4472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514A5610-3D0B-8EC9-2AC2-8C14F3C287FA}"/>
              </a:ext>
            </a:extLst>
          </p:cNvPr>
          <p:cNvSpPr txBox="1"/>
          <p:nvPr/>
        </p:nvSpPr>
        <p:spPr>
          <a:xfrm>
            <a:off x="10993589" y="4600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97B27A56-16B7-8E1E-C159-963FB093B7E5}"/>
              </a:ext>
            </a:extLst>
          </p:cNvPr>
          <p:cNvSpPr/>
          <p:nvPr/>
        </p:nvSpPr>
        <p:spPr>
          <a:xfrm>
            <a:off x="2683618" y="3914279"/>
            <a:ext cx="1433945" cy="1865008"/>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F2680A75-AD71-264C-1697-FE340CA02389}"/>
              </a:ext>
            </a:extLst>
          </p:cNvPr>
          <p:cNvCxnSpPr>
            <a:cxnSpLocks/>
          </p:cNvCxnSpPr>
          <p:nvPr/>
        </p:nvCxnSpPr>
        <p:spPr>
          <a:xfrm>
            <a:off x="2683618" y="440822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46FE9121-8B19-ADE1-EA5A-D34B2D867C0B}"/>
              </a:ext>
            </a:extLst>
          </p:cNvPr>
          <p:cNvCxnSpPr>
            <a:cxnSpLocks/>
          </p:cNvCxnSpPr>
          <p:nvPr/>
        </p:nvCxnSpPr>
        <p:spPr>
          <a:xfrm>
            <a:off x="2683618" y="5391966"/>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0518BA53-947D-6BD3-AF6F-769D5F3C9F7A}"/>
              </a:ext>
            </a:extLst>
          </p:cNvPr>
          <p:cNvGrpSpPr/>
          <p:nvPr/>
        </p:nvGrpSpPr>
        <p:grpSpPr>
          <a:xfrm>
            <a:off x="3394725" y="4222445"/>
            <a:ext cx="371568" cy="371568"/>
            <a:chOff x="5114833" y="2825052"/>
            <a:chExt cx="371568" cy="371568"/>
          </a:xfrm>
        </p:grpSpPr>
        <p:sp>
          <p:nvSpPr>
            <p:cNvPr id="48" name="Oval 47">
              <a:extLst>
                <a:ext uri="{FF2B5EF4-FFF2-40B4-BE49-F238E27FC236}">
                  <a16:creationId xmlns:a16="http://schemas.microsoft.com/office/drawing/2014/main" id="{EE51C16E-67F4-457F-7E50-BC34FDF01399}"/>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47D0F431-71A1-90FE-A205-5DAF27EE5F61}"/>
                </a:ext>
              </a:extLst>
            </p:cNvPr>
            <p:cNvCxnSpPr>
              <a:cxnSpLocks/>
              <a:stCxn id="48" idx="6"/>
              <a:endCxn id="48"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AB6A5196-E847-27B7-948C-A0FA29F6E056}"/>
                </a:ext>
              </a:extLst>
            </p:cNvPr>
            <p:cNvCxnSpPr>
              <a:cxnSpLocks/>
              <a:stCxn id="48" idx="4"/>
              <a:endCxn id="48"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F6F1A89E-3E77-621B-C861-0402EF043BB7}"/>
              </a:ext>
            </a:extLst>
          </p:cNvPr>
          <p:cNvGrpSpPr/>
          <p:nvPr/>
        </p:nvGrpSpPr>
        <p:grpSpPr>
          <a:xfrm>
            <a:off x="3415138" y="5215514"/>
            <a:ext cx="371568" cy="371568"/>
            <a:chOff x="5114833" y="2825052"/>
            <a:chExt cx="371568" cy="371568"/>
          </a:xfrm>
        </p:grpSpPr>
        <p:sp>
          <p:nvSpPr>
            <p:cNvPr id="56" name="Oval 55">
              <a:extLst>
                <a:ext uri="{FF2B5EF4-FFF2-40B4-BE49-F238E27FC236}">
                  <a16:creationId xmlns:a16="http://schemas.microsoft.com/office/drawing/2014/main" id="{0018C29F-E4FD-371D-07C1-3DC7F82895F8}"/>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1C6A53F3-78C6-4DB7-BFA2-2D679130F867}"/>
                </a:ext>
              </a:extLst>
            </p:cNvPr>
            <p:cNvCxnSpPr>
              <a:cxnSpLocks/>
              <a:stCxn id="56" idx="6"/>
              <a:endCxn id="56"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818EAADB-5748-A24C-2375-15BA384E180F}"/>
                </a:ext>
              </a:extLst>
            </p:cNvPr>
            <p:cNvCxnSpPr>
              <a:cxnSpLocks/>
              <a:stCxn id="56" idx="4"/>
              <a:endCxn id="56"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51DC8F71-40EB-9C67-DB46-458818303E19}"/>
              </a:ext>
            </a:extLst>
          </p:cNvPr>
          <p:cNvCxnSpPr>
            <a:cxnSpLocks/>
            <a:endCxn id="56" idx="0"/>
          </p:cNvCxnSpPr>
          <p:nvPr/>
        </p:nvCxnSpPr>
        <p:spPr>
          <a:xfrm>
            <a:off x="2883664" y="4398898"/>
            <a:ext cx="717258" cy="8166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FCC22465-9EA1-683F-ED3E-E4525B2D4C46}"/>
              </a:ext>
            </a:extLst>
          </p:cNvPr>
          <p:cNvCxnSpPr>
            <a:cxnSpLocks/>
            <a:endCxn id="48" idx="4"/>
          </p:cNvCxnSpPr>
          <p:nvPr/>
        </p:nvCxnSpPr>
        <p:spPr>
          <a:xfrm flipV="1">
            <a:off x="2961667" y="4594013"/>
            <a:ext cx="618842" cy="79795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AC92C8C2-6427-9AE2-4F67-4384908F9365}"/>
              </a:ext>
            </a:extLst>
          </p:cNvPr>
          <p:cNvCxnSpPr/>
          <p:nvPr/>
        </p:nvCxnSpPr>
        <p:spPr>
          <a:xfrm flipH="1">
            <a:off x="3137458" y="5524736"/>
            <a:ext cx="182880"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FFC83D46-06B3-501E-8ADC-2995B0449565}"/>
              </a:ext>
            </a:extLst>
          </p:cNvPr>
          <p:cNvCxnSpPr>
            <a:cxnSpLocks/>
          </p:cNvCxnSpPr>
          <p:nvPr/>
        </p:nvCxnSpPr>
        <p:spPr>
          <a:xfrm>
            <a:off x="3751803" y="4408229"/>
            <a:ext cx="781312"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00205E8F-AEC8-EEE9-CC8E-2CE07AF7819D}"/>
              </a:ext>
            </a:extLst>
          </p:cNvPr>
          <p:cNvCxnSpPr>
            <a:cxnSpLocks/>
            <a:stCxn id="56" idx="6"/>
          </p:cNvCxnSpPr>
          <p:nvPr/>
        </p:nvCxnSpPr>
        <p:spPr>
          <a:xfrm flipV="1">
            <a:off x="3786706" y="5391966"/>
            <a:ext cx="746409"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A89F0675-2426-FA11-8DE9-CBE8E944181E}"/>
              </a:ext>
            </a:extLst>
          </p:cNvPr>
          <p:cNvSpPr/>
          <p:nvPr/>
        </p:nvSpPr>
        <p:spPr>
          <a:xfrm>
            <a:off x="4512855" y="3576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tx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0202E67F-7084-79CB-B7FD-722630D2927E}"/>
              </a:ext>
            </a:extLst>
          </p:cNvPr>
          <p:cNvSpPr/>
          <p:nvPr/>
        </p:nvSpPr>
        <p:spPr>
          <a:xfrm>
            <a:off x="4518226"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08EAC975-E532-66DA-96C8-95A091AAB8E5}"/>
              </a:ext>
            </a:extLst>
          </p:cNvPr>
          <p:cNvCxnSpPr/>
          <p:nvPr/>
        </p:nvCxnSpPr>
        <p:spPr>
          <a:xfrm>
            <a:off x="2063057" y="5379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111D7C09-BC5D-136B-0100-53D7220572A6}"/>
              </a:ext>
            </a:extLst>
          </p:cNvPr>
          <p:cNvCxnSpPr>
            <a:cxnSpLocks/>
          </p:cNvCxnSpPr>
          <p:nvPr/>
        </p:nvCxnSpPr>
        <p:spPr>
          <a:xfrm rot="5400000" flipH="1" flipV="1">
            <a:off x="3999896" y="4131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D7C52BA3-EF72-F874-91F5-D0D887DE2F7F}"/>
              </a:ext>
            </a:extLst>
          </p:cNvPr>
          <p:cNvCxnSpPr>
            <a:cxnSpLocks/>
          </p:cNvCxnSpPr>
          <p:nvPr/>
        </p:nvCxnSpPr>
        <p:spPr>
          <a:xfrm flipH="1">
            <a:off x="4484715" y="3038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FE27414A-358E-7021-02E9-A2F633606597}"/>
              </a:ext>
            </a:extLst>
          </p:cNvPr>
          <p:cNvSpPr/>
          <p:nvPr/>
        </p:nvSpPr>
        <p:spPr>
          <a:xfrm>
            <a:off x="3034830" y="2833799"/>
            <a:ext cx="1433945" cy="409800"/>
          </a:xfrm>
          <a:prstGeom prst="rect">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E246B335-90E7-B239-43BD-78C29CB9DB05}"/>
              </a:ext>
            </a:extLst>
          </p:cNvPr>
          <p:cNvCxnSpPr>
            <a:cxnSpLocks/>
            <a:stCxn id="71" idx="1"/>
          </p:cNvCxnSpPr>
          <p:nvPr/>
        </p:nvCxnSpPr>
        <p:spPr>
          <a:xfrm rot="10800000" flipV="1">
            <a:off x="1796312" y="3038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2778D886-0D20-6B53-0707-08769DD69BD0}"/>
              </a:ext>
            </a:extLst>
          </p:cNvPr>
          <p:cNvCxnSpPr>
            <a:cxnSpLocks/>
          </p:cNvCxnSpPr>
          <p:nvPr/>
        </p:nvCxnSpPr>
        <p:spPr>
          <a:xfrm>
            <a:off x="1796311" y="4421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A3D6D1E8-F74E-CD09-54A7-D8D9C8732417}"/>
              </a:ext>
            </a:extLst>
          </p:cNvPr>
          <p:cNvCxnSpPr>
            <a:cxnSpLocks/>
          </p:cNvCxnSpPr>
          <p:nvPr/>
        </p:nvCxnSpPr>
        <p:spPr>
          <a:xfrm flipV="1">
            <a:off x="2087606" y="3709380"/>
            <a:ext cx="2454973" cy="727569"/>
          </a:xfrm>
          <a:prstGeom prst="bentConnector3">
            <a:avLst>
              <a:gd name="adj1" fmla="val -63"/>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08FB9752-19EE-4933-8227-AC6D7A10CB35}"/>
              </a:ext>
            </a:extLst>
          </p:cNvPr>
          <p:cNvCxnSpPr>
            <a:cxnSpLocks/>
          </p:cNvCxnSpPr>
          <p:nvPr/>
        </p:nvCxnSpPr>
        <p:spPr>
          <a:xfrm>
            <a:off x="5092779" y="4073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A45B0B46-B8B6-0A2F-5462-0090984C27EB}"/>
              </a:ext>
            </a:extLst>
          </p:cNvPr>
          <p:cNvGrpSpPr/>
          <p:nvPr/>
        </p:nvGrpSpPr>
        <p:grpSpPr>
          <a:xfrm>
            <a:off x="7519765" y="5063794"/>
            <a:ext cx="371568" cy="371568"/>
            <a:chOff x="5114833" y="2825052"/>
            <a:chExt cx="371568" cy="371568"/>
          </a:xfrm>
        </p:grpSpPr>
        <p:sp>
          <p:nvSpPr>
            <p:cNvPr id="77" name="Oval 76">
              <a:extLst>
                <a:ext uri="{FF2B5EF4-FFF2-40B4-BE49-F238E27FC236}">
                  <a16:creationId xmlns:a16="http://schemas.microsoft.com/office/drawing/2014/main" id="{D0F9422F-87C8-9805-D69E-11B0CE0BBE17}"/>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EA1B88AE-3D93-E2C2-8E5D-86FE7A40EA0E}"/>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D888BBAC-E1DA-6CA2-399F-E1E002801970}"/>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21B34A9E-3EE1-4F32-9EB5-74F542AAA590}"/>
              </a:ext>
            </a:extLst>
          </p:cNvPr>
          <p:cNvSpPr txBox="1"/>
          <p:nvPr/>
        </p:nvSpPr>
        <p:spPr>
          <a:xfrm>
            <a:off x="3109502" y="3914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81" name="!!TextBox 80">
            <a:extLst>
              <a:ext uri="{FF2B5EF4-FFF2-40B4-BE49-F238E27FC236}">
                <a16:creationId xmlns:a16="http://schemas.microsoft.com/office/drawing/2014/main" id="{ABB15F5B-DC57-CDD4-116F-10A68AE0AE53}"/>
              </a:ext>
            </a:extLst>
          </p:cNvPr>
          <p:cNvSpPr txBox="1"/>
          <p:nvPr/>
        </p:nvSpPr>
        <p:spPr>
          <a:xfrm>
            <a:off x="4557246" y="3619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82" name="!!TextBox 81">
            <a:extLst>
              <a:ext uri="{FF2B5EF4-FFF2-40B4-BE49-F238E27FC236}">
                <a16:creationId xmlns:a16="http://schemas.microsoft.com/office/drawing/2014/main" id="{CE254326-6622-9EC1-89F9-7187092A647B}"/>
              </a:ext>
            </a:extLst>
          </p:cNvPr>
          <p:cNvSpPr txBox="1"/>
          <p:nvPr/>
        </p:nvSpPr>
        <p:spPr>
          <a:xfrm>
            <a:off x="4564939"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A7DBFC63-7F6C-74D2-EA80-116738F78B92}"/>
              </a:ext>
            </a:extLst>
          </p:cNvPr>
          <p:cNvSpPr txBox="1"/>
          <p:nvPr/>
        </p:nvSpPr>
        <p:spPr>
          <a:xfrm>
            <a:off x="4570920" y="4279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4" name="!!TextBox 83">
            <a:extLst>
              <a:ext uri="{FF2B5EF4-FFF2-40B4-BE49-F238E27FC236}">
                <a16:creationId xmlns:a16="http://schemas.microsoft.com/office/drawing/2014/main" id="{82E4E75B-A099-10E3-6A03-0B87A94D429D}"/>
              </a:ext>
            </a:extLst>
          </p:cNvPr>
          <p:cNvSpPr txBox="1"/>
          <p:nvPr/>
        </p:nvSpPr>
        <p:spPr>
          <a:xfrm>
            <a:off x="4564939"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33162A82-7D6F-0202-DC0A-2369A7D5F3EA}"/>
              </a:ext>
            </a:extLst>
          </p:cNvPr>
          <p:cNvSpPr txBox="1"/>
          <p:nvPr/>
        </p:nvSpPr>
        <p:spPr>
          <a:xfrm>
            <a:off x="4664916" y="3958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89" name="!!TextBox 88">
            <a:extLst>
              <a:ext uri="{FF2B5EF4-FFF2-40B4-BE49-F238E27FC236}">
                <a16:creationId xmlns:a16="http://schemas.microsoft.com/office/drawing/2014/main" id="{8DFEB269-0EEE-4203-5E1F-3F30D0EF1D9C}"/>
              </a:ext>
            </a:extLst>
          </p:cNvPr>
          <p:cNvSpPr txBox="1"/>
          <p:nvPr/>
        </p:nvSpPr>
        <p:spPr>
          <a:xfrm>
            <a:off x="4672990"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08C64B5D-E89A-8921-747C-FEE19E124AE0}"/>
              </a:ext>
            </a:extLst>
          </p:cNvPr>
          <p:cNvSpPr/>
          <p:nvPr/>
        </p:nvSpPr>
        <p:spPr>
          <a:xfrm>
            <a:off x="8341299" y="4810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A8A1DAE9-3A55-38AD-7468-36DD11E1B6A9}"/>
              </a:ext>
            </a:extLst>
          </p:cNvPr>
          <p:cNvSpPr txBox="1"/>
          <p:nvPr/>
        </p:nvSpPr>
        <p:spPr>
          <a:xfrm>
            <a:off x="8385690" y="4853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573ED39E-7453-2FB3-5A90-E93946859AF4}"/>
              </a:ext>
            </a:extLst>
          </p:cNvPr>
          <p:cNvSpPr txBox="1"/>
          <p:nvPr/>
        </p:nvSpPr>
        <p:spPr>
          <a:xfrm>
            <a:off x="8391685" y="5482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01F4121A-A381-0322-763E-2E262F2E3BCF}"/>
              </a:ext>
            </a:extLst>
          </p:cNvPr>
          <p:cNvSpPr txBox="1"/>
          <p:nvPr/>
        </p:nvSpPr>
        <p:spPr>
          <a:xfrm>
            <a:off x="8493360" y="5192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B0B1F84D-7E7F-243D-5145-CBC8837E7F45}"/>
              </a:ext>
            </a:extLst>
          </p:cNvPr>
          <p:cNvCxnSpPr>
            <a:cxnSpLocks/>
            <a:stCxn id="77" idx="6"/>
          </p:cNvCxnSpPr>
          <p:nvPr/>
        </p:nvCxnSpPr>
        <p:spPr>
          <a:xfrm>
            <a:off x="7891333" y="5249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51B1480A-F88C-28C0-CF05-F7B3D2F8E63F}"/>
              </a:ext>
            </a:extLst>
          </p:cNvPr>
          <p:cNvCxnSpPr>
            <a:cxnSpLocks/>
          </p:cNvCxnSpPr>
          <p:nvPr/>
        </p:nvCxnSpPr>
        <p:spPr>
          <a:xfrm flipV="1">
            <a:off x="7080777" y="4981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222F89F7-884C-DBE3-C377-A76B1C0C4261}"/>
              </a:ext>
            </a:extLst>
          </p:cNvPr>
          <p:cNvCxnSpPr>
            <a:cxnSpLocks/>
          </p:cNvCxnSpPr>
          <p:nvPr/>
        </p:nvCxnSpPr>
        <p:spPr>
          <a:xfrm flipV="1">
            <a:off x="8911257" y="4594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50789165-D7BF-C982-74A6-B5B304047C81}"/>
              </a:ext>
            </a:extLst>
          </p:cNvPr>
          <p:cNvSpPr txBox="1"/>
          <p:nvPr/>
        </p:nvSpPr>
        <p:spPr>
          <a:xfrm>
            <a:off x="3574927" y="2902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FIFO</a:t>
            </a:r>
          </a:p>
        </p:txBody>
      </p:sp>
      <p:sp>
        <p:nvSpPr>
          <p:cNvPr id="101" name="!!Oval 100">
            <a:extLst>
              <a:ext uri="{FF2B5EF4-FFF2-40B4-BE49-F238E27FC236}">
                <a16:creationId xmlns:a16="http://schemas.microsoft.com/office/drawing/2014/main" id="{5E69CBAD-74B7-9B7E-CB73-3BFC6EDE7C96}"/>
              </a:ext>
            </a:extLst>
          </p:cNvPr>
          <p:cNvSpPr/>
          <p:nvPr/>
        </p:nvSpPr>
        <p:spPr>
          <a:xfrm>
            <a:off x="2029841" y="4387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C3E5CB0F-15B4-A9C7-6CC8-ED8B55457010}"/>
              </a:ext>
            </a:extLst>
          </p:cNvPr>
          <p:cNvSpPr/>
          <p:nvPr/>
        </p:nvSpPr>
        <p:spPr>
          <a:xfrm>
            <a:off x="7045415" y="5214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19295A98-189D-D7C0-F8ED-60998306F22E}"/>
              </a:ext>
            </a:extLst>
          </p:cNvPr>
          <p:cNvSpPr/>
          <p:nvPr/>
        </p:nvSpPr>
        <p:spPr>
          <a:xfrm>
            <a:off x="1733862" y="5351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BE5DA7D0-362E-673E-64B0-3FC6EC61FAA2}"/>
              </a:ext>
            </a:extLst>
          </p:cNvPr>
          <p:cNvCxnSpPr>
            <a:cxnSpLocks/>
            <a:stCxn id="105" idx="0"/>
            <a:endCxn id="77" idx="4"/>
          </p:cNvCxnSpPr>
          <p:nvPr/>
        </p:nvCxnSpPr>
        <p:spPr>
          <a:xfrm flipV="1">
            <a:off x="7705549" y="5435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6C55CA70-45A3-0A49-AFEE-F68B4C34FFE0}"/>
              </a:ext>
            </a:extLst>
          </p:cNvPr>
          <p:cNvSpPr/>
          <p:nvPr/>
        </p:nvSpPr>
        <p:spPr>
          <a:xfrm>
            <a:off x="6866911" y="5857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7" name="TextBox 6">
            <a:extLst>
              <a:ext uri="{FF2B5EF4-FFF2-40B4-BE49-F238E27FC236}">
                <a16:creationId xmlns:a16="http://schemas.microsoft.com/office/drawing/2014/main" id="{831C96FC-CAB2-AE7E-487F-68604C487316}"/>
              </a:ext>
            </a:extLst>
          </p:cNvPr>
          <p:cNvSpPr txBox="1"/>
          <p:nvPr/>
        </p:nvSpPr>
        <p:spPr>
          <a:xfrm>
            <a:off x="354861" y="810580"/>
            <a:ext cx="10833779" cy="1328569"/>
          </a:xfrm>
          <a:prstGeom prst="rect">
            <a:avLst/>
          </a:prstGeom>
          <a:noFill/>
        </p:spPr>
        <p:txBody>
          <a:bodyPr wrap="square">
            <a:spAutoFit/>
          </a:bodyPr>
          <a:lstStyle/>
          <a:p>
            <a:pPr defTabSz="457200">
              <a:spcBef>
                <a:spcPts val="1000"/>
              </a:spcBef>
              <a:buClr>
                <a:srgbClr val="1E4056"/>
              </a:buClr>
              <a:buSzPct val="75000"/>
            </a:pPr>
            <a:r>
              <a:rPr lang="en-US" b="1" dirty="0"/>
              <a:t>6- FIFO:                </a:t>
            </a:r>
            <a:r>
              <a:rPr lang="en-US" dirty="0"/>
              <a:t>  																			  </a:t>
            </a:r>
            <a:r>
              <a:rPr lang="en-US" b="1" dirty="0"/>
              <a:t>Function: It’s used to store the input and the difference from the Butterfly unit </a:t>
            </a:r>
          </a:p>
          <a:p>
            <a:pPr defTabSz="457200">
              <a:spcBef>
                <a:spcPts val="1000"/>
              </a:spcBef>
              <a:buClr>
                <a:srgbClr val="1E4056"/>
              </a:buClr>
              <a:buSzPct val="75000"/>
            </a:pPr>
            <a:r>
              <a:rPr lang="en-US" b="1" dirty="0"/>
              <a:t>7- FIFO multiplexer  																			      Function: It’s used to route the input and the output difference to the FIFO  </a:t>
            </a:r>
            <a:endParaRPr lang="en-US" dirty="0"/>
          </a:p>
        </p:txBody>
      </p:sp>
      <p:cxnSp>
        <p:nvCxnSpPr>
          <p:cNvPr id="8" name="!!Elbow Connector 67">
            <a:extLst>
              <a:ext uri="{FF2B5EF4-FFF2-40B4-BE49-F238E27FC236}">
                <a16:creationId xmlns:a16="http://schemas.microsoft.com/office/drawing/2014/main" id="{FAE9D4CA-22AA-02F5-D644-9A365BDB62A7}"/>
              </a:ext>
            </a:extLst>
          </p:cNvPr>
          <p:cNvCxnSpPr>
            <a:cxnSpLocks/>
          </p:cNvCxnSpPr>
          <p:nvPr/>
        </p:nvCxnSpPr>
        <p:spPr>
          <a:xfrm rot="5400000" flipH="1" flipV="1">
            <a:off x="4008438" y="4139581"/>
            <a:ext cx="2740588" cy="554822"/>
          </a:xfrm>
          <a:prstGeom prst="bentConnector3">
            <a:avLst>
              <a:gd name="adj1" fmla="val -586"/>
            </a:avLst>
          </a:prstGeom>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Arrow Connector 69">
            <a:extLst>
              <a:ext uri="{FF2B5EF4-FFF2-40B4-BE49-F238E27FC236}">
                <a16:creationId xmlns:a16="http://schemas.microsoft.com/office/drawing/2014/main" id="{D26B7FD1-A5BD-9EDB-F09D-1A6A31248AA0}"/>
              </a:ext>
            </a:extLst>
          </p:cNvPr>
          <p:cNvCxnSpPr>
            <a:cxnSpLocks/>
          </p:cNvCxnSpPr>
          <p:nvPr/>
        </p:nvCxnSpPr>
        <p:spPr>
          <a:xfrm flipH="1">
            <a:off x="4484715" y="3038699"/>
            <a:ext cx="1162886"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39">
            <a:extLst>
              <a:ext uri="{FF2B5EF4-FFF2-40B4-BE49-F238E27FC236}">
                <a16:creationId xmlns:a16="http://schemas.microsoft.com/office/drawing/2014/main" id="{48ABBC9A-C59E-AED9-CE7B-36A48E10BFCC}"/>
              </a:ext>
            </a:extLst>
          </p:cNvPr>
          <p:cNvCxnSpPr>
            <a:cxnSpLocks/>
          </p:cNvCxnSpPr>
          <p:nvPr/>
        </p:nvCxnSpPr>
        <p:spPr>
          <a:xfrm>
            <a:off x="450432" y="5377053"/>
            <a:ext cx="223356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36">
            <a:extLst>
              <a:ext uri="{FF2B5EF4-FFF2-40B4-BE49-F238E27FC236}">
                <a16:creationId xmlns:a16="http://schemas.microsoft.com/office/drawing/2014/main" id="{3324D638-F1D7-0399-7E29-3467E2BD498E}"/>
              </a:ext>
            </a:extLst>
          </p:cNvPr>
          <p:cNvSpPr txBox="1"/>
          <p:nvPr/>
        </p:nvSpPr>
        <p:spPr>
          <a:xfrm>
            <a:off x="408012" y="4961289"/>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9" name="!!TextBox 153">
            <a:extLst>
              <a:ext uri="{FF2B5EF4-FFF2-40B4-BE49-F238E27FC236}">
                <a16:creationId xmlns:a16="http://schemas.microsoft.com/office/drawing/2014/main" id="{8B6BF812-5A6A-90C4-8056-E1F3B3FBDFFA}"/>
              </a:ext>
            </a:extLst>
          </p:cNvPr>
          <p:cNvSpPr txBox="1"/>
          <p:nvPr/>
        </p:nvSpPr>
        <p:spPr>
          <a:xfrm>
            <a:off x="1066142"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cxnSp>
        <p:nvCxnSpPr>
          <p:cNvPr id="25" name="!!Straight Connector 151">
            <a:extLst>
              <a:ext uri="{FF2B5EF4-FFF2-40B4-BE49-F238E27FC236}">
                <a16:creationId xmlns:a16="http://schemas.microsoft.com/office/drawing/2014/main" id="{D6EB6EA2-2AC2-6726-8C9A-827F1CD458E3}"/>
              </a:ext>
            </a:extLst>
          </p:cNvPr>
          <p:cNvCxnSpPr>
            <a:cxnSpLocks/>
          </p:cNvCxnSpPr>
          <p:nvPr/>
        </p:nvCxnSpPr>
        <p:spPr>
          <a:xfrm flipH="1">
            <a:off x="875477" y="5327764"/>
            <a:ext cx="249595" cy="134801"/>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27" name="!!Oval 102">
            <a:extLst>
              <a:ext uri="{FF2B5EF4-FFF2-40B4-BE49-F238E27FC236}">
                <a16:creationId xmlns:a16="http://schemas.microsoft.com/office/drawing/2014/main" id="{1185520F-D1CA-64BF-9C2F-605D663F0B6A}"/>
              </a:ext>
            </a:extLst>
          </p:cNvPr>
          <p:cNvSpPr/>
          <p:nvPr/>
        </p:nvSpPr>
        <p:spPr>
          <a:xfrm>
            <a:off x="1733432" y="535158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8" name="!!Elbow Connector 65">
            <a:extLst>
              <a:ext uri="{FF2B5EF4-FFF2-40B4-BE49-F238E27FC236}">
                <a16:creationId xmlns:a16="http://schemas.microsoft.com/office/drawing/2014/main" id="{045EA26E-38CA-18E5-3949-D9798947DE44}"/>
              </a:ext>
            </a:extLst>
          </p:cNvPr>
          <p:cNvCxnSpPr/>
          <p:nvPr/>
        </p:nvCxnSpPr>
        <p:spPr>
          <a:xfrm>
            <a:off x="2055171" y="5379113"/>
            <a:ext cx="2445509" cy="574853"/>
          </a:xfrm>
          <a:prstGeom prst="bentConnector3">
            <a:avLst>
              <a:gd name="adj1" fmla="val -12720"/>
            </a:avLst>
          </a:prstGeom>
          <a:ln w="127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Rectangle 81">
            <a:extLst>
              <a:ext uri="{FF2B5EF4-FFF2-40B4-BE49-F238E27FC236}">
                <a16:creationId xmlns:a16="http://schemas.microsoft.com/office/drawing/2014/main" id="{FBD072CE-57C9-1344-4F78-5AE53D29EBFF}"/>
              </a:ext>
            </a:extLst>
          </p:cNvPr>
          <p:cNvSpPr/>
          <p:nvPr/>
        </p:nvSpPr>
        <p:spPr>
          <a:xfrm>
            <a:off x="4523737"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4" name="!!TextBox 81">
            <a:extLst>
              <a:ext uri="{FF2B5EF4-FFF2-40B4-BE49-F238E27FC236}">
                <a16:creationId xmlns:a16="http://schemas.microsoft.com/office/drawing/2014/main" id="{67D77482-1556-533B-EB8F-5E1B37500167}"/>
              </a:ext>
            </a:extLst>
          </p:cNvPr>
          <p:cNvSpPr txBox="1"/>
          <p:nvPr/>
        </p:nvSpPr>
        <p:spPr>
          <a:xfrm>
            <a:off x="4570450"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38" name="!!TextBox 83">
            <a:extLst>
              <a:ext uri="{FF2B5EF4-FFF2-40B4-BE49-F238E27FC236}">
                <a16:creationId xmlns:a16="http://schemas.microsoft.com/office/drawing/2014/main" id="{1E539CE3-7D98-A08C-8716-7D5A085A9FB3}"/>
              </a:ext>
            </a:extLst>
          </p:cNvPr>
          <p:cNvSpPr txBox="1"/>
          <p:nvPr/>
        </p:nvSpPr>
        <p:spPr>
          <a:xfrm>
            <a:off x="4570450"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39" name="!!TextBox 88">
            <a:extLst>
              <a:ext uri="{FF2B5EF4-FFF2-40B4-BE49-F238E27FC236}">
                <a16:creationId xmlns:a16="http://schemas.microsoft.com/office/drawing/2014/main" id="{7DCDE4DA-7979-0630-69F2-AACC5ECFDC39}"/>
              </a:ext>
            </a:extLst>
          </p:cNvPr>
          <p:cNvSpPr txBox="1"/>
          <p:nvPr/>
        </p:nvSpPr>
        <p:spPr>
          <a:xfrm>
            <a:off x="4678501"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Tree>
    <p:extLst>
      <p:ext uri="{BB962C8B-B14F-4D97-AF65-F5344CB8AC3E}">
        <p14:creationId xmlns:p14="http://schemas.microsoft.com/office/powerpoint/2010/main" val="4426774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xEl>
                                              <p:pRg st="0" end="0"/>
                                            </p:txEl>
                                          </p:spTgt>
                                        </p:tgtEl>
                                        <p:attrNameLst>
                                          <p:attrName>style.visibility</p:attrName>
                                        </p:attrNameLst>
                                      </p:cBhvr>
                                      <p:to>
                                        <p:strVal val="visible"/>
                                      </p:to>
                                    </p:set>
                                    <p:animEffect transition="in" filter="fade">
                                      <p:cBhvr>
                                        <p:cTn id="25" dur="500"/>
                                        <p:tgtEl>
                                          <p:spTgt spid="19">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par>
                                <p:cTn id="29" presetID="10" presetClass="entr" presetSubtype="0" fill="hold" nodeType="withEffect">
                                  <p:stCondLst>
                                    <p:cond delay="0"/>
                                  </p:stCondLst>
                                  <p:childTnLst>
                                    <p:set>
                                      <p:cBhvr>
                                        <p:cTn id="30" dur="1" fill="hold">
                                          <p:stCondLst>
                                            <p:cond delay="0"/>
                                          </p:stCondLst>
                                        </p:cTn>
                                        <p:tgtEl>
                                          <p:spTgt spid="38">
                                            <p:txEl>
                                              <p:pRg st="0" end="0"/>
                                            </p:txEl>
                                          </p:spTgt>
                                        </p:tgtEl>
                                        <p:attrNameLst>
                                          <p:attrName>style.visibility</p:attrName>
                                        </p:attrNameLst>
                                      </p:cBhvr>
                                      <p:to>
                                        <p:strVal val="visible"/>
                                      </p:to>
                                    </p:set>
                                    <p:animEffect transition="in" filter="fade">
                                      <p:cBhvr>
                                        <p:cTn id="31" dur="500"/>
                                        <p:tgtEl>
                                          <p:spTgt spid="38">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animBg="1"/>
      <p:bldP spid="33" grpId="0" animBg="1"/>
      <p:bldP spid="34" grpId="0"/>
      <p:bldP spid="3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1B5A-BFD7-0285-2DC1-CF11398C5D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D049DC-0371-FD31-E018-D0C0BF8345A1}"/>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AD0AD07D-0DE6-488E-42F5-BF49F65189A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A79ED60-8C40-8DF5-150E-FFB4746351D5}"/>
              </a:ext>
            </a:extLst>
          </p:cNvPr>
          <p:cNvSpPr>
            <a:spLocks noGrp="1"/>
          </p:cNvSpPr>
          <p:nvPr>
            <p:ph type="sldNum" sz="quarter" idx="4"/>
          </p:nvPr>
        </p:nvSpPr>
        <p:spPr/>
        <p:txBody>
          <a:bodyPr/>
          <a:lstStyle/>
          <a:p>
            <a:pPr>
              <a:defRPr/>
            </a:pPr>
            <a:fld id="{A9CE67A1-BA7F-A74E-B5D7-615746DEEC2B}" type="slidenum">
              <a:rPr lang="en-US" smtClean="0"/>
              <a:pPr>
                <a:defRPr/>
              </a:pPr>
              <a:t>61</a:t>
            </a:fld>
            <a:endParaRPr lang="en-US" baseline="-11000" dirty="0"/>
          </a:p>
        </p:txBody>
      </p:sp>
      <p:sp>
        <p:nvSpPr>
          <p:cNvPr id="6" name="Date Placeholder 5">
            <a:extLst>
              <a:ext uri="{FF2B5EF4-FFF2-40B4-BE49-F238E27FC236}">
                <a16:creationId xmlns:a16="http://schemas.microsoft.com/office/drawing/2014/main" id="{3256794F-3488-7C51-35F6-13DDAB29A3E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52F4291A-7358-D183-E761-8A0FF267FF91}"/>
              </a:ext>
            </a:extLst>
          </p:cNvPr>
          <p:cNvSpPr txBox="1"/>
          <p:nvPr/>
        </p:nvSpPr>
        <p:spPr>
          <a:xfrm>
            <a:off x="354861" y="810580"/>
            <a:ext cx="10833779" cy="646331"/>
          </a:xfrm>
          <a:prstGeom prst="rect">
            <a:avLst/>
          </a:prstGeom>
          <a:noFill/>
        </p:spPr>
        <p:txBody>
          <a:bodyPr wrap="square">
            <a:spAutoFit/>
          </a:bodyPr>
          <a:lstStyle/>
          <a:p>
            <a:pPr defTabSz="457200">
              <a:spcBef>
                <a:spcPts val="1000"/>
              </a:spcBef>
              <a:buClr>
                <a:srgbClr val="1E4056"/>
              </a:buClr>
              <a:buSzPct val="75000"/>
            </a:pPr>
            <a:r>
              <a:rPr lang="en-US" dirty="0"/>
              <a:t>For demonstration purposes, we will use an 8-point FFT  (N=8) , while each stage has its own FSM we will work on stage (1) so the size of FIFO=N/2=4</a:t>
            </a:r>
          </a:p>
        </p:txBody>
      </p:sp>
      <p:cxnSp>
        <p:nvCxnSpPr>
          <p:cNvPr id="13" name="Connector: Curved 12">
            <a:extLst>
              <a:ext uri="{FF2B5EF4-FFF2-40B4-BE49-F238E27FC236}">
                <a16:creationId xmlns:a16="http://schemas.microsoft.com/office/drawing/2014/main" id="{40BAEB04-4B0A-D3ED-7633-C78FD0FF4832}"/>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C34FBF22-7D85-5391-8B69-EC1571C91AC8}"/>
              </a:ext>
            </a:extLst>
          </p:cNvPr>
          <p:cNvSpPr/>
          <p:nvPr/>
        </p:nvSpPr>
        <p:spPr>
          <a:xfrm>
            <a:off x="10061450" y="5353959"/>
            <a:ext cx="925743" cy="92574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ED694B65-BE09-85EF-D3EA-D3121DEA435E}"/>
              </a:ext>
            </a:extLst>
          </p:cNvPr>
          <p:cNvSpPr/>
          <p:nvPr/>
        </p:nvSpPr>
        <p:spPr>
          <a:xfrm>
            <a:off x="10063058" y="3989611"/>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4A1C168-D4FF-6733-BC6D-CE4627B12A6C}"/>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C4B69B26-99CD-BD06-8849-7412C7758D58}"/>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8467E4C5-3235-E0F4-6F1D-754F7A6DC7F8}"/>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A1528C97-A1D9-63B0-8B95-6215560B505D}"/>
              </a:ext>
            </a:extLst>
          </p:cNvPr>
          <p:cNvSpPr/>
          <p:nvPr/>
        </p:nvSpPr>
        <p:spPr>
          <a:xfrm>
            <a:off x="10063058" y="2712647"/>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E4E9EB4B-C6A2-D85F-E692-455F53591FAB}"/>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30427465-7FA1-DE07-31ED-DEB3E000BD55}"/>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B97F02A1-2724-D9E5-72FC-CFE6126301B8}"/>
              </a:ext>
            </a:extLst>
          </p:cNvPr>
          <p:cNvSpPr/>
          <p:nvPr/>
        </p:nvSpPr>
        <p:spPr>
          <a:xfrm>
            <a:off x="10069661" y="1411236"/>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B978E08B-9125-F36B-75EF-DF3E3F956777}"/>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2950BC09-CF40-853F-75C3-94C6DF026ECB}"/>
              </a:ext>
            </a:extLst>
          </p:cNvPr>
          <p:cNvCxnSpPr>
            <a:cxnSpLocks/>
          </p:cNvCxnSpPr>
          <p:nvPr/>
        </p:nvCxnSpPr>
        <p:spPr>
          <a:xfrm flipH="1">
            <a:off x="10524321" y="3603077"/>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72EAC00D-D68E-FFD6-9A59-115B05B4C81D}"/>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1A8977B3-0C68-3A33-4DFA-6F5DB1956ABC}"/>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3" name="TextBox 102">
            <a:extLst>
              <a:ext uri="{FF2B5EF4-FFF2-40B4-BE49-F238E27FC236}">
                <a16:creationId xmlns:a16="http://schemas.microsoft.com/office/drawing/2014/main" id="{AD4400E7-6F14-64FF-6839-755BF97EAE03}"/>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72F921E5-EFF7-D9DC-F691-EC3649A4C414}"/>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6A6A6717-C77F-8C80-17FA-D905C488DC72}"/>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90B4E4ED-0C97-FBB8-99E2-FE4881F73956}"/>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sp>
        <p:nvSpPr>
          <p:cNvPr id="126" name="TextBox 125">
            <a:extLst>
              <a:ext uri="{FF2B5EF4-FFF2-40B4-BE49-F238E27FC236}">
                <a16:creationId xmlns:a16="http://schemas.microsoft.com/office/drawing/2014/main" id="{2C1122A5-5926-2DED-F9A7-A2B53273909E}"/>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91B9814A-1580-30DB-1BE6-818E73ADF6E5}"/>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8AFB6C40-8254-6F51-6446-D45DDFD30E99}"/>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3930E976-F5EC-4260-3C34-A69E9F9E2C1B}"/>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CBC95338-9C6D-327C-2483-723E54820C14}"/>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66FFA31F-FA36-3763-D82E-58D67E80C2B0}"/>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AD5C3AC9-1992-D65C-9CF4-D4F71549862D}"/>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A06AD978-6471-D5F8-EF0C-FBB258E05ADB}"/>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6C592071-634D-33D1-2C2E-F2563D4BB032}"/>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145A671C-952C-4355-1302-0B97FCBEA40A}"/>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62E4E77F-6C2D-5610-35DA-E4C28A3EAC3E}"/>
              </a:ext>
            </a:extLst>
          </p:cNvPr>
          <p:cNvGrpSpPr/>
          <p:nvPr/>
        </p:nvGrpSpPr>
        <p:grpSpPr>
          <a:xfrm>
            <a:off x="58411" y="3034818"/>
            <a:ext cx="8227354" cy="2594917"/>
            <a:chOff x="107181" y="869643"/>
            <a:chExt cx="11748793" cy="3827917"/>
          </a:xfrm>
        </p:grpSpPr>
        <p:grpSp>
          <p:nvGrpSpPr>
            <p:cNvPr id="184" name="Group 183">
              <a:extLst>
                <a:ext uri="{FF2B5EF4-FFF2-40B4-BE49-F238E27FC236}">
                  <a16:creationId xmlns:a16="http://schemas.microsoft.com/office/drawing/2014/main" id="{5DC0ACA0-2621-030D-7FBE-EDCC973BA64B}"/>
                </a:ext>
              </a:extLst>
            </p:cNvPr>
            <p:cNvGrpSpPr/>
            <p:nvPr/>
          </p:nvGrpSpPr>
          <p:grpSpPr>
            <a:xfrm>
              <a:off x="107181" y="3278520"/>
              <a:ext cx="2543020" cy="791976"/>
              <a:chOff x="1733817" y="3666962"/>
              <a:chExt cx="1689245" cy="331305"/>
            </a:xfrm>
          </p:grpSpPr>
          <p:sp>
            <p:nvSpPr>
              <p:cNvPr id="241" name="TextBox 240">
                <a:extLst>
                  <a:ext uri="{FF2B5EF4-FFF2-40B4-BE49-F238E27FC236}">
                    <a16:creationId xmlns:a16="http://schemas.microsoft.com/office/drawing/2014/main" id="{9167B038-B157-9805-414B-55D0D75B1DB6}"/>
                  </a:ext>
                </a:extLst>
              </p:cNvPr>
              <p:cNvSpPr txBox="1"/>
              <p:nvPr/>
            </p:nvSpPr>
            <p:spPr>
              <a:xfrm>
                <a:off x="1733817" y="3666962"/>
                <a:ext cx="996624" cy="7360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cxnSp>
            <p:nvCxnSpPr>
              <p:cNvPr id="242" name="Straight Arrow Connector 241">
                <a:extLst>
                  <a:ext uri="{FF2B5EF4-FFF2-40B4-BE49-F238E27FC236}">
                    <a16:creationId xmlns:a16="http://schemas.microsoft.com/office/drawing/2014/main" id="{D758FD33-5133-4B5E-DFA1-6E5DE4CD91DE}"/>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1ABE136-5B47-A354-FB23-68B6D059E761}"/>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FC39DC78-E620-B1A9-F1AF-B187331618F5}"/>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713AB30C-85FD-B02F-B29F-CD5993A09F28}"/>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186" name="Straight Connector 185">
              <a:extLst>
                <a:ext uri="{FF2B5EF4-FFF2-40B4-BE49-F238E27FC236}">
                  <a16:creationId xmlns:a16="http://schemas.microsoft.com/office/drawing/2014/main" id="{69905968-DCA2-D4A8-A764-92836C2A6B83}"/>
                </a:ext>
              </a:extLst>
            </p:cNvPr>
            <p:cNvCxnSpPr>
              <a:cxnSpLocks/>
            </p:cNvCxnSpPr>
            <p:nvPr/>
          </p:nvCxnSpPr>
          <p:spPr>
            <a:xfrm flipH="1">
              <a:off x="10699820" y="2833922"/>
              <a:ext cx="375745" cy="319647"/>
            </a:xfrm>
            <a:prstGeom prst="line">
              <a:avLst/>
            </a:prstGeom>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49A2935C-3DCE-AA78-FCFD-D0A512371EB3}"/>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3ECFCCB2-0CB0-B57B-33D5-CE918CD8B612}"/>
                </a:ext>
              </a:extLst>
            </p:cNvPr>
            <p:cNvSpPr/>
            <p:nvPr/>
          </p:nvSpPr>
          <p:spPr>
            <a:xfrm>
              <a:off x="2671659" y="2275292"/>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56B97818-91CA-1B7A-39A2-7B6472D4277A}"/>
                </a:ext>
              </a:extLst>
            </p:cNvPr>
            <p:cNvCxnSpPr>
              <a:cxnSpLocks/>
            </p:cNvCxnSpPr>
            <p:nvPr/>
          </p:nvCxnSpPr>
          <p:spPr>
            <a:xfrm>
              <a:off x="2671659" y="2769242"/>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A7D5FC51-D522-9D25-FB08-F2A85DB30312}"/>
                </a:ext>
              </a:extLst>
            </p:cNvPr>
            <p:cNvCxnSpPr>
              <a:cxnSpLocks/>
            </p:cNvCxnSpPr>
            <p:nvPr/>
          </p:nvCxnSpPr>
          <p:spPr>
            <a:xfrm>
              <a:off x="2671659" y="375297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485399F8-BAB4-0726-AB26-4C07F1393B4C}"/>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63F39E3E-F20F-2A17-32F4-7FA6988B3159}"/>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642AF08C-5550-F72A-389B-8F91D00DEDFB}"/>
                  </a:ext>
                </a:extLst>
              </p:cNvPr>
              <p:cNvCxnSpPr>
                <a:stCxn id="238" idx="6"/>
                <a:endCxn id="23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C19DD07E-D05B-8251-F091-994A8ED725C5}"/>
                  </a:ext>
                </a:extLst>
              </p:cNvPr>
              <p:cNvCxnSpPr>
                <a:cxnSpLocks/>
                <a:stCxn id="238" idx="4"/>
                <a:endCxn id="23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1BC9EAEE-5F87-051A-DA63-4167D1625A77}"/>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54047A6-B697-F88D-FC59-2EEC419F14D2}"/>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13938FEE-9648-793C-9F73-8D8D8387DCAF}"/>
                  </a:ext>
                </a:extLst>
              </p:cNvPr>
              <p:cNvCxnSpPr>
                <a:stCxn id="235" idx="6"/>
                <a:endCxn id="235"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6B2E973C-0415-5FA5-B1B5-8416CFCEB9B4}"/>
                  </a:ext>
                </a:extLst>
              </p:cNvPr>
              <p:cNvCxnSpPr>
                <a:cxnSpLocks/>
                <a:stCxn id="235" idx="4"/>
                <a:endCxn id="235"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77CBAE8A-6ADF-D2C7-447A-F9A375D37C83}"/>
                </a:ext>
              </a:extLst>
            </p:cNvPr>
            <p:cNvCxnSpPr>
              <a:cxnSpLocks/>
              <a:endCxn id="235" idx="0"/>
            </p:cNvCxnSpPr>
            <p:nvPr/>
          </p:nvCxnSpPr>
          <p:spPr>
            <a:xfrm>
              <a:off x="2871705" y="2759911"/>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C7B8617E-2C76-0CE3-0AA1-8ED3EF249BD5}"/>
                </a:ext>
              </a:extLst>
            </p:cNvPr>
            <p:cNvCxnSpPr>
              <a:cxnSpLocks/>
              <a:endCxn id="238" idx="4"/>
            </p:cNvCxnSpPr>
            <p:nvPr/>
          </p:nvCxnSpPr>
          <p:spPr>
            <a:xfrm flipV="1">
              <a:off x="2949708" y="2955026"/>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F657B612-E16F-F5B9-B805-75AACF545A32}"/>
                </a:ext>
              </a:extLst>
            </p:cNvPr>
            <p:cNvCxnSpPr/>
            <p:nvPr/>
          </p:nvCxnSpPr>
          <p:spPr>
            <a:xfrm flipH="1">
              <a:off x="3125499" y="3885749"/>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D00FE1ED-011A-C15C-30B5-C4102F50E477}"/>
                </a:ext>
              </a:extLst>
            </p:cNvPr>
            <p:cNvCxnSpPr>
              <a:cxnSpLocks/>
            </p:cNvCxnSpPr>
            <p:nvPr/>
          </p:nvCxnSpPr>
          <p:spPr>
            <a:xfrm>
              <a:off x="3739844" y="2769242"/>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7020309-3871-0A01-E502-F6BD8C7EE479}"/>
                </a:ext>
              </a:extLst>
            </p:cNvPr>
            <p:cNvCxnSpPr>
              <a:cxnSpLocks/>
              <a:stCxn id="235" idx="6"/>
            </p:cNvCxnSpPr>
            <p:nvPr/>
          </p:nvCxnSpPr>
          <p:spPr>
            <a:xfrm flipV="1">
              <a:off x="3774747" y="3752979"/>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3D7EC61D-0690-07E7-EE03-DB4460055F51}"/>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065DC53E-C853-83EA-4DC0-0C37984A7B07}"/>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34EC3546-9CEB-5DE3-4571-586277C4A2E5}"/>
                </a:ext>
              </a:extLst>
            </p:cNvPr>
            <p:cNvCxnSpPr/>
            <p:nvPr/>
          </p:nvCxnSpPr>
          <p:spPr>
            <a:xfrm>
              <a:off x="2075647" y="3752978"/>
              <a:ext cx="2445509" cy="574853"/>
            </a:xfrm>
            <a:prstGeom prst="bentConnector3">
              <a:avLst>
                <a:gd name="adj1" fmla="val -1272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A3D0975E-357D-C4A9-1CA0-DDC013318F4F}"/>
                </a:ext>
              </a:extLst>
            </p:cNvPr>
            <p:cNvCxnSpPr>
              <a:cxnSpLocks/>
            </p:cNvCxnSpPr>
            <p:nvPr/>
          </p:nvCxnSpPr>
          <p:spPr>
            <a:xfrm rot="5400000" flipH="1" flipV="1">
              <a:off x="3987937" y="2492595"/>
              <a:ext cx="2740588" cy="554822"/>
            </a:xfrm>
            <a:prstGeom prst="bentConnector3">
              <a:avLst>
                <a:gd name="adj1" fmla="val -586"/>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2809933B-51DE-9E20-B943-1E20EAF97737}"/>
                </a:ext>
              </a:extLst>
            </p:cNvPr>
            <p:cNvSpPr/>
            <p:nvPr/>
          </p:nvSpPr>
          <p:spPr>
            <a:xfrm>
              <a:off x="1372584"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F839C7EB-8EDF-530A-2274-38AC192116FC}"/>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6EEA3EDF-5A43-B785-4DBD-7A4CF5D67C19}"/>
                </a:ext>
              </a:extLst>
            </p:cNvPr>
            <p:cNvSpPr/>
            <p:nvPr/>
          </p:nvSpPr>
          <p:spPr>
            <a:xfrm>
              <a:off x="3022871" y="1194812"/>
              <a:ext cx="1433945" cy="409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A3BE6C40-F8AF-2E4B-ED9D-18DAFCE6D836}"/>
                </a:ext>
              </a:extLst>
            </p:cNvPr>
            <p:cNvCxnSpPr>
              <a:cxnSpLocks/>
              <a:stCxn id="204" idx="1"/>
            </p:cNvCxnSpPr>
            <p:nvPr/>
          </p:nvCxnSpPr>
          <p:spPr>
            <a:xfrm rot="10800000" flipV="1">
              <a:off x="1784353" y="1399712"/>
              <a:ext cx="1238519" cy="1398250"/>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C8FDC4CF-D702-FDB5-7046-09DF0E2A61F6}"/>
                </a:ext>
              </a:extLst>
            </p:cNvPr>
            <p:cNvCxnSpPr>
              <a:cxnSpLocks/>
            </p:cNvCxnSpPr>
            <p:nvPr/>
          </p:nvCxnSpPr>
          <p:spPr>
            <a:xfrm>
              <a:off x="1784352" y="2782101"/>
              <a:ext cx="8873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EBBD4E8F-4D31-3555-619A-8C7689B96F8D}"/>
                </a:ext>
              </a:extLst>
            </p:cNvPr>
            <p:cNvCxnSpPr>
              <a:cxnSpLocks/>
            </p:cNvCxnSpPr>
            <p:nvPr/>
          </p:nvCxnSpPr>
          <p:spPr>
            <a:xfrm flipV="1">
              <a:off x="2075647" y="2070393"/>
              <a:ext cx="2454973" cy="727569"/>
            </a:xfrm>
            <a:prstGeom prst="bentConnector3">
              <a:avLst>
                <a:gd name="adj1" fmla="val -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3BEE3E32-AC84-0368-221D-9604DFFCB63E}"/>
                </a:ext>
              </a:extLst>
            </p:cNvPr>
            <p:cNvCxnSpPr>
              <a:cxnSpLocks/>
            </p:cNvCxnSpPr>
            <p:nvPr/>
          </p:nvCxnSpPr>
          <p:spPr>
            <a:xfrm>
              <a:off x="5080820" y="2434177"/>
              <a:ext cx="2449577" cy="1191359"/>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209" name="Group 208">
              <a:extLst>
                <a:ext uri="{FF2B5EF4-FFF2-40B4-BE49-F238E27FC236}">
                  <a16:creationId xmlns:a16="http://schemas.microsoft.com/office/drawing/2014/main" id="{C5E92DCE-12E3-D2A7-19B9-C15393AF7896}"/>
                </a:ext>
              </a:extLst>
            </p:cNvPr>
            <p:cNvGrpSpPr/>
            <p:nvPr/>
          </p:nvGrpSpPr>
          <p:grpSpPr>
            <a:xfrm>
              <a:off x="7507806" y="3424807"/>
              <a:ext cx="371568" cy="371568"/>
              <a:chOff x="5114833" y="2825052"/>
              <a:chExt cx="371568" cy="371568"/>
            </a:xfrm>
          </p:grpSpPr>
          <p:sp>
            <p:nvSpPr>
              <p:cNvPr id="232" name="Oval 231">
                <a:extLst>
                  <a:ext uri="{FF2B5EF4-FFF2-40B4-BE49-F238E27FC236}">
                    <a16:creationId xmlns:a16="http://schemas.microsoft.com/office/drawing/2014/main" id="{07B424DC-5737-A1A0-16E2-A1B424808C13}"/>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3" name="Straight Connector 232">
                <a:extLst>
                  <a:ext uri="{FF2B5EF4-FFF2-40B4-BE49-F238E27FC236}">
                    <a16:creationId xmlns:a16="http://schemas.microsoft.com/office/drawing/2014/main" id="{FF1AC789-360F-45D0-7645-AF783D751411}"/>
                  </a:ext>
                </a:extLst>
              </p:cNvPr>
              <p:cNvCxnSpPr>
                <a:cxnSpLocks/>
                <a:stCxn id="232" idx="7"/>
                <a:endCxn id="232" idx="3"/>
              </p:cNvCxnSpPr>
              <p:nvPr/>
            </p:nvCxnSpPr>
            <p:spPr>
              <a:xfrm flipH="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cxnSp>
            <p:nvCxnSpPr>
              <p:cNvPr id="234" name="Straight Connector 233">
                <a:extLst>
                  <a:ext uri="{FF2B5EF4-FFF2-40B4-BE49-F238E27FC236}">
                    <a16:creationId xmlns:a16="http://schemas.microsoft.com/office/drawing/2014/main" id="{51B0C9E1-670D-F73B-271F-0CA1CA415B5A}"/>
                  </a:ext>
                </a:extLst>
              </p:cNvPr>
              <p:cNvCxnSpPr>
                <a:cxnSpLocks/>
                <a:stCxn id="232" idx="5"/>
                <a:endCxn id="232" idx="1"/>
              </p:cNvCxnSpPr>
              <p:nvPr/>
            </p:nvCxnSpPr>
            <p:spPr>
              <a:xfrm flipH="1" flipV="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grpSp>
        <p:sp>
          <p:nvSpPr>
            <p:cNvPr id="210" name="TextBox 209">
              <a:extLst>
                <a:ext uri="{FF2B5EF4-FFF2-40B4-BE49-F238E27FC236}">
                  <a16:creationId xmlns:a16="http://schemas.microsoft.com/office/drawing/2014/main" id="{5E854972-179B-CD67-5D70-90752AA1DA7C}"/>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218CDABE-DA41-3A2E-A776-868CDC4D1B75}"/>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3A86E59B-B912-3BF6-86B4-66881FB9EB13}"/>
                </a:ext>
              </a:extLst>
            </p:cNvPr>
            <p:cNvSpPr txBox="1"/>
            <p:nvPr/>
          </p:nvSpPr>
          <p:spPr>
            <a:xfrm>
              <a:off x="4552980" y="365675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4C4E5B15-9645-26E1-9D9E-06F865AA4A2D}"/>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17E1F74D-FB45-44CC-4659-9C45209372B5}"/>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3559508B-4F46-2390-589D-AE060C221A64}"/>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E1D7BF5-9D88-0607-2F04-7711FF95B4D3}"/>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599B633D-1C2A-9C33-0AB5-1CB5057124A6}"/>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71AE248C-AEE8-4F0F-8BCD-FCBE96AE4179}"/>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9FCB0DF0-C712-FC75-10E8-9C9F3B15201B}"/>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765F8754-0534-6A20-8FAF-643638365DE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DB0600C4-4CFB-A208-4279-ED4AE2A7B627}"/>
                </a:ext>
              </a:extLst>
            </p:cNvPr>
            <p:cNvCxnSpPr>
              <a:cxnSpLocks/>
              <a:stCxn id="232" idx="6"/>
            </p:cNvCxnSpPr>
            <p:nvPr/>
          </p:nvCxnSpPr>
          <p:spPr>
            <a:xfrm>
              <a:off x="7879374" y="3610591"/>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439490DE-BE10-F1EA-D8A8-4586D4ACFCE0}"/>
                </a:ext>
              </a:extLst>
            </p:cNvPr>
            <p:cNvCxnSpPr>
              <a:cxnSpLocks/>
            </p:cNvCxnSpPr>
            <p:nvPr/>
          </p:nvCxnSpPr>
          <p:spPr>
            <a:xfrm flipV="1">
              <a:off x="7068818" y="3342825"/>
              <a:ext cx="1260522" cy="282711"/>
            </a:xfrm>
            <a:prstGeom prst="bentConnector3">
              <a:avLst>
                <a:gd name="adj1" fmla="val 7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13D9F2C3-71EC-6662-E5EA-698C19883A71}"/>
                </a:ext>
              </a:extLst>
            </p:cNvPr>
            <p:cNvCxnSpPr>
              <a:cxnSpLocks/>
            </p:cNvCxnSpPr>
            <p:nvPr/>
          </p:nvCxnSpPr>
          <p:spPr>
            <a:xfrm flipV="1">
              <a:off x="8899298" y="2955026"/>
              <a:ext cx="2535609" cy="691952"/>
            </a:xfrm>
            <a:prstGeom prst="bentConnector3">
              <a:avLst>
                <a:gd name="adj1" fmla="val 24407"/>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89EE5F41-0A42-6B7F-90CD-2633B501E0B6}"/>
                </a:ext>
              </a:extLst>
            </p:cNvPr>
            <p:cNvSpPr/>
            <p:nvPr/>
          </p:nvSpPr>
          <p:spPr>
            <a:xfrm>
              <a:off x="2017882" y="274824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87762FC9-8316-74B0-DF50-FD7366A15398}"/>
                </a:ext>
              </a:extLst>
            </p:cNvPr>
            <p:cNvSpPr/>
            <p:nvPr/>
          </p:nvSpPr>
          <p:spPr>
            <a:xfrm>
              <a:off x="7033456" y="357581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DD3CBE4F-CA8C-71F2-3362-A3BD7F8E9217}"/>
                </a:ext>
              </a:extLst>
            </p:cNvPr>
            <p:cNvSpPr/>
            <p:nvPr/>
          </p:nvSpPr>
          <p:spPr>
            <a:xfrm>
              <a:off x="1721903" y="3712593"/>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89E79994-26D7-8CDC-2FB6-5C3092B2EF16}"/>
                </a:ext>
              </a:extLst>
            </p:cNvPr>
            <p:cNvCxnSpPr>
              <a:cxnSpLocks/>
              <a:stCxn id="228" idx="0"/>
              <a:endCxn id="232" idx="4"/>
            </p:cNvCxnSpPr>
            <p:nvPr/>
          </p:nvCxnSpPr>
          <p:spPr>
            <a:xfrm flipV="1">
              <a:off x="7691678" y="3796375"/>
              <a:ext cx="1912" cy="43271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CD7E98E3-6CDA-816F-F1A9-79E6663F8E41}"/>
                </a:ext>
              </a:extLst>
            </p:cNvPr>
            <p:cNvSpPr/>
            <p:nvPr/>
          </p:nvSpPr>
          <p:spPr>
            <a:xfrm>
              <a:off x="6466890" y="4229089"/>
              <a:ext cx="2449576" cy="38906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A294509B-E0A5-6083-38BC-260F75C2CA28}"/>
                </a:ext>
              </a:extLst>
            </p:cNvPr>
            <p:cNvCxnSpPr>
              <a:cxnSpLocks/>
            </p:cNvCxnSpPr>
            <p:nvPr/>
          </p:nvCxnSpPr>
          <p:spPr>
            <a:xfrm>
              <a:off x="3338438" y="1196846"/>
              <a:ext cx="0" cy="405732"/>
            </a:xfrm>
            <a:prstGeom prst="line">
              <a:avLst/>
            </a:prstGeom>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0C52DE29-1F4E-7D91-6868-7E70B009BBD1}"/>
                </a:ext>
              </a:extLst>
            </p:cNvPr>
            <p:cNvCxnSpPr>
              <a:cxnSpLocks/>
            </p:cNvCxnSpPr>
            <p:nvPr/>
          </p:nvCxnSpPr>
          <p:spPr>
            <a:xfrm>
              <a:off x="3735853" y="1198880"/>
              <a:ext cx="0" cy="405732"/>
            </a:xfrm>
            <a:prstGeom prst="line">
              <a:avLst/>
            </a:prstGeom>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F95B598A-7343-B269-B78C-1A17CDC917E1}"/>
                </a:ext>
              </a:extLst>
            </p:cNvPr>
            <p:cNvCxnSpPr>
              <a:cxnSpLocks/>
            </p:cNvCxnSpPr>
            <p:nvPr/>
          </p:nvCxnSpPr>
          <p:spPr>
            <a:xfrm>
              <a:off x="4133267" y="1194812"/>
              <a:ext cx="0" cy="405732"/>
            </a:xfrm>
            <a:prstGeom prst="line">
              <a:avLst/>
            </a:prstGeom>
            <a:ln/>
          </p:spPr>
          <p:style>
            <a:lnRef idx="1">
              <a:schemeClr val="dk1"/>
            </a:lnRef>
            <a:fillRef idx="0">
              <a:schemeClr val="dk1"/>
            </a:fillRef>
            <a:effectRef idx="0">
              <a:schemeClr val="dk1"/>
            </a:effectRef>
            <a:fontRef idx="minor">
              <a:schemeClr val="tx1"/>
            </a:fontRef>
          </p:style>
        </p:cxnSp>
      </p:grpSp>
      <p:sp>
        <p:nvSpPr>
          <p:cNvPr id="2" name="TextBox 1">
            <a:extLst>
              <a:ext uri="{FF2B5EF4-FFF2-40B4-BE49-F238E27FC236}">
                <a16:creationId xmlns:a16="http://schemas.microsoft.com/office/drawing/2014/main" id="{681CC4D7-F73B-D7DD-A6CD-08B93770411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8" name="TextBox 7">
            <a:extLst>
              <a:ext uri="{FF2B5EF4-FFF2-40B4-BE49-F238E27FC236}">
                <a16:creationId xmlns:a16="http://schemas.microsoft.com/office/drawing/2014/main" id="{DEA81AE9-E45A-D414-B241-400A2062C065}"/>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9" name="TextBox 8">
            <a:extLst>
              <a:ext uri="{FF2B5EF4-FFF2-40B4-BE49-F238E27FC236}">
                <a16:creationId xmlns:a16="http://schemas.microsoft.com/office/drawing/2014/main" id="{A7AA842C-B4EA-E4F2-10AF-F71419264FA4}"/>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0" name="TextBox 9">
            <a:extLst>
              <a:ext uri="{FF2B5EF4-FFF2-40B4-BE49-F238E27FC236}">
                <a16:creationId xmlns:a16="http://schemas.microsoft.com/office/drawing/2014/main" id="{D0D9CD91-4FE3-8B9D-8C15-0154CACA9400}"/>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1" name="TextBox 10">
            <a:extLst>
              <a:ext uri="{FF2B5EF4-FFF2-40B4-BE49-F238E27FC236}">
                <a16:creationId xmlns:a16="http://schemas.microsoft.com/office/drawing/2014/main" id="{FD87F614-B4D2-E3ED-6EB5-0666F25FF526}"/>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12" name="TextBox 11">
            <a:extLst>
              <a:ext uri="{FF2B5EF4-FFF2-40B4-BE49-F238E27FC236}">
                <a16:creationId xmlns:a16="http://schemas.microsoft.com/office/drawing/2014/main" id="{EB2A7C84-16F0-7A87-1A19-E2956CB5AD65}"/>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4" name="TextBox 13">
            <a:extLst>
              <a:ext uri="{FF2B5EF4-FFF2-40B4-BE49-F238E27FC236}">
                <a16:creationId xmlns:a16="http://schemas.microsoft.com/office/drawing/2014/main" id="{D77A8F7F-0D52-A02C-E41F-CB3A90C4F288}"/>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0410143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3"/>
                                        </p:tgtEl>
                                        <p:attrNameLst>
                                          <p:attrName>style.visibility</p:attrName>
                                        </p:attrNameLst>
                                      </p:cBhvr>
                                      <p:to>
                                        <p:strVal val="visible"/>
                                      </p:to>
                                    </p:set>
                                    <p:animEffect transition="in" filter="fade">
                                      <p:cBhvr>
                                        <p:cTn id="12"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965A8-2CAA-EBBF-9BF8-DC93E39EE0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52D398-2258-7E5B-4B10-C1122766571C}"/>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6815126D-F0BF-8A77-5BFA-78DE92C11FD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1C22498-7501-CF80-8C1D-16DA2CA02C8B}"/>
              </a:ext>
            </a:extLst>
          </p:cNvPr>
          <p:cNvSpPr>
            <a:spLocks noGrp="1"/>
          </p:cNvSpPr>
          <p:nvPr>
            <p:ph type="sldNum" sz="quarter" idx="4"/>
          </p:nvPr>
        </p:nvSpPr>
        <p:spPr/>
        <p:txBody>
          <a:bodyPr/>
          <a:lstStyle/>
          <a:p>
            <a:pPr>
              <a:defRPr/>
            </a:pPr>
            <a:fld id="{A9CE67A1-BA7F-A74E-B5D7-615746DEEC2B}" type="slidenum">
              <a:rPr lang="en-US" smtClean="0"/>
              <a:pPr>
                <a:defRPr/>
              </a:pPr>
              <a:t>62</a:t>
            </a:fld>
            <a:endParaRPr lang="en-US" baseline="-11000" dirty="0"/>
          </a:p>
        </p:txBody>
      </p:sp>
      <p:sp>
        <p:nvSpPr>
          <p:cNvPr id="6" name="Date Placeholder 5">
            <a:extLst>
              <a:ext uri="{FF2B5EF4-FFF2-40B4-BE49-F238E27FC236}">
                <a16:creationId xmlns:a16="http://schemas.microsoft.com/office/drawing/2014/main" id="{21746A98-AF2A-17C4-82F2-99EB319542F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CE44991C-C085-49D9-BB07-A24134C74F81}"/>
              </a:ext>
            </a:extLst>
          </p:cNvPr>
          <p:cNvSpPr txBox="1"/>
          <p:nvPr/>
        </p:nvSpPr>
        <p:spPr>
          <a:xfrm>
            <a:off x="354861" y="810580"/>
            <a:ext cx="10833779" cy="1585049"/>
          </a:xfrm>
          <a:prstGeom prst="rect">
            <a:avLst/>
          </a:prstGeom>
          <a:noFill/>
        </p:spPr>
        <p:txBody>
          <a:bodyPr wrap="square">
            <a:spAutoFit/>
          </a:bodyPr>
          <a:lstStyle/>
          <a:p>
            <a:pPr defTabSz="457200">
              <a:spcBef>
                <a:spcPts val="1000"/>
              </a:spcBef>
              <a:buClr>
                <a:srgbClr val="1E4056"/>
              </a:buClr>
              <a:buSzPct val="75000"/>
            </a:pPr>
            <a:r>
              <a:rPr lang="en-US" dirty="0"/>
              <a:t>The first state is the </a:t>
            </a:r>
            <a:r>
              <a:rPr lang="en-US" b="1" dirty="0"/>
              <a:t>IDLE</a:t>
            </a:r>
            <a:r>
              <a:rPr lang="en-US" dirty="0"/>
              <a:t> state. The system remains inactive until the wake-up signal </a:t>
            </a:r>
          </a:p>
          <a:p>
            <a:pPr defTabSz="457200">
              <a:spcBef>
                <a:spcPts val="1000"/>
              </a:spcBef>
              <a:buClr>
                <a:srgbClr val="1E4056"/>
              </a:buClr>
              <a:buSzPct val="75000"/>
            </a:pPr>
            <a:r>
              <a:rPr lang="en-US" dirty="0"/>
              <a:t>(valid_in) is asserted. This signal is generated by external logic</a:t>
            </a:r>
          </a:p>
          <a:p>
            <a:pPr defTabSz="457200">
              <a:spcBef>
                <a:spcPts val="1000"/>
              </a:spcBef>
              <a:buClr>
                <a:srgbClr val="1E4056"/>
              </a:buClr>
              <a:buSzPct val="75000"/>
            </a:pPr>
            <a:r>
              <a:rPr lang="en-US" dirty="0"/>
              <a:t> alongside the input data this is for stage (1) but for the other stages it comes</a:t>
            </a:r>
          </a:p>
          <a:p>
            <a:pPr defTabSz="457200">
              <a:spcBef>
                <a:spcPts val="1000"/>
              </a:spcBef>
              <a:buClr>
                <a:srgbClr val="1E4056"/>
              </a:buClr>
              <a:buSzPct val="75000"/>
            </a:pPr>
            <a:r>
              <a:rPr lang="en-US" dirty="0"/>
              <a:t>From the (valid_out) of the previous stage </a:t>
            </a:r>
          </a:p>
        </p:txBody>
      </p:sp>
      <p:cxnSp>
        <p:nvCxnSpPr>
          <p:cNvPr id="13" name="Connector: Curved 12">
            <a:extLst>
              <a:ext uri="{FF2B5EF4-FFF2-40B4-BE49-F238E27FC236}">
                <a16:creationId xmlns:a16="http://schemas.microsoft.com/office/drawing/2014/main" id="{BD88B7C5-E184-6FEE-78F4-8DB157C3219E}"/>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2BA5CED7-1FC0-A13D-0AA7-D066FC8749B0}"/>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2A6BC887-F06E-1D47-6835-03ADC1F2A8D4}"/>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CEAE0AD-59E9-C3D1-6FDC-B97B945949E2}"/>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6A06318C-D7B6-394C-5489-F170B471B17E}"/>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A3431D7E-FB3F-7D1D-6D36-572618370C11}"/>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3F8E8CF4-819F-6594-F92F-2A4F9F669ED4}"/>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65DF36EC-B4CD-FC6E-7493-7185BE4F3848}"/>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504B1F0-51F3-C2AE-7479-C0F6C7EA4AB8}"/>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501A88DD-5572-950E-9DA6-15417C915882}"/>
              </a:ext>
            </a:extLst>
          </p:cNvPr>
          <p:cNvSpPr/>
          <p:nvPr/>
        </p:nvSpPr>
        <p:spPr>
          <a:xfrm>
            <a:off x="10069661" y="1411236"/>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D9118FA6-B8CA-1619-AA84-D4585DAF566C}"/>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C1ED6317-B347-1C43-AADC-502E50B02E6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865F1C1-8FAF-E1D2-F822-B89B14A2F4BA}"/>
              </a:ext>
            </a:extLst>
          </p:cNvPr>
          <p:cNvCxnSpPr>
            <a:cxnSpLocks/>
            <a:endCxn id="15" idx="0"/>
          </p:cNvCxnSpPr>
          <p:nvPr/>
        </p:nvCxnSpPr>
        <p:spPr>
          <a:xfrm>
            <a:off x="10524321" y="4883239"/>
            <a:ext cx="1" cy="47072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36172AB0-139F-99EB-ADE8-C975B48D4A51}"/>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3" name="TextBox 102">
            <a:extLst>
              <a:ext uri="{FF2B5EF4-FFF2-40B4-BE49-F238E27FC236}">
                <a16:creationId xmlns:a16="http://schemas.microsoft.com/office/drawing/2014/main" id="{9EA44FD9-3F24-4041-0BCD-452F9C1C7F70}"/>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A34F9686-3137-BCAF-F439-EC68C8747237}"/>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C57BCC68-8053-114B-47C3-2CD00C78F432}"/>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23660F88-22C1-AD6D-BA8E-75CDFE5983BB}"/>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22B089FE-985C-ADFD-26F8-721E6793B61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27" name="Connector: Curved 126">
            <a:extLst>
              <a:ext uri="{FF2B5EF4-FFF2-40B4-BE49-F238E27FC236}">
                <a16:creationId xmlns:a16="http://schemas.microsoft.com/office/drawing/2014/main" id="{B758B63C-B359-404F-6CA2-55F5924A6FD2}"/>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A65D69AD-C463-E3A1-51BE-814F87438026}"/>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65E5F9FF-0133-1605-F4FF-B9168F588D0B}"/>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93AB7252-2AF7-EEC3-313B-A8AFEDC9C6EA}"/>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858AA340-4F4C-76ED-16F9-C7DB6FBC92DE}"/>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1498CEC7-0F55-CCB9-3960-5D50A4E4F3E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9FC9AE33-D520-AF3A-C97C-66568D4F9374}"/>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1051D470-F444-0491-1C3F-7A826ECEFB45}"/>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27F3052D-00E7-3299-3E8B-77F6FC33D9D9}"/>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9ABAC28B-2CAA-1EE7-BF89-77B586B4F146}"/>
              </a:ext>
            </a:extLst>
          </p:cNvPr>
          <p:cNvGrpSpPr/>
          <p:nvPr/>
        </p:nvGrpSpPr>
        <p:grpSpPr>
          <a:xfrm>
            <a:off x="312250" y="3034818"/>
            <a:ext cx="7973515" cy="2594917"/>
            <a:chOff x="469667" y="869643"/>
            <a:chExt cx="11386307" cy="3827917"/>
          </a:xfrm>
        </p:grpSpPr>
        <p:grpSp>
          <p:nvGrpSpPr>
            <p:cNvPr id="184" name="Group 183">
              <a:extLst>
                <a:ext uri="{FF2B5EF4-FFF2-40B4-BE49-F238E27FC236}">
                  <a16:creationId xmlns:a16="http://schemas.microsoft.com/office/drawing/2014/main" id="{D6DF0C2E-A896-7A8A-E326-9F7736AB51ED}"/>
                </a:ext>
              </a:extLst>
            </p:cNvPr>
            <p:cNvGrpSpPr/>
            <p:nvPr/>
          </p:nvGrpSpPr>
          <p:grpSpPr>
            <a:xfrm>
              <a:off x="469667" y="3643542"/>
              <a:ext cx="2180533" cy="426963"/>
              <a:chOff x="1974605" y="3819657"/>
              <a:chExt cx="1448457" cy="178610"/>
            </a:xfrm>
          </p:grpSpPr>
          <p:cxnSp>
            <p:nvCxnSpPr>
              <p:cNvPr id="242" name="Straight Arrow Connector 241">
                <a:extLst>
                  <a:ext uri="{FF2B5EF4-FFF2-40B4-BE49-F238E27FC236}">
                    <a16:creationId xmlns:a16="http://schemas.microsoft.com/office/drawing/2014/main" id="{13B14E7D-2638-BF89-8671-4CDBB68CC5C0}"/>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5C950F10-3C6B-A2C9-FED5-A3F64E8E10CC}"/>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3B6BCEB1-DE9E-3BF5-A3D0-60557D0BCC88}"/>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2B19ED00-8643-D3AA-9342-69343304EE1D}"/>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86" name="Straight Connector 185">
              <a:extLst>
                <a:ext uri="{FF2B5EF4-FFF2-40B4-BE49-F238E27FC236}">
                  <a16:creationId xmlns:a16="http://schemas.microsoft.com/office/drawing/2014/main" id="{5DFF10D5-ECFB-2875-5A13-F8FA71972F91}"/>
                </a:ext>
              </a:extLst>
            </p:cNvPr>
            <p:cNvCxnSpPr>
              <a:cxnSpLocks/>
            </p:cNvCxnSpPr>
            <p:nvPr/>
          </p:nvCxnSpPr>
          <p:spPr>
            <a:xfrm flipH="1">
              <a:off x="10699820" y="2833922"/>
              <a:ext cx="375745" cy="319647"/>
            </a:xfrm>
            <a:prstGeom prst="line">
              <a:avLst/>
            </a:prstGeom>
            <a:solidFill>
              <a:schemeClr val="lt1">
                <a:alpha val="20000"/>
              </a:schemeClr>
            </a:solidFill>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B881B459-C83F-C6CB-A33F-7DD1117920A7}"/>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88" name="Rectangle 187">
              <a:extLst>
                <a:ext uri="{FF2B5EF4-FFF2-40B4-BE49-F238E27FC236}">
                  <a16:creationId xmlns:a16="http://schemas.microsoft.com/office/drawing/2014/main" id="{00537713-5A8A-DB61-7163-0663B7A46EB0}"/>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B65D2F53-533B-D3F4-F864-469A4734C691}"/>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67A37CB5-7710-925A-62A8-23B79F019E5E}"/>
                </a:ext>
              </a:extLst>
            </p:cNvPr>
            <p:cNvCxnSpPr>
              <a:cxnSpLocks/>
            </p:cNvCxnSpPr>
            <p:nvPr/>
          </p:nvCxnSpPr>
          <p:spPr>
            <a:xfrm>
              <a:off x="2671659" y="375297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13766EAD-C98B-6A43-CB15-0C48A28823A5}"/>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14B72629-50C4-C248-03BB-9379BDE3E088}"/>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28DB445C-39B8-4641-C719-E7D18FC4D73F}"/>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5822F808-422B-F5AA-49F0-D23FB3276BAB}"/>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CBFC4224-7B2D-613D-65E4-C5099204039E}"/>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D1E375C0-7F7A-B4F1-93BE-9E6966BBEC17}"/>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0C020547-F592-A0E5-A2D9-F4E05DEF9F4B}"/>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8AA460C6-900F-3D9C-107B-8690839ABA0E}"/>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D7BDD443-8F7A-073A-972F-98A0FC6BA95F}"/>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F3CAC6EE-FB2B-189C-F0B1-800D7BD69E8F}"/>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45D1FBB4-494B-9AFA-98C0-F6033797F368}"/>
                </a:ext>
              </a:extLst>
            </p:cNvPr>
            <p:cNvCxnSpPr/>
            <p:nvPr/>
          </p:nvCxnSpPr>
          <p:spPr>
            <a:xfrm flipH="1">
              <a:off x="3125499" y="3885749"/>
              <a:ext cx="182880"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28A33456-02D6-95C6-A02B-19CD64A01AEF}"/>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B6E62FAF-8FE2-5B79-EC1D-563005639285}"/>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21B1C23B-DF03-895B-7F2E-E7A330A92DA6}"/>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1A457E7F-D8D2-D629-A325-C3C11EA3EDB4}"/>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7A0C72D2-9EDF-6E60-4BD0-22D9D7048646}"/>
                </a:ext>
              </a:extLst>
            </p:cNvPr>
            <p:cNvCxnSpPr/>
            <p:nvPr/>
          </p:nvCxnSpPr>
          <p:spPr>
            <a:xfrm>
              <a:off x="2075647" y="3752978"/>
              <a:ext cx="2445509" cy="574853"/>
            </a:xfrm>
            <a:prstGeom prst="bentConnector3">
              <a:avLst>
                <a:gd name="adj1" fmla="val -1272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108C662C-CC82-4778-9E6F-8E2786B057C6}"/>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532C3F0A-D601-0FC1-97C5-0031AC084C6A}"/>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395EA9A7-F954-BB07-239C-19B603E66CEA}"/>
                </a:ext>
              </a:extLst>
            </p:cNvPr>
            <p:cNvCxnSpPr>
              <a:cxnSpLocks/>
            </p:cNvCxnSpPr>
            <p:nvPr/>
          </p:nvCxnSpPr>
          <p:spPr>
            <a:xfrm flipH="1">
              <a:off x="4472756" y="1399712"/>
              <a:ext cx="1162886"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E4FEE057-E035-6528-732F-18CD69F800D8}"/>
                </a:ext>
              </a:extLst>
            </p:cNvPr>
            <p:cNvSpPr/>
            <p:nvPr/>
          </p:nvSpPr>
          <p:spPr>
            <a:xfrm>
              <a:off x="3022871" y="1194812"/>
              <a:ext cx="1433945" cy="409800"/>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165C7438-1000-481B-2EA4-43062A9BE648}"/>
                </a:ext>
              </a:extLst>
            </p:cNvPr>
            <p:cNvCxnSpPr>
              <a:cxnSpLocks/>
              <a:stCxn id="204" idx="1"/>
            </p:cNvCxnSpPr>
            <p:nvPr/>
          </p:nvCxnSpPr>
          <p:spPr>
            <a:xfrm rot="10800000" flipV="1">
              <a:off x="1784353" y="1399712"/>
              <a:ext cx="1238519" cy="1398250"/>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09951893-03BE-823F-E49A-C9B4B02FE2F0}"/>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1FDDB1B2-BFFF-5018-6349-904A1825FFBB}"/>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C42EDB10-CE6C-46CD-4E33-7BE1CAEEFDD3}"/>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29C3CB32-781C-5A56-E38C-73CE9467C0DC}"/>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7C721375-0B91-026D-F17F-627D77DB39B2}"/>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A42EED66-9431-75CF-C9C4-66692E42CDF2}"/>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ABF68D21-C60D-C1C8-2C39-95F07537780A}"/>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36B3B3F7-DD9E-A636-42AC-B795FD5CD790}"/>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0A72A9D8-FB04-4353-F4E6-38F9514C867D}"/>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6" name="TextBox 215">
              <a:extLst>
                <a:ext uri="{FF2B5EF4-FFF2-40B4-BE49-F238E27FC236}">
                  <a16:creationId xmlns:a16="http://schemas.microsoft.com/office/drawing/2014/main" id="{7431423C-88B1-2C5F-96D4-2DCF499A78D8}"/>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7" name="Rectangle 81">
              <a:extLst>
                <a:ext uri="{FF2B5EF4-FFF2-40B4-BE49-F238E27FC236}">
                  <a16:creationId xmlns:a16="http://schemas.microsoft.com/office/drawing/2014/main" id="{FBC85EEC-D96E-2105-37AE-17EA22B6AEAB}"/>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38B2BF9F-F415-7945-87AE-4183963CE4DC}"/>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9" name="TextBox 218">
              <a:extLst>
                <a:ext uri="{FF2B5EF4-FFF2-40B4-BE49-F238E27FC236}">
                  <a16:creationId xmlns:a16="http://schemas.microsoft.com/office/drawing/2014/main" id="{1CC69C12-546F-CFC0-74FE-F06C003A2F6C}"/>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95961F71-AB2C-9B19-D93B-0010044B4317}"/>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221" name="Connector: Elbow 220">
              <a:extLst>
                <a:ext uri="{FF2B5EF4-FFF2-40B4-BE49-F238E27FC236}">
                  <a16:creationId xmlns:a16="http://schemas.microsoft.com/office/drawing/2014/main" id="{5C593090-CFF4-9A19-D8AD-3FCAAADFABEF}"/>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B9CA8F5-80BC-83DA-89B8-C87CD951A238}"/>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D94E917B-D320-367E-10CB-8CC10E4963D3}"/>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4AF39BFB-87A6-4F42-C9CD-47319D10C132}"/>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6CCC5652-BDE7-4F75-7980-AA7CBC59B7AA}"/>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BCBBC816-2496-30E1-D045-BC5172845E21}"/>
                </a:ext>
              </a:extLst>
            </p:cNvPr>
            <p:cNvSpPr/>
            <p:nvPr/>
          </p:nvSpPr>
          <p:spPr>
            <a:xfrm>
              <a:off x="1721903" y="3712593"/>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D05EE1D0-16A7-098E-0222-907DF9769A68}"/>
                </a:ext>
              </a:extLst>
            </p:cNvPr>
            <p:cNvCxnSpPr>
              <a:cxnSpLocks/>
              <a:stCxn id="228" idx="0"/>
            </p:cNvCxnSpPr>
            <p:nvPr/>
          </p:nvCxnSpPr>
          <p:spPr>
            <a:xfrm flipV="1">
              <a:off x="7691678" y="3796375"/>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786D150B-785D-A551-505F-586785166578}"/>
                </a:ext>
              </a:extLst>
            </p:cNvPr>
            <p:cNvSpPr/>
            <p:nvPr/>
          </p:nvSpPr>
          <p:spPr>
            <a:xfrm>
              <a:off x="6466890" y="4229089"/>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ED90D0C8-7A07-E99D-9F08-6EEB57D476B3}"/>
                </a:ext>
              </a:extLst>
            </p:cNvPr>
            <p:cNvCxnSpPr>
              <a:cxnSpLocks/>
            </p:cNvCxnSpPr>
            <p:nvPr/>
          </p:nvCxnSpPr>
          <p:spPr>
            <a:xfrm>
              <a:off x="3338438" y="1196846"/>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524A44A0-DFC4-AA40-EFCF-5CC2386C997E}"/>
                </a:ext>
              </a:extLst>
            </p:cNvPr>
            <p:cNvCxnSpPr>
              <a:cxnSpLocks/>
            </p:cNvCxnSpPr>
            <p:nvPr/>
          </p:nvCxnSpPr>
          <p:spPr>
            <a:xfrm>
              <a:off x="3735853" y="1198880"/>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39B7C403-7FC0-AD57-796C-27D05C1714F8}"/>
                </a:ext>
              </a:extLst>
            </p:cNvPr>
            <p:cNvCxnSpPr>
              <a:cxnSpLocks/>
            </p:cNvCxnSpPr>
            <p:nvPr/>
          </p:nvCxnSpPr>
          <p:spPr>
            <a:xfrm>
              <a:off x="4133267" y="1194812"/>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3B0A628E-4056-FBFF-86B4-BD3A77E979F8}"/>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26C49B3F-F15F-5CD2-2707-C02EE4D279B4}"/>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F7E8A3F7-EEBE-E95E-A904-5EFACF9D5579}"/>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
            <a:extLst>
              <a:ext uri="{FF2B5EF4-FFF2-40B4-BE49-F238E27FC236}">
                <a16:creationId xmlns:a16="http://schemas.microsoft.com/office/drawing/2014/main" id="{77EFC561-FECD-B087-EF55-CB35AEC87EFA}"/>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8FFF81DD-8FB3-097D-66F2-6C6346302256}"/>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1" name="TextBox 10">
            <a:extLst>
              <a:ext uri="{FF2B5EF4-FFF2-40B4-BE49-F238E27FC236}">
                <a16:creationId xmlns:a16="http://schemas.microsoft.com/office/drawing/2014/main" id="{D97EF1EF-D18E-22DA-8826-484AD86CF4CA}"/>
              </a:ext>
            </a:extLst>
          </p:cNvPr>
          <p:cNvSpPr txBox="1"/>
          <p:nvPr/>
        </p:nvSpPr>
        <p:spPr>
          <a:xfrm>
            <a:off x="69353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857D3805-7435-E1BD-FEDD-4BEEC48E37D7}"/>
              </a:ext>
            </a:extLst>
          </p:cNvPr>
          <p:cNvSpPr txBox="1"/>
          <p:nvPr/>
        </p:nvSpPr>
        <p:spPr>
          <a:xfrm>
            <a:off x="487310"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90D87769-134C-CEAA-D0F3-D79927961532}"/>
              </a:ext>
            </a:extLst>
          </p:cNvPr>
          <p:cNvSpPr txBox="1"/>
          <p:nvPr/>
        </p:nvSpPr>
        <p:spPr>
          <a:xfrm>
            <a:off x="268364"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6A9BE86C-4C46-5E34-6E18-0CD116963798}"/>
              </a:ext>
            </a:extLst>
          </p:cNvPr>
          <p:cNvSpPr txBox="1"/>
          <p:nvPr/>
        </p:nvSpPr>
        <p:spPr>
          <a:xfrm>
            <a:off x="5578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E6FE6CBC-E3E0-C801-444B-0F2072DA863C}"/>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0" name="TextBox 19">
            <a:extLst>
              <a:ext uri="{FF2B5EF4-FFF2-40B4-BE49-F238E27FC236}">
                <a16:creationId xmlns:a16="http://schemas.microsoft.com/office/drawing/2014/main" id="{6A6E642F-FA68-3178-99B4-B9AB7CEF5B3C}"/>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1" name="TextBox 20">
            <a:extLst>
              <a:ext uri="{FF2B5EF4-FFF2-40B4-BE49-F238E27FC236}">
                <a16:creationId xmlns:a16="http://schemas.microsoft.com/office/drawing/2014/main" id="{E322C5D6-FCFA-D2FD-43BE-6E3495BA3A6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2" name="TextBox 21">
            <a:extLst>
              <a:ext uri="{FF2B5EF4-FFF2-40B4-BE49-F238E27FC236}">
                <a16:creationId xmlns:a16="http://schemas.microsoft.com/office/drawing/2014/main" id="{EA89A66F-B85E-8113-0452-1A7FEBC7A32E}"/>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4" name="TextBox 23">
            <a:extLst>
              <a:ext uri="{FF2B5EF4-FFF2-40B4-BE49-F238E27FC236}">
                <a16:creationId xmlns:a16="http://schemas.microsoft.com/office/drawing/2014/main" id="{0A29FA7C-E741-C98A-3F3D-C3EBC5EE39C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5" name="TextBox 24">
            <a:extLst>
              <a:ext uri="{FF2B5EF4-FFF2-40B4-BE49-F238E27FC236}">
                <a16:creationId xmlns:a16="http://schemas.microsoft.com/office/drawing/2014/main" id="{01ECC50C-6AB8-73D0-7611-262FF9AB3FA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6" name="TextBox 25">
            <a:extLst>
              <a:ext uri="{FF2B5EF4-FFF2-40B4-BE49-F238E27FC236}">
                <a16:creationId xmlns:a16="http://schemas.microsoft.com/office/drawing/2014/main" id="{5C18B146-39EF-ACA6-6E72-62EECBF5315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041169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591A9-959A-2447-FFBB-96DAEE3179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5B50A2-E9CE-8812-D078-EE86E69F9FC2}"/>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507A3224-3D33-D127-8B57-889D4AE0D50D}"/>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9C149EA-4C11-0880-7C11-DCC4642544A5}"/>
              </a:ext>
            </a:extLst>
          </p:cNvPr>
          <p:cNvSpPr>
            <a:spLocks noGrp="1"/>
          </p:cNvSpPr>
          <p:nvPr>
            <p:ph type="sldNum" sz="quarter" idx="4"/>
          </p:nvPr>
        </p:nvSpPr>
        <p:spPr/>
        <p:txBody>
          <a:bodyPr/>
          <a:lstStyle/>
          <a:p>
            <a:pPr>
              <a:defRPr/>
            </a:pPr>
            <a:fld id="{A9CE67A1-BA7F-A74E-B5D7-615746DEEC2B}" type="slidenum">
              <a:rPr lang="en-US" smtClean="0"/>
              <a:pPr>
                <a:defRPr/>
              </a:pPr>
              <a:t>63</a:t>
            </a:fld>
            <a:endParaRPr lang="en-US" baseline="-11000" dirty="0"/>
          </a:p>
        </p:txBody>
      </p:sp>
      <p:sp>
        <p:nvSpPr>
          <p:cNvPr id="6" name="Date Placeholder 5">
            <a:extLst>
              <a:ext uri="{FF2B5EF4-FFF2-40B4-BE49-F238E27FC236}">
                <a16:creationId xmlns:a16="http://schemas.microsoft.com/office/drawing/2014/main" id="{5C5D4FB8-B8B3-EF11-EFBC-03F49E08F52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3D69EEDB-CADC-A62D-CE17-13A9C0FD106B}"/>
              </a:ext>
            </a:extLst>
          </p:cNvPr>
          <p:cNvSpPr txBox="1"/>
          <p:nvPr/>
        </p:nvSpPr>
        <p:spPr>
          <a:xfrm>
            <a:off x="354861" y="810580"/>
            <a:ext cx="10833779" cy="1179810"/>
          </a:xfrm>
          <a:prstGeom prst="rect">
            <a:avLst/>
          </a:prstGeom>
          <a:noFill/>
        </p:spPr>
        <p:txBody>
          <a:bodyPr wrap="square">
            <a:spAutoFit/>
          </a:bodyPr>
          <a:lstStyle/>
          <a:p>
            <a:pPr defTabSz="457200">
              <a:spcBef>
                <a:spcPts val="1000"/>
              </a:spcBef>
              <a:buClr>
                <a:srgbClr val="1E4056"/>
              </a:buClr>
              <a:buSzPct val="75000"/>
            </a:pPr>
            <a:r>
              <a:rPr lang="en-US" dirty="0"/>
              <a:t>After waking up, the finite state machine (FSM) </a:t>
            </a:r>
            <a:r>
              <a:rPr lang="en-US" b="1" dirty="0"/>
              <a:t>transitions</a:t>
            </a:r>
            <a:r>
              <a:rPr lang="en-US" dirty="0"/>
              <a:t> to the </a:t>
            </a:r>
            <a:r>
              <a:rPr lang="en-US" b="1" dirty="0"/>
              <a:t>Fill</a:t>
            </a:r>
            <a:r>
              <a:rPr lang="en-US" dirty="0"/>
              <a:t> state.</a:t>
            </a:r>
          </a:p>
          <a:p>
            <a:pPr defTabSz="457200">
              <a:spcBef>
                <a:spcPts val="1000"/>
              </a:spcBef>
              <a:buClr>
                <a:srgbClr val="1E4056"/>
              </a:buClr>
              <a:buSzPct val="75000"/>
            </a:pPr>
            <a:r>
              <a:rPr lang="en-US" dirty="0"/>
              <a:t> </a:t>
            </a:r>
            <a:r>
              <a:rPr lang="en-US" b="1" dirty="0"/>
              <a:t>As the name implies</a:t>
            </a:r>
            <a:r>
              <a:rPr lang="en-US" dirty="0"/>
              <a:t>, during this state, </a:t>
            </a:r>
          </a:p>
          <a:p>
            <a:pPr defTabSz="457200">
              <a:spcBef>
                <a:spcPts val="1000"/>
              </a:spcBef>
              <a:buClr>
                <a:srgbClr val="1E4056"/>
              </a:buClr>
              <a:buSzPct val="75000"/>
            </a:pPr>
            <a:r>
              <a:rPr lang="en-US" dirty="0"/>
              <a:t>the first half of the input samples are </a:t>
            </a:r>
            <a:r>
              <a:rPr lang="en-US" b="1" dirty="0"/>
              <a:t>loaded into</a:t>
            </a:r>
            <a:r>
              <a:rPr lang="en-US" dirty="0"/>
              <a:t> the FIFO.</a:t>
            </a:r>
          </a:p>
        </p:txBody>
      </p:sp>
      <p:cxnSp>
        <p:nvCxnSpPr>
          <p:cNvPr id="13" name="Connector: Curved 12">
            <a:extLst>
              <a:ext uri="{FF2B5EF4-FFF2-40B4-BE49-F238E27FC236}">
                <a16:creationId xmlns:a16="http://schemas.microsoft.com/office/drawing/2014/main" id="{2C1274B9-960F-4D74-6878-362E3317F5DB}"/>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4433BAE3-57EA-E1C1-6A1F-D0F72D825DF6}"/>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169BC4E7-EE30-61BA-B915-2A704616F1A6}"/>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99AB5257-805F-BF57-E90B-19412953F158}"/>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E9F981BE-F544-B6FB-DDD5-6E4A374F6579}"/>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59B214EC-2912-3D32-F504-5638D26F43CF}"/>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937E6F35-281F-0BAC-7949-7CFC05364DFF}"/>
              </a:ext>
            </a:extLst>
          </p:cNvPr>
          <p:cNvSpPr/>
          <p:nvPr/>
        </p:nvSpPr>
        <p:spPr>
          <a:xfrm>
            <a:off x="10063058" y="2712647"/>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D3E2F54D-5EC2-94EA-A3AD-0E95F7EE8732}"/>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544255F7-894E-A99C-DB6A-2BF79513E085}"/>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8513B979-D743-AF24-3677-EAC07531A4B6}"/>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3FE1C6B2-05F1-391D-29CE-498C060D2696}"/>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4CE7D4E0-8126-4501-4C28-F1031DE2C8FC}"/>
              </a:ext>
            </a:extLst>
          </p:cNvPr>
          <p:cNvCxnSpPr>
            <a:cxnSpLocks/>
          </p:cNvCxnSpPr>
          <p:nvPr/>
        </p:nvCxnSpPr>
        <p:spPr>
          <a:xfrm flipH="1">
            <a:off x="10524321" y="3603077"/>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B229CBA2-6E36-D2C7-73C7-04A4DF5A026E}"/>
              </a:ext>
            </a:extLst>
          </p:cNvPr>
          <p:cNvCxnSpPr>
            <a:cxnSpLocks/>
            <a:endCxn id="15" idx="0"/>
          </p:cNvCxnSpPr>
          <p:nvPr/>
        </p:nvCxnSpPr>
        <p:spPr>
          <a:xfrm>
            <a:off x="10524321" y="4883239"/>
            <a:ext cx="1" cy="47072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0F393C11-304A-C17E-6EA8-94A07B2162C3}"/>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26B1BAE3-5395-E8D9-6169-E7CB649D420B}"/>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2758A4A0-EB11-8801-A441-E9C99B9CF8DB}"/>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079BE86C-E469-9C92-B819-F4B5AD4CA4E0}"/>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6D010B9E-8863-2C36-B3DA-BA82CA931855}"/>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sp>
        <p:nvSpPr>
          <p:cNvPr id="126" name="TextBox 125">
            <a:extLst>
              <a:ext uri="{FF2B5EF4-FFF2-40B4-BE49-F238E27FC236}">
                <a16:creationId xmlns:a16="http://schemas.microsoft.com/office/drawing/2014/main" id="{6A24EF44-AAA5-66E4-0C86-33B2ACAAB0C2}"/>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27" name="Connector: Curved 126">
            <a:extLst>
              <a:ext uri="{FF2B5EF4-FFF2-40B4-BE49-F238E27FC236}">
                <a16:creationId xmlns:a16="http://schemas.microsoft.com/office/drawing/2014/main" id="{79BAEA06-495F-4E80-8FA5-85657B87E525}"/>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C33445B8-8D60-52AE-AA13-5055DB2E397A}"/>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D3E7E0C8-AFD6-754C-1689-0CA7E265FD6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3E7FDF26-3056-83E1-4AA5-344FD3D6C779}"/>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FE7FCDCC-AD30-7DD3-4597-E1C1534C540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3C1E5C39-4749-9FE7-BBD7-98156502A3B4}"/>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3EEFB0E9-1A3F-0EDE-F5D6-11874F82BF15}"/>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58608EAC-BBC3-92A2-17C1-55264E8EEE70}"/>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608B248D-A5B7-B1C8-0B35-2047F04CD615}"/>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1C5F6B34-7647-CF01-325B-0B3F7DCF5A08}"/>
              </a:ext>
            </a:extLst>
          </p:cNvPr>
          <p:cNvGrpSpPr/>
          <p:nvPr/>
        </p:nvGrpSpPr>
        <p:grpSpPr>
          <a:xfrm>
            <a:off x="312250" y="3034818"/>
            <a:ext cx="7973515" cy="2594917"/>
            <a:chOff x="469667" y="869643"/>
            <a:chExt cx="11386307" cy="3827917"/>
          </a:xfrm>
        </p:grpSpPr>
        <p:grpSp>
          <p:nvGrpSpPr>
            <p:cNvPr id="184" name="Group 183">
              <a:extLst>
                <a:ext uri="{FF2B5EF4-FFF2-40B4-BE49-F238E27FC236}">
                  <a16:creationId xmlns:a16="http://schemas.microsoft.com/office/drawing/2014/main" id="{8A531DBC-2EEA-870B-3A5E-7814D838449F}"/>
                </a:ext>
              </a:extLst>
            </p:cNvPr>
            <p:cNvGrpSpPr/>
            <p:nvPr/>
          </p:nvGrpSpPr>
          <p:grpSpPr>
            <a:xfrm>
              <a:off x="469667" y="3643521"/>
              <a:ext cx="2180533" cy="426962"/>
              <a:chOff x="1974605" y="3819657"/>
              <a:chExt cx="1448457" cy="178610"/>
            </a:xfrm>
          </p:grpSpPr>
          <p:cxnSp>
            <p:nvCxnSpPr>
              <p:cNvPr id="242" name="Straight Arrow Connector 241">
                <a:extLst>
                  <a:ext uri="{FF2B5EF4-FFF2-40B4-BE49-F238E27FC236}">
                    <a16:creationId xmlns:a16="http://schemas.microsoft.com/office/drawing/2014/main" id="{F30F47E6-30EF-82BB-C137-485CF4E17712}"/>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B2B1F7CD-87AE-1DD5-28A1-D1667BEACC3F}"/>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4D8F7E8B-4D97-3A4F-6F8B-34CDE4BBA05D}"/>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22E7E17F-71E9-5FF9-CC49-20534B58F1BA}"/>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86" name="Straight Connector 185">
              <a:extLst>
                <a:ext uri="{FF2B5EF4-FFF2-40B4-BE49-F238E27FC236}">
                  <a16:creationId xmlns:a16="http://schemas.microsoft.com/office/drawing/2014/main" id="{70FD6940-E04A-2287-FF6C-E559AF282D1A}"/>
                </a:ext>
              </a:extLst>
            </p:cNvPr>
            <p:cNvCxnSpPr>
              <a:cxnSpLocks/>
            </p:cNvCxnSpPr>
            <p:nvPr/>
          </p:nvCxnSpPr>
          <p:spPr>
            <a:xfrm flipH="1">
              <a:off x="10699820" y="2833922"/>
              <a:ext cx="375745" cy="319647"/>
            </a:xfrm>
            <a:prstGeom prst="line">
              <a:avLst/>
            </a:prstGeom>
            <a:solidFill>
              <a:schemeClr val="lt1">
                <a:alpha val="20000"/>
              </a:schemeClr>
            </a:solidFill>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0DEB2506-8DA3-A075-A0AA-1EC9EB8E126A}"/>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88" name="Rectangle 187">
              <a:extLst>
                <a:ext uri="{FF2B5EF4-FFF2-40B4-BE49-F238E27FC236}">
                  <a16:creationId xmlns:a16="http://schemas.microsoft.com/office/drawing/2014/main" id="{4481FE99-2F6F-81BC-0A18-417648305BD5}"/>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CA258362-F3F0-35BC-E00D-4B1DBDF3C1B0}"/>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341CD20-24EC-1549-ABD7-CAA76EEA2DFA}"/>
                </a:ext>
              </a:extLst>
            </p:cNvPr>
            <p:cNvCxnSpPr>
              <a:cxnSpLocks/>
            </p:cNvCxnSpPr>
            <p:nvPr/>
          </p:nvCxnSpPr>
          <p:spPr>
            <a:xfrm>
              <a:off x="2671659" y="375297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E21AA949-BC20-E56C-6632-3E27D92FC705}"/>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3271A8F2-370F-08C5-E9C2-830F75C376CC}"/>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F510DF9F-6ED8-190D-6B6A-6314E878B464}"/>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9CFFD41E-5E7D-F143-F4D2-448FC3513D12}"/>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E98E5950-1123-91B8-FB3E-7ABEF0C2BFDF}"/>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18CC821-3DF6-D24C-92C4-25292B0E6733}"/>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C90745B4-9334-9C95-86F1-8DBF8A7CD070}"/>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A0631C9F-FA3D-DA2C-262C-832BA3235363}"/>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9D7CE00F-B236-2FE4-E685-581DE94B5E75}"/>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7EA87476-379D-686D-5149-1921E8C03846}"/>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638733CA-20C6-2A47-336C-E103D6A3F466}"/>
                </a:ext>
              </a:extLst>
            </p:cNvPr>
            <p:cNvCxnSpPr/>
            <p:nvPr/>
          </p:nvCxnSpPr>
          <p:spPr>
            <a:xfrm flipH="1">
              <a:off x="3125499" y="3885749"/>
              <a:ext cx="182880"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20AC971B-D71B-08A0-AF08-50ED0C85B463}"/>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EAF5EA89-0614-4988-B91C-3FDA31CA3A8F}"/>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CA1671E1-9F2E-505B-6D4F-98749F970AF1}"/>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A3CAB6DF-46B7-4BF6-DB58-E384680F0313}"/>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69E09438-6CD9-6FDA-F4B5-D3BE125C42E3}"/>
                </a:ext>
              </a:extLst>
            </p:cNvPr>
            <p:cNvCxnSpPr/>
            <p:nvPr/>
          </p:nvCxnSpPr>
          <p:spPr>
            <a:xfrm>
              <a:off x="2075647" y="3752978"/>
              <a:ext cx="2445509" cy="574853"/>
            </a:xfrm>
            <a:prstGeom prst="bentConnector3">
              <a:avLst>
                <a:gd name="adj1" fmla="val -1272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86D5299B-0869-5F01-A96E-4BF1552AC9BA}"/>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0424C3FD-79E0-ED77-E7C6-0A6D6FDDCB72}"/>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F0D4983B-75A2-9191-E00F-494C38AD3C39}"/>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2E3F98FA-04CF-3C96-8A17-EF6259AE2E97}"/>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639F0B64-AF58-5D67-0A53-444242FD8A0F}"/>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4F40103F-68ED-4F61-B6B0-DF9CB5AE15A1}"/>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F341EAEE-FDE9-EC7A-03FF-EC2CDB5189B8}"/>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6CC3B20D-12ED-FC48-6FC3-BAD39FE6D967}"/>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689E71E0-4FDD-5BCB-2553-0C4CB810262B}"/>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D23C721C-C221-7705-D4D3-20DBF43289AF}"/>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265922BB-D2AA-EC45-FEDC-11C931E9448B}"/>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532A0A6D-8F66-E04F-8C3C-04DAD076BE55}"/>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CD934874-C609-E3EE-C58F-F9CB0F5ADC00}"/>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C914FAF8-9061-CAC9-3196-CAB407D91E1B}"/>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6" name="TextBox 215">
              <a:extLst>
                <a:ext uri="{FF2B5EF4-FFF2-40B4-BE49-F238E27FC236}">
                  <a16:creationId xmlns:a16="http://schemas.microsoft.com/office/drawing/2014/main" id="{6A9B8757-510A-82E4-4C28-3F9020FC5972}"/>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2BBD5BD8-773A-B71A-A835-752A66DC8C12}"/>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8FBBF1A4-B18F-E852-E029-648F67FD0954}"/>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9" name="TextBox 218">
              <a:extLst>
                <a:ext uri="{FF2B5EF4-FFF2-40B4-BE49-F238E27FC236}">
                  <a16:creationId xmlns:a16="http://schemas.microsoft.com/office/drawing/2014/main" id="{4438BB56-D0D0-E04F-04CA-AC9CB1E57BED}"/>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E6C1E4FE-9BD9-AD2D-4B0D-BE935FDD60F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221" name="Connector: Elbow 220">
              <a:extLst>
                <a:ext uri="{FF2B5EF4-FFF2-40B4-BE49-F238E27FC236}">
                  <a16:creationId xmlns:a16="http://schemas.microsoft.com/office/drawing/2014/main" id="{E0DBF865-DB2C-8562-19A2-D3107443CBA5}"/>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F6298B4A-A268-4D46-C52A-D47F2B148C67}"/>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D788A59A-AC5E-D6E6-31FB-3DD9801B6EE9}"/>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2C8AF28E-6F7F-F0DB-9242-47A7B08D2C48}"/>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ACA910F4-C310-45A8-D40F-DBF549DD5742}"/>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4A671B5F-76DC-46C3-198D-7BF0338E4A43}"/>
                </a:ext>
              </a:extLst>
            </p:cNvPr>
            <p:cNvSpPr/>
            <p:nvPr/>
          </p:nvSpPr>
          <p:spPr>
            <a:xfrm>
              <a:off x="1721903" y="3712593"/>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7EA0362A-8B07-00F8-9911-2A1545250A78}"/>
                </a:ext>
              </a:extLst>
            </p:cNvPr>
            <p:cNvCxnSpPr>
              <a:cxnSpLocks/>
              <a:stCxn id="228" idx="0"/>
            </p:cNvCxnSpPr>
            <p:nvPr/>
          </p:nvCxnSpPr>
          <p:spPr>
            <a:xfrm flipV="1">
              <a:off x="7691678" y="3796375"/>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13E2FE01-3ABF-09C9-5089-4B1AE102AFF1}"/>
                </a:ext>
              </a:extLst>
            </p:cNvPr>
            <p:cNvSpPr/>
            <p:nvPr/>
          </p:nvSpPr>
          <p:spPr>
            <a:xfrm>
              <a:off x="6466890" y="4229089"/>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DDDD0ED9-334D-899B-7AE8-7E72524DBA73}"/>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E7B4A394-F573-1499-7E1B-45B41EE73FDC}"/>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5BB719A3-9C66-9ACB-ABE2-70FF82816C30}"/>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6633A4F8-3CCA-8334-1039-E5A9A079AF42}"/>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619C91C7-E15C-6564-45A7-D85B5B9950BE}"/>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EB0B3E3C-487C-93B3-35F4-000D6231CC3F}"/>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206D5327-9413-726C-AD4C-224189F9EB68}"/>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3C4426CB-D4C2-DC64-925F-B3478A151E6F}"/>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2" name="TextBox 11">
            <a:extLst>
              <a:ext uri="{FF2B5EF4-FFF2-40B4-BE49-F238E27FC236}">
                <a16:creationId xmlns:a16="http://schemas.microsoft.com/office/drawing/2014/main" id="{40A4B901-837A-9FFF-91BB-36BE71B3581D}"/>
              </a:ext>
            </a:extLst>
          </p:cNvPr>
          <p:cNvSpPr txBox="1"/>
          <p:nvPr/>
        </p:nvSpPr>
        <p:spPr>
          <a:xfrm>
            <a:off x="69353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3AD6F67B-3E9B-CE9F-F087-3CECCDFD70D7}"/>
              </a:ext>
            </a:extLst>
          </p:cNvPr>
          <p:cNvSpPr txBox="1"/>
          <p:nvPr/>
        </p:nvSpPr>
        <p:spPr>
          <a:xfrm>
            <a:off x="487310"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DE983F85-3852-9B9D-C18B-E3BD72AA1C67}"/>
              </a:ext>
            </a:extLst>
          </p:cNvPr>
          <p:cNvSpPr txBox="1"/>
          <p:nvPr/>
        </p:nvSpPr>
        <p:spPr>
          <a:xfrm>
            <a:off x="268364"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9A8AC945-33DE-F59D-0AA3-0E1D44466AF4}"/>
              </a:ext>
            </a:extLst>
          </p:cNvPr>
          <p:cNvSpPr txBox="1"/>
          <p:nvPr/>
        </p:nvSpPr>
        <p:spPr>
          <a:xfrm>
            <a:off x="5578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77F6F697-92D7-B37D-D6F2-1893B4B8D6D8}"/>
              </a:ext>
            </a:extLst>
          </p:cNvPr>
          <p:cNvSpPr txBox="1"/>
          <p:nvPr/>
        </p:nvSpPr>
        <p:spPr>
          <a:xfrm>
            <a:off x="-294341"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21" name="TextBox 20">
            <a:extLst>
              <a:ext uri="{FF2B5EF4-FFF2-40B4-BE49-F238E27FC236}">
                <a16:creationId xmlns:a16="http://schemas.microsoft.com/office/drawing/2014/main" id="{9F1AC86E-6B63-FF0F-0C3A-09F594952405}"/>
              </a:ext>
            </a:extLst>
          </p:cNvPr>
          <p:cNvSpPr txBox="1"/>
          <p:nvPr/>
        </p:nvSpPr>
        <p:spPr>
          <a:xfrm>
            <a:off x="-590354"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22" name="TextBox 21">
            <a:extLst>
              <a:ext uri="{FF2B5EF4-FFF2-40B4-BE49-F238E27FC236}">
                <a16:creationId xmlns:a16="http://schemas.microsoft.com/office/drawing/2014/main" id="{CADA6099-36D0-7A6D-AE7A-DB18CF9892BF}"/>
              </a:ext>
            </a:extLst>
          </p:cNvPr>
          <p:cNvSpPr txBox="1"/>
          <p:nvPr/>
        </p:nvSpPr>
        <p:spPr>
          <a:xfrm>
            <a:off x="-886367"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24" name="TextBox 23">
            <a:extLst>
              <a:ext uri="{FF2B5EF4-FFF2-40B4-BE49-F238E27FC236}">
                <a16:creationId xmlns:a16="http://schemas.microsoft.com/office/drawing/2014/main" id="{1074299A-6969-2439-BC55-7D2ABA69D6B8}"/>
              </a:ext>
            </a:extLst>
          </p:cNvPr>
          <p:cNvSpPr txBox="1"/>
          <p:nvPr/>
        </p:nvSpPr>
        <p:spPr>
          <a:xfrm>
            <a:off x="-1182380"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11" name="TextBox 10">
            <a:extLst>
              <a:ext uri="{FF2B5EF4-FFF2-40B4-BE49-F238E27FC236}">
                <a16:creationId xmlns:a16="http://schemas.microsoft.com/office/drawing/2014/main" id="{91318854-9A02-DBE0-8401-CD8C7B2276ED}"/>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5" name="TextBox 24">
            <a:extLst>
              <a:ext uri="{FF2B5EF4-FFF2-40B4-BE49-F238E27FC236}">
                <a16:creationId xmlns:a16="http://schemas.microsoft.com/office/drawing/2014/main" id="{B66632C8-F003-B0A1-FCE9-A66848E6A1A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6" name="TextBox 25">
            <a:extLst>
              <a:ext uri="{FF2B5EF4-FFF2-40B4-BE49-F238E27FC236}">
                <a16:creationId xmlns:a16="http://schemas.microsoft.com/office/drawing/2014/main" id="{E933F7FE-C205-FE2B-D40E-C49021938BF2}"/>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7" name="TextBox 26">
            <a:extLst>
              <a:ext uri="{FF2B5EF4-FFF2-40B4-BE49-F238E27FC236}">
                <a16:creationId xmlns:a16="http://schemas.microsoft.com/office/drawing/2014/main" id="{760374AE-9200-3F39-C3AA-F64DC8C09FB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8" name="TextBox 27">
            <a:extLst>
              <a:ext uri="{FF2B5EF4-FFF2-40B4-BE49-F238E27FC236}">
                <a16:creationId xmlns:a16="http://schemas.microsoft.com/office/drawing/2014/main" id="{BCE8C9AD-8CF2-DF59-9695-362FC9DA4B5D}"/>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9" name="TextBox 28">
            <a:extLst>
              <a:ext uri="{FF2B5EF4-FFF2-40B4-BE49-F238E27FC236}">
                <a16:creationId xmlns:a16="http://schemas.microsoft.com/office/drawing/2014/main" id="{43658FAE-E93F-F1D5-CE41-9E126E07110A}"/>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0" name="TextBox 29">
            <a:extLst>
              <a:ext uri="{FF2B5EF4-FFF2-40B4-BE49-F238E27FC236}">
                <a16:creationId xmlns:a16="http://schemas.microsoft.com/office/drawing/2014/main" id="{0024FF28-5BA2-0684-53C5-41C99602D5B4}"/>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636159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938 0.00162 L 0.00938 0.00185 C 0.01042 0.00208 0.01172 0.00208 0.01276 0.00278 C 0.01329 0.00324 0.01355 0.0044 0.01394 0.00509 C 0.01589 0.00787 0.01472 0.00532 0.01589 0.00833 C 0.01654 0.01528 0.01641 0.0125 0.01589 0.02454 C 0.01589 0.025 0.01563 0.02546 0.0155 0.02616 C 0.0155 0.02685 0.01537 0.02755 0.01524 0.02824 C 0.01589 0.0294 0.01641 0.03056 0.01706 0.03171 C 0.01745 0.03218 0.01771 0.03264 0.0181 0.03287 C 0.01927 0.03287 0.02058 0.03241 0.02175 0.03218 C 0.02357 0.03194 0.02539 0.03194 0.02709 0.03171 C 0.0293 0.03148 0.02995 0.03102 0.03177 0.03056 C 0.03855 0.03982 0.03438 0.03218 0.0349 0.06065 C 0.03503 0.06829 0.03516 0.06829 0.03555 0.07454 C 0.03568 0.07801 0.03555 0.08148 0.03581 0.08495 C 0.03594 0.08588 0.03633 0.08704 0.03685 0.08727 C 0.0392 0.08819 0.0418 0.08796 0.04427 0.08843 C 0.06237 0.0912 0.03868 0.08912 0.07995 0.09051 L 0.08959 0.09398 C 0.09037 0.09421 0.09102 0.09514 0.0918 0.09491 C 0.09323 0.09468 0.09454 0.09329 0.09584 0.09282 C 0.09727 0.09236 0.09883 0.09236 0.10026 0.09213 C 0.10261 0.09074 0.10052 0.0919 0.1056 0.0912 C 0.10651 0.09097 0.10743 0.09074 0.10834 0.09051 L 0.13308 0.09167 C 0.13698 0.09167 0.15495 0.09074 0.16029 0.09051 C 0.16107 0.09028 0.16198 0.09028 0.16276 0.09005 C 0.16355 0.08982 0.16433 0.08889 0.16524 0.08889 C 0.16758 0.08866 0.17006 0.08935 0.1724 0.08935 C 0.1737 0.09005 0.17487 0.09097 0.17618 0.0912 C 0.1948 0.09352 0.18555 0.08935 0.1918 0.09213 C 0.19375 0.09167 0.19584 0.09144 0.19779 0.09051 C 0.19844 0.09028 0.19896 0.08935 0.19961 0.08889 C 0.20391 0.08588 0.19714 0.09167 0.20248 0.08727 C 0.20352 0.08634 0.20443 0.08519 0.2056 0.08449 C 0.20612 0.08403 0.20677 0.0838 0.20743 0.08333 C 0.21289 0.0794 0.20886 0.08171 0.21302 0.0794 C 0.21355 0.07894 0.21407 0.07847 0.21459 0.07778 C 0.21524 0.07708 0.21589 0.07616 0.21654 0.07546 C 0.21771 0.07431 0.21901 0.07338 0.22019 0.07222 C 0.22175 0.07083 0.2211 0.0713 0.2224 0.0706 C 0.22487 0.07153 0.22735 0.07292 0.22995 0.07338 C 0.24284 0.07523 0.23412 0.07361 0.23959 0.07176 C 0.2405 0.0713 0.24154 0.0713 0.24245 0.07107 C 0.2431 0.07107 0.24362 0.07083 0.24427 0.0706 C 0.24519 0.07014 0.24597 0.06991 0.24675 0.06944 C 0.24792 0.06875 0.24883 0.06713 0.24987 0.0662 C 0.25079 0.06528 0.25287 0.06505 0.25339 0.06505 C 0.2543 0.06435 0.25534 0.06412 0.25612 0.06343 C 0.25664 0.06296 0.25691 0.06204 0.25717 0.06111 C 0.25782 0.05857 0.25847 0.05486 0.25899 0.05232 C 0.25886 0.04699 0.25886 0.0419 0.25873 0.03657 C 0.25847 0.03194 0.25782 0.02755 0.25769 0.02269 C 0.25769 0.0162 0.25808 0.00949 0.25834 0.00278 C 0.2586 -0.00278 0.25925 -0.01782 0.26029 -0.02616 C 0.26055 -0.02847 0.26081 -0.03056 0.2612 -0.03287 C 0.26107 -0.03565 0.26107 -0.03866 0.26081 -0.04167 C 0.26068 -0.04352 0.26016 -0.04491 0.2599 -0.04676 L 0.25964 -0.04954 C 0.25938 -0.05694 0.25951 -0.06435 0.25899 -0.07176 C 0.2586 -0.07685 0.25769 -0.08171 0.25717 -0.08657 C 0.25691 -0.08843 0.25651 -0.09213 0.25651 -0.0919 C 0.25664 -0.09931 0.25664 -0.10625 0.25677 -0.11343 C 0.25677 -0.11458 0.25664 -0.1162 0.25717 -0.11713 C 0.25795 -0.11875 0.25925 -0.11898 0.26029 -0.11991 C 0.26302 -0.1287 0.26237 -0.125 0.2612 -0.14236 C 0.26107 -0.14398 0.26029 -0.1456 0.2599 -0.14722 C 0.25925 -0.15 0.25925 -0.15093 0.25899 -0.15393 C 0.25886 -0.15556 0.25847 -0.16181 0.25834 -0.16343 C 0.25808 -0.16829 0.25808 -0.17292 0.25769 -0.17778 C 0.25769 -0.1794 0.2573 -0.18125 0.25717 -0.18287 C 0.25677 -0.18542 0.25651 -0.18634 0.25612 -0.18843 C 0.25651 -0.19143 0.25795 -0.20231 0.25586 -0.2044 C 0.2556 -0.20486 0.24935 -0.20301 0.24714 -0.20231 C 0.24636 -0.20162 0.24571 -0.20116 0.24493 -0.20069 C 0.2405 -0.19768 0.23946 -0.19977 0.23269 -0.20069 C 0.22188 -0.20347 0.23451 -0.20046 0.20495 -0.20069 C 0.19063 -0.20069 0.17644 -0.20139 0.16211 -0.20162 C 0.16003 -0.20208 0.15795 -0.20278 0.15586 -0.20278 C 0.14297 -0.20347 0.12891 -0.20347 0.11589 -0.20347 " pathEditMode="relative" rAng="0" ptsTypes="AAAAAAAAAAAAAAAAAAAAAAAAAAAAAAAAAAAAAAAAAAAAAAAAAAAAAAAAAAAAAAAAAAAAAAAAAAAAAAAAA">
                                      <p:cBhvr>
                                        <p:cTn id="6" dur="1000" fill="hold"/>
                                        <p:tgtEl>
                                          <p:spTgt spid="12"/>
                                        </p:tgtEl>
                                        <p:attrNameLst>
                                          <p:attrName>ppt_x</p:attrName>
                                          <p:attrName>ppt_y</p:attrName>
                                        </p:attrNameLst>
                                      </p:cBhvr>
                                      <p:rCtr x="12630" y="-5648"/>
                                    </p:animMotion>
                                  </p:childTnLst>
                                </p:cTn>
                              </p:par>
                              <p:par>
                                <p:cTn id="7" presetID="0" presetClass="path" presetSubtype="0" accel="50000" decel="50000" fill="hold" grpId="0" nodeType="withEffect">
                                  <p:stCondLst>
                                    <p:cond delay="0"/>
                                  </p:stCondLst>
                                  <p:childTnLst>
                                    <p:animMotion origin="layout" path="M 0.00105 0.00185 L 0.00105 0.00185 L 0.08204 0.00093 L 0.08204 0.00093 " pathEditMode="relative" ptsTypes="AAAA">
                                      <p:cBhvr>
                                        <p:cTn id="8" dur="1000" fill="hold"/>
                                        <p:tgtEl>
                                          <p:spTgt spid="20"/>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grpId="0" nodeType="clickEffect">
                                  <p:stCondLst>
                                    <p:cond delay="0"/>
                                  </p:stCondLst>
                                  <p:childTnLst>
                                    <p:animMotion origin="layout" path="M 0.00885 0.00116 L 0.00885 0.00116 C 0.00976 0.00069 0.0108 -0.00023 0.01185 -0.00046 C 0.01588 -0.00093 0.01862 -0.00023 0.02226 0.00069 C 0.02291 0.00093 0.02369 0.00162 0.02435 0.00185 C 0.02526 0.00208 0.02604 0.00208 0.02695 0.00232 C 0.02747 0.00255 0.02799 0.00278 0.02851 0.00278 C 0.02916 0.00301 0.02994 0.00324 0.0306 0.00347 C 0.03099 0.0037 0.03385 0.00532 0.03476 0.00671 C 0.03502 0.00741 0.03528 0.00833 0.03567 0.00903 C 0.0358 0.00949 0.0358 0.01019 0.03593 0.01065 C 0.03619 0.01157 0.03672 0.0125 0.03685 0.01343 C 0.03711 0.01435 0.03711 0.01528 0.03724 0.0162 C 0.03737 0.01991 0.03724 0.02361 0.0375 0.02732 C 0.03763 0.02824 0.03763 0.02986 0.03815 0.03009 C 0.04088 0.03125 0.04375 0.03056 0.04661 0.03079 L 0.04909 0.03241 C 0.04974 0.03264 0.05091 0.03357 0.05091 0.03357 C 0.0526 0.04213 0.05156 0.03634 0.05221 0.05741 C 0.05247 0.06412 0.05221 0.07083 0.05247 0.07732 C 0.0526 0.0794 0.05364 0.08125 0.05442 0.08241 C 0.05703 0.08657 0.05534 0.08403 0.05755 0.08634 C 0.05859 0.08727 0.05885 0.08843 0.06028 0.08843 C 0.06484 0.08889 0.06927 0.08889 0.07383 0.08912 C 0.07487 0.08935 0.07604 0.08958 0.07721 0.09028 C 0.07851 0.09074 0.07968 0.09213 0.08099 0.09236 C 0.0858 0.09329 0.09075 0.09306 0.0957 0.09352 C 0.10013 0.09468 0.09935 0.09468 0.10664 0.09306 C 0.10742 0.09282 0.1082 0.0919 0.10911 0.0912 C 0.1108 0.09028 0.10924 0.09144 0.11133 0.08958 C 0.11367 0.09005 0.11601 0.09028 0.11849 0.09074 C 0.11888 0.09074 0.11927 0.0912 0.11966 0.0912 C 0.12018 0.09144 0.1207 0.09167 0.12122 0.0919 L 0.13528 0.0912 C 0.13593 0.0912 0.13659 0.09097 0.13724 0.09074 C 0.13776 0.09051 0.13828 0.09005 0.1388 0.08958 C 0.1457 0.0912 0.13633 0.08912 0.15156 0.0919 C 0.15442 0.09236 0.15716 0.09329 0.16002 0.09352 C 0.1638 0.09398 0.16744 0.09398 0.17122 0.09398 C 0.1733 0.09375 0.17539 0.09352 0.17747 0.09306 C 0.17851 0.09259 0.17929 0.09167 0.18034 0.0912 C 0.18086 0.09097 0.18763 0.09028 0.18776 0.09028 C 0.20039 0.0912 0.20494 0.09213 0.21784 0.09028 C 0.21836 0.09005 0.21888 0.08912 0.2194 0.08843 C 0.22174 0.08588 0.2233 0.08357 0.22591 0.08171 C 0.23385 0.07616 0.22552 0.08194 0.23099 0.07847 C 0.23151 0.07824 0.2319 0.07778 0.23255 0.07732 C 0.23385 0.07662 0.23385 0.07708 0.23502 0.07616 C 0.23763 0.07407 0.23646 0.07454 0.23971 0.07245 C 0.24036 0.07199 0.24218 0.07107 0.2431 0.0706 C 0.24674 0.0713 0.24674 0.07176 0.25091 0.0706 C 0.25664 0.06944 0.24974 0.06944 0.2569 0.06852 C 0.25963 0.06806 0.2625 0.06806 0.26523 0.06782 C 0.26653 0.06759 0.26836 0.0669 0.2694 0.06574 C 0.27057 0.06412 0.27161 0.05741 0.27187 0.05579 C 0.272 0.05486 0.272 0.05417 0.27213 0.05347 C 0.27239 0.05255 0.27278 0.05208 0.27304 0.05116 C 0.27356 0.0463 0.27343 0.04653 0.275 0.04005 C 0.27526 0.03866 0.27578 0.0375 0.27617 0.03634 C 0.27591 0.03009 0.27578 0.02407 0.27526 0.01782 C 0.27513 0.01644 0.27461 0.01505 0.27435 0.01343 C 0.27396 0.01157 0.27369 0.00972 0.27343 0.00787 C 0.27278 -0.00162 0.27317 0.00741 0.27369 -0.00602 C 0.27396 -0.01042 0.27396 -0.01481 0.27409 -0.01944 C 0.27356 -0.01944 0.27278 -0.01921 0.27278 -0.01991 C 0.27278 -0.02106 0.27448 -0.02176 0.275 -0.02222 C 0.27226 -0.03657 0.27409 -0.025 0.27461 -0.05648 C 0.27474 -0.06319 0.27474 -0.06991 0.275 -0.07662 C 0.27539 -0.08681 0.27617 -0.09167 0.27747 -0.10162 C 0.2776 -0.10347 0.27786 -0.10532 0.27773 -0.10718 C 0.27773 -0.10903 0.27747 -0.11088 0.27721 -0.11273 C 0.27695 -0.11435 0.27578 -0.11736 0.27526 -0.11875 C 0.27513 -0.1213 0.275 -0.12361 0.27461 -0.12616 C 0.27448 -0.12731 0.27409 -0.1287 0.27409 -0.12986 C 0.27383 -0.13449 0.27383 -0.13889 0.27369 -0.14329 C 0.27369 -0.14583 0.27343 -0.14815 0.27343 -0.15046 C 0.27304 -0.16018 0.27278 -0.16991 0.27252 -0.1794 C 0.27239 -0.1838 0.27226 -0.18796 0.27213 -0.19213 C 0.27213 -0.19398 0.272 -0.1956 0.27187 -0.19722 C 0.27161 -0.19861 0.27109 -0.20023 0.27031 -0.20046 C 0.26953 -0.20093 0.26888 -0.20093 0.2681 -0.20116 C 0.26771 -0.20116 0.26731 -0.20139 0.26679 -0.20162 C 0.26458 -0.20116 0.26146 -0.20023 0.25898 -0.2 C 0.25703 -0.19977 0.25508 -0.19954 0.25312 -0.19954 C 0.24336 -0.19676 0.24739 -0.19745 0.22994 -0.19954 C 0.22825 -0.19977 0.22669 -0.20093 0.225 -0.20116 C 0.21562 -0.20185 0.20625 -0.20185 0.19687 -0.20231 C 0.19023 -0.20301 0.18828 -0.20324 0.18034 -0.20324 L 0.15377 -0.20324 " pathEditMode="relative" ptsTypes="AAAAAAAAAAAAAAAAAAAAAAAAAAAAAAAAAAAAAAAAAAAAAAAAAAAAAAAAAAAAAAAAAAAAAAAAAAAAAAAAAAAAAAAAA">
                                      <p:cBhvr>
                                        <p:cTn id="12" dur="1000" fill="hold"/>
                                        <p:tgtEl>
                                          <p:spTgt spid="16"/>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00326 0.00185 L -0.00326 0.00185 L 0.08867 0.00185 " pathEditMode="relative" ptsTypes="AAA">
                                      <p:cBhvr>
                                        <p:cTn id="14" dur="1000" fill="hold"/>
                                        <p:tgtEl>
                                          <p:spTgt spid="21"/>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0" nodeType="clickEffect">
                                  <p:stCondLst>
                                    <p:cond delay="0"/>
                                  </p:stCondLst>
                                  <p:childTnLst>
                                    <p:animMotion origin="layout" path="M 0.00807 0.00116 L 0.00807 0.00116 C 0.01068 0.00162 0.01341 0.00185 0.01614 0.00232 C 0.01653 0.00232 0.01693 0.00255 0.01745 0.00278 C 0.01797 0.00301 0.01862 0.00324 0.01927 0.00347 C 0.02148 0.0037 0.0237 0.00417 0.02578 0.0044 C 0.03385 0.0081 0.02552 0.0044 0.04765 0.00625 C 0.04831 0.00625 0.04896 0.00648 0.04961 0.00671 C 0.05221 0.00718 0.05482 0.00741 0.05742 0.00787 C 0.05781 0.0081 0.0582 0.0081 0.05859 0.00833 C 0.0638 0.01204 0.06041 0.01042 0.06328 0.01157 C 0.0664 0.01505 0.06354 0.01134 0.06614 0.0162 C 0.06953 0.02222 0.0668 0.01597 0.06901 0.02107 C 0.06966 0.02778 0.0694 0.02384 0.06953 0.03657 C 0.06966 0.04398 0.06953 0.05116 0.06992 0.05833 C 0.07005 0.06088 0.07057 0.06343 0.07083 0.0662 C 0.07096 0.06759 0.07096 0.06898 0.07109 0.0706 C 0.07122 0.07176 0.07161 0.07269 0.07174 0.07384 C 0.072 0.07523 0.07226 0.07685 0.07239 0.07824 C 0.07331 0.08657 0.07252 0.08194 0.07331 0.08611 C 0.07344 0.0875 0.07291 0.08982 0.0737 0.09005 C 0.07786 0.09097 0.08216 0.08889 0.08646 0.08889 L 0.10547 0.08935 C 0.1112 0.08982 0.1168 0.08982 0.12239 0.09051 C 0.1237 0.09074 0.12487 0.09167 0.12617 0.09213 C 0.13932 0.09676 0.11849 0.08866 0.13177 0.09398 C 0.13489 0.09375 0.13802 0.09375 0.14114 0.09329 C 0.1431 0.09306 0.14505 0.09167 0.14713 0.09167 C 0.15638 0.09097 0.16562 0.0912 0.17487 0.0912 C 0.17799 0.0912 0.18112 0.0912 0.18424 0.09167 C 0.18528 0.09167 0.18607 0.09282 0.18711 0.09282 C 0.18997 0.09259 0.19297 0.09167 0.19583 0.0912 C 0.21041 0.08241 0.1931 0.09236 0.23737 0.08889 C 0.23828 0.08889 0.24206 0.08519 0.24297 0.08449 C 0.24362 0.0831 0.24427 0.08194 0.24492 0.08056 C 0.24531 0.07963 0.24544 0.07847 0.24583 0.07778 C 0.24609 0.07732 0.24648 0.07685 0.24674 0.07662 C 0.24805 0.07546 0.24922 0.07407 0.25052 0.07338 L 0.25651 0.06991 C 0.25703 0.07037 0.25768 0.07083 0.25833 0.07107 C 0.26185 0.07292 0.26354 0.07153 0.26862 0.07107 C 0.27057 0.0713 0.27239 0.07176 0.27422 0.07176 C 0.27539 0.07176 0.27734 0.0713 0.27864 0.0706 C 0.27916 0.07014 0.27969 0.06968 0.28021 0.06944 C 0.28086 0.06898 0.28151 0.06875 0.28203 0.06829 C 0.28281 0.06759 0.28359 0.06667 0.28424 0.0662 C 0.28502 0.06551 0.28568 0.06505 0.28646 0.06435 C 0.28854 0.06065 0.28594 0.06458 0.28932 0.06227 C 0.28997 0.06181 0.29049 0.06065 0.29114 0.05995 C 0.2914 0.0588 0.29153 0.05741 0.2918 0.05602 C 0.29206 0.0537 0.29232 0.05116 0.29271 0.04884 C 0.29284 0.04815 0.29323 0.04745 0.29336 0.04676 C 0.29362 0.04514 0.29375 0.04375 0.29401 0.04213 C 0.29414 0.03982 0.29453 0.03264 0.29453 0.03056 C 0.29453 0.0213 0.29453 0.01204 0.29427 0.00278 C 0.29427 0.00139 0.29414 0.00023 0.29401 -0.00116 C 0.29362 -0.00255 0.2931 -0.00393 0.29271 -0.00556 C 0.29245 -0.00671 0.29232 -0.00764 0.29206 -0.0088 C 0.29193 -0.00972 0.29206 -0.01088 0.2918 -0.01157 C 0.29153 -0.01227 0.29114 -0.01273 0.29088 -0.01319 C 0.29088 -0.01643 0.29114 -0.01968 0.29114 -0.02268 C 0.29127 -0.03148 0.29114 -0.04005 0.2914 -0.04884 C 0.29153 -0.05046 0.29193 -0.05208 0.29206 -0.05393 C 0.29284 -0.06042 0.29193 -0.05393 0.29297 -0.06111 C 0.29362 -0.07569 0.29362 -0.07176 0.29297 -0.09537 C 0.29245 -0.11898 0.29284 -0.1 0.29206 -0.10833 C 0.2914 -0.11597 0.29232 -0.10949 0.29114 -0.11667 C 0.29088 -0.1419 0.29101 -0.16736 0.29049 -0.19259 C 0.29049 -0.19398 0.28997 -0.19491 0.28958 -0.19606 C 0.28932 -0.19676 0.2888 -0.19768 0.28828 -0.19815 C 0.28802 -0.19861 0.28776 -0.19861 0.28737 -0.19884 C 0.28528 -0.19931 0.28307 -0.19954 0.28086 -0.19977 C 0.27851 -0.20023 0.27604 -0.20023 0.2737 -0.20046 C 0.27278 -0.20069 0.272 -0.20093 0.27109 -0.20093 L 0.22708 -0.20208 C 0.21914 -0.20347 0.2207 -0.20324 0.20742 -0.2037 C 0.20338 -0.20393 0.19948 -0.2037 0.19557 -0.2037 " pathEditMode="relative" ptsTypes="AAAAAAAAAAAAAAAAAAAAAAAAAAAAAAAAAAAAAAAAAAAAAAAAAAAAAAAAAAAAAAAAAAAAAAAAAAAAA">
                                      <p:cBhvr>
                                        <p:cTn id="18" dur="1000" fill="hold"/>
                                        <p:tgtEl>
                                          <p:spTgt spid="17"/>
                                        </p:tgtEl>
                                        <p:attrNameLst>
                                          <p:attrName>ppt_x</p:attrName>
                                          <p:attrName>ppt_y</p:attrName>
                                        </p:attrNameLst>
                                      </p:cBhvr>
                                    </p:animMotion>
                                  </p:childTnLst>
                                </p:cTn>
                              </p:par>
                              <p:par>
                                <p:cTn id="19" presetID="0" presetClass="path" presetSubtype="0" accel="50000" decel="50000" fill="hold" grpId="0" nodeType="withEffect">
                                  <p:stCondLst>
                                    <p:cond delay="0"/>
                                  </p:stCondLst>
                                  <p:childTnLst>
                                    <p:animMotion origin="layout" path="M -0.00144 0.0044 L -0.00144 0.0044 C 0.0608 0.00185 0.02864 0.00255 0.09505 0.00255 L 0.09505 0.00255 " pathEditMode="relative" ptsTypes="AAAA">
                                      <p:cBhvr>
                                        <p:cTn id="20" dur="1000" fill="hold"/>
                                        <p:tgtEl>
                                          <p:spTgt spid="22"/>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0.01107 -3.7037E-7 L 0.01107 0.00023 C 0.01224 0.00023 0.01354 0.00023 0.01471 0.00069 C 0.01576 0.00093 0.01667 0.00139 0.01758 0.00162 C 0.01888 0.00208 0.02031 0.00255 0.02161 0.00278 C 0.02253 0.00255 0.02357 0.00255 0.02448 0.00232 C 0.02513 0.00208 0.02565 0.00162 0.0263 0.00162 L 0.05443 0.00116 C 0.06628 0.00185 0.06042 0.00023 0.06602 0.00278 C 0.0668 0.00324 0.06771 0.0037 0.06849 0.00394 C 0.07005 0.00463 0.07318 0.00556 0.07318 0.00579 C 0.07852 0.01273 0.0694 -0.00023 0.07474 0.03009 C 0.07513 0.03241 0.07747 0.03148 0.07878 0.03218 C 0.08099 0.03194 0.0862 0.03102 0.08854 0.03218 C 0.08932 0.03264 0.08997 0.03403 0.09076 0.03495 C 0.09076 0.03588 0.09089 0.03681 0.09089 0.03773 C 0.09089 0.03982 0.09089 0.0419 0.09076 0.04398 C 0.09063 0.04537 0.09023 0.04676 0.0901 0.04838 C 0.08997 0.04931 0.08984 0.05023 0.08971 0.05116 C 0.08945 0.05278 0.08919 0.05694 0.08919 0.05833 C 0.08906 0.06065 0.08893 0.06273 0.0888 0.06505 C 0.08906 0.07014 0.08919 0.07546 0.08945 0.08056 C 0.08945 0.08125 0.08971 0.08171 0.08971 0.08218 C 0.08997 0.08472 0.09023 0.0875 0.09036 0.09005 C 0.11029 0.0875 0.10104 0.08843 0.14349 0.08889 C 0.14675 0.08889 0.15 0.08958 0.15326 0.09005 C 0.15482 0.09074 0.15651 0.0919 0.1582 0.09213 C 0.16823 0.09421 0.17018 0.09329 0.17982 0.09213 C 0.18047 0.0919 0.18125 0.09144 0.1819 0.0912 C 0.18255 0.09074 0.1832 0.09005 0.18385 0.09005 C 0.18633 0.09005 0.1888 0.09074 0.19128 0.0912 C 0.19206 0.09144 0.19271 0.09213 0.19349 0.09213 C 0.19492 0.09213 0.19661 0.09167 0.19818 0.0912 C 0.19857 0.09097 0.1987 0.09074 0.19909 0.09051 C 0.19961 0.09028 0.2 0.09028 0.20039 0.09005 L 0.21042 0.0912 C 0.21094 0.0912 0.21172 0.09144 0.21263 0.09167 C 0.21367 0.0919 0.2151 0.09213 0.21628 0.09213 C 0.2207 0.09375 0.21784 0.09306 0.22669 0.09213 C 0.22995 0.0919 0.2332 0.09144 0.23659 0.0912 C 0.23763 0.09074 0.23867 0.09028 0.23971 0.09005 C 0.24167 0.08935 0.24401 0.08889 0.24596 0.08843 C 0.24961 0.08727 0.25065 0.08681 0.25326 0.08565 C 0.25286 0.08495 0.25221 0.08403 0.2526 0.0838 C 0.25521 0.08357 0.25612 0.08449 0.25794 0.08611 C 0.25898 0.08588 0.26029 0.08611 0.26133 0.08565 C 0.26172 0.08542 0.26185 0.08426 0.26224 0.0838 C 0.26263 0.08357 0.26315 0.08357 0.26354 0.08333 C 0.26419 0.08264 0.26471 0.08171 0.26536 0.08102 C 0.26563 0.08079 0.26602 0.08079 0.26628 0.08056 C 0.26706 0.08009 0.26784 0.08009 0.26849 0.0794 C 0.26914 0.07894 0.26979 0.07824 0.27044 0.07778 C 0.27096 0.07732 0.27383 0.07685 0.27409 0.07662 C 0.27474 0.07639 0.27539 0.07593 0.27604 0.07546 C 0.28008 0.07292 0.27578 0.07546 0.27852 0.07384 C 0.28372 0.07454 0.28893 0.07546 0.29414 0.07546 C 0.29961 0.07546 0.30313 0.075 0.3082 0.07454 C 0.30846 0.07407 0.30898 0.07384 0.30911 0.07338 C 0.30977 0.07153 0.31055 0.0669 0.31107 0.06435 C 0.31107 0.05648 0.31094 0.04861 0.31133 0.04051 C 0.31146 0.03681 0.31263 0.0294 0.31263 0.02963 C 0.3125 0.02523 0.3125 0.02083 0.31224 0.01667 C 0.31211 0.01296 0.31159 0.0125 0.31107 0.00949 C 0.31081 0.0081 0.31055 0.00694 0.31042 0.00556 C 0.31055 0.00301 0.31055 0.00046 0.31068 -0.00208 C 0.31081 -0.00278 0.31094 -0.00324 0.31107 -0.00393 C 0.31159 -0.00648 0.31224 -0.00903 0.31289 -0.01157 C 0.31328 -0.01319 0.3138 -0.01458 0.31419 -0.01597 C 0.31445 -0.01736 0.31458 -0.01875 0.31484 -0.01991 C 0.31471 -0.02245 0.31471 -0.02523 0.31445 -0.02778 C 0.31432 -0.0287 0.3138 -0.02963 0.31354 -0.03056 C 0.31328 -0.03148 0.31302 -0.03264 0.31289 -0.0338 C 0.31263 -0.03542 0.31211 -0.04051 0.31198 -0.04282 C 0.31185 -0.04421 0.31185 -0.0456 0.31159 -0.04722 C 0.31146 -0.04884 0.3112 -0.05046 0.31107 -0.05208 C 0.31081 -0.05417 0.31055 -0.05741 0.31042 -0.05949 C 0.31055 -0.0669 0.31055 -0.07431 0.31068 -0.08148 C 0.31081 -0.08796 0.31081 -0.09468 0.31107 -0.10093 C 0.31107 -0.10208 0.31146 -0.10278 0.31159 -0.1037 C 0.31185 -0.10463 0.31185 -0.10532 0.31198 -0.10602 C 0.31211 -0.10694 0.31237 -0.10787 0.31263 -0.1088 C 0.31367 -0.11389 0.31276 -0.11042 0.3138 -0.11435 C 0.31367 -0.11713 0.31367 -0.11991 0.31354 -0.12268 C 0.31354 -0.12338 0.31315 -0.12384 0.31315 -0.12431 C 0.31315 -0.12662 0.31341 -0.1287 0.31354 -0.13102 C 0.31341 -0.13727 0.31354 -0.14375 0.31289 -0.15 C 0.31289 -0.15069 0.31263 -0.15139 0.31263 -0.15208 C 0.31224 -0.21018 0.32135 -0.19954 0.29909 -0.20208 C 0.29857 -0.20208 0.29805 -0.20255 0.29753 -0.20255 L 0.26979 -0.20046 C 0.26888 -0.20046 0.26784 -0.2 0.26693 -0.19977 C 0.26523 -0.19954 0.26341 -0.19954 0.26159 -0.19931 C 0.25521 -0.19977 0.25573 -0.19954 0.25091 -0.20046 C 0.25 -0.20069 0.24935 -0.20069 0.24857 -0.20093 C 0.24766 -0.20139 0.24688 -0.20208 0.24596 -0.20208 C 0.24167 -0.20255 0.2375 -0.20255 0.2332 -0.20255 C 0.23307 -0.20278 0.23346 -0.20255 0.23346 -0.20231 " pathEditMode="relative" rAng="0" ptsTypes="AAAAAAAAAAAAAAAAAAAAAAAAAAAAAAAAAAAAAAAAAAAAAAAAAAAAAAAAAAAAAAAAAAAAAAAAAAAAAAAAAAAAAAAAAAAAAAAAA">
                                      <p:cBhvr>
                                        <p:cTn id="24" dur="1000" fill="hold"/>
                                        <p:tgtEl>
                                          <p:spTgt spid="18"/>
                                        </p:tgtEl>
                                        <p:attrNameLst>
                                          <p:attrName>ppt_x</p:attrName>
                                          <p:attrName>ppt_y</p:attrName>
                                        </p:attrNameLst>
                                      </p:cBhvr>
                                      <p:rCtr x="15182" y="-5486"/>
                                    </p:animMotion>
                                  </p:childTnLst>
                                </p:cTn>
                              </p:par>
                              <p:par>
                                <p:cTn id="25" presetID="0" presetClass="path" presetSubtype="0" accel="50000" decel="50000" fill="hold" grpId="0" nodeType="withEffect">
                                  <p:stCondLst>
                                    <p:cond delay="0"/>
                                  </p:stCondLst>
                                  <p:childTnLst>
                                    <p:animMotion origin="layout" path="M -0.00222 0.00278 L -0.00222 0.00278 L 0.09961 0.00347 L 0.09961 0.00347 " pathEditMode="relative" ptsTypes="AAAA">
                                      <p:cBhvr>
                                        <p:cTn id="26" dur="1000" fill="hold"/>
                                        <p:tgtEl>
                                          <p:spTgt spid="2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7" grpId="0"/>
      <p:bldP spid="18" grpId="0"/>
      <p:bldP spid="20" grpId="0"/>
      <p:bldP spid="21" grpId="0"/>
      <p:bldP spid="22" grpId="0"/>
      <p:bldP spid="2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B414-00FA-324D-5873-A6D0294C37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9D98F36-FB70-398F-67F0-B3AB8D5728C9}"/>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12549A0-6F3E-191B-62C0-CAA61CE9CC2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86FC779-1988-7F51-349D-CED6946658D6}"/>
              </a:ext>
            </a:extLst>
          </p:cNvPr>
          <p:cNvSpPr>
            <a:spLocks noGrp="1"/>
          </p:cNvSpPr>
          <p:nvPr>
            <p:ph type="sldNum" sz="quarter" idx="4"/>
          </p:nvPr>
        </p:nvSpPr>
        <p:spPr/>
        <p:txBody>
          <a:bodyPr/>
          <a:lstStyle/>
          <a:p>
            <a:pPr>
              <a:defRPr/>
            </a:pPr>
            <a:fld id="{A9CE67A1-BA7F-A74E-B5D7-615746DEEC2B}" type="slidenum">
              <a:rPr lang="en-US" smtClean="0"/>
              <a:pPr>
                <a:defRPr/>
              </a:pPr>
              <a:t>64</a:t>
            </a:fld>
            <a:endParaRPr lang="en-US" baseline="-11000" dirty="0"/>
          </a:p>
        </p:txBody>
      </p:sp>
      <p:sp>
        <p:nvSpPr>
          <p:cNvPr id="6" name="Date Placeholder 5">
            <a:extLst>
              <a:ext uri="{FF2B5EF4-FFF2-40B4-BE49-F238E27FC236}">
                <a16:creationId xmlns:a16="http://schemas.microsoft.com/office/drawing/2014/main" id="{9A82BDA9-F895-4EAC-8CF3-12DD3B91471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B2D2E7B0-DA0A-8194-D0F4-302039E5E95E}"/>
              </a:ext>
            </a:extLst>
          </p:cNvPr>
          <p:cNvSpPr txBox="1"/>
          <p:nvPr/>
        </p:nvSpPr>
        <p:spPr>
          <a:xfrm>
            <a:off x="354862" y="810580"/>
            <a:ext cx="8391066" cy="2031325"/>
          </a:xfrm>
          <a:prstGeom prst="rect">
            <a:avLst/>
          </a:prstGeom>
          <a:noFill/>
        </p:spPr>
        <p:txBody>
          <a:bodyPr wrap="square">
            <a:spAutoFit/>
          </a:bodyPr>
          <a:lstStyle/>
          <a:p>
            <a:pPr defTabSz="457200">
              <a:spcBef>
                <a:spcPts val="1000"/>
              </a:spcBef>
              <a:buClr>
                <a:srgbClr val="1E4056"/>
              </a:buClr>
              <a:buSzPct val="75000"/>
            </a:pPr>
            <a:r>
              <a:rPr lang="en-US" b="1" dirty="0"/>
              <a:t>In the Butterfly state</a:t>
            </a:r>
            <a:r>
              <a:rPr lang="en-US" dirty="0"/>
              <a:t>, the second half of the input arrives and bypasses the FIFO.                                            Instead, it is processed directly with the first half that we stored earlier.                                                              Regarding the outputs of the Butterfly unit: the sum goes directly to the next stage                                       through the output MUX, while the difference                                                                                                                                     is loaded back into the FIFO for the next cycle								       It is also important to note that once the first output </a:t>
            </a:r>
            <a:r>
              <a:rPr lang="en-US" b="1" dirty="0"/>
              <a:t>is available</a:t>
            </a:r>
            <a:r>
              <a:rPr lang="en-US" dirty="0"/>
              <a:t>, the valid_out signal </a:t>
            </a:r>
            <a:r>
              <a:rPr lang="en-US" b="1" dirty="0"/>
              <a:t>is asserted</a:t>
            </a:r>
            <a:r>
              <a:rPr lang="en-US" dirty="0"/>
              <a:t> to notify the subsequent stage</a:t>
            </a:r>
          </a:p>
        </p:txBody>
      </p:sp>
      <p:cxnSp>
        <p:nvCxnSpPr>
          <p:cNvPr id="13" name="Connector: Curved 12">
            <a:extLst>
              <a:ext uri="{FF2B5EF4-FFF2-40B4-BE49-F238E27FC236}">
                <a16:creationId xmlns:a16="http://schemas.microsoft.com/office/drawing/2014/main" id="{6E473333-D6F4-23C3-259A-E91AA42787C4}"/>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ABBE3B42-0B73-7A4D-3CFD-A08412AEAE8E}"/>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E78816A9-658F-3E2D-1DC9-6C8A9925EFFA}"/>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AB7E5870-3852-FFDD-5183-8A3C5FBDDD5A}"/>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A4CF0746-961E-76A0-3082-B89C2BE99E22}"/>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B026AE6A-65A9-CEB3-7244-E638C1C26AFF}"/>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684AD5E3-66B4-2497-879E-3F0213127366}"/>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816FFDF9-D395-181C-19FA-D06F9FF117BD}"/>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78CA59B-2BDB-902B-AA1B-16312BAB3747}"/>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3B4DD96D-5306-C9BA-2A74-06FCFF0A4E12}"/>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2C46280B-7403-8384-A801-3CE09FAC6B2B}"/>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64A846CB-FD4D-47BC-5101-563A0ABA177A}"/>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5D9F9046-9673-5F48-DC1A-2CA7E5F748AB}"/>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64DF6716-5255-4AAB-165C-17BC95F6311C}"/>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E1F89DEA-6CF2-A56A-5FB0-78D6D4B4DA18}"/>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EC08E591-CCB6-5132-24CC-60EC287E09A3}"/>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590E8B60-D215-A86B-EA98-C0B747AA3DF3}"/>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502E989F-533A-257E-1727-197193FFFD52}"/>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68A2B2F7-B625-9472-48CE-CB5AB93217B4}"/>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D232D1EB-63D2-414D-C30E-5B5963A619A2}"/>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5947A744-84DA-45DA-9BF8-2BB758DE9E69}"/>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3BDA1D76-9D70-902C-303B-3AED2B35FF97}"/>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0E8EEC0E-2C4A-DE80-A5FB-F321669950DD}"/>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42CDD4A5-906A-8782-9080-834607FF41F5}"/>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2FE81160-53B0-386A-F69E-5246028C93B2}"/>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1F5ACD42-1C3A-D689-7E03-80A08CDC1D8B}"/>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C8F7EE78-C138-AD6A-E892-F38048D7437E}"/>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B3732794-7E99-BDDD-2ED5-22BAFE5C89BC}"/>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6EBCB623-45C0-4708-D8C2-583783493843}"/>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669D6C3B-4D6E-C9D9-FFA5-DFA21A0529FE}"/>
                </a:ext>
              </a:extLst>
            </p:cNvPr>
            <p:cNvGrpSpPr/>
            <p:nvPr/>
          </p:nvGrpSpPr>
          <p:grpSpPr>
            <a:xfrm>
              <a:off x="469667" y="3643520"/>
              <a:ext cx="2180533" cy="426962"/>
              <a:chOff x="1974605" y="3819657"/>
              <a:chExt cx="1448457" cy="178610"/>
            </a:xfrm>
          </p:grpSpPr>
          <p:cxnSp>
            <p:nvCxnSpPr>
              <p:cNvPr id="242" name="Straight Arrow Connector 241">
                <a:extLst>
                  <a:ext uri="{FF2B5EF4-FFF2-40B4-BE49-F238E27FC236}">
                    <a16:creationId xmlns:a16="http://schemas.microsoft.com/office/drawing/2014/main" id="{38D1B152-7FC8-771F-461B-8F97A3FD3707}"/>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D42AC044-29B8-D65E-F640-6EE04DE6FC71}"/>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6BCB7C4B-04A9-2815-1159-4B061D807725}"/>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cxnSp>
          <p:nvCxnSpPr>
            <p:cNvPr id="186" name="Straight Connector 185">
              <a:extLst>
                <a:ext uri="{FF2B5EF4-FFF2-40B4-BE49-F238E27FC236}">
                  <a16:creationId xmlns:a16="http://schemas.microsoft.com/office/drawing/2014/main" id="{196FD93B-7752-32D8-C118-51F32F0410B0}"/>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E9BCBEDF-847D-43A0-46ED-CFE158986EC2}"/>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F1E10EF2-C712-C81C-35F6-7019CDFABED8}"/>
                </a:ext>
              </a:extLst>
            </p:cNvPr>
            <p:cNvSpPr/>
            <p:nvPr/>
          </p:nvSpPr>
          <p:spPr>
            <a:xfrm>
              <a:off x="2671659" y="2275292"/>
              <a:ext cx="1433945" cy="1865008"/>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D5DC8747-F479-021D-9B67-2C3FCDDA2935}"/>
                </a:ext>
              </a:extLst>
            </p:cNvPr>
            <p:cNvCxnSpPr>
              <a:cxnSpLocks/>
            </p:cNvCxnSpPr>
            <p:nvPr/>
          </p:nvCxnSpPr>
          <p:spPr>
            <a:xfrm>
              <a:off x="2671659" y="2769242"/>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AC75D20-32B1-F4E0-E2D5-BB59C22FF5B5}"/>
                </a:ext>
              </a:extLst>
            </p:cNvPr>
            <p:cNvCxnSpPr>
              <a:cxnSpLocks/>
            </p:cNvCxnSpPr>
            <p:nvPr/>
          </p:nvCxnSpPr>
          <p:spPr>
            <a:xfrm>
              <a:off x="2671659" y="3752979"/>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67EC0784-3AF8-5BCD-BAA8-2BE4C1D9E62D}"/>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2F2A43EF-C0D0-2F8C-1B31-5DEF0F1DCDD4}"/>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6B4EFA7D-2E00-810B-BA92-0C397540172B}"/>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2C7662D7-3634-5FAF-56DB-F8CF8E99560B}"/>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3C94B860-5EEB-58D6-B899-8ED831670CFE}"/>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AA8F71BF-5046-A3DD-6167-42103D69C95A}"/>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FB30E820-0F0D-0809-788E-3A1A2091BCD2}"/>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221917C7-8AF8-7BA1-4886-A2DB445F1F25}"/>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76ADE4E1-433A-D59A-2C45-E7323D6B0BB2}"/>
                </a:ext>
              </a:extLst>
            </p:cNvPr>
            <p:cNvCxnSpPr>
              <a:cxnSpLocks/>
              <a:endCxn id="235" idx="0"/>
            </p:cNvCxnSpPr>
            <p:nvPr/>
          </p:nvCxnSpPr>
          <p:spPr>
            <a:xfrm>
              <a:off x="2871705" y="2759911"/>
              <a:ext cx="717258" cy="816616"/>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6A215DC1-7702-578E-B939-E8E6F29BCCF3}"/>
                </a:ext>
              </a:extLst>
            </p:cNvPr>
            <p:cNvCxnSpPr>
              <a:cxnSpLocks/>
              <a:endCxn id="238" idx="4"/>
            </p:cNvCxnSpPr>
            <p:nvPr/>
          </p:nvCxnSpPr>
          <p:spPr>
            <a:xfrm flipV="1">
              <a:off x="2949708" y="2955026"/>
              <a:ext cx="618842" cy="797953"/>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BAE5E226-40E7-D186-EB8A-0D2BD18073A2}"/>
                </a:ext>
              </a:extLst>
            </p:cNvPr>
            <p:cNvCxnSpPr/>
            <p:nvPr/>
          </p:nvCxnSpPr>
          <p:spPr>
            <a:xfrm flipH="1">
              <a:off x="3125499" y="3885749"/>
              <a:ext cx="182880" cy="0"/>
            </a:xfrm>
            <a:prstGeom prst="line">
              <a:avLst/>
            </a:prstGeom>
            <a:solidFill>
              <a:schemeClr val="lt1"/>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E640AB8C-DC65-1D19-03C8-FAA430AA97D9}"/>
                </a:ext>
              </a:extLst>
            </p:cNvPr>
            <p:cNvCxnSpPr>
              <a:cxnSpLocks/>
            </p:cNvCxnSpPr>
            <p:nvPr/>
          </p:nvCxnSpPr>
          <p:spPr>
            <a:xfrm>
              <a:off x="3739844" y="2769242"/>
              <a:ext cx="781312"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3D26C07-31B7-CACA-02B2-2F2DD76171BC}"/>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595F01E0-4156-23D6-E222-BC594059DB3A}"/>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4697263C-0EAA-F241-0F22-B3CCA21BB4FA}"/>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EED721DD-9900-4938-6714-6748D4168C6A}"/>
                </a:ext>
              </a:extLst>
            </p:cNvPr>
            <p:cNvCxnSpPr/>
            <p:nvPr/>
          </p:nvCxnSpPr>
          <p:spPr>
            <a:xfrm>
              <a:off x="2075647" y="3752978"/>
              <a:ext cx="2445509" cy="574853"/>
            </a:xfrm>
            <a:prstGeom prst="bentConnector3">
              <a:avLst>
                <a:gd name="adj1" fmla="val -12720"/>
              </a:avLst>
            </a:prstGeom>
            <a:solidFill>
              <a:schemeClr val="tx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566B1D47-4039-0CE1-1DD3-74309DBFFE32}"/>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11E72A45-7BEB-1B1B-78D2-B2C17314751A}"/>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A4ECD1E7-1E32-63D0-B2C1-9B00E35FDBB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35AD8171-79FC-FD86-D7F4-85157CA6749C}"/>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D53C9B46-B4FB-84B2-2359-88290347B8CE}"/>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EB2BC5A0-0624-85E1-581D-8DF3938139E0}"/>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D9001FE7-AA2D-5293-A7FF-190A53C2B723}"/>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D936A2B9-85C3-2AC4-C18C-73C8081748EA}"/>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83B2A5BF-5F14-0894-6473-254E928B9F3E}"/>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B19FC177-F258-83BA-9637-BF2D0047B4AF}"/>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85EDB04A-421E-95DB-C619-815F6029A814}"/>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51F3C223-7C7A-A957-245C-16E17E10F15C}"/>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1C62CCE3-7773-6581-3876-8AE2B41877EE}"/>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F79CB8EA-940A-952F-831D-6DECFE3D35CE}"/>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2A245395-6BA5-E177-8B73-F0B9C7B04522}"/>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53662F45-CBF5-97EE-A7FF-DE9162B3D195}"/>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4BBB1648-168C-F9F5-4348-391F19BE25AB}"/>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59F87E4C-F160-44CE-5855-E2288201C807}"/>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60D9FDA2-B514-AE9F-699C-9B46D2D6062C}"/>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A5A64B6C-B8F2-1E67-C34C-D66B55F5C3FD}"/>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2D8672D-59F7-0168-2E8B-08D540FCA54F}"/>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1E4FFC61-C567-C288-B90B-259FCEB78C96}"/>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B59C9D40-7EF2-5248-3272-2A1CFB89937F}"/>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2CA3F064-F6F2-831A-924E-7352C2BEDEA5}"/>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A9D06E1C-DDBE-C27A-4696-7E61EFAA0CD7}"/>
                </a:ext>
              </a:extLst>
            </p:cNvPr>
            <p:cNvSpPr/>
            <p:nvPr/>
          </p:nvSpPr>
          <p:spPr>
            <a:xfrm>
              <a:off x="1721903" y="3712593"/>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2AA674C0-D62C-DD5C-BABA-2C41A19B7943}"/>
                </a:ext>
              </a:extLst>
            </p:cNvPr>
            <p:cNvCxnSpPr>
              <a:cxnSpLocks/>
              <a:stCxn id="228" idx="0"/>
            </p:cNvCxnSpPr>
            <p:nvPr/>
          </p:nvCxnSpPr>
          <p:spPr>
            <a:xfrm flipV="1">
              <a:off x="7691678" y="3854390"/>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DD146CE5-AD95-E60D-6CFB-1F2A25195C47}"/>
                </a:ext>
              </a:extLst>
            </p:cNvPr>
            <p:cNvSpPr/>
            <p:nvPr/>
          </p:nvSpPr>
          <p:spPr>
            <a:xfrm>
              <a:off x="6466890" y="4287104"/>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0A59B49A-FBC2-351C-73A5-DD86798FD2BB}"/>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4568007A-3BEB-A300-EC90-8B8A317C68C9}"/>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B0EF8C96-FC3E-1596-C1F1-719CD86BF7CE}"/>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F7C9267D-0F6C-AF1D-0D14-960CCA091E9B}"/>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B84EC26-AF97-09CC-ACFC-65A5CD3D99E5}"/>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D95058E3-ADD2-A220-5BBA-A9FB01C529B9}"/>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36011BB6-AC15-52B2-E486-01A624C85EF2}"/>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AF28E8C8-01B2-E7EC-CD2F-833A033BC190}"/>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cxnSp>
        <p:nvCxnSpPr>
          <p:cNvPr id="11" name="Straight Arrow Connector 10">
            <a:extLst>
              <a:ext uri="{FF2B5EF4-FFF2-40B4-BE49-F238E27FC236}">
                <a16:creationId xmlns:a16="http://schemas.microsoft.com/office/drawing/2014/main" id="{59D41E0D-99EA-C274-1C8E-A7972967844B}"/>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83E680FD-EA45-8767-426E-B78A1F921C1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cxnSp>
        <p:nvCxnSpPr>
          <p:cNvPr id="20" name="Straight Arrow Connector 19">
            <a:extLst>
              <a:ext uri="{FF2B5EF4-FFF2-40B4-BE49-F238E27FC236}">
                <a16:creationId xmlns:a16="http://schemas.microsoft.com/office/drawing/2014/main" id="{6F618B18-8CE6-42F5-E99E-3293FF185CB3}"/>
              </a:ext>
            </a:extLst>
          </p:cNvPr>
          <p:cNvCxnSpPr/>
          <p:nvPr/>
        </p:nvCxnSpPr>
        <p:spPr>
          <a:xfrm>
            <a:off x="1720645"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2FB9275-E824-FEB4-035D-EF8ED1BB6755}"/>
              </a:ext>
            </a:extLst>
          </p:cNvPr>
          <p:cNvSpPr txBox="1"/>
          <p:nvPr/>
        </p:nvSpPr>
        <p:spPr>
          <a:xfrm>
            <a:off x="213055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33" name="TextBox 32">
            <a:extLst>
              <a:ext uri="{FF2B5EF4-FFF2-40B4-BE49-F238E27FC236}">
                <a16:creationId xmlns:a16="http://schemas.microsoft.com/office/drawing/2014/main" id="{DE0E1DEC-B069-9CDA-8AD6-2706A9619F57}"/>
              </a:ext>
            </a:extLst>
          </p:cNvPr>
          <p:cNvSpPr txBox="1"/>
          <p:nvPr/>
        </p:nvSpPr>
        <p:spPr>
          <a:xfrm>
            <a:off x="238929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4" name="TextBox 33">
            <a:extLst>
              <a:ext uri="{FF2B5EF4-FFF2-40B4-BE49-F238E27FC236}">
                <a16:creationId xmlns:a16="http://schemas.microsoft.com/office/drawing/2014/main" id="{E9AB2C92-E239-1F1A-8EB4-401953D2D6FD}"/>
              </a:ext>
            </a:extLst>
          </p:cNvPr>
          <p:cNvSpPr txBox="1"/>
          <p:nvPr/>
        </p:nvSpPr>
        <p:spPr>
          <a:xfrm>
            <a:off x="266155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5" name="TextBox 34">
            <a:extLst>
              <a:ext uri="{FF2B5EF4-FFF2-40B4-BE49-F238E27FC236}">
                <a16:creationId xmlns:a16="http://schemas.microsoft.com/office/drawing/2014/main" id="{28974FF1-AEC2-1C58-6F98-DF912CE25DC0}"/>
              </a:ext>
            </a:extLst>
          </p:cNvPr>
          <p:cNvSpPr txBox="1"/>
          <p:nvPr/>
        </p:nvSpPr>
        <p:spPr>
          <a:xfrm>
            <a:off x="2897715"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6" name="TextBox 35">
            <a:extLst>
              <a:ext uri="{FF2B5EF4-FFF2-40B4-BE49-F238E27FC236}">
                <a16:creationId xmlns:a16="http://schemas.microsoft.com/office/drawing/2014/main" id="{D2ED6225-0347-0C40-7FD3-F8B327B7D464}"/>
              </a:ext>
            </a:extLst>
          </p:cNvPr>
          <p:cNvSpPr txBox="1"/>
          <p:nvPr/>
        </p:nvSpPr>
        <p:spPr>
          <a:xfrm>
            <a:off x="687720"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37" name="TextBox 36">
            <a:extLst>
              <a:ext uri="{FF2B5EF4-FFF2-40B4-BE49-F238E27FC236}">
                <a16:creationId xmlns:a16="http://schemas.microsoft.com/office/drawing/2014/main" id="{76CB3061-24C2-1ECE-FAF2-450EBA00D1C2}"/>
              </a:ext>
            </a:extLst>
          </p:cNvPr>
          <p:cNvSpPr txBox="1"/>
          <p:nvPr/>
        </p:nvSpPr>
        <p:spPr>
          <a:xfrm>
            <a:off x="470673"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38" name="TextBox 37">
            <a:extLst>
              <a:ext uri="{FF2B5EF4-FFF2-40B4-BE49-F238E27FC236}">
                <a16:creationId xmlns:a16="http://schemas.microsoft.com/office/drawing/2014/main" id="{9DDDFEE7-377B-71B5-6121-4A6A9BFEECBA}"/>
              </a:ext>
            </a:extLst>
          </p:cNvPr>
          <p:cNvSpPr txBox="1"/>
          <p:nvPr/>
        </p:nvSpPr>
        <p:spPr>
          <a:xfrm>
            <a:off x="253627"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39" name="TextBox 38">
            <a:extLst>
              <a:ext uri="{FF2B5EF4-FFF2-40B4-BE49-F238E27FC236}">
                <a16:creationId xmlns:a16="http://schemas.microsoft.com/office/drawing/2014/main" id="{6C078960-83CD-A42F-1669-F9E01CB86A9F}"/>
              </a:ext>
            </a:extLst>
          </p:cNvPr>
          <p:cNvSpPr txBox="1"/>
          <p:nvPr/>
        </p:nvSpPr>
        <p:spPr>
          <a:xfrm>
            <a:off x="36581"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40" name="TextBox 39">
            <a:extLst>
              <a:ext uri="{FF2B5EF4-FFF2-40B4-BE49-F238E27FC236}">
                <a16:creationId xmlns:a16="http://schemas.microsoft.com/office/drawing/2014/main" id="{4A2EC348-5CBA-E109-7FE9-F7FC6BCB9708}"/>
              </a:ext>
            </a:extLst>
          </p:cNvPr>
          <p:cNvSpPr txBox="1"/>
          <p:nvPr/>
        </p:nvSpPr>
        <p:spPr>
          <a:xfrm>
            <a:off x="2881945" y="434781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S0</a:t>
            </a:r>
          </a:p>
          <a:p>
            <a:pPr defTabSz="457200">
              <a:spcBef>
                <a:spcPts val="1000"/>
              </a:spcBef>
              <a:buClr>
                <a:srgbClr val="1E4056"/>
              </a:buClr>
              <a:buSzPct val="75000"/>
            </a:pPr>
            <a:endParaRPr lang="en-US" sz="2000" dirty="0">
              <a:solidFill>
                <a:srgbClr val="000000"/>
              </a:solidFill>
            </a:endParaRPr>
          </a:p>
        </p:txBody>
      </p:sp>
      <p:sp>
        <p:nvSpPr>
          <p:cNvPr id="41" name="TextBox 40">
            <a:extLst>
              <a:ext uri="{FF2B5EF4-FFF2-40B4-BE49-F238E27FC236}">
                <a16:creationId xmlns:a16="http://schemas.microsoft.com/office/drawing/2014/main" id="{454663C8-EFFD-6D09-2C9F-892D6EA36031}"/>
              </a:ext>
            </a:extLst>
          </p:cNvPr>
          <p:cNvSpPr txBox="1"/>
          <p:nvPr/>
        </p:nvSpPr>
        <p:spPr>
          <a:xfrm>
            <a:off x="2881945" y="496566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D0</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7E7188D3-B047-A353-7524-1188F0767C67}"/>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7" name="TextBox 16">
            <a:extLst>
              <a:ext uri="{FF2B5EF4-FFF2-40B4-BE49-F238E27FC236}">
                <a16:creationId xmlns:a16="http://schemas.microsoft.com/office/drawing/2014/main" id="{A03BF2C2-2CF4-4E9B-855A-307DB2EAF228}"/>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8" name="TextBox 17">
            <a:extLst>
              <a:ext uri="{FF2B5EF4-FFF2-40B4-BE49-F238E27FC236}">
                <a16:creationId xmlns:a16="http://schemas.microsoft.com/office/drawing/2014/main" id="{782BE537-9897-49D0-2D7C-F00ADDD556EC}"/>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1" name="TextBox 20">
            <a:extLst>
              <a:ext uri="{FF2B5EF4-FFF2-40B4-BE49-F238E27FC236}">
                <a16:creationId xmlns:a16="http://schemas.microsoft.com/office/drawing/2014/main" id="{0B393004-3D04-D23E-DE4E-87E741AD667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2" name="TextBox 21">
            <a:extLst>
              <a:ext uri="{FF2B5EF4-FFF2-40B4-BE49-F238E27FC236}">
                <a16:creationId xmlns:a16="http://schemas.microsoft.com/office/drawing/2014/main" id="{7EAE07C2-D46E-E6CF-C362-55D77DC1955B}"/>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4" name="TextBox 23">
            <a:extLst>
              <a:ext uri="{FF2B5EF4-FFF2-40B4-BE49-F238E27FC236}">
                <a16:creationId xmlns:a16="http://schemas.microsoft.com/office/drawing/2014/main" id="{9EF53C36-3022-2AC3-F508-0F0E0FD486F6}"/>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5" name="TextBox 24">
            <a:extLst>
              <a:ext uri="{FF2B5EF4-FFF2-40B4-BE49-F238E27FC236}">
                <a16:creationId xmlns:a16="http://schemas.microsoft.com/office/drawing/2014/main" id="{245F65B0-1F00-1674-9E2B-E5EBAFC83ACC}"/>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54891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286 0.0044 L -0.00286 0.00463 C -0.00495 0.00463 -0.00716 0.00463 -0.00911 0.00509 C -0.01028 0.00532 -0.01133 0.00602 -0.0125 0.00648 C -0.01328 0.00671 -0.01419 0.00694 -0.01497 0.00717 C -0.01745 0.00694 -0.02005 0.00694 -0.02252 0.00648 C -0.02343 0.00625 -0.02448 0.00532 -0.02539 0.00509 C -0.02656 0.00463 -0.0276 0.00463 -0.02877 0.0044 L -0.07161 0.00509 C -0.07448 0.00532 -0.07734 0.00625 -0.07995 0.0081 C -0.08047 0.00833 -0.08021 0.00995 -0.08034 0.01088 C -0.0832 0.0243 -0.07747 -0.01158 -0.08281 0.025 C -0.08294 0.02592 -0.08333 0.02801 -0.08333 0.02824 C -0.08424 0.06921 -0.08398 0.05231 -0.08333 0.1243 C -0.08333 0.12523 -0.08294 0.12592 -0.08281 0.12662 C -0.08151 0.13866 -0.08372 0.13379 -0.07786 0.14004 C -0.0681 0.13981 -0.05846 0.13912 -0.0487 0.13912 C -0.04609 0.13935 -0.04323 0.13889 -0.04075 0.14074 C -0.0401 0.1412 -0.04153 0.14305 -0.04166 0.14444 C -0.04179 0.14768 -0.04166 0.15092 -0.04166 0.15416 " pathEditMode="relative" rAng="0" ptsTypes="AAAAAAAAAAAAAAAAAAAA">
                                      <p:cBhvr>
                                        <p:cTn id="6" dur="1000" fill="hold"/>
                                        <p:tgtEl>
                                          <p:spTgt spid="32"/>
                                        </p:tgtEl>
                                        <p:attrNameLst>
                                          <p:attrName>ppt_x</p:attrName>
                                          <p:attrName>ppt_y</p:attrName>
                                        </p:attrNameLst>
                                      </p:cBhvr>
                                      <p:rCtr x="-4062" y="7477"/>
                                    </p:animMotion>
                                  </p:childTnLst>
                                </p:cTn>
                              </p:par>
                              <p:par>
                                <p:cTn id="7" presetID="0" presetClass="path" presetSubtype="0" accel="50000" decel="50000" fill="hold" grpId="0" nodeType="withEffect">
                                  <p:stCondLst>
                                    <p:cond delay="0"/>
                                  </p:stCondLst>
                                  <p:childTnLst>
                                    <p:animMotion origin="layout" path="M 0.00091 0.00625 L 0.00091 0.00648 C 0.00065 0.01389 0.00039 0.02153 0.00013 0.02917 C -0.00013 0.03403 -0.00052 0.03912 -0.00078 0.04398 C -0.00104 0.04977 -0.00091 0.05532 -0.00117 0.06111 C -0.0013 0.06366 -0.00195 0.06852 -0.00195 0.06875 C -0.00117 0.08079 -0.00273 0.07338 0.00886 0.07593 C 0.0099 0.07616 0.01107 0.07685 0.01211 0.07731 C 0.01289 0.07778 0.01354 0.07778 0.0142 0.07824 L 0.0418 0.07731 C 0.04297 0.07731 0.04519 0.07616 0.04636 0.07593 C 0.05078 0.07477 0.05508 0.07477 0.05964 0.0743 C 0.06029 0.07407 0.06081 0.07361 0.06133 0.07361 C 0.06628 0.07315 0.0711 0.07384 0.07591 0.07292 C 0.07644 0.07292 0.0767 0.07153 0.07683 0.0706 C 0.07709 0.06597 0.07683 0.06134 0.07683 0.05671 " pathEditMode="relative" rAng="0" ptsTypes="AAAAAAAAAAAAAAAA">
                                      <p:cBhvr>
                                        <p:cTn id="8" dur="1000" fill="hold"/>
                                        <p:tgtEl>
                                          <p:spTgt spid="36"/>
                                        </p:tgtEl>
                                        <p:attrNameLst>
                                          <p:attrName>ppt_x</p:attrName>
                                          <p:attrName>ppt_y</p:attrName>
                                        </p:attrNameLst>
                                      </p:cBhvr>
                                      <p:rCtr x="3646" y="3588"/>
                                    </p:animMotion>
                                  </p:childTnLst>
                                </p:cTn>
                              </p:par>
                              <p:par>
                                <p:cTn id="9" presetID="0" presetClass="path" presetSubtype="0" accel="50000" decel="50000" fill="hold" grpId="0" nodeType="withEffect">
                                  <p:stCondLst>
                                    <p:cond delay="0"/>
                                  </p:stCondLst>
                                  <p:childTnLst>
                                    <p:animMotion origin="layout" path="M -0.00079 0.00046 L -0.00079 0.00069 L -0.02253 0.00046 " pathEditMode="relative" rAng="0" ptsTypes="AAA">
                                      <p:cBhvr>
                                        <p:cTn id="10" dur="1000" fill="hold"/>
                                        <p:tgtEl>
                                          <p:spTgt spid="33"/>
                                        </p:tgtEl>
                                        <p:attrNameLst>
                                          <p:attrName>ppt_x</p:attrName>
                                          <p:attrName>ppt_y</p:attrName>
                                        </p:attrNameLst>
                                      </p:cBhvr>
                                      <p:rCtr x="-1094" y="0"/>
                                    </p:animMotion>
                                  </p:childTnLst>
                                </p:cTn>
                              </p:par>
                              <p:par>
                                <p:cTn id="11" presetID="0" presetClass="path" presetSubtype="0" accel="50000" decel="50000" fill="hold" grpId="0" nodeType="withEffect">
                                  <p:stCondLst>
                                    <p:cond delay="0"/>
                                  </p:stCondLst>
                                  <p:childTnLst>
                                    <p:animMotion origin="layout" path="M -0.00039 0.00092 L -0.00039 0.00116 L -0.00182 0.00069 C -0.00221 0.00046 -0.00273 0.00046 -0.00313 0.00046 L -0.02487 0.00069 " pathEditMode="relative" rAng="0" ptsTypes="AAAAA">
                                      <p:cBhvr>
                                        <p:cTn id="12" dur="1000" fill="hold"/>
                                        <p:tgtEl>
                                          <p:spTgt spid="34"/>
                                        </p:tgtEl>
                                        <p:attrNameLst>
                                          <p:attrName>ppt_x</p:attrName>
                                          <p:attrName>ppt_y</p:attrName>
                                        </p:attrNameLst>
                                      </p:cBhvr>
                                      <p:rCtr x="-1224" y="-23"/>
                                    </p:animMotion>
                                  </p:childTnLst>
                                </p:cTn>
                              </p:par>
                              <p:par>
                                <p:cTn id="13" presetID="0" presetClass="path" presetSubtype="0" accel="50000" decel="50000" fill="hold" grpId="0" nodeType="withEffect">
                                  <p:stCondLst>
                                    <p:cond delay="0"/>
                                  </p:stCondLst>
                                  <p:childTnLst>
                                    <p:animMotion origin="layout" path="M 0.00052 0.00046 L 0.00052 0.00069 L -0.00468 1.85185E-6 C -0.00507 1.85185E-6 -0.00534 -0.00023 -0.00573 -0.00023 C -0.01028 -0.00046 -0.01484 -0.00023 -0.0194 -0.00023 " pathEditMode="relative" rAng="0" ptsTypes="AAAAA">
                                      <p:cBhvr>
                                        <p:cTn id="14" dur="1000" fill="hold"/>
                                        <p:tgtEl>
                                          <p:spTgt spid="35"/>
                                        </p:tgtEl>
                                        <p:attrNameLst>
                                          <p:attrName>ppt_x</p:attrName>
                                          <p:attrName>ppt_y</p:attrName>
                                        </p:attrNameLst>
                                      </p:cBhvr>
                                      <p:rCtr x="-1003" y="-46"/>
                                    </p:animMotion>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grpId="1" nodeType="clickEffect">
                                  <p:stCondLst>
                                    <p:cond delay="0"/>
                                  </p:stCondLst>
                                  <p:childTnLst>
                                    <p:animMotion origin="layout" path="M 0.00182 -0.00556 L 0.00182 -0.00556 C 0.01393 -0.00486 0.02604 -0.00579 0.03802 -0.00324 C 0.03906 -0.00301 0.03906 2.22222E-6 0.03932 0.00185 C 0.03958 0.00393 0.03945 0.00625 0.03971 0.00856 C 0.03998 0.00995 0.04037 0.01157 0.04063 0.01296 C 0.04154 0.01898 0.0405 0.01435 0.04141 0.02106 C 0.04349 0.03611 0.04128 0.01643 0.04271 0.0294 L 0.04557 0.02847 C 0.04818 0.02778 0.05078 0.02639 0.05352 0.02639 L 0.06602 0.02546 C 0.07253 0.02616 0.07448 0.0287 0.0793 0.02338 C 0.07969 0.02291 0.07982 0.02176 0.08021 0.02106 C 0.07995 0.00903 0.07982 -0.00301 0.07969 -0.01528 C 0.0793 -0.06273 0.08138 -0.0456 0.07852 -0.06621 C 0.07865 -0.07222 0.07878 -0.07824 0.07891 -0.08403 C 0.0793 -0.09954 0.07865 -0.09422 0.07969 -0.10185 C 0.07956 -0.10579 0.07956 -0.10972 0.0793 -0.11366 C 0.0793 -0.11505 0.07891 -0.11621 0.07891 -0.11736 C 0.078 -0.15741 0.07982 -0.14051 0.07813 -0.15602 C 0.07787 -0.16088 0.07787 -0.16574 0.07761 -0.17084 C 0.07761 -0.17199 0.07708 -0.17477 0.07682 -0.17593 C 0.07695 -0.18496 0.07695 -0.19375 0.07721 -0.20255 C 0.07734 -0.20509 0.07813 -0.20764 0.07813 -0.20996 C 0.07813 -0.22199 0.078 -0.2338 0.07721 -0.2456 C 0.07708 -0.24676 0.07617 -0.24746 0.07552 -0.24792 C 0.07435 -0.24861 0.07305 -0.24931 0.07188 -0.24931 C -0.00234 -0.25162 0.02539 -0.2419 0.00065 -0.2507 " pathEditMode="relative" ptsTypes="AAAAAAAAAAAAAAAAAAAAAAAAAAAA">
                                      <p:cBhvr>
                                        <p:cTn id="32" dur="1000" fill="hold"/>
                                        <p:tgtEl>
                                          <p:spTgt spid="41"/>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grpId="1" nodeType="clickEffect">
                                  <p:stCondLst>
                                    <p:cond delay="0"/>
                                  </p:stCondLst>
                                  <p:childTnLst>
                                    <p:animMotion origin="layout" path="M 0.00482 -0.00301 L 0.00482 -0.00301 C 0.00625 -0.00254 0.00781 -0.00139 0.00938 -0.00139 C 0.0099 -0.00139 0.01042 -0.00254 0.01094 -0.00301 C 0.01159 -0.00324 0.01211 -0.00347 0.01263 -0.0037 C 0.01328 -0.0044 0.01393 -0.00509 0.01432 -0.00602 C 0.0155 -0.0081 0.01615 -0.01065 0.0168 -0.01319 C 0.01706 -0.01643 0.01693 -0.01991 0.01771 -0.02292 C 0.01927 -0.02917 0.02044 -0.0287 0.02227 -0.03264 C 0.02331 -0.03472 0.02383 -0.03773 0.02513 -0.03912 C 0.02643 -0.04074 0.02761 -0.04236 0.02891 -0.04352 C 0.02969 -0.04444 0.0306 -0.04491 0.03138 -0.04583 C 0.03346 -0.04815 0.03268 -0.04861 0.03516 -0.04954 C 0.03685 -0.05023 0.03854 -0.05046 0.04011 -0.05092 C 0.04115 -0.05185 0.04206 -0.05254 0.0431 -0.05324 C 0.04388 -0.0537 0.04557 -0.05463 0.04557 -0.05463 C 0.04922 -0.0544 0.05274 -0.05393 0.05638 -0.05393 C 0.06068 -0.05393 0.06498 -0.05486 0.06927 -0.05463 C 0.07175 -0.05463 0.07917 -0.05301 0.08268 -0.05254 C 0.09011 -0.05139 0.09024 -0.05162 0.09974 -0.05092 C 0.11159 -0.04861 0.11276 -0.05532 0.11602 -0.04282 C 0.11628 -0.0419 0.11628 -0.04097 0.11641 -0.04004 C 0.11628 -0.02454 0.11602 -0.00926 0.11602 0.00602 C 0.11602 0.01273 0.11615 0.01968 0.11641 0.02662 C 0.11641 0.02732 0.11667 0.02801 0.1168 0.02894 C 0.11706 0.03056 0.11732 0.03241 0.11771 0.03403 C 0.11784 0.04005 0.11771 0.04583 0.1181 0.05185 C 0.11823 0.05417 0.11875 0.05648 0.11927 0.05857 C 0.11953 0.05926 0.12005 0.05949 0.12057 0.05996 C 0.12162 0.06088 0.12279 0.06134 0.12396 0.06227 C 0.12435 0.0625 0.12474 0.06273 0.12513 0.06296 C 0.12617 0.0632 0.12708 0.06343 0.12813 0.06366 C 0.12878 0.06389 0.12943 0.06412 0.13021 0.06435 L 0.14063 0.06366 C 0.15886 0.06181 0.15339 0.0669 0.16055 0.05926 C 0.16094 0.05764 0.16146 0.05625 0.16185 0.05486 C 0.16198 0.05371 0.16198 0.05278 0.16224 0.05185 C 0.1625 0.05046 0.16302 0.04931 0.16354 0.04815 C 0.1638 0.0463 0.16393 0.04445 0.16432 0.04283 C 0.16498 0.04028 0.16524 0.03634 0.1668 0.03542 C 0.16784 0.03496 0.16875 0.03449 0.16979 0.03403 C 0.17604 0.03148 0.17201 0.03357 0.17513 0.03171 L 0.20261 0.03264 C 0.20638 0.03264 0.20443 0.03357 0.20768 0.03403 C 0.21406 0.03519 0.22044 0.03611 0.22682 0.03704 C 0.24141 0.04769 0.23268 0.04375 0.25352 0.04283 C 0.25404 0.04236 0.25456 0.0419 0.25508 0.04144 C 0.25599 0.04074 0.25716 0.04028 0.25807 0.04005 C 0.25873 0.0419 0.25964 0.04375 0.26016 0.04583 C 0.26055 0.04792 0.26029 0.05046 0.26055 0.05255 C 0.26068 0.05371 0.2612 0.0544 0.26133 0.05556 C 0.26159 0.05625 0.26159 0.05718 0.26185 0.05764 C 0.26211 0.05857 0.26263 0.05926 0.26302 0.05996 C 0.26354 0.06088 0.26367 0.0625 0.26432 0.06296 C 0.26537 0.06366 0.26654 0.06343 0.26758 0.06366 L 0.28138 0.06597 C 0.28346 0.06551 0.28555 0.06574 0.28763 0.06505 C 0.28998 0.06458 0.28932 0.0632 0.29141 0.06227 C 0.29323 0.06111 0.29531 0.06065 0.29727 0.05996 C 0.29831 0.05046 0.29701 0.06273 0.29805 0.04283 C 0.29857 0.03195 0.2987 0.03496 0.29974 0.02593 C 0.29987 0.02384 0.30078 0.01227 0.30182 0.0081 C 0.30221 0.00625 0.30287 0.00463 0.30352 0.00301 C 0.30378 0.00232 0.30391 0.00139 0.3043 0.0007 C 0.30508 -0.00069 0.30586 -0.00185 0.30677 -0.00301 C 0.30716 -0.00347 0.30755 -0.00347 0.30807 -0.0037 C 0.30964 -0.0044 0.31146 -0.00509 0.31302 -0.00602 C 0.31419 -0.00648 0.31524 -0.00741 0.31641 -0.0081 C 0.3181 -0.00764 0.32982 -0.00486 0.33216 -0.0037 L 0.33516 -0.00231 C 0.33789 -0.00254 0.34063 -0.00231 0.34349 -0.00301 C 0.3444 -0.00324 0.34544 -0.00393 0.34636 -0.0044 C 0.34675 -0.00463 0.34714 -0.00509 0.34766 -0.00509 L 0.38763 -0.0081 C 0.38906 -0.01597 0.38841 -0.01134 0.38763 -0.02893 C 0.38763 -0.02917 0.38737 -0.02893 0.38724 -0.02893 " pathEditMode="relative" ptsTypes="AAAAAAAAAAAAAAAAAAAAAAAAAAAAAAAAAAAAAAAAAAAAAAAAAAAAAAAAAAAAAAAAAAAAAAAAAAAA">
                                      <p:cBhvr>
                                        <p:cTn id="36" dur="2000" fill="hold"/>
                                        <p:tgtEl>
                                          <p:spTgt spid="4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P spid="40" grpId="0"/>
      <p:bldP spid="40" grpId="1"/>
      <p:bldP spid="41" grpId="0"/>
      <p:bldP spid="41" grpId="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A1A90-6350-7695-56F9-2EFEB00E2C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649C4E-DA40-1B48-179A-4301DE97D82B}"/>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344CA38-1AD7-1B97-7279-93BFD24C55A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F936512-D606-7C68-7F28-59825AE33139}"/>
              </a:ext>
            </a:extLst>
          </p:cNvPr>
          <p:cNvSpPr>
            <a:spLocks noGrp="1"/>
          </p:cNvSpPr>
          <p:nvPr>
            <p:ph type="sldNum" sz="quarter" idx="4"/>
          </p:nvPr>
        </p:nvSpPr>
        <p:spPr/>
        <p:txBody>
          <a:bodyPr/>
          <a:lstStyle/>
          <a:p>
            <a:pPr>
              <a:defRPr/>
            </a:pPr>
            <a:fld id="{A9CE67A1-BA7F-A74E-B5D7-615746DEEC2B}" type="slidenum">
              <a:rPr lang="en-US" smtClean="0"/>
              <a:pPr>
                <a:defRPr/>
              </a:pPr>
              <a:t>65</a:t>
            </a:fld>
            <a:endParaRPr lang="en-US" baseline="-11000" dirty="0"/>
          </a:p>
        </p:txBody>
      </p:sp>
      <p:sp>
        <p:nvSpPr>
          <p:cNvPr id="6" name="Date Placeholder 5">
            <a:extLst>
              <a:ext uri="{FF2B5EF4-FFF2-40B4-BE49-F238E27FC236}">
                <a16:creationId xmlns:a16="http://schemas.microsoft.com/office/drawing/2014/main" id="{2353429C-3271-858F-E17C-CB41337DFA00}"/>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9881048C-9BC1-79AE-E75B-DCBF50E44FDE}"/>
              </a:ext>
            </a:extLst>
          </p:cNvPr>
          <p:cNvSpPr txBox="1"/>
          <p:nvPr/>
        </p:nvSpPr>
        <p:spPr>
          <a:xfrm>
            <a:off x="354862" y="810580"/>
            <a:ext cx="8391066" cy="2031325"/>
          </a:xfrm>
          <a:prstGeom prst="rect">
            <a:avLst/>
          </a:prstGeom>
          <a:noFill/>
        </p:spPr>
        <p:txBody>
          <a:bodyPr wrap="square">
            <a:spAutoFit/>
          </a:bodyPr>
          <a:lstStyle/>
          <a:p>
            <a:pPr defTabSz="457200">
              <a:spcBef>
                <a:spcPts val="1000"/>
              </a:spcBef>
              <a:buClr>
                <a:srgbClr val="1E4056"/>
              </a:buClr>
              <a:buSzPct val="75000"/>
            </a:pPr>
            <a:r>
              <a:rPr lang="en-US" b="1" dirty="0"/>
              <a:t>In the Butterfly state</a:t>
            </a:r>
            <a:r>
              <a:rPr lang="en-US" dirty="0"/>
              <a:t>, the second half of the input arrives and bypasses the FIFO.                                            Instead, it is processed directly with the first half that we stored earlier.                                                              Regarding the outputs of the Butterfly unit: the sum goes directly to the next stage                                       through the output MUX, while the difference                                                                                                                                     is loaded back into the FIFO for the next cycle								       It is also important to note that once the first output </a:t>
            </a:r>
            <a:r>
              <a:rPr lang="en-US" b="1" dirty="0"/>
              <a:t>is available</a:t>
            </a:r>
            <a:r>
              <a:rPr lang="en-US" dirty="0"/>
              <a:t>, the valid_out signal </a:t>
            </a:r>
            <a:r>
              <a:rPr lang="en-US" b="1" dirty="0"/>
              <a:t>is asserted</a:t>
            </a:r>
            <a:r>
              <a:rPr lang="en-US" dirty="0"/>
              <a:t> to notify the subsequent stage</a:t>
            </a:r>
          </a:p>
        </p:txBody>
      </p:sp>
      <p:cxnSp>
        <p:nvCxnSpPr>
          <p:cNvPr id="13" name="Connector: Curved 12">
            <a:extLst>
              <a:ext uri="{FF2B5EF4-FFF2-40B4-BE49-F238E27FC236}">
                <a16:creationId xmlns:a16="http://schemas.microsoft.com/office/drawing/2014/main" id="{CDA062DD-4EA2-CB2A-082D-DE4F8E8D091E}"/>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532371B9-E6DF-CAC5-4936-446A9CE05D7B}"/>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CB36094C-7695-C879-0AC6-053C56F8FD59}"/>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6FD747AE-5AAA-E5A0-2FAF-455FFB982511}"/>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916B0EC3-19F4-F949-3E75-F4F50F809F5A}"/>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DFA3E808-D845-DC8F-692D-83D1F432ED32}"/>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9710BA16-050D-9B82-D668-D737D963B900}"/>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7D63A956-2EDA-EA73-13E0-10E8571BD767}"/>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C7C53C1F-0191-874B-882D-11F1A4453F76}"/>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FFEA13DE-7F0D-E1F9-9A76-9C16BAB97BBC}"/>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AD40F12C-0113-BFCE-0DEF-194A129582A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0D64C203-7828-06CB-2046-6A3B311E81BA}"/>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0380733-FD25-A351-468C-CD34937E1DF3}"/>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CAF45A5B-6BFA-8FF2-4074-0C7D01A8ACC9}"/>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19390F1F-82E9-F6B7-13C4-18437C7C900A}"/>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261D2EA8-45C3-1D61-3285-94E40B671F75}"/>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0A6544A3-BF44-C181-08A3-B6FBC1542419}"/>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7A91703B-5DED-11AC-73EE-07213CAF70DE}"/>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0605E448-7A9A-4776-A5E0-06B61D54ECD9}"/>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295C4187-8C16-3028-6ED7-BBCB79ECE32C}"/>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3C24AAA5-7DE1-DC83-32C8-70B130B48BCD}"/>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ABE5F47B-7EAE-13D9-6DD9-BEC34476F61D}"/>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E5DD7339-3448-203C-D6CC-511B5833FCCA}"/>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D711511A-86F0-C4DE-B1D1-E0DCAB91EB13}"/>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4194E627-B20A-6EA5-0085-82929D998706}"/>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DA7FF5EA-F8E7-E1E0-0F94-6EA2BCB930F7}"/>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54B8F976-15D7-6149-9378-36727CB8102F}"/>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62C77489-747D-1281-8084-BD7D6B201F64}"/>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269663E0-F996-50DB-CD38-D425F7810F7B}"/>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3AFEB6F1-0937-C243-5D63-2B800C379609}"/>
                </a:ext>
              </a:extLst>
            </p:cNvPr>
            <p:cNvGrpSpPr/>
            <p:nvPr/>
          </p:nvGrpSpPr>
          <p:grpSpPr>
            <a:xfrm>
              <a:off x="469667" y="1233017"/>
              <a:ext cx="4069917" cy="2837475"/>
              <a:chOff x="1974605" y="2811274"/>
              <a:chExt cx="2703513" cy="1186993"/>
            </a:xfrm>
          </p:grpSpPr>
          <p:sp>
            <p:nvSpPr>
              <p:cNvPr id="241" name="TextBox 240">
                <a:extLst>
                  <a:ext uri="{FF2B5EF4-FFF2-40B4-BE49-F238E27FC236}">
                    <a16:creationId xmlns:a16="http://schemas.microsoft.com/office/drawing/2014/main" id="{3E7A49FB-4D19-264B-3493-2EE2261F3178}"/>
                  </a:ext>
                </a:extLst>
              </p:cNvPr>
              <p:cNvSpPr txBox="1"/>
              <p:nvPr/>
            </p:nvSpPr>
            <p:spPr>
              <a:xfrm>
                <a:off x="3699416" y="2811274"/>
                <a:ext cx="978702" cy="14932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   D1   D2   D3</a:t>
                </a:r>
              </a:p>
            </p:txBody>
          </p:sp>
          <p:cxnSp>
            <p:nvCxnSpPr>
              <p:cNvPr id="242" name="Straight Arrow Connector 241">
                <a:extLst>
                  <a:ext uri="{FF2B5EF4-FFF2-40B4-BE49-F238E27FC236}">
                    <a16:creationId xmlns:a16="http://schemas.microsoft.com/office/drawing/2014/main" id="{969A2B91-1098-F1EE-4E46-1150DE3ABA19}"/>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29AE64A-8371-1F87-EF3F-697A49BA07EA}"/>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9CAFFD7D-2BE6-6D31-43B4-BB643402D0EB}"/>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FB77D99D-B6F5-F5E7-7A3A-D4EDA9E7FC89}"/>
                </a:ext>
              </a:extLst>
            </p:cNvPr>
            <p:cNvSpPr txBox="1"/>
            <p:nvPr/>
          </p:nvSpPr>
          <p:spPr>
            <a:xfrm>
              <a:off x="10340795" y="1271792"/>
              <a:ext cx="286978" cy="16399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S0</a:t>
              </a:r>
            </a:p>
            <a:p>
              <a:pPr defTabSz="457200">
                <a:spcBef>
                  <a:spcPts val="1000"/>
                </a:spcBef>
                <a:buClr>
                  <a:srgbClr val="1E4056"/>
                </a:buClr>
                <a:buSzPct val="75000"/>
              </a:pPr>
              <a:r>
                <a:rPr lang="en-US" sz="1200" b="1" dirty="0">
                  <a:solidFill>
                    <a:srgbClr val="000000"/>
                  </a:solidFill>
                </a:rPr>
                <a:t>S1</a:t>
              </a:r>
            </a:p>
            <a:p>
              <a:pPr defTabSz="457200">
                <a:spcBef>
                  <a:spcPts val="1000"/>
                </a:spcBef>
                <a:buClr>
                  <a:srgbClr val="1E4056"/>
                </a:buClr>
                <a:buSzPct val="75000"/>
              </a:pPr>
              <a:r>
                <a:rPr lang="en-US" sz="1200" b="1" dirty="0">
                  <a:solidFill>
                    <a:srgbClr val="000000"/>
                  </a:solidFill>
                </a:rPr>
                <a:t>S2</a:t>
              </a:r>
            </a:p>
            <a:p>
              <a:pPr defTabSz="457200">
                <a:spcBef>
                  <a:spcPts val="1000"/>
                </a:spcBef>
                <a:buClr>
                  <a:srgbClr val="1E4056"/>
                </a:buClr>
                <a:buSzPct val="75000"/>
              </a:pPr>
              <a:r>
                <a:rPr lang="en-US" sz="1200" b="1" dirty="0">
                  <a:solidFill>
                    <a:srgbClr val="000000"/>
                  </a:solidFill>
                </a:rPr>
                <a:t>S3</a:t>
              </a:r>
            </a:p>
          </p:txBody>
        </p:sp>
        <p:cxnSp>
          <p:nvCxnSpPr>
            <p:cNvPr id="186" name="Straight Connector 185">
              <a:extLst>
                <a:ext uri="{FF2B5EF4-FFF2-40B4-BE49-F238E27FC236}">
                  <a16:creationId xmlns:a16="http://schemas.microsoft.com/office/drawing/2014/main" id="{B4A8A39D-2C26-B7E9-6C16-17850B7CF377}"/>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A9E101F6-0836-B666-3B55-DD187D7AB723}"/>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E0BC3F93-1EB1-B854-34A0-96AC6964CA69}"/>
                </a:ext>
              </a:extLst>
            </p:cNvPr>
            <p:cNvSpPr/>
            <p:nvPr/>
          </p:nvSpPr>
          <p:spPr>
            <a:xfrm>
              <a:off x="2671659" y="2275292"/>
              <a:ext cx="1433945" cy="1865008"/>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AA632D08-C3ED-40AF-2639-4B64EA338034}"/>
                </a:ext>
              </a:extLst>
            </p:cNvPr>
            <p:cNvCxnSpPr>
              <a:cxnSpLocks/>
            </p:cNvCxnSpPr>
            <p:nvPr/>
          </p:nvCxnSpPr>
          <p:spPr>
            <a:xfrm>
              <a:off x="2671659" y="2769242"/>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11C5E087-2E54-6027-88FB-F2A57A338F2F}"/>
                </a:ext>
              </a:extLst>
            </p:cNvPr>
            <p:cNvCxnSpPr>
              <a:cxnSpLocks/>
            </p:cNvCxnSpPr>
            <p:nvPr/>
          </p:nvCxnSpPr>
          <p:spPr>
            <a:xfrm>
              <a:off x="2671659" y="3752979"/>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7FA799C8-398A-1C9A-A060-D038D6E8E93B}"/>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F0C0086A-A3A6-D376-44E9-F2FE1A49FF8D}"/>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B4BB368E-FD2C-9C3C-D876-DDEC679EF87B}"/>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CD2EB327-D31A-9CE2-7C63-2ABF080F1B35}"/>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F91864BA-5305-5B93-E24C-2B96C16479CB}"/>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C8940A5F-8CB8-DDA2-DF0E-3C6407EEDD03}"/>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D1C43E76-DF99-38E5-2789-954CE64BD7E9}"/>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CC1723BC-1AEC-7851-FF1A-FFEA1F229D91}"/>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88D48187-7A51-4D4D-1A60-F1B7E236CEC3}"/>
                </a:ext>
              </a:extLst>
            </p:cNvPr>
            <p:cNvCxnSpPr>
              <a:cxnSpLocks/>
              <a:endCxn id="235" idx="0"/>
            </p:cNvCxnSpPr>
            <p:nvPr/>
          </p:nvCxnSpPr>
          <p:spPr>
            <a:xfrm>
              <a:off x="2871705" y="2759911"/>
              <a:ext cx="717258" cy="816616"/>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18EF62AE-DF1F-0466-6BC5-57D7DC01309A}"/>
                </a:ext>
              </a:extLst>
            </p:cNvPr>
            <p:cNvCxnSpPr>
              <a:cxnSpLocks/>
              <a:endCxn id="238" idx="4"/>
            </p:cNvCxnSpPr>
            <p:nvPr/>
          </p:nvCxnSpPr>
          <p:spPr>
            <a:xfrm flipV="1">
              <a:off x="2949708" y="2955026"/>
              <a:ext cx="618842" cy="797953"/>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5959EA39-58EF-C060-9A33-CEBB0C5512DB}"/>
                </a:ext>
              </a:extLst>
            </p:cNvPr>
            <p:cNvCxnSpPr/>
            <p:nvPr/>
          </p:nvCxnSpPr>
          <p:spPr>
            <a:xfrm flipH="1">
              <a:off x="3125499" y="3885749"/>
              <a:ext cx="182880" cy="0"/>
            </a:xfrm>
            <a:prstGeom prst="line">
              <a:avLst/>
            </a:prstGeom>
            <a:solidFill>
              <a:schemeClr val="lt1"/>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AF816B05-D844-4D8E-923A-AFF78AAE2A7E}"/>
                </a:ext>
              </a:extLst>
            </p:cNvPr>
            <p:cNvCxnSpPr>
              <a:cxnSpLocks/>
            </p:cNvCxnSpPr>
            <p:nvPr/>
          </p:nvCxnSpPr>
          <p:spPr>
            <a:xfrm>
              <a:off x="3739844" y="2769242"/>
              <a:ext cx="781312"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F5F4F5B3-C802-069E-721C-E178E15175A7}"/>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1E0CE1D6-0E61-C3C9-9D3B-069293BCAE75}"/>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F26BA396-861B-9253-1B78-92AF3452259D}"/>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BADC93E2-6C31-A2FF-E586-155042EB653B}"/>
                </a:ext>
              </a:extLst>
            </p:cNvPr>
            <p:cNvCxnSpPr/>
            <p:nvPr/>
          </p:nvCxnSpPr>
          <p:spPr>
            <a:xfrm>
              <a:off x="2075647" y="3752978"/>
              <a:ext cx="2445509" cy="574853"/>
            </a:xfrm>
            <a:prstGeom prst="bentConnector3">
              <a:avLst>
                <a:gd name="adj1" fmla="val -12720"/>
              </a:avLst>
            </a:prstGeom>
            <a:solidFill>
              <a:schemeClr val="tx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C266FA9F-53DC-8806-D862-EB390077299C}"/>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9E0AF98D-E0D9-80F7-FEE0-5B56AC538364}"/>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4C9D625B-5E11-EA89-8D83-3699E234272E}"/>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2DD2B75E-17EA-D4F6-D260-26A85A71C62B}"/>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82857BE6-C1FF-4A21-4DF8-576CEE3803C9}"/>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CF2DD40F-1A8E-EEB1-CC40-BB3E7EAFBD83}"/>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79C881F1-E53B-7BBB-A471-49E057C459E8}"/>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AEAD5D60-430C-1038-1CF7-72655C661DB7}"/>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8FA635BC-3CCB-0B71-47FF-9A2C7DB8E9C3}"/>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EA902C98-CF92-BECC-C49F-FE909C501851}"/>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DD733460-CF41-9BF7-2CB2-84482712BBB6}"/>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0A518A8F-81E5-545B-1DEA-59D50F83681C}"/>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9B00595A-53AF-BF32-509E-25515AF7A8BD}"/>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36770494-EF27-B132-43E0-F46F11B0378E}"/>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3A9030C-4E4F-427B-5668-C7EF521880A5}"/>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F5695DB7-D812-E931-F20C-7F40CDCFE31A}"/>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A17A51BC-F952-D42B-EB76-A4AF7FBB3563}"/>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30498DA3-B8FE-6F61-84AB-7376FC754330}"/>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CDA737E1-013F-8F97-2DFD-77804F1A746C}"/>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2D990839-8788-094B-4C76-3B1D5D87CEAF}"/>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B0228AC-C145-E43C-B97D-27C7F83B3B96}"/>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EDC3CC09-8DD6-A5BD-509F-B3D69E0CB8D9}"/>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5235C36A-30A4-0AC3-A640-37EB80D26CF3}"/>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4B2FDF9E-B759-FE27-0871-A1229C28CA9F}"/>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DC55CDDA-06D6-1CE8-0962-3706999DCAD8}"/>
                </a:ext>
              </a:extLst>
            </p:cNvPr>
            <p:cNvSpPr/>
            <p:nvPr/>
          </p:nvSpPr>
          <p:spPr>
            <a:xfrm>
              <a:off x="1721903" y="3712593"/>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E9A111C4-B2E6-92AF-7989-7E6FA0AC0F1B}"/>
                </a:ext>
              </a:extLst>
            </p:cNvPr>
            <p:cNvCxnSpPr>
              <a:cxnSpLocks/>
              <a:stCxn id="228" idx="0"/>
            </p:cNvCxnSpPr>
            <p:nvPr/>
          </p:nvCxnSpPr>
          <p:spPr>
            <a:xfrm flipV="1">
              <a:off x="7691678" y="3854390"/>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EE4B3C7A-01CE-90AE-C361-EE44DE6C8DD3}"/>
                </a:ext>
              </a:extLst>
            </p:cNvPr>
            <p:cNvSpPr/>
            <p:nvPr/>
          </p:nvSpPr>
          <p:spPr>
            <a:xfrm>
              <a:off x="6466890" y="4287104"/>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7540840A-41C4-AE4C-6EC9-4E8C241A7692}"/>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89810009-09C8-C365-C55F-C6896BADA076}"/>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BC72036E-6B89-7277-6000-F81BB538F675}"/>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61136BEB-F0B2-6284-5134-2632E02232FF}"/>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986A2D0E-10C7-98D6-5AB2-31BD0A0850FD}"/>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2B546D9C-B06F-3CB1-B70A-38478E6D5885}"/>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3F6C29B0-BE48-BBBC-C8EE-69126D7F00CD}"/>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34D4809A-E27F-CB0C-192A-D49525318C99}"/>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2" name="TextBox 11">
            <a:extLst>
              <a:ext uri="{FF2B5EF4-FFF2-40B4-BE49-F238E27FC236}">
                <a16:creationId xmlns:a16="http://schemas.microsoft.com/office/drawing/2014/main" id="{B899379C-F5D3-2285-28F8-A3AE6B8AE203}"/>
              </a:ext>
            </a:extLst>
          </p:cNvPr>
          <p:cNvSpPr txBox="1"/>
          <p:nvPr/>
        </p:nvSpPr>
        <p:spPr>
          <a:xfrm>
            <a:off x="1006166" y="4758349"/>
            <a:ext cx="1040112" cy="15422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x7  x6  x5  x4</a:t>
            </a:r>
          </a:p>
        </p:txBody>
      </p:sp>
      <p:sp>
        <p:nvSpPr>
          <p:cNvPr id="17" name="TextBox 16">
            <a:extLst>
              <a:ext uri="{FF2B5EF4-FFF2-40B4-BE49-F238E27FC236}">
                <a16:creationId xmlns:a16="http://schemas.microsoft.com/office/drawing/2014/main" id="{125B3442-2964-3E0F-2FB8-3A575A9AF7EE}"/>
              </a:ext>
            </a:extLst>
          </p:cNvPr>
          <p:cNvSpPr txBox="1"/>
          <p:nvPr/>
        </p:nvSpPr>
        <p:spPr>
          <a:xfrm>
            <a:off x="1006166" y="4330550"/>
            <a:ext cx="887712" cy="15422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x3  x2 x1  x0</a:t>
            </a:r>
          </a:p>
        </p:txBody>
      </p:sp>
      <p:cxnSp>
        <p:nvCxnSpPr>
          <p:cNvPr id="11" name="Straight Arrow Connector 10">
            <a:extLst>
              <a:ext uri="{FF2B5EF4-FFF2-40B4-BE49-F238E27FC236}">
                <a16:creationId xmlns:a16="http://schemas.microsoft.com/office/drawing/2014/main" id="{5F47AA51-E88B-0286-4D44-CCDA07C96D94}"/>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83D98C78-2281-78A0-12DD-1CD1597DB9A4}"/>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cxnSp>
        <p:nvCxnSpPr>
          <p:cNvPr id="20" name="Straight Arrow Connector 19">
            <a:extLst>
              <a:ext uri="{FF2B5EF4-FFF2-40B4-BE49-F238E27FC236}">
                <a16:creationId xmlns:a16="http://schemas.microsoft.com/office/drawing/2014/main" id="{96F03A03-2FB0-3A88-A0B2-4E3D8F84142D}"/>
              </a:ext>
            </a:extLst>
          </p:cNvPr>
          <p:cNvCxnSpPr/>
          <p:nvPr/>
        </p:nvCxnSpPr>
        <p:spPr>
          <a:xfrm>
            <a:off x="1720645"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AD9928D-C89A-F2FD-FADF-43912066D308}"/>
              </a:ext>
            </a:extLst>
          </p:cNvPr>
          <p:cNvCxnSpPr/>
          <p:nvPr/>
        </p:nvCxnSpPr>
        <p:spPr>
          <a:xfrm>
            <a:off x="1519084"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A0CF34E-A060-2E1A-218E-AAE777580F2A}"/>
              </a:ext>
            </a:extLst>
          </p:cNvPr>
          <p:cNvCxnSpPr/>
          <p:nvPr/>
        </p:nvCxnSpPr>
        <p:spPr>
          <a:xfrm>
            <a:off x="1332271"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E120B98-0D7A-160D-3E29-052F50CA0016}"/>
              </a:ext>
            </a:extLst>
          </p:cNvPr>
          <p:cNvCxnSpPr/>
          <p:nvPr/>
        </p:nvCxnSpPr>
        <p:spPr>
          <a:xfrm>
            <a:off x="1115961" y="4484772"/>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53F4617-1E2D-988A-5A56-EA233D154A51}"/>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5" name="TextBox 24">
            <a:extLst>
              <a:ext uri="{FF2B5EF4-FFF2-40B4-BE49-F238E27FC236}">
                <a16:creationId xmlns:a16="http://schemas.microsoft.com/office/drawing/2014/main" id="{D4734FEB-6B0C-42E8-241A-785B3FF0B9BC}"/>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6" name="TextBox 25">
            <a:extLst>
              <a:ext uri="{FF2B5EF4-FFF2-40B4-BE49-F238E27FC236}">
                <a16:creationId xmlns:a16="http://schemas.microsoft.com/office/drawing/2014/main" id="{9DA4EB6D-AEBF-2E56-9F22-EF5A0761D413}"/>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7" name="TextBox 26">
            <a:extLst>
              <a:ext uri="{FF2B5EF4-FFF2-40B4-BE49-F238E27FC236}">
                <a16:creationId xmlns:a16="http://schemas.microsoft.com/office/drawing/2014/main" id="{923804A9-7E48-2B7D-9095-0D7988D48BC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8" name="TextBox 27">
            <a:extLst>
              <a:ext uri="{FF2B5EF4-FFF2-40B4-BE49-F238E27FC236}">
                <a16:creationId xmlns:a16="http://schemas.microsoft.com/office/drawing/2014/main" id="{AEFCE892-BC95-A5BB-64E1-63524F45DECB}"/>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9" name="TextBox 28">
            <a:extLst>
              <a:ext uri="{FF2B5EF4-FFF2-40B4-BE49-F238E27FC236}">
                <a16:creationId xmlns:a16="http://schemas.microsoft.com/office/drawing/2014/main" id="{0BC605F6-B198-8A61-E264-0ED5BB86B999}"/>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0" name="TextBox 29">
            <a:extLst>
              <a:ext uri="{FF2B5EF4-FFF2-40B4-BE49-F238E27FC236}">
                <a16:creationId xmlns:a16="http://schemas.microsoft.com/office/drawing/2014/main" id="{3D4FD964-3924-792B-1ABD-3F784C53942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858072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F2D48-F8FF-0FDE-7255-10C8F4AB74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CDF920E-209E-6753-BBEE-2F16B854F94D}"/>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4EF827A-16AE-71E8-4BF1-B3572A53042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62B2C8-06EA-DD9E-AA87-E1B85BBA3C97}"/>
              </a:ext>
            </a:extLst>
          </p:cNvPr>
          <p:cNvSpPr>
            <a:spLocks noGrp="1"/>
          </p:cNvSpPr>
          <p:nvPr>
            <p:ph type="sldNum" sz="quarter" idx="4"/>
          </p:nvPr>
        </p:nvSpPr>
        <p:spPr/>
        <p:txBody>
          <a:bodyPr/>
          <a:lstStyle/>
          <a:p>
            <a:pPr>
              <a:defRPr/>
            </a:pPr>
            <a:fld id="{A9CE67A1-BA7F-A74E-B5D7-615746DEEC2B}" type="slidenum">
              <a:rPr lang="en-US" smtClean="0"/>
              <a:pPr>
                <a:defRPr/>
              </a:pPr>
              <a:t>66</a:t>
            </a:fld>
            <a:endParaRPr lang="en-US" baseline="-11000" dirty="0"/>
          </a:p>
        </p:txBody>
      </p:sp>
      <p:sp>
        <p:nvSpPr>
          <p:cNvPr id="6" name="Date Placeholder 5">
            <a:extLst>
              <a:ext uri="{FF2B5EF4-FFF2-40B4-BE49-F238E27FC236}">
                <a16:creationId xmlns:a16="http://schemas.microsoft.com/office/drawing/2014/main" id="{D5B280A7-3620-F8E3-9F93-81759B48F99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C5D90D7B-97FA-F1FC-241D-12B3D4517FBD}"/>
              </a:ext>
            </a:extLst>
          </p:cNvPr>
          <p:cNvSpPr txBox="1"/>
          <p:nvPr/>
        </p:nvSpPr>
        <p:spPr>
          <a:xfrm>
            <a:off x="354862" y="810580"/>
            <a:ext cx="8391066" cy="1200329"/>
          </a:xfrm>
          <a:prstGeom prst="rect">
            <a:avLst/>
          </a:prstGeom>
          <a:noFill/>
        </p:spPr>
        <p:txBody>
          <a:bodyPr wrap="square">
            <a:spAutoFit/>
          </a:bodyPr>
          <a:lstStyle/>
          <a:p>
            <a:pPr defTabSz="457200">
              <a:spcBef>
                <a:spcPts val="1000"/>
              </a:spcBef>
              <a:buClr>
                <a:srgbClr val="1E4056"/>
              </a:buClr>
              <a:buSzPct val="75000"/>
            </a:pPr>
            <a:r>
              <a:rPr lang="en-US" dirty="0"/>
              <a:t>Finally, we reach the </a:t>
            </a:r>
            <a:r>
              <a:rPr lang="en-US" b="1" dirty="0"/>
              <a:t>Drain state</a:t>
            </a:r>
            <a:r>
              <a:rPr lang="en-US" dirty="0"/>
              <a:t>. Here, we perform two operations concurrently. The stored difference data is multiplied by the appropriate </a:t>
            </a:r>
            <a:r>
              <a:rPr lang="en-US" b="1" dirty="0"/>
              <a:t>twiddle factor </a:t>
            </a:r>
            <a:r>
              <a:rPr lang="en-US" dirty="0"/>
              <a:t>and then routed to the next stage. Simultaneously, we load the incoming data for the next frame directly into the FIFO to keep the pipeline completely full. 	</a:t>
            </a:r>
          </a:p>
        </p:txBody>
      </p:sp>
      <p:cxnSp>
        <p:nvCxnSpPr>
          <p:cNvPr id="13" name="Connector: Curved 12">
            <a:extLst>
              <a:ext uri="{FF2B5EF4-FFF2-40B4-BE49-F238E27FC236}">
                <a16:creationId xmlns:a16="http://schemas.microsoft.com/office/drawing/2014/main" id="{98ED96C8-418F-043B-D15B-6BF3B84CE845}"/>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1F390AF8-AE2A-B0A0-991A-C30FB8A39C40}"/>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783ED6A1-98AD-126E-C051-117E8645A3E0}"/>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D969B219-FE9F-6F78-8701-700C6276EF45}"/>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2DC65952-2397-138F-DD19-8E315590B067}"/>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3E7F8504-43C4-8685-9128-1DE820065A8E}"/>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8CD76AA7-4F95-E3BF-2FFC-CE60DCF2884C}"/>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6562C39B-5B8C-5AA8-0084-6AFF72DA3D31}"/>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ABCA676F-99D6-C8F2-EDF0-BFCC7678617A}"/>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987B9E45-D182-198F-AFBE-DC187C5E8499}"/>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030309D7-E43F-BAC4-69A0-2FE79C92182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957D0EF4-EFC4-0152-7BE6-7DDD2A1A7B2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EAEC7780-ED67-AF49-E145-1B4B0F41EA26}"/>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6E0E61A0-7447-602C-61BD-A0858631264E}"/>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1FDDDDFF-A697-0F72-4028-DC21E70ECCEC}"/>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BDF3E991-B04A-9686-1349-0A3BE2E71689}"/>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334B3B41-84AA-98B0-E95D-65AD8E1930A8}"/>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1DD30D30-910D-EB19-1409-A2658783E999}"/>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C9381680-52E7-9E75-F3CC-8C5283B076C7}"/>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E2DC1B14-ACC5-2607-EBA4-0D7C4A2C5A0E}"/>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09BB24BB-AD49-A119-1678-2938816B43D8}"/>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FA221C74-BAAF-1604-D878-AAEAFB66184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592D9227-82F7-70C6-9B69-610F3A63FC9B}"/>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997471D1-FEB7-9944-1C38-4A1FC1D6FE6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96DAE3BB-C32F-AF38-9FEF-78301A0C0F2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F4BCE321-8DAF-62F0-5977-64EFCCBDFF06}"/>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D0E3ED7E-E610-E120-3095-162BA09AD880}"/>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88EF5105-9B58-D4CE-7210-975584165E15}"/>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DFE27E9F-10BD-798A-9FFF-A2B45874A730}"/>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AFEFD6F7-9045-FD80-ABE3-2197F1EDAAD8}"/>
                </a:ext>
              </a:extLst>
            </p:cNvPr>
            <p:cNvGrpSpPr/>
            <p:nvPr/>
          </p:nvGrpSpPr>
          <p:grpSpPr>
            <a:xfrm>
              <a:off x="469667" y="3643520"/>
              <a:ext cx="2180533" cy="426962"/>
              <a:chOff x="1974605" y="3819657"/>
              <a:chExt cx="1448457" cy="178610"/>
            </a:xfrm>
          </p:grpSpPr>
          <p:cxnSp>
            <p:nvCxnSpPr>
              <p:cNvPr id="242" name="Straight Arrow Connector 241">
                <a:extLst>
                  <a:ext uri="{FF2B5EF4-FFF2-40B4-BE49-F238E27FC236}">
                    <a16:creationId xmlns:a16="http://schemas.microsoft.com/office/drawing/2014/main" id="{10CAF40A-688C-6858-16C1-45E58E644ADF}"/>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20029365-3B1D-21B7-E9D1-E08EDBFF26B2}"/>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5BA8343E-F46E-445F-01F9-E789A8A45E61}"/>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cxnSp>
          <p:nvCxnSpPr>
            <p:cNvPr id="186" name="Straight Connector 185">
              <a:extLst>
                <a:ext uri="{FF2B5EF4-FFF2-40B4-BE49-F238E27FC236}">
                  <a16:creationId xmlns:a16="http://schemas.microsoft.com/office/drawing/2014/main" id="{D4FD810A-D2DF-D277-4C37-BB6112CF9CC8}"/>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47B32058-EE1E-8F18-2AB3-100CDC012B27}"/>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E5129CD5-FE6E-521C-5E8F-F2D0BFC31D22}"/>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E49F2C53-0D7D-2DAB-97D0-E0F61D33AC50}"/>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2E6BF1DB-F4D6-CD75-0D88-DE1E088450BC}"/>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04AD646C-5E56-AECC-2489-48387AAA4633}"/>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1BEF88FD-02A7-47A9-24BA-7186E97DB427}"/>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FD702C72-C0EF-F259-E518-59459E921B8A}"/>
                  </a:ext>
                </a:extLst>
              </p:cNvPr>
              <p:cNvCxnSpPr>
                <a:stCxn id="238" idx="6"/>
                <a:endCxn id="238"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266D4C1A-94FA-863F-A2B2-FA4B23D1DBE7}"/>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8A74B0DA-D417-1996-AC17-E7011CA4F64A}"/>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E3C22BC-9AEC-1DFF-6C9D-266C5ECDE733}"/>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9C8FBE5D-2B25-67D6-3318-01196422A6AD}"/>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886123F8-582A-F053-9865-99A51A27BEA0}"/>
                  </a:ext>
                </a:extLst>
              </p:cNvPr>
              <p:cNvCxnSpPr>
                <a:cxnSpLocks/>
                <a:stCxn id="235" idx="4"/>
                <a:endCxn id="235"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42256AE2-F6F3-7392-1894-74069DBC64DB}"/>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533EBFA2-1AD4-638F-7309-677C67BFB823}"/>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F0D5CF71-3113-6CEF-EAE7-E33B6B4B56A5}"/>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5DABDB23-6669-070E-8540-D9711364B8D2}"/>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E3CB05CE-94E5-EAAF-4926-5ABDC8DCF728}"/>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F74EED8E-0D40-CB8A-C142-5E7EA0D84713}"/>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46C94ACE-7A39-BC3F-F894-F7B8CEAE40FC}"/>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B483CFD3-B442-ABB7-2969-BC7A3183DB1F}"/>
                </a:ext>
              </a:extLst>
            </p:cNvPr>
            <p:cNvCxnSpPr>
              <a:cxnSpLocks/>
              <a:stCxn id="226" idx="6"/>
            </p:cNvCxnSpPr>
            <p:nvPr/>
          </p:nvCxnSpPr>
          <p:spPr>
            <a:xfrm>
              <a:off x="1808099" y="3762310"/>
              <a:ext cx="2713056" cy="565522"/>
            </a:xfrm>
            <a:prstGeom prst="bentConnector3">
              <a:avLst>
                <a:gd name="adj1" fmla="val -1338"/>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757DAFB8-CF87-1591-8853-7189E5DE10D7}"/>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146E9955-A028-8F09-517A-07C2C0AA5137}"/>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D434B0B1-4116-3535-D7AA-0B72196E8F0A}"/>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DE1650A5-B311-7567-AD16-61485E31017A}"/>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FF78A08D-913C-FA15-8BAE-EA3A9F1E95E6}"/>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AED5C7A4-C9A9-70EB-A891-8297E4F51357}"/>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21583C2F-A2FD-FA57-B6C1-773588BD2795}"/>
                </a:ext>
              </a:extLst>
            </p:cNvPr>
            <p:cNvCxnSpPr>
              <a:cxnSpLocks/>
              <a:stCxn id="224"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808F1317-795B-2722-9357-A9C4F5A86BA5}"/>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D2CF26B7-FBBF-326B-5545-8F16542604F2}"/>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81472BD8-D147-C903-D402-9A4C32F2BE06}"/>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77C330FD-9F23-261B-8224-99819F91C9BD}"/>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6D9E185B-648B-635B-730E-B1740F1CAFDB}"/>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01796D52-F55A-25E8-0063-718C0D0BB14B}"/>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1D8D964F-3B79-28CA-6BED-6EF15460F2C4}"/>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2FB97F59-4626-F53E-4965-27E10CA71224}"/>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7FCE440C-82BA-15C6-F567-8CC7E1BDDB3B}"/>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EA5A54EC-600F-6F5C-CFB0-84C66EF63E22}"/>
                </a:ext>
              </a:extLst>
            </p:cNvPr>
            <p:cNvSpPr txBox="1"/>
            <p:nvPr/>
          </p:nvSpPr>
          <p:spPr>
            <a:xfrm>
              <a:off x="8373730" y="3214225"/>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219" name="TextBox 218">
              <a:extLst>
                <a:ext uri="{FF2B5EF4-FFF2-40B4-BE49-F238E27FC236}">
                  <a16:creationId xmlns:a16="http://schemas.microsoft.com/office/drawing/2014/main" id="{3D915623-6E76-6093-2292-DEFEF717781C}"/>
                </a:ext>
              </a:extLst>
            </p:cNvPr>
            <p:cNvSpPr txBox="1"/>
            <p:nvPr/>
          </p:nvSpPr>
          <p:spPr>
            <a:xfrm>
              <a:off x="8379727" y="384377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E6DFC9C1-E338-978F-9B03-B157A20BA13D}"/>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DE7F37B4-99A7-30CA-1616-99D462E056D0}"/>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8B4EA62D-1E60-0C22-3C6F-46EE51FF6783}"/>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5584FF42-A4FB-94D0-8872-04BC07FC57F0}"/>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2E326CAB-4458-5DEA-DDDD-E4EC49E96693}"/>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26B77CB4-742E-277D-604A-266C06309A38}"/>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7E9DA843-D919-3EE0-0B96-0CD0AFA7956D}"/>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25B7D8D7-A135-0175-6AF5-579BCDD26143}"/>
                </a:ext>
              </a:extLst>
            </p:cNvPr>
            <p:cNvCxnSpPr>
              <a:cxnSpLocks/>
              <a:stCxn id="228" idx="0"/>
            </p:cNvCxnSpPr>
            <p:nvPr/>
          </p:nvCxnSpPr>
          <p:spPr>
            <a:xfrm flipV="1">
              <a:off x="7691678" y="3854390"/>
              <a:ext cx="1912" cy="4327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A4E53533-3F34-79DE-99A8-9A529FF7F0BC}"/>
                </a:ext>
              </a:extLst>
            </p:cNvPr>
            <p:cNvSpPr/>
            <p:nvPr/>
          </p:nvSpPr>
          <p:spPr>
            <a:xfrm>
              <a:off x="6466890" y="4287106"/>
              <a:ext cx="2449576" cy="223631"/>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6DD14587-DF84-6600-98DF-10E46BBD6ED5}"/>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A8352114-F58C-DF21-514B-661FCF585EDD}"/>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91FC56A0-169A-346A-A1A9-AB334A1A01C8}"/>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83201EA6-5B67-26F3-BDBB-264BD92FF826}"/>
              </a:ext>
            </a:extLst>
          </p:cNvPr>
          <p:cNvSpPr/>
          <p:nvPr/>
        </p:nvSpPr>
        <p:spPr>
          <a:xfrm>
            <a:off x="5240864" y="4766945"/>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362ED9DA-7FAA-C7D7-12A0-137E38E894B0}"/>
              </a:ext>
            </a:extLst>
          </p:cNvPr>
          <p:cNvCxnSpPr>
            <a:cxnSpLocks/>
            <a:stCxn id="2" idx="7"/>
            <a:endCxn id="2" idx="3"/>
          </p:cNvCxnSpPr>
          <p:nvPr/>
        </p:nvCxnSpPr>
        <p:spPr>
          <a:xfrm flipH="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5B9DF540-F27F-8979-A726-52EA679F64BB}"/>
              </a:ext>
            </a:extLst>
          </p:cNvPr>
          <p:cNvCxnSpPr>
            <a:cxnSpLocks/>
            <a:stCxn id="2" idx="5"/>
            <a:endCxn id="2" idx="1"/>
          </p:cNvCxnSpPr>
          <p:nvPr/>
        </p:nvCxnSpPr>
        <p:spPr>
          <a:xfrm flipH="1" flipV="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7F40D628-0A77-D946-3C3D-9E7A9620B879}"/>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48DCFFF5-625B-E2DB-4FE8-89D99E2D3FBD}"/>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cxnSp>
        <p:nvCxnSpPr>
          <p:cNvPr id="25" name="Straight Arrow Connector 24">
            <a:extLst>
              <a:ext uri="{FF2B5EF4-FFF2-40B4-BE49-F238E27FC236}">
                <a16:creationId xmlns:a16="http://schemas.microsoft.com/office/drawing/2014/main" id="{209A5715-ABAD-5E65-C3AA-2D9594EE0F68}"/>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29C48D53-B78E-E2D2-C2EB-41DD398E9AA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sp>
        <p:nvSpPr>
          <p:cNvPr id="11" name="TextBox 10">
            <a:extLst>
              <a:ext uri="{FF2B5EF4-FFF2-40B4-BE49-F238E27FC236}">
                <a16:creationId xmlns:a16="http://schemas.microsoft.com/office/drawing/2014/main" id="{45866FE9-31E4-4463-974B-6D9580D5165F}"/>
              </a:ext>
            </a:extLst>
          </p:cNvPr>
          <p:cNvSpPr txBox="1"/>
          <p:nvPr/>
        </p:nvSpPr>
        <p:spPr>
          <a:xfrm>
            <a:off x="2895082"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D3</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1933F1DB-D1DD-2A63-2242-95F0535931EC}"/>
              </a:ext>
            </a:extLst>
          </p:cNvPr>
          <p:cNvSpPr txBox="1"/>
          <p:nvPr/>
        </p:nvSpPr>
        <p:spPr>
          <a:xfrm>
            <a:off x="2652349"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D2</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DC6E5494-F970-FCFA-658F-ACEB70ADB59A}"/>
              </a:ext>
            </a:extLst>
          </p:cNvPr>
          <p:cNvSpPr txBox="1"/>
          <p:nvPr/>
        </p:nvSpPr>
        <p:spPr>
          <a:xfrm>
            <a:off x="2373283"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D1</a:t>
            </a: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E06AFEA1-6CA4-D779-C15E-35FE82C933E1}"/>
              </a:ext>
            </a:extLst>
          </p:cNvPr>
          <p:cNvSpPr txBox="1"/>
          <p:nvPr/>
        </p:nvSpPr>
        <p:spPr>
          <a:xfrm>
            <a:off x="2115646"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D0</a:t>
            </a: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19F39BDB-CEE7-E658-413E-9AD55579A0C8}"/>
              </a:ext>
            </a:extLst>
          </p:cNvPr>
          <p:cNvSpPr txBox="1"/>
          <p:nvPr/>
        </p:nvSpPr>
        <p:spPr>
          <a:xfrm>
            <a:off x="743759"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2296D923-EC5A-0DD6-2074-EF1A4D8DC526}"/>
              </a:ext>
            </a:extLst>
          </p:cNvPr>
          <p:cNvSpPr txBox="1"/>
          <p:nvPr/>
        </p:nvSpPr>
        <p:spPr>
          <a:xfrm>
            <a:off x="537538"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1" name="TextBox 20">
            <a:extLst>
              <a:ext uri="{FF2B5EF4-FFF2-40B4-BE49-F238E27FC236}">
                <a16:creationId xmlns:a16="http://schemas.microsoft.com/office/drawing/2014/main" id="{3890989B-219E-6995-8AC8-A95EB9148CD2}"/>
              </a:ext>
            </a:extLst>
          </p:cNvPr>
          <p:cNvSpPr txBox="1"/>
          <p:nvPr/>
        </p:nvSpPr>
        <p:spPr>
          <a:xfrm>
            <a:off x="318592"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2" name="TextBox 21">
            <a:extLst>
              <a:ext uri="{FF2B5EF4-FFF2-40B4-BE49-F238E27FC236}">
                <a16:creationId xmlns:a16="http://schemas.microsoft.com/office/drawing/2014/main" id="{5ABC1593-ED5A-4A0C-3FFF-0419FD2059A9}"/>
              </a:ext>
            </a:extLst>
          </p:cNvPr>
          <p:cNvSpPr txBox="1"/>
          <p:nvPr/>
        </p:nvSpPr>
        <p:spPr>
          <a:xfrm>
            <a:off x="106009"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4" name="TextBox 23">
            <a:extLst>
              <a:ext uri="{FF2B5EF4-FFF2-40B4-BE49-F238E27FC236}">
                <a16:creationId xmlns:a16="http://schemas.microsoft.com/office/drawing/2014/main" id="{40395F0A-F9C1-CD68-FADB-6D4E0169BD2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7" name="TextBox 26">
            <a:extLst>
              <a:ext uri="{FF2B5EF4-FFF2-40B4-BE49-F238E27FC236}">
                <a16:creationId xmlns:a16="http://schemas.microsoft.com/office/drawing/2014/main" id="{95A96CB2-5F15-F501-EADF-6A333651F31A}"/>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8" name="TextBox 27">
            <a:extLst>
              <a:ext uri="{FF2B5EF4-FFF2-40B4-BE49-F238E27FC236}">
                <a16:creationId xmlns:a16="http://schemas.microsoft.com/office/drawing/2014/main" id="{ABEC057C-34DB-0E86-7851-2EAEFB52C8E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9" name="TextBox 28">
            <a:extLst>
              <a:ext uri="{FF2B5EF4-FFF2-40B4-BE49-F238E27FC236}">
                <a16:creationId xmlns:a16="http://schemas.microsoft.com/office/drawing/2014/main" id="{7B8CE961-91D8-7767-9099-5565B98DB588}"/>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30" name="TextBox 29">
            <a:extLst>
              <a:ext uri="{FF2B5EF4-FFF2-40B4-BE49-F238E27FC236}">
                <a16:creationId xmlns:a16="http://schemas.microsoft.com/office/drawing/2014/main" id="{7CD97EE8-3134-4E70-CC64-9E013DA4E415}"/>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1" name="TextBox 30">
            <a:extLst>
              <a:ext uri="{FF2B5EF4-FFF2-40B4-BE49-F238E27FC236}">
                <a16:creationId xmlns:a16="http://schemas.microsoft.com/office/drawing/2014/main" id="{3EA7C912-3FCA-6117-1954-A252CB7DF172}"/>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2" name="TextBox 31">
            <a:extLst>
              <a:ext uri="{FF2B5EF4-FFF2-40B4-BE49-F238E27FC236}">
                <a16:creationId xmlns:a16="http://schemas.microsoft.com/office/drawing/2014/main" id="{AF5C071D-C65E-2948-7CBC-48709581AD89}"/>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8200160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078 0.00139 L -0.00078 0.00139 C -0.00273 0.00116 -0.00469 0.00046 -0.00677 0.00069 C -0.06042 0.00278 0.00547 0.00208 -0.03476 0.00324 L -0.07969 0.00417 C -0.08008 0.00648 -0.08034 0.00879 -0.08073 0.01134 C -0.0832 0.02639 -0.08073 0.00903 -0.08216 0.02014 C -0.08203 0.05602 -0.08203 0.0919 -0.08177 0.12754 C -0.08177 0.12847 -0.08138 0.1294 -0.08125 0.13032 C -0.08099 0.13148 -0.08138 0.13356 -0.08073 0.13379 C -0.07747 0.13542 -0.07409 0.13495 -0.0707 0.13565 C -0.0694 0.13588 -0.0681 0.13634 -0.06667 0.13657 C -0.06601 0.13588 -0.06523 0.13565 -0.06471 0.13472 C -0.0638 0.1331 -0.06341 0.12893 -0.06328 0.12685 C -0.06185 0.11088 -0.06094 0.09467 -0.05924 0.0787 C -0.05911 0.07778 -0.05833 0.07731 -0.05768 0.07708 C -0.05625 0.07592 -0.05469 0.07546 -0.05325 0.0743 C -0.05169 0.07338 -0.05026 0.07199 -0.0487 0.07083 C -0.04531 0.06829 -0.03789 0.06759 -0.03672 0.06713 L 0.06224 0.06805 C 0.06823 0.06829 0.07422 0.06875 0.08021 0.06991 C 0.08294 0.07037 0.08268 0.07245 0.08477 0.0743 C 0.08542 0.07477 0.08607 0.075 0.08672 0.07523 C 0.08737 0.07616 0.08802 0.07708 0.0888 0.07778 C 0.08919 0.07824 0.08984 0.07824 0.09024 0.0787 C 0.09427 0.08287 0.09024 0.08055 0.09427 0.08241 C 0.09883 0.08842 0.09323 0.08102 0.10026 0.08935 C 0.10078 0.09004 0.1013 0.09051 0.10182 0.0912 C 0.10287 0.09282 0.10417 0.09629 0.10573 0.09745 C 0.10716 0.09861 0.10872 0.0993 0.11029 0.1 C 0.11237 0.10139 0.1112 0.10069 0.1138 0.10185 C 0.13255 0.10162 0.15143 0.10023 0.17031 0.10092 C 0.1737 0.10116 0.17878 0.09907 0.18021 0.10463 C 0.18294 0.11435 0.18021 0.12639 0.18021 0.1375 L 0.17982 0.21829 L 0.28229 0.21921 L 0.2832 0.25393 L 0.32721 0.22454 L 0.36524 0.22454 L 0.36328 0.1544 L 0.42331 0.15509 L 0.42331 0.00324 L 0.42331 0.00324 " pathEditMode="relative" ptsTypes="AAAAAAAAAAAAAAAAAAAAAAAAAAAAAAAAAAAAAAAAAAA">
                                      <p:cBhvr>
                                        <p:cTn id="6" dur="2000" fill="hold"/>
                                        <p:tgtEl>
                                          <p:spTgt spid="17"/>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00026 -0.00162 L -0.00026 -0.00162 L -0.00989 -0.00093 C -0.01471 -0.00046 -0.01184 -0.00023 -0.01979 -0.00023 C -0.02044 -0.00023 -0.02083 -0.00046 -0.02135 -0.0007 " pathEditMode="relative" ptsTypes="AAAAA">
                                      <p:cBhvr>
                                        <p:cTn id="8" dur="2000" fill="hold"/>
                                        <p:tgtEl>
                                          <p:spTgt spid="16"/>
                                        </p:tgtEl>
                                        <p:attrNameLst>
                                          <p:attrName>ppt_x</p:attrName>
                                          <p:attrName>ppt_y</p:attrName>
                                        </p:attrNameLst>
                                      </p:cBhvr>
                                    </p:animMotion>
                                  </p:childTnLst>
                                </p:cTn>
                              </p:par>
                              <p:par>
                                <p:cTn id="9" presetID="0" presetClass="path" presetSubtype="0" accel="50000" decel="50000" fill="hold" grpId="0" nodeType="withEffect">
                                  <p:stCondLst>
                                    <p:cond delay="0"/>
                                  </p:stCondLst>
                                  <p:childTnLst>
                                    <p:animMotion origin="layout" path="M 0.00065 -0.00023 L -0.02435 0.00069 " pathEditMode="relative" ptsTypes="AA">
                                      <p:cBhvr>
                                        <p:cTn id="10" dur="2000" fill="hold"/>
                                        <p:tgtEl>
                                          <p:spTgt spid="12"/>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0.00078 1.48148E-6 L -0.01953 0.00046 " pathEditMode="relative" ptsTypes="AA">
                                      <p:cBhvr>
                                        <p:cTn id="12" dur="2000" fill="hold"/>
                                        <p:tgtEl>
                                          <p:spTgt spid="11"/>
                                        </p:tgtEl>
                                        <p:attrNameLst>
                                          <p:attrName>ppt_x</p:attrName>
                                          <p:attrName>ppt_y</p:attrName>
                                        </p:attrNameLst>
                                      </p:cBhvr>
                                    </p:animMotion>
                                  </p:childTnLst>
                                </p:cTn>
                              </p:par>
                            </p:childTnLst>
                          </p:cTn>
                        </p:par>
                        <p:par>
                          <p:cTn id="13" fill="hold">
                            <p:stCondLst>
                              <p:cond delay="2000"/>
                            </p:stCondLst>
                            <p:childTnLst>
                              <p:par>
                                <p:cTn id="14" presetID="0" presetClass="path" presetSubtype="0" accel="50000" decel="50000" fill="hold" grpId="0" nodeType="afterEffect">
                                  <p:stCondLst>
                                    <p:cond delay="0"/>
                                  </p:stCondLst>
                                  <p:childTnLst>
                                    <p:animMotion origin="layout" path="M -0.00117 0.00278 L 0.00026 0.02593 L 0.03229 0.025 L 0.03125 0.07755 L 0.18672 0.0794 L 0.22122 0.06158 L 0.25482 0.0632 L 0.25326 -0.21134 L 0.17669 -0.21134 " pathEditMode="relative" ptsTypes="AAAAAAAAA">
                                      <p:cBhvr>
                                        <p:cTn id="15" dur="1000" fill="hold"/>
                                        <p:tgtEl>
                                          <p:spTgt spid="1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6" grpId="0"/>
      <p:bldP spid="17" grpId="0"/>
      <p:bldP spid="1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51A1E-0414-5DB2-8E88-5BDBAC42C36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1DE05A-4654-FBB2-4D98-B8682E205E27}"/>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21DC30E8-F83B-BB84-C753-6B1565FCE26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ED91D65-B344-50EB-02D0-E7F753816689}"/>
              </a:ext>
            </a:extLst>
          </p:cNvPr>
          <p:cNvSpPr>
            <a:spLocks noGrp="1"/>
          </p:cNvSpPr>
          <p:nvPr>
            <p:ph type="sldNum" sz="quarter" idx="4"/>
          </p:nvPr>
        </p:nvSpPr>
        <p:spPr/>
        <p:txBody>
          <a:bodyPr/>
          <a:lstStyle/>
          <a:p>
            <a:pPr>
              <a:defRPr/>
            </a:pPr>
            <a:fld id="{A9CE67A1-BA7F-A74E-B5D7-615746DEEC2B}" type="slidenum">
              <a:rPr lang="en-US" smtClean="0"/>
              <a:pPr>
                <a:defRPr/>
              </a:pPr>
              <a:t>67</a:t>
            </a:fld>
            <a:endParaRPr lang="en-US" baseline="-11000" dirty="0"/>
          </a:p>
        </p:txBody>
      </p:sp>
      <p:sp>
        <p:nvSpPr>
          <p:cNvPr id="6" name="Date Placeholder 5">
            <a:extLst>
              <a:ext uri="{FF2B5EF4-FFF2-40B4-BE49-F238E27FC236}">
                <a16:creationId xmlns:a16="http://schemas.microsoft.com/office/drawing/2014/main" id="{2F85ABB2-758C-3CD8-D362-E148AFDE1269}"/>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7292CAF2-FA50-B95A-B6CA-268147CF7A92}"/>
              </a:ext>
            </a:extLst>
          </p:cNvPr>
          <p:cNvSpPr txBox="1"/>
          <p:nvPr/>
        </p:nvSpPr>
        <p:spPr>
          <a:xfrm>
            <a:off x="354862" y="810580"/>
            <a:ext cx="8391066" cy="1200329"/>
          </a:xfrm>
          <a:prstGeom prst="rect">
            <a:avLst/>
          </a:prstGeom>
          <a:noFill/>
        </p:spPr>
        <p:txBody>
          <a:bodyPr wrap="square">
            <a:spAutoFit/>
          </a:bodyPr>
          <a:lstStyle/>
          <a:p>
            <a:pPr defTabSz="457200">
              <a:spcBef>
                <a:spcPts val="1000"/>
              </a:spcBef>
              <a:buClr>
                <a:srgbClr val="1E4056"/>
              </a:buClr>
              <a:buSzPct val="75000"/>
            </a:pPr>
            <a:r>
              <a:rPr lang="en-US" dirty="0"/>
              <a:t>Finally, we reach the </a:t>
            </a:r>
            <a:r>
              <a:rPr lang="en-US" b="1" dirty="0"/>
              <a:t>Drain state</a:t>
            </a:r>
            <a:r>
              <a:rPr lang="en-US" dirty="0"/>
              <a:t>. Here, we perform two operations concurrently. The stored difference data is multiplied by the appropriate </a:t>
            </a:r>
            <a:r>
              <a:rPr lang="en-US" b="1" dirty="0"/>
              <a:t>twiddle factor </a:t>
            </a:r>
            <a:r>
              <a:rPr lang="en-US" dirty="0"/>
              <a:t>and then routed to the next stage. Simultaneously, we load the incoming data for the next frame directly into the FIFO to keep the pipeline completely full. 	</a:t>
            </a:r>
          </a:p>
        </p:txBody>
      </p:sp>
      <p:cxnSp>
        <p:nvCxnSpPr>
          <p:cNvPr id="13" name="Connector: Curved 12">
            <a:extLst>
              <a:ext uri="{FF2B5EF4-FFF2-40B4-BE49-F238E27FC236}">
                <a16:creationId xmlns:a16="http://schemas.microsoft.com/office/drawing/2014/main" id="{7A75DDD1-198A-88B3-B96C-372A142664ED}"/>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82159866-460D-0C42-CE47-E06044A47AFB}"/>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6C5D5CB7-EE49-F536-CDD9-282D8881878B}"/>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B07DAE7-9676-1F1F-059D-A0EDF96CA857}"/>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DA863E77-81CA-D4E3-F466-1DB9E0DBE7BC}"/>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1AAD184F-FBEF-26CC-9DBD-2AF798FD39D2}"/>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ADA75D56-8476-E403-02FD-86D52F181380}"/>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2741409F-0602-3C81-F58B-70B90A0054FE}"/>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F7D3986E-C158-13C5-E623-07CC7F39CC14}"/>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95FA29FD-7594-43D4-514B-4940CA78B382}"/>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00DBC0BF-B021-A716-3C10-A5FEC757C210}"/>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23B74025-7B2A-DC31-A1A0-55E342CE5C5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186985C2-C933-6956-F88F-7A7D3ABD94A2}"/>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4684C947-3693-8EC4-BA81-BDA318C32782}"/>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8F0E0442-7098-D0A7-FB1C-976D383F0355}"/>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F8D6C957-35D2-5077-E889-898602433F80}"/>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675178B0-A8C1-563D-774F-AE0A8961D2BD}"/>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4FB8122E-D087-872F-1508-8FDA8912EB0B}"/>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18570248-0B12-4146-755C-D58B7EC20A3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C2B7A7F7-3C5B-3FDD-5DA7-1B5B4A2242D6}"/>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54A6E4B5-6D22-E2D9-9770-C9D9BDB1E2AC}"/>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BD1BF815-1BFF-5057-D0A9-63B8C6CC55BC}"/>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B752962D-4F74-9EFA-C8C0-0E1C607B01C3}"/>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0B1314AD-89F4-D8F4-471D-FB69605942E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A4FDF86C-0F16-ED57-B245-3E604933132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6A00EACB-B58D-3554-FE23-C65A6C665328}"/>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2405AFD2-A087-0A7D-2326-8483AC4B658B}"/>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9EF7AAC5-7090-AD10-3393-BEE38BAE54E3}"/>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7DB914D9-6ADF-7CEC-C82F-7543BE2BC136}"/>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23973E0E-E92A-1AEB-2492-BAEA91F7FC54}"/>
                </a:ext>
              </a:extLst>
            </p:cNvPr>
            <p:cNvGrpSpPr/>
            <p:nvPr/>
          </p:nvGrpSpPr>
          <p:grpSpPr>
            <a:xfrm>
              <a:off x="469667" y="1244900"/>
              <a:ext cx="4069917" cy="2825592"/>
              <a:chOff x="1974605" y="2816245"/>
              <a:chExt cx="2703513" cy="1182022"/>
            </a:xfrm>
          </p:grpSpPr>
          <p:sp>
            <p:nvSpPr>
              <p:cNvPr id="241" name="TextBox 240">
                <a:extLst>
                  <a:ext uri="{FF2B5EF4-FFF2-40B4-BE49-F238E27FC236}">
                    <a16:creationId xmlns:a16="http://schemas.microsoft.com/office/drawing/2014/main" id="{C0EC0135-D645-0B88-6542-71CCBA6338CE}"/>
                  </a:ext>
                </a:extLst>
              </p:cNvPr>
              <p:cNvSpPr txBox="1"/>
              <p:nvPr/>
            </p:nvSpPr>
            <p:spPr>
              <a:xfrm>
                <a:off x="3699416" y="2816245"/>
                <a:ext cx="978702" cy="14932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x0   x1   x2   x3</a:t>
                </a:r>
              </a:p>
            </p:txBody>
          </p:sp>
          <p:cxnSp>
            <p:nvCxnSpPr>
              <p:cNvPr id="242" name="Straight Arrow Connector 241">
                <a:extLst>
                  <a:ext uri="{FF2B5EF4-FFF2-40B4-BE49-F238E27FC236}">
                    <a16:creationId xmlns:a16="http://schemas.microsoft.com/office/drawing/2014/main" id="{3FE12083-8CE0-F7DC-2E70-E850AD02E1E3}"/>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889011D-B7AE-CF57-0F02-66BF7D8AAF72}"/>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9728D51F-7FDD-2FEC-3ED6-976A7758A952}"/>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F022A1F8-5F65-6A38-0168-B20F5F4F1633}"/>
                </a:ext>
              </a:extLst>
            </p:cNvPr>
            <p:cNvSpPr txBox="1"/>
            <p:nvPr/>
          </p:nvSpPr>
          <p:spPr>
            <a:xfrm>
              <a:off x="10340795" y="1271792"/>
              <a:ext cx="286978" cy="16399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a:t>
              </a:r>
            </a:p>
            <a:p>
              <a:pPr defTabSz="457200">
                <a:spcBef>
                  <a:spcPts val="1000"/>
                </a:spcBef>
                <a:buClr>
                  <a:srgbClr val="1E4056"/>
                </a:buClr>
                <a:buSzPct val="75000"/>
              </a:pPr>
              <a:r>
                <a:rPr lang="en-US" sz="1200" b="1" dirty="0">
                  <a:solidFill>
                    <a:srgbClr val="000000"/>
                  </a:solidFill>
                </a:rPr>
                <a:t>D1</a:t>
              </a:r>
            </a:p>
            <a:p>
              <a:pPr defTabSz="457200">
                <a:spcBef>
                  <a:spcPts val="1000"/>
                </a:spcBef>
                <a:buClr>
                  <a:srgbClr val="1E4056"/>
                </a:buClr>
                <a:buSzPct val="75000"/>
              </a:pPr>
              <a:r>
                <a:rPr lang="en-US" sz="1200" b="1" dirty="0">
                  <a:solidFill>
                    <a:srgbClr val="000000"/>
                  </a:solidFill>
                </a:rPr>
                <a:t>D2</a:t>
              </a:r>
            </a:p>
            <a:p>
              <a:pPr defTabSz="457200">
                <a:spcBef>
                  <a:spcPts val="1000"/>
                </a:spcBef>
                <a:buClr>
                  <a:srgbClr val="1E4056"/>
                </a:buClr>
                <a:buSzPct val="75000"/>
              </a:pPr>
              <a:r>
                <a:rPr lang="en-US" sz="1200" b="1" dirty="0">
                  <a:solidFill>
                    <a:srgbClr val="000000"/>
                  </a:solidFill>
                </a:rPr>
                <a:t>D3</a:t>
              </a:r>
            </a:p>
          </p:txBody>
        </p:sp>
        <p:cxnSp>
          <p:nvCxnSpPr>
            <p:cNvPr id="186" name="Straight Connector 185">
              <a:extLst>
                <a:ext uri="{FF2B5EF4-FFF2-40B4-BE49-F238E27FC236}">
                  <a16:creationId xmlns:a16="http://schemas.microsoft.com/office/drawing/2014/main" id="{5ABCE3FD-0B90-8F38-8ABC-31C93101E06E}"/>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9EBEF802-C3B6-91A2-5298-C21F9E22EE01}"/>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FB14FAF1-F090-8F63-D481-12315FA66C98}"/>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05B71E7B-EB4B-1443-9293-8FF2274673C4}"/>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7EE10A5-61D6-30AD-4854-E4E3086929D2}"/>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27823BB0-AAC1-7ADC-6ADF-91EC86543AB2}"/>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9CD83F22-5F62-4D8E-557C-44E1DAEB445C}"/>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5B9354CE-5F5D-F027-0891-B227A7B560A1}"/>
                  </a:ext>
                </a:extLst>
              </p:cNvPr>
              <p:cNvCxnSpPr>
                <a:stCxn id="238" idx="6"/>
                <a:endCxn id="238"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3863DC9C-36FB-DF23-9327-68737A5EC7F8}"/>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77818D1A-40D4-4943-ED34-500C6B8F5BBB}"/>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4DAF0710-1C77-85C0-AF1D-2839122D8571}"/>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A206165C-AE8B-C653-4E09-20A9BF1B27BC}"/>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F5B0EB30-E18C-5916-9D62-4D27F465935C}"/>
                  </a:ext>
                </a:extLst>
              </p:cNvPr>
              <p:cNvCxnSpPr>
                <a:cxnSpLocks/>
                <a:stCxn id="235" idx="4"/>
                <a:endCxn id="235"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209D616C-71D4-1C9F-A376-CBA8EC10F706}"/>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01D3B084-9D80-4682-BF5A-0AA6BCEBF5E9}"/>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96A0FB58-2B6E-4547-6E22-AA40B316EA35}"/>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8B353719-8944-F973-C419-7EE5C2FF1797}"/>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9DE27D7-D5E9-E7CC-4968-127331E39FC6}"/>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43CE5052-C07E-28A7-403F-1B7D814993FC}"/>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7BB38570-1A0F-AB08-4C0C-74C7875D42D6}"/>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E9C61150-5337-7409-65D9-372C655A0CF4}"/>
                </a:ext>
              </a:extLst>
            </p:cNvPr>
            <p:cNvCxnSpPr>
              <a:cxnSpLocks/>
              <a:stCxn id="226" idx="6"/>
            </p:cNvCxnSpPr>
            <p:nvPr/>
          </p:nvCxnSpPr>
          <p:spPr>
            <a:xfrm>
              <a:off x="1808099" y="3762310"/>
              <a:ext cx="2713056" cy="565522"/>
            </a:xfrm>
            <a:prstGeom prst="bentConnector3">
              <a:avLst>
                <a:gd name="adj1" fmla="val -1338"/>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03949EF6-CDFD-1F39-99B5-8987BC88F919}"/>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A9A3BDD0-3506-8A1D-3CE8-AFFA11CBA1A1}"/>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440C9CBD-FCDC-ADD6-0650-4ADC0A07D28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A5453A13-290C-1C89-B89B-05113ADBBD4D}"/>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E9027F9E-8186-9641-28D5-093F71C39C0A}"/>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2DB384DC-6287-A0FF-B97B-53AEAC3148A7}"/>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CE4BEA51-C8E3-04E4-30FB-707FE4E22262}"/>
                </a:ext>
              </a:extLst>
            </p:cNvPr>
            <p:cNvCxnSpPr>
              <a:cxnSpLocks/>
              <a:stCxn id="224"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6899C60E-078F-5761-34F6-2334E3E80389}"/>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184B8B79-E40B-0BC5-B609-E46F375548E0}"/>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160493C1-B282-27DB-5D05-8D8B73125EDD}"/>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40EDA7EB-66CA-22F6-6703-EA7CF6640F2F}"/>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BFCC0D06-5115-A4EA-1A0A-0755771345D6}"/>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FF66C83C-55AB-E0CD-CCCC-6F342FB3DAD7}"/>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6B70365A-A7E4-F241-21BE-7B9D118269FC}"/>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24CDE81-2349-FC30-4F4B-73B6893FC8E7}"/>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CD19FF45-8F93-22D8-FCBB-8AA1DC041299}"/>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575CE328-4F52-E534-4DDE-9D1CA7B64F3B}"/>
                </a:ext>
              </a:extLst>
            </p:cNvPr>
            <p:cNvSpPr txBox="1"/>
            <p:nvPr/>
          </p:nvSpPr>
          <p:spPr>
            <a:xfrm>
              <a:off x="8373730" y="3214225"/>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219" name="TextBox 218">
              <a:extLst>
                <a:ext uri="{FF2B5EF4-FFF2-40B4-BE49-F238E27FC236}">
                  <a16:creationId xmlns:a16="http://schemas.microsoft.com/office/drawing/2014/main" id="{448C5F4D-3FC5-0651-334C-3543154E7131}"/>
                </a:ext>
              </a:extLst>
            </p:cNvPr>
            <p:cNvSpPr txBox="1"/>
            <p:nvPr/>
          </p:nvSpPr>
          <p:spPr>
            <a:xfrm>
              <a:off x="8379727" y="384377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D005B69D-A56A-D4C4-FA41-092A1B41249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FADF8F8F-D678-D651-992F-4F64CB5754C2}"/>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A0C2A2AE-0197-F8EB-B7F9-65E8F02E2926}"/>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07A2B23C-AA19-7B48-D078-58F0A1D6B624}"/>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A039731E-3509-8088-3779-AC7A22AC89B8}"/>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8CD93E6A-9663-2B75-30F6-16CF16E60131}"/>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E4E2E7B2-4AD6-B6B2-BB60-0306F8F3DD2B}"/>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BF413005-7C3F-49D1-23AB-0D12DB47AA8B}"/>
                </a:ext>
              </a:extLst>
            </p:cNvPr>
            <p:cNvCxnSpPr>
              <a:cxnSpLocks/>
              <a:stCxn id="228" idx="0"/>
            </p:cNvCxnSpPr>
            <p:nvPr/>
          </p:nvCxnSpPr>
          <p:spPr>
            <a:xfrm flipV="1">
              <a:off x="7691678" y="3854390"/>
              <a:ext cx="1912" cy="4327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41F805AF-77BB-15F9-BDCC-150AE542BA39}"/>
                </a:ext>
              </a:extLst>
            </p:cNvPr>
            <p:cNvSpPr/>
            <p:nvPr/>
          </p:nvSpPr>
          <p:spPr>
            <a:xfrm>
              <a:off x="6466890" y="4287106"/>
              <a:ext cx="2449576" cy="223631"/>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369E71E1-AFE4-5311-D17B-69D332EF48E3}"/>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6A4BF887-0772-5E54-17E6-A2BFC102DA8B}"/>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0D1A7AC2-74B9-945C-4DF5-4CC1741BE193}"/>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FB00DB11-A466-FAA0-5C64-3B0DE65810FE}"/>
              </a:ext>
            </a:extLst>
          </p:cNvPr>
          <p:cNvSpPr/>
          <p:nvPr/>
        </p:nvSpPr>
        <p:spPr>
          <a:xfrm>
            <a:off x="5240864" y="4766945"/>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065F25A7-3235-05D6-C6B8-4342786BC56B}"/>
              </a:ext>
            </a:extLst>
          </p:cNvPr>
          <p:cNvCxnSpPr>
            <a:cxnSpLocks/>
            <a:stCxn id="2" idx="7"/>
            <a:endCxn id="2" idx="3"/>
          </p:cNvCxnSpPr>
          <p:nvPr/>
        </p:nvCxnSpPr>
        <p:spPr>
          <a:xfrm flipH="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3EE0989F-D27A-75C6-A2CE-9E73D94BC9D7}"/>
              </a:ext>
            </a:extLst>
          </p:cNvPr>
          <p:cNvCxnSpPr>
            <a:cxnSpLocks/>
            <a:stCxn id="2" idx="5"/>
            <a:endCxn id="2" idx="1"/>
          </p:cNvCxnSpPr>
          <p:nvPr/>
        </p:nvCxnSpPr>
        <p:spPr>
          <a:xfrm flipH="1" flipV="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A92794D5-F8E8-E9E1-BBF5-A14D2830CDB1}"/>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F7CB6C3D-448D-3E25-5481-444EF662B003}"/>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24" name="TextBox 23">
            <a:extLst>
              <a:ext uri="{FF2B5EF4-FFF2-40B4-BE49-F238E27FC236}">
                <a16:creationId xmlns:a16="http://schemas.microsoft.com/office/drawing/2014/main" id="{AA7165E6-3168-BD34-6D27-9B824484F2DA}"/>
              </a:ext>
            </a:extLst>
          </p:cNvPr>
          <p:cNvSpPr txBox="1"/>
          <p:nvPr/>
        </p:nvSpPr>
        <p:spPr>
          <a:xfrm>
            <a:off x="4469313" y="4488075"/>
            <a:ext cx="1031750"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   D1   D2   D3</a:t>
            </a:r>
          </a:p>
        </p:txBody>
      </p:sp>
      <p:cxnSp>
        <p:nvCxnSpPr>
          <p:cNvPr id="25" name="Straight Arrow Connector 24">
            <a:extLst>
              <a:ext uri="{FF2B5EF4-FFF2-40B4-BE49-F238E27FC236}">
                <a16:creationId xmlns:a16="http://schemas.microsoft.com/office/drawing/2014/main" id="{C09AE81B-4EF2-D3CC-55DE-F1C5642A2456}"/>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2DC880DE-8911-D1CF-9010-477B57EC9E2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sp>
        <p:nvSpPr>
          <p:cNvPr id="11" name="TextBox 10">
            <a:extLst>
              <a:ext uri="{FF2B5EF4-FFF2-40B4-BE49-F238E27FC236}">
                <a16:creationId xmlns:a16="http://schemas.microsoft.com/office/drawing/2014/main" id="{4F5DA0CC-877F-BB5B-A815-8D590EE21950}"/>
              </a:ext>
            </a:extLst>
          </p:cNvPr>
          <p:cNvSpPr txBox="1"/>
          <p:nvPr/>
        </p:nvSpPr>
        <p:spPr>
          <a:xfrm>
            <a:off x="743759"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4E5878E6-11BE-CDDE-3BED-FD3BEE290B55}"/>
              </a:ext>
            </a:extLst>
          </p:cNvPr>
          <p:cNvSpPr txBox="1"/>
          <p:nvPr/>
        </p:nvSpPr>
        <p:spPr>
          <a:xfrm>
            <a:off x="520729"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8F7753EC-6A34-2C05-A9D6-77268358987A}"/>
              </a:ext>
            </a:extLst>
          </p:cNvPr>
          <p:cNvSpPr txBox="1"/>
          <p:nvPr/>
        </p:nvSpPr>
        <p:spPr>
          <a:xfrm>
            <a:off x="297698"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C55A3BF3-C453-D6E9-EC42-080C9B4E35DE}"/>
              </a:ext>
            </a:extLst>
          </p:cNvPr>
          <p:cNvSpPr txBox="1"/>
          <p:nvPr/>
        </p:nvSpPr>
        <p:spPr>
          <a:xfrm>
            <a:off x="74667"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4CFC63A4-A123-2977-571C-B1D1BE236C3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0" name="TextBox 19">
            <a:extLst>
              <a:ext uri="{FF2B5EF4-FFF2-40B4-BE49-F238E27FC236}">
                <a16:creationId xmlns:a16="http://schemas.microsoft.com/office/drawing/2014/main" id="{406DD281-0EBB-BB9A-6D2E-391F15739E6A}"/>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1" name="TextBox 20">
            <a:extLst>
              <a:ext uri="{FF2B5EF4-FFF2-40B4-BE49-F238E27FC236}">
                <a16:creationId xmlns:a16="http://schemas.microsoft.com/office/drawing/2014/main" id="{62156A3C-7D4F-890B-ED2E-F826AA9527F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2" name="TextBox 21">
            <a:extLst>
              <a:ext uri="{FF2B5EF4-FFF2-40B4-BE49-F238E27FC236}">
                <a16:creationId xmlns:a16="http://schemas.microsoft.com/office/drawing/2014/main" id="{55BA5E86-88CE-8858-8E1C-5D3C0001950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7" name="TextBox 26">
            <a:extLst>
              <a:ext uri="{FF2B5EF4-FFF2-40B4-BE49-F238E27FC236}">
                <a16:creationId xmlns:a16="http://schemas.microsoft.com/office/drawing/2014/main" id="{50941DFC-9AF7-697D-3D63-29C76D60C78F}"/>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8" name="TextBox 27">
            <a:extLst>
              <a:ext uri="{FF2B5EF4-FFF2-40B4-BE49-F238E27FC236}">
                <a16:creationId xmlns:a16="http://schemas.microsoft.com/office/drawing/2014/main" id="{BDE39000-FD6D-114D-5012-68CD12F4FA2B}"/>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9" name="TextBox 28">
            <a:extLst>
              <a:ext uri="{FF2B5EF4-FFF2-40B4-BE49-F238E27FC236}">
                <a16:creationId xmlns:a16="http://schemas.microsoft.com/office/drawing/2014/main" id="{3B235EDE-14BC-D054-A76E-3571AEB1B895}"/>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562305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B81D1-A63C-83F3-71EC-316AED2329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186506-5684-C26C-2206-C33126A3CD1D}"/>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78C17C9A-9253-D60B-B234-2468BD768B6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9049365-3725-8C54-397B-8B0297B7D791}"/>
              </a:ext>
            </a:extLst>
          </p:cNvPr>
          <p:cNvSpPr>
            <a:spLocks noGrp="1"/>
          </p:cNvSpPr>
          <p:nvPr>
            <p:ph type="sldNum" sz="quarter" idx="4"/>
          </p:nvPr>
        </p:nvSpPr>
        <p:spPr/>
        <p:txBody>
          <a:bodyPr/>
          <a:lstStyle/>
          <a:p>
            <a:pPr>
              <a:defRPr/>
            </a:pPr>
            <a:fld id="{A9CE67A1-BA7F-A74E-B5D7-615746DEEC2B}" type="slidenum">
              <a:rPr lang="en-US" smtClean="0"/>
              <a:pPr>
                <a:defRPr/>
              </a:pPr>
              <a:t>68</a:t>
            </a:fld>
            <a:endParaRPr lang="en-US" baseline="-11000" dirty="0"/>
          </a:p>
        </p:txBody>
      </p:sp>
      <p:sp>
        <p:nvSpPr>
          <p:cNvPr id="6" name="Date Placeholder 5">
            <a:extLst>
              <a:ext uri="{FF2B5EF4-FFF2-40B4-BE49-F238E27FC236}">
                <a16:creationId xmlns:a16="http://schemas.microsoft.com/office/drawing/2014/main" id="{E15893B5-D130-35DD-9434-9ECFF417323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786EEBEA-463F-55EC-E9E0-C7C7657574D8}"/>
              </a:ext>
            </a:extLst>
          </p:cNvPr>
          <p:cNvSpPr txBox="1"/>
          <p:nvPr/>
        </p:nvSpPr>
        <p:spPr>
          <a:xfrm>
            <a:off x="354862" y="810580"/>
            <a:ext cx="8391066" cy="1477328"/>
          </a:xfrm>
          <a:prstGeom prst="rect">
            <a:avLst/>
          </a:prstGeom>
          <a:noFill/>
        </p:spPr>
        <p:txBody>
          <a:bodyPr wrap="square">
            <a:spAutoFit/>
          </a:bodyPr>
          <a:lstStyle/>
          <a:p>
            <a:pPr defTabSz="457200">
              <a:spcBef>
                <a:spcPts val="1000"/>
              </a:spcBef>
              <a:buClr>
                <a:srgbClr val="1E4056"/>
              </a:buClr>
              <a:buSzPct val="75000"/>
            </a:pPr>
            <a:r>
              <a:rPr lang="en-US" dirty="0"/>
              <a:t>From this point, the FSM simply alternates between the Butterfly and Drain states to continuously process the incoming data. This loop continues as long as data is flowing. Once the valid_in signal is De-asserted , meaning we have 		      reached the end of the packet , the FSM transitions back to 					    the IDLE state, ready for the next frame. 	</a:t>
            </a:r>
          </a:p>
        </p:txBody>
      </p:sp>
      <p:cxnSp>
        <p:nvCxnSpPr>
          <p:cNvPr id="13" name="Connector: Curved 12">
            <a:extLst>
              <a:ext uri="{FF2B5EF4-FFF2-40B4-BE49-F238E27FC236}">
                <a16:creationId xmlns:a16="http://schemas.microsoft.com/office/drawing/2014/main" id="{C3B04897-9392-8923-B1A8-76B49F742997}"/>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153EB065-B587-D8CC-BE1B-9F4B2B521C45}"/>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913755E7-D536-B49A-D33C-B80683A4F01D}"/>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BB041B3D-2656-B3EB-6460-E2C5678177C7}"/>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96D763D3-8AE4-8B85-34B0-5E49D9A9E876}"/>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AD563DF1-C03C-B155-F650-2C9196C48AFB}"/>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07C73E98-06E4-2BE9-B84A-97450E6A57DF}"/>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7FD9FD83-3E3B-1EF9-8E80-933184D90929}"/>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1C1A932-1FF0-EBDA-4E13-A02460F02BF3}"/>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1D7FE85F-D6AD-1457-BE8B-820A70A8180A}"/>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BD805C04-6B07-44C7-CE6F-C5C4060C52A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BDCE9B5B-ED51-7663-BDEE-5F776BABE501}"/>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257C855-A8A7-377C-1818-D3202C0489F5}"/>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73EC64D4-CC64-A3A5-12ED-3861EE1B5DCA}"/>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4812F637-4EFB-7688-2718-291D62D85E90}"/>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548E9E49-BBB1-8ACF-37A5-A6EF656FEC7F}"/>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6B978DDB-F332-7134-5168-427100A6FF6C}"/>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A94F5122-3492-8D80-3493-348401D88DD8}"/>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676ABFB7-0CF1-3157-4931-21C4FA79AEA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04E55655-A539-3F8B-047E-B26727CA94CE}"/>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33D120A6-D3CA-5ECE-907F-D15E44E82346}"/>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D121A824-DC8C-4DA6-FB89-457E8F1B5BB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19A019CB-20AF-B7E3-8D05-BB8F8A68EB4B}"/>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1166DBD7-AA3E-43D4-8B67-1C2661D78556}"/>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BECE1C4B-06D9-2164-B9BA-F3A8E432121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F607398C-8E45-AFA8-17EF-CD07C0E61C65}"/>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8C109328-F854-5093-434A-4A44633CF492}"/>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055BAFEB-4EE1-8A0D-0737-4638063F8962}"/>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sp>
        <p:nvSpPr>
          <p:cNvPr id="2" name="TextBox 1">
            <a:extLst>
              <a:ext uri="{FF2B5EF4-FFF2-40B4-BE49-F238E27FC236}">
                <a16:creationId xmlns:a16="http://schemas.microsoft.com/office/drawing/2014/main" id="{3EBFB04D-67D5-0878-3F20-26A6EAFAFA5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8" name="TextBox 7">
            <a:extLst>
              <a:ext uri="{FF2B5EF4-FFF2-40B4-BE49-F238E27FC236}">
                <a16:creationId xmlns:a16="http://schemas.microsoft.com/office/drawing/2014/main" id="{8F49A038-305A-D733-D8DE-9CE3E340A2D0}"/>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9" name="TextBox 8">
            <a:extLst>
              <a:ext uri="{FF2B5EF4-FFF2-40B4-BE49-F238E27FC236}">
                <a16:creationId xmlns:a16="http://schemas.microsoft.com/office/drawing/2014/main" id="{988E8F23-21E8-3C69-7187-9F11F1C9D0C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0" name="TextBox 9">
            <a:extLst>
              <a:ext uri="{FF2B5EF4-FFF2-40B4-BE49-F238E27FC236}">
                <a16:creationId xmlns:a16="http://schemas.microsoft.com/office/drawing/2014/main" id="{B9B19059-09D8-CE4F-424B-3A89C3BE4475}"/>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1" name="TextBox 10">
            <a:extLst>
              <a:ext uri="{FF2B5EF4-FFF2-40B4-BE49-F238E27FC236}">
                <a16:creationId xmlns:a16="http://schemas.microsoft.com/office/drawing/2014/main" id="{221B2EF4-B657-F0E1-0D82-B2231B6F75A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12" name="TextBox 11">
            <a:extLst>
              <a:ext uri="{FF2B5EF4-FFF2-40B4-BE49-F238E27FC236}">
                <a16:creationId xmlns:a16="http://schemas.microsoft.com/office/drawing/2014/main" id="{0296E0A2-1680-BB3F-4979-6EF47DC4303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4" name="TextBox 13">
            <a:extLst>
              <a:ext uri="{FF2B5EF4-FFF2-40B4-BE49-F238E27FC236}">
                <a16:creationId xmlns:a16="http://schemas.microsoft.com/office/drawing/2014/main" id="{69C6CC18-D376-CA5C-2B8A-B6BFD1A7790E}"/>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68011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AD5BC-79D5-BCA3-FB77-B2F47612D7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70AED4-438A-1AAD-91BF-862F74C86DD5}"/>
              </a:ext>
            </a:extLst>
          </p:cNvPr>
          <p:cNvSpPr>
            <a:spLocks noGrp="1"/>
          </p:cNvSpPr>
          <p:nvPr>
            <p:ph type="title"/>
          </p:nvPr>
        </p:nvSpPr>
        <p:spPr>
          <a:xfrm>
            <a:off x="342901" y="219456"/>
            <a:ext cx="10287001" cy="470898"/>
          </a:xfrm>
        </p:spPr>
        <p:txBody>
          <a:bodyPr/>
          <a:lstStyle/>
          <a:p>
            <a:r>
              <a:rPr lang="en-US" dirty="0"/>
              <a:t>RTL: Simulation results and latency calculation </a:t>
            </a:r>
          </a:p>
        </p:txBody>
      </p:sp>
      <p:sp>
        <p:nvSpPr>
          <p:cNvPr id="4" name="Footer Placeholder 3">
            <a:extLst>
              <a:ext uri="{FF2B5EF4-FFF2-40B4-BE49-F238E27FC236}">
                <a16:creationId xmlns:a16="http://schemas.microsoft.com/office/drawing/2014/main" id="{1CA0B70F-1D77-DABE-D1F0-7E2A3F97DE0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5582A31-28E4-526F-F432-AA2249B0A56F}"/>
              </a:ext>
            </a:extLst>
          </p:cNvPr>
          <p:cNvSpPr>
            <a:spLocks noGrp="1"/>
          </p:cNvSpPr>
          <p:nvPr>
            <p:ph type="sldNum" sz="quarter" idx="4"/>
          </p:nvPr>
        </p:nvSpPr>
        <p:spPr/>
        <p:txBody>
          <a:bodyPr/>
          <a:lstStyle/>
          <a:p>
            <a:pPr>
              <a:defRPr/>
            </a:pPr>
            <a:fld id="{A9CE67A1-BA7F-A74E-B5D7-615746DEEC2B}" type="slidenum">
              <a:rPr lang="en-US" smtClean="0"/>
              <a:pPr>
                <a:defRPr/>
              </a:pPr>
              <a:t>69</a:t>
            </a:fld>
            <a:endParaRPr lang="en-US" baseline="-11000" dirty="0"/>
          </a:p>
        </p:txBody>
      </p:sp>
      <p:sp>
        <p:nvSpPr>
          <p:cNvPr id="6" name="Date Placeholder 5">
            <a:extLst>
              <a:ext uri="{FF2B5EF4-FFF2-40B4-BE49-F238E27FC236}">
                <a16:creationId xmlns:a16="http://schemas.microsoft.com/office/drawing/2014/main" id="{8F64CB8B-E9CA-9336-6456-3F4768C6A2C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43A8EB55-C437-1BC3-48E0-27EF8FBD7BE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7" name="TextBox 6">
            <a:extLst>
              <a:ext uri="{FF2B5EF4-FFF2-40B4-BE49-F238E27FC236}">
                <a16:creationId xmlns:a16="http://schemas.microsoft.com/office/drawing/2014/main" id="{7BC8BCF6-857E-7435-0BA2-5B6456E4255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8" name="TextBox 7">
            <a:extLst>
              <a:ext uri="{FF2B5EF4-FFF2-40B4-BE49-F238E27FC236}">
                <a16:creationId xmlns:a16="http://schemas.microsoft.com/office/drawing/2014/main" id="{35C20B4A-9E2C-3B22-9B64-4AA317FC71E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9" name="TextBox 8">
            <a:extLst>
              <a:ext uri="{FF2B5EF4-FFF2-40B4-BE49-F238E27FC236}">
                <a16:creationId xmlns:a16="http://schemas.microsoft.com/office/drawing/2014/main" id="{52560505-BFC9-4002-E139-13A5D622B44C}"/>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0" name="TextBox 9">
            <a:extLst>
              <a:ext uri="{FF2B5EF4-FFF2-40B4-BE49-F238E27FC236}">
                <a16:creationId xmlns:a16="http://schemas.microsoft.com/office/drawing/2014/main" id="{DA0EEEA8-7774-2020-EB3E-436B963FD185}"/>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11" name="TextBox 10">
            <a:extLst>
              <a:ext uri="{FF2B5EF4-FFF2-40B4-BE49-F238E27FC236}">
                <a16:creationId xmlns:a16="http://schemas.microsoft.com/office/drawing/2014/main" id="{1E60D7DB-B9A8-AA2E-AF8C-3ACD5E93854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2" name="TextBox 11">
            <a:extLst>
              <a:ext uri="{FF2B5EF4-FFF2-40B4-BE49-F238E27FC236}">
                <a16:creationId xmlns:a16="http://schemas.microsoft.com/office/drawing/2014/main" id="{10B09F29-7BE6-3D23-BC4C-E9AD4336018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pic>
        <p:nvPicPr>
          <p:cNvPr id="14" name="Picture 13">
            <a:extLst>
              <a:ext uri="{FF2B5EF4-FFF2-40B4-BE49-F238E27FC236}">
                <a16:creationId xmlns:a16="http://schemas.microsoft.com/office/drawing/2014/main" id="{9A606C10-A2DC-316C-A123-B20E6E19E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3603" y="1273538"/>
            <a:ext cx="3779848" cy="1356478"/>
          </a:xfrm>
          <a:prstGeom prst="rect">
            <a:avLst/>
          </a:prstGeom>
          <a:ln>
            <a:solidFill>
              <a:schemeClr val="tx1"/>
            </a:solidFill>
          </a:ln>
        </p:spPr>
      </p:pic>
      <p:sp>
        <p:nvSpPr>
          <p:cNvPr id="15" name="TextBox 14">
            <a:extLst>
              <a:ext uri="{FF2B5EF4-FFF2-40B4-BE49-F238E27FC236}">
                <a16:creationId xmlns:a16="http://schemas.microsoft.com/office/drawing/2014/main" id="{EF7EC5C1-13E2-3266-177D-8159AB6D4252}"/>
              </a:ext>
            </a:extLst>
          </p:cNvPr>
          <p:cNvSpPr txBox="1"/>
          <p:nvPr/>
        </p:nvSpPr>
        <p:spPr>
          <a:xfrm>
            <a:off x="518160" y="802640"/>
            <a:ext cx="8059641" cy="470898"/>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dirty="0">
                <a:solidFill>
                  <a:srgbClr val="000000"/>
                </a:solidFill>
              </a:rPr>
              <a:t>Verification Results for 100 Frames  </a:t>
            </a:r>
          </a:p>
        </p:txBody>
      </p:sp>
      <p:pic>
        <p:nvPicPr>
          <p:cNvPr id="17" name="Picture 16">
            <a:extLst>
              <a:ext uri="{FF2B5EF4-FFF2-40B4-BE49-F238E27FC236}">
                <a16:creationId xmlns:a16="http://schemas.microsoft.com/office/drawing/2014/main" id="{6DA95FD6-3F2B-1A28-C1BC-779E5464FA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5590" y="739374"/>
            <a:ext cx="419479" cy="419479"/>
          </a:xfrm>
          <a:prstGeom prst="rect">
            <a:avLst/>
          </a:prstGeom>
        </p:spPr>
      </p:pic>
      <p:sp>
        <p:nvSpPr>
          <p:cNvPr id="18" name="TextBox 17">
            <a:extLst>
              <a:ext uri="{FF2B5EF4-FFF2-40B4-BE49-F238E27FC236}">
                <a16:creationId xmlns:a16="http://schemas.microsoft.com/office/drawing/2014/main" id="{AD8F7BCD-7ECE-B62E-203E-25DF20F0AADA}"/>
              </a:ext>
            </a:extLst>
          </p:cNvPr>
          <p:cNvSpPr txBox="1"/>
          <p:nvPr/>
        </p:nvSpPr>
        <p:spPr>
          <a:xfrm>
            <a:off x="518160" y="2785522"/>
            <a:ext cx="8059641" cy="470898"/>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dirty="0">
                <a:solidFill>
                  <a:srgbClr val="000000"/>
                </a:solidFill>
              </a:rPr>
              <a:t>Latency calculation check == (N-1 )</a:t>
            </a:r>
          </a:p>
        </p:txBody>
      </p:sp>
      <p:pic>
        <p:nvPicPr>
          <p:cNvPr id="20" name="Picture 19">
            <a:extLst>
              <a:ext uri="{FF2B5EF4-FFF2-40B4-BE49-F238E27FC236}">
                <a16:creationId xmlns:a16="http://schemas.microsoft.com/office/drawing/2014/main" id="{E5D9E0AF-03AB-8576-7D69-73C60BC8A909}"/>
              </a:ext>
            </a:extLst>
          </p:cNvPr>
          <p:cNvPicPr>
            <a:picLocks noChangeAspect="1"/>
          </p:cNvPicPr>
          <p:nvPr/>
        </p:nvPicPr>
        <p:blipFill>
          <a:blip r:embed="rId4">
            <a:extLst>
              <a:ext uri="{28A0092B-C50C-407E-A947-70E740481C1C}">
                <a14:useLocalDpi xmlns:a14="http://schemas.microsoft.com/office/drawing/2010/main" val="0"/>
              </a:ext>
            </a:extLst>
          </a:blip>
          <a:srcRect b="11057"/>
          <a:stretch>
            <a:fillRect/>
          </a:stretch>
        </p:blipFill>
        <p:spPr>
          <a:xfrm>
            <a:off x="742455" y="3184448"/>
            <a:ext cx="10931385" cy="2494992"/>
          </a:xfrm>
          <a:prstGeom prst="rect">
            <a:avLst/>
          </a:prstGeom>
        </p:spPr>
      </p:pic>
      <p:sp>
        <p:nvSpPr>
          <p:cNvPr id="22" name="Rectangle 21">
            <a:extLst>
              <a:ext uri="{FF2B5EF4-FFF2-40B4-BE49-F238E27FC236}">
                <a16:creationId xmlns:a16="http://schemas.microsoft.com/office/drawing/2014/main" id="{6C9669FD-C258-40D5-482D-8D68C45CD25C}"/>
              </a:ext>
            </a:extLst>
          </p:cNvPr>
          <p:cNvSpPr/>
          <p:nvPr/>
        </p:nvSpPr>
        <p:spPr>
          <a:xfrm>
            <a:off x="3728720" y="5323840"/>
            <a:ext cx="843280" cy="260622"/>
          </a:xfrm>
          <a:prstGeom prst="rect">
            <a:avLst/>
          </a:prstGeom>
          <a:noFill/>
          <a:ln>
            <a:solidFill>
              <a:schemeClr val="bg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A8FA27F-82FA-DDA9-AC76-DF82E804AC33}"/>
                  </a:ext>
                </a:extLst>
              </p:cNvPr>
              <p:cNvSpPr txBox="1"/>
              <p:nvPr/>
            </p:nvSpPr>
            <p:spPr>
              <a:xfrm>
                <a:off x="883051" y="5927601"/>
                <a:ext cx="4302760" cy="573201"/>
              </a:xfrm>
              <a:prstGeom prst="rect">
                <a:avLst/>
              </a:prstGeom>
              <a:noFill/>
            </p:spPr>
            <p:txBody>
              <a:bodyPr wrap="none" lIns="0" tIns="0" rIns="0" bIns="0" rtlCol="0">
                <a:noAutofit/>
              </a:bodyPr>
              <a:lstStyle/>
              <a:p>
                <a:pPr defTabSz="457200">
                  <a:spcBef>
                    <a:spcPts val="1000"/>
                  </a:spcBef>
                  <a:buClr>
                    <a:srgbClr val="1E4056"/>
                  </a:buClr>
                  <a:buSzPct val="75000"/>
                </a:pPr>
                <a:r>
                  <a:rPr lang="en-US" sz="2000" dirty="0">
                    <a:solidFill>
                      <a:srgbClr val="000000"/>
                    </a:solidFill>
                  </a:rPr>
                  <a:t>Latency= </a:t>
                </a:r>
                <a14:m>
                  <m:oMath xmlns:m="http://schemas.openxmlformats.org/officeDocument/2006/math">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40955000</m:t>
                        </m:r>
                      </m:num>
                      <m:den>
                        <m:r>
                          <a:rPr lang="en-US" sz="2000" b="0" i="1" smtClean="0">
                            <a:solidFill>
                              <a:srgbClr val="000000"/>
                            </a:solidFill>
                            <a:latin typeface="Cambria Math" panose="02040503050406030204" pitchFamily="18" charset="0"/>
                          </a:rPr>
                          <m:t>10000</m:t>
                        </m:r>
                      </m:den>
                    </m:f>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4095</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5</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𝑐𝑦𝑐𝑙𝑒𝑠</m:t>
                    </m:r>
                    <m:r>
                      <a:rPr lang="en-US" sz="2000" b="0" i="1" smtClean="0">
                        <a:solidFill>
                          <a:srgbClr val="000000"/>
                        </a:solidFill>
                        <a:latin typeface="Cambria Math" panose="02040503050406030204" pitchFamily="18" charset="0"/>
                      </a:rPr>
                      <m:t> </m:t>
                    </m:r>
                  </m:oMath>
                </a14:m>
                <a:endParaRPr lang="en-US" sz="2000" dirty="0">
                  <a:solidFill>
                    <a:srgbClr val="000000"/>
                  </a:solidFill>
                </a:endParaRPr>
              </a:p>
            </p:txBody>
          </p:sp>
        </mc:Choice>
        <mc:Fallback xmlns="">
          <p:sp>
            <p:nvSpPr>
              <p:cNvPr id="23" name="TextBox 22">
                <a:extLst>
                  <a:ext uri="{FF2B5EF4-FFF2-40B4-BE49-F238E27FC236}">
                    <a16:creationId xmlns:a16="http://schemas.microsoft.com/office/drawing/2014/main" id="{3A8FA27F-82FA-DDA9-AC76-DF82E804AC33}"/>
                  </a:ext>
                </a:extLst>
              </p:cNvPr>
              <p:cNvSpPr txBox="1">
                <a:spLocks noRot="1" noChangeAspect="1" noMove="1" noResize="1" noEditPoints="1" noAdjustHandles="1" noChangeArrowheads="1" noChangeShapeType="1" noTextEdit="1"/>
              </p:cNvSpPr>
              <p:nvPr/>
            </p:nvSpPr>
            <p:spPr>
              <a:xfrm>
                <a:off x="883051" y="5927601"/>
                <a:ext cx="4302760" cy="573201"/>
              </a:xfrm>
              <a:prstGeom prst="rect">
                <a:avLst/>
              </a:prstGeom>
              <a:blipFill>
                <a:blip r:embed="rId5"/>
                <a:stretch>
                  <a:fillRect l="-3683" t="-5319"/>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5E8ECE7C-82DF-84AD-C277-52B19A6562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7980" y="2726547"/>
            <a:ext cx="419479" cy="419479"/>
          </a:xfrm>
          <a:prstGeom prst="rect">
            <a:avLst/>
          </a:prstGeom>
        </p:spPr>
      </p:pic>
    </p:spTree>
    <p:extLst>
      <p:ext uri="{BB962C8B-B14F-4D97-AF65-F5344CB8AC3E}">
        <p14:creationId xmlns:p14="http://schemas.microsoft.com/office/powerpoint/2010/main" val="21689505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5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xEl>
                                              <p:pRg st="0" end="0"/>
                                            </p:txEl>
                                          </p:spTgt>
                                        </p:tgtEl>
                                        <p:attrNameLst>
                                          <p:attrName>style.visibility</p:attrName>
                                        </p:attrNameLst>
                                      </p:cBhvr>
                                      <p:to>
                                        <p:strVal val="visible"/>
                                      </p:to>
                                    </p:set>
                                    <p:animEffect transition="in" filter="fade">
                                      <p:cBhvr>
                                        <p:cTn id="32" dur="500"/>
                                        <p:tgtEl>
                                          <p:spTgt spid="2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8A050-89CE-410B-623D-C6124BE33B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21A9CD-F3AB-EFE8-893D-F8E764584CD1}"/>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D907AA5E-0F72-FAD8-E5B4-FE27EF9FC32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42445477-CB58-C400-39A1-702E4CDC244A}"/>
              </a:ext>
            </a:extLst>
          </p:cNvPr>
          <p:cNvSpPr>
            <a:spLocks noGrp="1"/>
          </p:cNvSpPr>
          <p:nvPr>
            <p:ph type="sldNum" sz="quarter" idx="4"/>
          </p:nvPr>
        </p:nvSpPr>
        <p:spPr/>
        <p:txBody>
          <a:bodyPr/>
          <a:lstStyle/>
          <a:p>
            <a:pPr>
              <a:defRPr/>
            </a:pPr>
            <a:fld id="{A9CE67A1-BA7F-A74E-B5D7-615746DEEC2B}" type="slidenum">
              <a:rPr lang="en-US" smtClean="0"/>
              <a:pPr>
                <a:defRPr/>
              </a:pPr>
              <a:t>70</a:t>
            </a:fld>
            <a:endParaRPr lang="en-US" baseline="-11000" dirty="0"/>
          </a:p>
        </p:txBody>
      </p:sp>
      <p:sp>
        <p:nvSpPr>
          <p:cNvPr id="6" name="Date Placeholder 5">
            <a:extLst>
              <a:ext uri="{FF2B5EF4-FFF2-40B4-BE49-F238E27FC236}">
                <a16:creationId xmlns:a16="http://schemas.microsoft.com/office/drawing/2014/main" id="{8FD467E0-D187-E45A-707F-C913E7984E61}"/>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9CAB7E5A-4B9A-5F38-EE72-508B9529F62D}"/>
              </a:ext>
            </a:extLst>
          </p:cNvPr>
          <p:cNvSpPr txBox="1"/>
          <p:nvPr/>
        </p:nvSpPr>
        <p:spPr>
          <a:xfrm>
            <a:off x="354862" y="810580"/>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Rounding vs truncation (flooring )</a:t>
            </a:r>
          </a:p>
        </p:txBody>
      </p:sp>
      <p:sp>
        <p:nvSpPr>
          <p:cNvPr id="7" name="TextBox 6">
            <a:extLst>
              <a:ext uri="{FF2B5EF4-FFF2-40B4-BE49-F238E27FC236}">
                <a16:creationId xmlns:a16="http://schemas.microsoft.com/office/drawing/2014/main" id="{895B58CB-6B84-59CD-2E0A-2A504E7C4DB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92F8D509-4553-C653-2BA4-834184B43929}"/>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58AD3375-D88D-6CCB-C186-D737FB919BB1}"/>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7875FFD7-4D1C-CA79-ACE5-E948CA801E6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9E28DC8-F8C2-774B-4725-7F24501C514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7CF2603E-87AE-F1F8-1F10-3E0A04F07547}"/>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DF7C0941-70BF-864F-1707-EE4E5A4D98B8}"/>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TextBox 136">
            <a:extLst>
              <a:ext uri="{FF2B5EF4-FFF2-40B4-BE49-F238E27FC236}">
                <a16:creationId xmlns:a16="http://schemas.microsoft.com/office/drawing/2014/main" id="{73AED77D-7EF6-AF4E-C5F3-2743984C5FEB}"/>
              </a:ext>
            </a:extLst>
          </p:cNvPr>
          <p:cNvSpPr txBox="1"/>
          <p:nvPr/>
        </p:nvSpPr>
        <p:spPr>
          <a:xfrm>
            <a:off x="395414" y="3934272"/>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58" name="!!Rectangle 137">
            <a:extLst>
              <a:ext uri="{FF2B5EF4-FFF2-40B4-BE49-F238E27FC236}">
                <a16:creationId xmlns:a16="http://schemas.microsoft.com/office/drawing/2014/main" id="{26F0BA9C-DAC4-63DC-AC7C-4F924C301B98}"/>
              </a:ext>
            </a:extLst>
          </p:cNvPr>
          <p:cNvSpPr/>
          <p:nvPr/>
        </p:nvSpPr>
        <p:spPr>
          <a:xfrm>
            <a:off x="1435514" y="1566761"/>
            <a:ext cx="9081317" cy="372447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59" name="!!Straight Arrow Connector 139">
            <a:extLst>
              <a:ext uri="{FF2B5EF4-FFF2-40B4-BE49-F238E27FC236}">
                <a16:creationId xmlns:a16="http://schemas.microsoft.com/office/drawing/2014/main" id="{E1165958-F0E2-70C6-6374-9E65964CD47B}"/>
              </a:ext>
            </a:extLst>
          </p:cNvPr>
          <p:cNvCxnSpPr>
            <a:cxnSpLocks/>
          </p:cNvCxnSpPr>
          <p:nvPr/>
        </p:nvCxnSpPr>
        <p:spPr>
          <a:xfrm>
            <a:off x="438095" y="4347977"/>
            <a:ext cx="223356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3" name="!!Straight Connector 151">
            <a:extLst>
              <a:ext uri="{FF2B5EF4-FFF2-40B4-BE49-F238E27FC236}">
                <a16:creationId xmlns:a16="http://schemas.microsoft.com/office/drawing/2014/main" id="{D209326F-EBB7-C3FB-7617-B4B2DDE0D1DC}"/>
              </a:ext>
            </a:extLst>
          </p:cNvPr>
          <p:cNvCxnSpPr>
            <a:cxnSpLocks/>
          </p:cNvCxnSpPr>
          <p:nvPr/>
        </p:nvCxnSpPr>
        <p:spPr>
          <a:xfrm flipH="1">
            <a:off x="866926" y="4290894"/>
            <a:ext cx="249595" cy="134801"/>
          </a:xfrm>
          <a:prstGeom prst="line">
            <a:avLst/>
          </a:prstGeom>
          <a:ln/>
        </p:spPr>
        <p:style>
          <a:lnRef idx="3">
            <a:schemeClr val="dk1"/>
          </a:lnRef>
          <a:fillRef idx="0">
            <a:schemeClr val="dk1"/>
          </a:fillRef>
          <a:effectRef idx="2">
            <a:schemeClr val="dk1"/>
          </a:effectRef>
          <a:fontRef idx="minor">
            <a:schemeClr val="tx1"/>
          </a:fontRef>
        </p:style>
      </p:cxnSp>
      <p:sp>
        <p:nvSpPr>
          <p:cNvPr id="74" name="!!TextBox 153">
            <a:extLst>
              <a:ext uri="{FF2B5EF4-FFF2-40B4-BE49-F238E27FC236}">
                <a16:creationId xmlns:a16="http://schemas.microsoft.com/office/drawing/2014/main" id="{C854B944-BA3D-5D01-937A-278B07F6D005}"/>
              </a:ext>
            </a:extLst>
          </p:cNvPr>
          <p:cNvSpPr txBox="1"/>
          <p:nvPr/>
        </p:nvSpPr>
        <p:spPr>
          <a:xfrm>
            <a:off x="1054561" y="4347977"/>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5" name="!!TextBox 40">
            <a:extLst>
              <a:ext uri="{FF2B5EF4-FFF2-40B4-BE49-F238E27FC236}">
                <a16:creationId xmlns:a16="http://schemas.microsoft.com/office/drawing/2014/main" id="{227341AA-9208-0841-3112-EA521A316895}"/>
              </a:ext>
            </a:extLst>
          </p:cNvPr>
          <p:cNvSpPr txBox="1"/>
          <p:nvPr/>
        </p:nvSpPr>
        <p:spPr>
          <a:xfrm>
            <a:off x="10648189" y="3190019"/>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76" name="!!Straight Connector 41">
            <a:extLst>
              <a:ext uri="{FF2B5EF4-FFF2-40B4-BE49-F238E27FC236}">
                <a16:creationId xmlns:a16="http://schemas.microsoft.com/office/drawing/2014/main" id="{B2258C9A-B8B8-ED51-2C71-1000DCF802FC}"/>
              </a:ext>
            </a:extLst>
          </p:cNvPr>
          <p:cNvCxnSpPr>
            <a:cxnSpLocks/>
          </p:cNvCxnSpPr>
          <p:nvPr/>
        </p:nvCxnSpPr>
        <p:spPr>
          <a:xfrm flipH="1">
            <a:off x="10699820" y="3443833"/>
            <a:ext cx="375745" cy="319647"/>
          </a:xfrm>
          <a:prstGeom prst="line">
            <a:avLst/>
          </a:prstGeom>
          <a:ln/>
        </p:spPr>
        <p:style>
          <a:lnRef idx="3">
            <a:schemeClr val="dk1"/>
          </a:lnRef>
          <a:fillRef idx="0">
            <a:schemeClr val="dk1"/>
          </a:fillRef>
          <a:effectRef idx="2">
            <a:schemeClr val="dk1"/>
          </a:effectRef>
          <a:fontRef idx="minor">
            <a:schemeClr val="tx1"/>
          </a:fontRef>
        </p:style>
      </p:cxnSp>
      <p:sp>
        <p:nvSpPr>
          <p:cNvPr id="77" name="!!TextBox 42">
            <a:extLst>
              <a:ext uri="{FF2B5EF4-FFF2-40B4-BE49-F238E27FC236}">
                <a16:creationId xmlns:a16="http://schemas.microsoft.com/office/drawing/2014/main" id="{F0BABDA5-1133-ECE3-5E03-46176BD7C1A5}"/>
              </a:ext>
            </a:extLst>
          </p:cNvPr>
          <p:cNvSpPr txBox="1"/>
          <p:nvPr/>
        </p:nvSpPr>
        <p:spPr>
          <a:xfrm>
            <a:off x="10981630" y="3571276"/>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8" name="!!Rectangle 43">
            <a:extLst>
              <a:ext uri="{FF2B5EF4-FFF2-40B4-BE49-F238E27FC236}">
                <a16:creationId xmlns:a16="http://schemas.microsoft.com/office/drawing/2014/main" id="{432A45ED-AB0C-B6D7-9684-E3E9921BEEF0}"/>
              </a:ext>
            </a:extLst>
          </p:cNvPr>
          <p:cNvSpPr/>
          <p:nvPr/>
        </p:nvSpPr>
        <p:spPr>
          <a:xfrm>
            <a:off x="2671659" y="2885203"/>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9" name="!!Straight Arrow Connector 44">
            <a:extLst>
              <a:ext uri="{FF2B5EF4-FFF2-40B4-BE49-F238E27FC236}">
                <a16:creationId xmlns:a16="http://schemas.microsoft.com/office/drawing/2014/main" id="{257FBB6F-CF62-557F-9D7A-EAE9C12B70FD}"/>
              </a:ext>
            </a:extLst>
          </p:cNvPr>
          <p:cNvCxnSpPr>
            <a:cxnSpLocks/>
          </p:cNvCxnSpPr>
          <p:nvPr/>
        </p:nvCxnSpPr>
        <p:spPr>
          <a:xfrm>
            <a:off x="2671659" y="3379153"/>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3" name="!!Straight Arrow Connector 45">
            <a:extLst>
              <a:ext uri="{FF2B5EF4-FFF2-40B4-BE49-F238E27FC236}">
                <a16:creationId xmlns:a16="http://schemas.microsoft.com/office/drawing/2014/main" id="{44F45BC2-1734-3181-3AE8-B099EBEA870E}"/>
              </a:ext>
            </a:extLst>
          </p:cNvPr>
          <p:cNvCxnSpPr>
            <a:cxnSpLocks/>
          </p:cNvCxnSpPr>
          <p:nvPr/>
        </p:nvCxnSpPr>
        <p:spPr>
          <a:xfrm>
            <a:off x="2671659" y="4362890"/>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84" name="!!Group 46">
            <a:extLst>
              <a:ext uri="{FF2B5EF4-FFF2-40B4-BE49-F238E27FC236}">
                <a16:creationId xmlns:a16="http://schemas.microsoft.com/office/drawing/2014/main" id="{FFEFC54A-F741-8080-0FAD-37C43130FC44}"/>
              </a:ext>
            </a:extLst>
          </p:cNvPr>
          <p:cNvGrpSpPr/>
          <p:nvPr/>
        </p:nvGrpSpPr>
        <p:grpSpPr>
          <a:xfrm>
            <a:off x="3382766" y="3193369"/>
            <a:ext cx="371568" cy="371568"/>
            <a:chOff x="5114833" y="2825052"/>
            <a:chExt cx="371568" cy="371568"/>
          </a:xfrm>
        </p:grpSpPr>
        <p:sp>
          <p:nvSpPr>
            <p:cNvPr id="86" name="Oval 85">
              <a:extLst>
                <a:ext uri="{FF2B5EF4-FFF2-40B4-BE49-F238E27FC236}">
                  <a16:creationId xmlns:a16="http://schemas.microsoft.com/office/drawing/2014/main" id="{58528DA1-7AF8-2177-D53E-2B8849E228C8}"/>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7" name="Straight Connector 86">
              <a:extLst>
                <a:ext uri="{FF2B5EF4-FFF2-40B4-BE49-F238E27FC236}">
                  <a16:creationId xmlns:a16="http://schemas.microsoft.com/office/drawing/2014/main" id="{DD3DB713-E272-1AD7-56C1-C42213F80A39}"/>
                </a:ext>
              </a:extLst>
            </p:cNvPr>
            <p:cNvCxnSpPr>
              <a:cxnSpLocks/>
              <a:stCxn id="86" idx="6"/>
              <a:endCxn id="86"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88" name="Straight Connector 87">
              <a:extLst>
                <a:ext uri="{FF2B5EF4-FFF2-40B4-BE49-F238E27FC236}">
                  <a16:creationId xmlns:a16="http://schemas.microsoft.com/office/drawing/2014/main" id="{4A8C1380-7249-6CA5-7DFE-BD3952584698}"/>
                </a:ext>
              </a:extLst>
            </p:cNvPr>
            <p:cNvCxnSpPr>
              <a:cxnSpLocks/>
              <a:stCxn id="86" idx="4"/>
              <a:endCxn id="86"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89" name="!!Group 53">
            <a:extLst>
              <a:ext uri="{FF2B5EF4-FFF2-40B4-BE49-F238E27FC236}">
                <a16:creationId xmlns:a16="http://schemas.microsoft.com/office/drawing/2014/main" id="{26495A8D-02F4-33BB-6659-6D2BF2F11571}"/>
              </a:ext>
            </a:extLst>
          </p:cNvPr>
          <p:cNvGrpSpPr/>
          <p:nvPr/>
        </p:nvGrpSpPr>
        <p:grpSpPr>
          <a:xfrm>
            <a:off x="3403179" y="4186438"/>
            <a:ext cx="371568" cy="371568"/>
            <a:chOff x="5114833" y="2825052"/>
            <a:chExt cx="371568" cy="371568"/>
          </a:xfrm>
        </p:grpSpPr>
        <p:sp>
          <p:nvSpPr>
            <p:cNvPr id="90" name="Oval 89">
              <a:extLst>
                <a:ext uri="{FF2B5EF4-FFF2-40B4-BE49-F238E27FC236}">
                  <a16:creationId xmlns:a16="http://schemas.microsoft.com/office/drawing/2014/main" id="{1296CB9C-50B6-9912-C705-EF2125EDCE03}"/>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91" name="Straight Connector 90">
              <a:extLst>
                <a:ext uri="{FF2B5EF4-FFF2-40B4-BE49-F238E27FC236}">
                  <a16:creationId xmlns:a16="http://schemas.microsoft.com/office/drawing/2014/main" id="{F895CC24-E7B9-BA2D-B87A-18C0257C58F0}"/>
                </a:ext>
              </a:extLst>
            </p:cNvPr>
            <p:cNvCxnSpPr>
              <a:cxnSpLocks/>
              <a:stCxn id="90" idx="6"/>
              <a:endCxn id="90"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92" name="Straight Connector 91">
              <a:extLst>
                <a:ext uri="{FF2B5EF4-FFF2-40B4-BE49-F238E27FC236}">
                  <a16:creationId xmlns:a16="http://schemas.microsoft.com/office/drawing/2014/main" id="{E0F3AECC-341B-7EE5-A637-1393B9573257}"/>
                </a:ext>
              </a:extLst>
            </p:cNvPr>
            <p:cNvCxnSpPr>
              <a:cxnSpLocks/>
              <a:stCxn id="90" idx="4"/>
              <a:endCxn id="90"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93" name="!!Straight Arrow Connector 58">
            <a:extLst>
              <a:ext uri="{FF2B5EF4-FFF2-40B4-BE49-F238E27FC236}">
                <a16:creationId xmlns:a16="http://schemas.microsoft.com/office/drawing/2014/main" id="{E1E0C092-A625-ADC8-25C9-D0BD10A309D3}"/>
              </a:ext>
            </a:extLst>
          </p:cNvPr>
          <p:cNvCxnSpPr>
            <a:cxnSpLocks/>
            <a:endCxn id="90" idx="0"/>
          </p:cNvCxnSpPr>
          <p:nvPr/>
        </p:nvCxnSpPr>
        <p:spPr>
          <a:xfrm>
            <a:off x="2871705" y="3369822"/>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4" name="!!Straight Arrow Connector 59">
            <a:extLst>
              <a:ext uri="{FF2B5EF4-FFF2-40B4-BE49-F238E27FC236}">
                <a16:creationId xmlns:a16="http://schemas.microsoft.com/office/drawing/2014/main" id="{B719F400-FB09-85C6-00B1-61B6EFAFADE1}"/>
              </a:ext>
            </a:extLst>
          </p:cNvPr>
          <p:cNvCxnSpPr>
            <a:cxnSpLocks/>
            <a:endCxn id="86" idx="4"/>
          </p:cNvCxnSpPr>
          <p:nvPr/>
        </p:nvCxnSpPr>
        <p:spPr>
          <a:xfrm flipV="1">
            <a:off x="2949708" y="3564937"/>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5" name="!!Straight Connector 60">
            <a:extLst>
              <a:ext uri="{FF2B5EF4-FFF2-40B4-BE49-F238E27FC236}">
                <a16:creationId xmlns:a16="http://schemas.microsoft.com/office/drawing/2014/main" id="{D4FA44B2-4D8E-0BFC-0739-EA926DB18C8C}"/>
              </a:ext>
            </a:extLst>
          </p:cNvPr>
          <p:cNvCxnSpPr/>
          <p:nvPr/>
        </p:nvCxnSpPr>
        <p:spPr>
          <a:xfrm flipH="1">
            <a:off x="3125499" y="4495660"/>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96" name="!!Straight Arrow Connector 61">
            <a:extLst>
              <a:ext uri="{FF2B5EF4-FFF2-40B4-BE49-F238E27FC236}">
                <a16:creationId xmlns:a16="http://schemas.microsoft.com/office/drawing/2014/main" id="{4E153ACF-77F5-94B2-6BB9-1391BEEA1105}"/>
              </a:ext>
            </a:extLst>
          </p:cNvPr>
          <p:cNvCxnSpPr>
            <a:cxnSpLocks/>
          </p:cNvCxnSpPr>
          <p:nvPr/>
        </p:nvCxnSpPr>
        <p:spPr>
          <a:xfrm>
            <a:off x="3739844" y="3379153"/>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7" name="!!Straight Arrow Connector 62">
            <a:extLst>
              <a:ext uri="{FF2B5EF4-FFF2-40B4-BE49-F238E27FC236}">
                <a16:creationId xmlns:a16="http://schemas.microsoft.com/office/drawing/2014/main" id="{49DA056C-FC65-137E-A6FC-E7AC81520A1A}"/>
              </a:ext>
            </a:extLst>
          </p:cNvPr>
          <p:cNvCxnSpPr>
            <a:cxnSpLocks/>
            <a:stCxn id="90" idx="6"/>
          </p:cNvCxnSpPr>
          <p:nvPr/>
        </p:nvCxnSpPr>
        <p:spPr>
          <a:xfrm flipV="1">
            <a:off x="3774747" y="4362890"/>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8" name="!!Rectangle 81">
            <a:extLst>
              <a:ext uri="{FF2B5EF4-FFF2-40B4-BE49-F238E27FC236}">
                <a16:creationId xmlns:a16="http://schemas.microsoft.com/office/drawing/2014/main" id="{E90B421B-B2FB-037C-B508-3E4C0BBB010F}"/>
              </a:ext>
            </a:extLst>
          </p:cNvPr>
          <p:cNvSpPr/>
          <p:nvPr/>
        </p:nvSpPr>
        <p:spPr>
          <a:xfrm>
            <a:off x="4500896" y="25477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9" name="!!Rectangle 81">
            <a:extLst>
              <a:ext uri="{FF2B5EF4-FFF2-40B4-BE49-F238E27FC236}">
                <a16:creationId xmlns:a16="http://schemas.microsoft.com/office/drawing/2014/main" id="{F89CA305-FF12-B909-D253-2C2C0B2DB4AE}"/>
              </a:ext>
            </a:extLst>
          </p:cNvPr>
          <p:cNvSpPr/>
          <p:nvPr/>
        </p:nvSpPr>
        <p:spPr>
          <a:xfrm>
            <a:off x="4506267" y="4180885"/>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00" name="!!Elbow Connector 65">
            <a:extLst>
              <a:ext uri="{FF2B5EF4-FFF2-40B4-BE49-F238E27FC236}">
                <a16:creationId xmlns:a16="http://schemas.microsoft.com/office/drawing/2014/main" id="{0FBAE11B-ADCD-FF77-DA92-2F36170949F9}"/>
              </a:ext>
            </a:extLst>
          </p:cNvPr>
          <p:cNvCxnSpPr/>
          <p:nvPr/>
        </p:nvCxnSpPr>
        <p:spPr>
          <a:xfrm>
            <a:off x="2051098" y="4350037"/>
            <a:ext cx="2445509" cy="574853"/>
          </a:xfrm>
          <a:prstGeom prst="bentConnector3">
            <a:avLst>
              <a:gd name="adj1" fmla="val -12720"/>
            </a:avLst>
          </a:prstGeom>
          <a:ln w="127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1" name="!!Elbow Connector 67">
            <a:extLst>
              <a:ext uri="{FF2B5EF4-FFF2-40B4-BE49-F238E27FC236}">
                <a16:creationId xmlns:a16="http://schemas.microsoft.com/office/drawing/2014/main" id="{9A82B53F-9104-8014-9D17-2E5312CB829B}"/>
              </a:ext>
            </a:extLst>
          </p:cNvPr>
          <p:cNvCxnSpPr>
            <a:cxnSpLocks/>
          </p:cNvCxnSpPr>
          <p:nvPr/>
        </p:nvCxnSpPr>
        <p:spPr>
          <a:xfrm rot="5400000" flipH="1" flipV="1">
            <a:off x="3987937" y="3102506"/>
            <a:ext cx="2740588" cy="554822"/>
          </a:xfrm>
          <a:prstGeom prst="bentConnector3">
            <a:avLst>
              <a:gd name="adj1" fmla="val -586"/>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2" name="!!Straight Arrow Connector 69">
            <a:extLst>
              <a:ext uri="{FF2B5EF4-FFF2-40B4-BE49-F238E27FC236}">
                <a16:creationId xmlns:a16="http://schemas.microsoft.com/office/drawing/2014/main" id="{1C7DB8F4-90A3-DC15-E7C0-CD68A0551F50}"/>
              </a:ext>
            </a:extLst>
          </p:cNvPr>
          <p:cNvCxnSpPr>
            <a:cxnSpLocks/>
          </p:cNvCxnSpPr>
          <p:nvPr/>
        </p:nvCxnSpPr>
        <p:spPr>
          <a:xfrm flipH="1">
            <a:off x="4472756" y="2009623"/>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3" name="!!Rectangle 70">
            <a:extLst>
              <a:ext uri="{FF2B5EF4-FFF2-40B4-BE49-F238E27FC236}">
                <a16:creationId xmlns:a16="http://schemas.microsoft.com/office/drawing/2014/main" id="{7376CF11-14DF-2CCE-6C84-D8691DAC7AA1}"/>
              </a:ext>
            </a:extLst>
          </p:cNvPr>
          <p:cNvSpPr/>
          <p:nvPr/>
        </p:nvSpPr>
        <p:spPr>
          <a:xfrm>
            <a:off x="3022871" y="1804723"/>
            <a:ext cx="1433945" cy="409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04" name="!!Elbow Connector 71">
            <a:extLst>
              <a:ext uri="{FF2B5EF4-FFF2-40B4-BE49-F238E27FC236}">
                <a16:creationId xmlns:a16="http://schemas.microsoft.com/office/drawing/2014/main" id="{A61E45A3-4117-7689-C537-2FF6D6B98598}"/>
              </a:ext>
            </a:extLst>
          </p:cNvPr>
          <p:cNvCxnSpPr>
            <a:cxnSpLocks/>
            <a:stCxn id="103" idx="1"/>
          </p:cNvCxnSpPr>
          <p:nvPr/>
        </p:nvCxnSpPr>
        <p:spPr>
          <a:xfrm rot="10800000" flipV="1">
            <a:off x="1784353" y="2009623"/>
            <a:ext cx="1238519" cy="1398250"/>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5" name="!!Straight Arrow Connector 72">
            <a:extLst>
              <a:ext uri="{FF2B5EF4-FFF2-40B4-BE49-F238E27FC236}">
                <a16:creationId xmlns:a16="http://schemas.microsoft.com/office/drawing/2014/main" id="{63631CBB-3559-87D7-08F0-080A6C7EF572}"/>
              </a:ext>
            </a:extLst>
          </p:cNvPr>
          <p:cNvCxnSpPr>
            <a:cxnSpLocks/>
          </p:cNvCxnSpPr>
          <p:nvPr/>
        </p:nvCxnSpPr>
        <p:spPr>
          <a:xfrm>
            <a:off x="1784352" y="3392012"/>
            <a:ext cx="8873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8" name="!!Elbow Connector 73">
            <a:extLst>
              <a:ext uri="{FF2B5EF4-FFF2-40B4-BE49-F238E27FC236}">
                <a16:creationId xmlns:a16="http://schemas.microsoft.com/office/drawing/2014/main" id="{F26EDF62-8892-1380-4AB4-57063826C7A4}"/>
              </a:ext>
            </a:extLst>
          </p:cNvPr>
          <p:cNvCxnSpPr>
            <a:cxnSpLocks/>
          </p:cNvCxnSpPr>
          <p:nvPr/>
        </p:nvCxnSpPr>
        <p:spPr>
          <a:xfrm flipV="1">
            <a:off x="2075647" y="2680304"/>
            <a:ext cx="2454973" cy="727569"/>
          </a:xfrm>
          <a:prstGeom prst="bentConnector3">
            <a:avLst>
              <a:gd name="adj1" fmla="val -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9" name="!!Elbow Connector 74">
            <a:extLst>
              <a:ext uri="{FF2B5EF4-FFF2-40B4-BE49-F238E27FC236}">
                <a16:creationId xmlns:a16="http://schemas.microsoft.com/office/drawing/2014/main" id="{C43AF8BA-CFE0-E5F5-38FE-FFE9B2CD0F34}"/>
              </a:ext>
            </a:extLst>
          </p:cNvPr>
          <p:cNvCxnSpPr>
            <a:cxnSpLocks/>
          </p:cNvCxnSpPr>
          <p:nvPr/>
        </p:nvCxnSpPr>
        <p:spPr>
          <a:xfrm>
            <a:off x="5080820" y="3044088"/>
            <a:ext cx="2449577" cy="1191359"/>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10" name="!!Group 75">
            <a:extLst>
              <a:ext uri="{FF2B5EF4-FFF2-40B4-BE49-F238E27FC236}">
                <a16:creationId xmlns:a16="http://schemas.microsoft.com/office/drawing/2014/main" id="{62A777CC-E9C3-406E-B3C1-EB14F6963C06}"/>
              </a:ext>
            </a:extLst>
          </p:cNvPr>
          <p:cNvGrpSpPr/>
          <p:nvPr/>
        </p:nvGrpSpPr>
        <p:grpSpPr>
          <a:xfrm>
            <a:off x="7507806" y="4034718"/>
            <a:ext cx="371568" cy="371568"/>
            <a:chOff x="5114833" y="2825052"/>
            <a:chExt cx="371568" cy="371568"/>
          </a:xfrm>
        </p:grpSpPr>
        <p:sp>
          <p:nvSpPr>
            <p:cNvPr id="111" name="Oval 110">
              <a:extLst>
                <a:ext uri="{FF2B5EF4-FFF2-40B4-BE49-F238E27FC236}">
                  <a16:creationId xmlns:a16="http://schemas.microsoft.com/office/drawing/2014/main" id="{FFAD60E2-31CB-2CAA-FE63-05C2A4C56441}"/>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12" name="Straight Connector 111">
              <a:extLst>
                <a:ext uri="{FF2B5EF4-FFF2-40B4-BE49-F238E27FC236}">
                  <a16:creationId xmlns:a16="http://schemas.microsoft.com/office/drawing/2014/main" id="{6087096A-69D6-D022-6C58-DF5C4C8ACAAF}"/>
                </a:ext>
              </a:extLst>
            </p:cNvPr>
            <p:cNvCxnSpPr>
              <a:cxnSpLocks/>
              <a:stCxn id="111" idx="7"/>
              <a:endCxn id="111" idx="3"/>
            </p:cNvCxnSpPr>
            <p:nvPr/>
          </p:nvCxnSpPr>
          <p:spPr>
            <a:xfrm flipH="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cxnSp>
          <p:nvCxnSpPr>
            <p:cNvPr id="113" name="Straight Connector 112">
              <a:extLst>
                <a:ext uri="{FF2B5EF4-FFF2-40B4-BE49-F238E27FC236}">
                  <a16:creationId xmlns:a16="http://schemas.microsoft.com/office/drawing/2014/main" id="{B001558C-7877-E46C-E36C-A8E02A5E17A1}"/>
                </a:ext>
              </a:extLst>
            </p:cNvPr>
            <p:cNvCxnSpPr>
              <a:cxnSpLocks/>
              <a:stCxn id="111" idx="5"/>
              <a:endCxn id="111" idx="1"/>
            </p:cNvCxnSpPr>
            <p:nvPr/>
          </p:nvCxnSpPr>
          <p:spPr>
            <a:xfrm flipH="1" flipV="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grpSp>
      <p:sp>
        <p:nvSpPr>
          <p:cNvPr id="114" name="!!TextBox 79">
            <a:extLst>
              <a:ext uri="{FF2B5EF4-FFF2-40B4-BE49-F238E27FC236}">
                <a16:creationId xmlns:a16="http://schemas.microsoft.com/office/drawing/2014/main" id="{ABE8E8A1-7591-78EB-A75B-946679F65A98}"/>
              </a:ext>
            </a:extLst>
          </p:cNvPr>
          <p:cNvSpPr txBox="1"/>
          <p:nvPr/>
        </p:nvSpPr>
        <p:spPr>
          <a:xfrm>
            <a:off x="3097543" y="2885202"/>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115" name="!!TextBox 80">
            <a:extLst>
              <a:ext uri="{FF2B5EF4-FFF2-40B4-BE49-F238E27FC236}">
                <a16:creationId xmlns:a16="http://schemas.microsoft.com/office/drawing/2014/main" id="{E19AFEB2-630C-D4E9-1D1D-4CDCF13F583B}"/>
              </a:ext>
            </a:extLst>
          </p:cNvPr>
          <p:cNvSpPr txBox="1"/>
          <p:nvPr/>
        </p:nvSpPr>
        <p:spPr>
          <a:xfrm>
            <a:off x="4545287" y="2590180"/>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16" name="!!TextBox 81">
            <a:extLst>
              <a:ext uri="{FF2B5EF4-FFF2-40B4-BE49-F238E27FC236}">
                <a16:creationId xmlns:a16="http://schemas.microsoft.com/office/drawing/2014/main" id="{ED78D9C8-86B8-BEF2-29CD-264859955C35}"/>
              </a:ext>
            </a:extLst>
          </p:cNvPr>
          <p:cNvSpPr txBox="1"/>
          <p:nvPr/>
        </p:nvSpPr>
        <p:spPr>
          <a:xfrm>
            <a:off x="4552980" y="4266670"/>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17" name="!!TextBox 82">
            <a:extLst>
              <a:ext uri="{FF2B5EF4-FFF2-40B4-BE49-F238E27FC236}">
                <a16:creationId xmlns:a16="http://schemas.microsoft.com/office/drawing/2014/main" id="{D6E6A22E-59E3-4157-F58D-E1CEB2E36FC6}"/>
              </a:ext>
            </a:extLst>
          </p:cNvPr>
          <p:cNvSpPr txBox="1"/>
          <p:nvPr/>
        </p:nvSpPr>
        <p:spPr>
          <a:xfrm>
            <a:off x="4558961" y="3250553"/>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118" name="!!TextBox 83">
            <a:extLst>
              <a:ext uri="{FF2B5EF4-FFF2-40B4-BE49-F238E27FC236}">
                <a16:creationId xmlns:a16="http://schemas.microsoft.com/office/drawing/2014/main" id="{8194FF23-7204-E960-C9EA-B5A848524FA3}"/>
              </a:ext>
            </a:extLst>
          </p:cNvPr>
          <p:cNvSpPr txBox="1"/>
          <p:nvPr/>
        </p:nvSpPr>
        <p:spPr>
          <a:xfrm>
            <a:off x="4552980" y="480782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119" name="!!TextBox 84">
            <a:extLst>
              <a:ext uri="{FF2B5EF4-FFF2-40B4-BE49-F238E27FC236}">
                <a16:creationId xmlns:a16="http://schemas.microsoft.com/office/drawing/2014/main" id="{D6EDC247-5749-3CD2-EFD5-007A03D62159}"/>
              </a:ext>
            </a:extLst>
          </p:cNvPr>
          <p:cNvSpPr txBox="1"/>
          <p:nvPr/>
        </p:nvSpPr>
        <p:spPr>
          <a:xfrm>
            <a:off x="4652957" y="2929786"/>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120" name="!!TextBox 88">
            <a:extLst>
              <a:ext uri="{FF2B5EF4-FFF2-40B4-BE49-F238E27FC236}">
                <a16:creationId xmlns:a16="http://schemas.microsoft.com/office/drawing/2014/main" id="{780CF093-28A2-5E02-C53C-FB0E980B197A}"/>
              </a:ext>
            </a:extLst>
          </p:cNvPr>
          <p:cNvSpPr txBox="1"/>
          <p:nvPr/>
        </p:nvSpPr>
        <p:spPr>
          <a:xfrm>
            <a:off x="4661031" y="455618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121" name="!!Rectangle 81">
            <a:extLst>
              <a:ext uri="{FF2B5EF4-FFF2-40B4-BE49-F238E27FC236}">
                <a16:creationId xmlns:a16="http://schemas.microsoft.com/office/drawing/2014/main" id="{32028086-EC9C-7FD9-30D9-F159DFBFAD04}"/>
              </a:ext>
            </a:extLst>
          </p:cNvPr>
          <p:cNvSpPr/>
          <p:nvPr/>
        </p:nvSpPr>
        <p:spPr>
          <a:xfrm>
            <a:off x="8329340" y="378173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22" name="!!TextBox 93">
            <a:extLst>
              <a:ext uri="{FF2B5EF4-FFF2-40B4-BE49-F238E27FC236}">
                <a16:creationId xmlns:a16="http://schemas.microsoft.com/office/drawing/2014/main" id="{2167862C-93B0-2C59-3966-BFF916441399}"/>
              </a:ext>
            </a:extLst>
          </p:cNvPr>
          <p:cNvSpPr txBox="1"/>
          <p:nvPr/>
        </p:nvSpPr>
        <p:spPr>
          <a:xfrm>
            <a:off x="8373731" y="382413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23" name="!!TextBox 94">
            <a:extLst>
              <a:ext uri="{FF2B5EF4-FFF2-40B4-BE49-F238E27FC236}">
                <a16:creationId xmlns:a16="http://schemas.microsoft.com/office/drawing/2014/main" id="{550C45A9-F252-1DAB-6404-9918CCBB74B9}"/>
              </a:ext>
            </a:extLst>
          </p:cNvPr>
          <p:cNvSpPr txBox="1"/>
          <p:nvPr/>
        </p:nvSpPr>
        <p:spPr>
          <a:xfrm>
            <a:off x="8379726" y="445368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124" name="!!TextBox 95">
            <a:extLst>
              <a:ext uri="{FF2B5EF4-FFF2-40B4-BE49-F238E27FC236}">
                <a16:creationId xmlns:a16="http://schemas.microsoft.com/office/drawing/2014/main" id="{3534EB1A-6AAE-A8D5-B59C-CCDB60B0384C}"/>
              </a:ext>
            </a:extLst>
          </p:cNvPr>
          <p:cNvSpPr txBox="1"/>
          <p:nvPr/>
        </p:nvSpPr>
        <p:spPr>
          <a:xfrm>
            <a:off x="8481401" y="416374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125" name="!!Elbow Connector 96">
            <a:extLst>
              <a:ext uri="{FF2B5EF4-FFF2-40B4-BE49-F238E27FC236}">
                <a16:creationId xmlns:a16="http://schemas.microsoft.com/office/drawing/2014/main" id="{4EE36B15-F16E-E725-91D9-88422DB36D8B}"/>
              </a:ext>
            </a:extLst>
          </p:cNvPr>
          <p:cNvCxnSpPr>
            <a:cxnSpLocks/>
            <a:stCxn id="111" idx="6"/>
          </p:cNvCxnSpPr>
          <p:nvPr/>
        </p:nvCxnSpPr>
        <p:spPr>
          <a:xfrm>
            <a:off x="7879374" y="4220502"/>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6" name="!!Elbow Connector 97">
            <a:extLst>
              <a:ext uri="{FF2B5EF4-FFF2-40B4-BE49-F238E27FC236}">
                <a16:creationId xmlns:a16="http://schemas.microsoft.com/office/drawing/2014/main" id="{D75425DA-3983-48E5-4B4E-9D125A0EBC5C}"/>
              </a:ext>
            </a:extLst>
          </p:cNvPr>
          <p:cNvCxnSpPr>
            <a:cxnSpLocks/>
          </p:cNvCxnSpPr>
          <p:nvPr/>
        </p:nvCxnSpPr>
        <p:spPr>
          <a:xfrm flipV="1">
            <a:off x="7068818" y="3952736"/>
            <a:ext cx="1260522" cy="282711"/>
          </a:xfrm>
          <a:prstGeom prst="bentConnector3">
            <a:avLst>
              <a:gd name="adj1" fmla="val 7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7" name="!!Elbow Connector 98">
            <a:extLst>
              <a:ext uri="{FF2B5EF4-FFF2-40B4-BE49-F238E27FC236}">
                <a16:creationId xmlns:a16="http://schemas.microsoft.com/office/drawing/2014/main" id="{E91B5296-DE59-42CC-1A1C-082DB57C25AF}"/>
              </a:ext>
            </a:extLst>
          </p:cNvPr>
          <p:cNvCxnSpPr>
            <a:cxnSpLocks/>
          </p:cNvCxnSpPr>
          <p:nvPr/>
        </p:nvCxnSpPr>
        <p:spPr>
          <a:xfrm flipV="1">
            <a:off x="8899298" y="3564937"/>
            <a:ext cx="2535609" cy="691952"/>
          </a:xfrm>
          <a:prstGeom prst="bentConnector3">
            <a:avLst>
              <a:gd name="adj1" fmla="val 24407"/>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99">
            <a:extLst>
              <a:ext uri="{FF2B5EF4-FFF2-40B4-BE49-F238E27FC236}">
                <a16:creationId xmlns:a16="http://schemas.microsoft.com/office/drawing/2014/main" id="{2A6FA3E8-9E68-DEFB-5250-57D89201F1A5}"/>
              </a:ext>
            </a:extLst>
          </p:cNvPr>
          <p:cNvSpPr txBox="1"/>
          <p:nvPr/>
        </p:nvSpPr>
        <p:spPr>
          <a:xfrm>
            <a:off x="3562968" y="1873372"/>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FIFO</a:t>
            </a:r>
          </a:p>
        </p:txBody>
      </p:sp>
      <p:sp>
        <p:nvSpPr>
          <p:cNvPr id="129" name="!!Oval 100">
            <a:extLst>
              <a:ext uri="{FF2B5EF4-FFF2-40B4-BE49-F238E27FC236}">
                <a16:creationId xmlns:a16="http://schemas.microsoft.com/office/drawing/2014/main" id="{CF6F0019-B000-ABF4-D7A3-32552AC2D3CF}"/>
              </a:ext>
            </a:extLst>
          </p:cNvPr>
          <p:cNvSpPr/>
          <p:nvPr/>
        </p:nvSpPr>
        <p:spPr>
          <a:xfrm>
            <a:off x="2017882" y="3358156"/>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0" name="!!Oval 101">
            <a:extLst>
              <a:ext uri="{FF2B5EF4-FFF2-40B4-BE49-F238E27FC236}">
                <a16:creationId xmlns:a16="http://schemas.microsoft.com/office/drawing/2014/main" id="{B299FFD6-5A27-E4F0-ECEC-8A4F11D8CDD8}"/>
              </a:ext>
            </a:extLst>
          </p:cNvPr>
          <p:cNvSpPr/>
          <p:nvPr/>
        </p:nvSpPr>
        <p:spPr>
          <a:xfrm>
            <a:off x="7033456" y="4185729"/>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1" name="!!Oval 102">
            <a:extLst>
              <a:ext uri="{FF2B5EF4-FFF2-40B4-BE49-F238E27FC236}">
                <a16:creationId xmlns:a16="http://schemas.microsoft.com/office/drawing/2014/main" id="{6536373E-5B25-1A8B-7578-F53259124C25}"/>
              </a:ext>
            </a:extLst>
          </p:cNvPr>
          <p:cNvSpPr/>
          <p:nvPr/>
        </p:nvSpPr>
        <p:spPr>
          <a:xfrm>
            <a:off x="1721903" y="432250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32" name="!!Straight Arrow Connector 103">
            <a:extLst>
              <a:ext uri="{FF2B5EF4-FFF2-40B4-BE49-F238E27FC236}">
                <a16:creationId xmlns:a16="http://schemas.microsoft.com/office/drawing/2014/main" id="{26F58CE5-17D4-3629-2E99-7E0766851E44}"/>
              </a:ext>
            </a:extLst>
          </p:cNvPr>
          <p:cNvCxnSpPr>
            <a:cxnSpLocks/>
            <a:stCxn id="133" idx="0"/>
            <a:endCxn id="111" idx="4"/>
          </p:cNvCxnSpPr>
          <p:nvPr/>
        </p:nvCxnSpPr>
        <p:spPr>
          <a:xfrm flipV="1">
            <a:off x="7693590" y="4406286"/>
            <a:ext cx="0" cy="42251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3" name="!!Rectangle 104">
            <a:extLst>
              <a:ext uri="{FF2B5EF4-FFF2-40B4-BE49-F238E27FC236}">
                <a16:creationId xmlns:a16="http://schemas.microsoft.com/office/drawing/2014/main" id="{21093BE6-0244-A2E9-155A-1D7C77B2D2BE}"/>
              </a:ext>
            </a:extLst>
          </p:cNvPr>
          <p:cNvSpPr/>
          <p:nvPr/>
        </p:nvSpPr>
        <p:spPr>
          <a:xfrm>
            <a:off x="6854952" y="4828797"/>
            <a:ext cx="1677276" cy="3306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sp>
        <p:nvSpPr>
          <p:cNvPr id="136" name="Rectangle 135">
            <a:extLst>
              <a:ext uri="{FF2B5EF4-FFF2-40B4-BE49-F238E27FC236}">
                <a16:creationId xmlns:a16="http://schemas.microsoft.com/office/drawing/2014/main" id="{C4243AFE-1988-C108-39BA-2CE446F30F7F}"/>
              </a:ext>
            </a:extLst>
          </p:cNvPr>
          <p:cNvSpPr/>
          <p:nvPr/>
        </p:nvSpPr>
        <p:spPr>
          <a:xfrm>
            <a:off x="8283663" y="3817707"/>
            <a:ext cx="1104373" cy="81018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Convergent</a:t>
            </a:r>
            <a:r>
              <a:rPr lang="en-US" sz="1400" b="1" dirty="0"/>
              <a:t> </a:t>
            </a:r>
            <a:r>
              <a:rPr lang="en-US" sz="1400" b="1" dirty="0">
                <a:solidFill>
                  <a:schemeClr val="tx1"/>
                </a:solidFill>
              </a:rPr>
              <a:t>Rounding</a:t>
            </a:r>
          </a:p>
        </p:txBody>
      </p:sp>
    </p:spTree>
    <p:extLst>
      <p:ext uri="{BB962C8B-B14F-4D97-AF65-F5344CB8AC3E}">
        <p14:creationId xmlns:p14="http://schemas.microsoft.com/office/powerpoint/2010/main" val="238306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500"/>
                                        <p:tgtEl>
                                          <p:spTgt spid="131"/>
                                        </p:tgtEl>
                                      </p:cBhvr>
                                    </p:animEffect>
                                  </p:childTnLst>
                                </p:cTn>
                              </p:par>
                              <p:par>
                                <p:cTn id="8" presetID="10" presetClass="entr" presetSubtype="0" fill="hold" nodeType="withEffect">
                                  <p:stCondLst>
                                    <p:cond delay="0"/>
                                  </p:stCondLst>
                                  <p:childTnLst>
                                    <p:set>
                                      <p:cBhvr>
                                        <p:cTn id="9" dur="1" fill="hold">
                                          <p:stCondLst>
                                            <p:cond delay="0"/>
                                          </p:stCondLst>
                                        </p:cTn>
                                        <p:tgtEl>
                                          <p:spTgt spid="104"/>
                                        </p:tgtEl>
                                        <p:attrNameLst>
                                          <p:attrName>style.visibility</p:attrName>
                                        </p:attrNameLst>
                                      </p:cBhvr>
                                      <p:to>
                                        <p:strVal val="visible"/>
                                      </p:to>
                                    </p:set>
                                    <p:animEffect transition="in" filter="fade">
                                      <p:cBhvr>
                                        <p:cTn id="10" dur="500"/>
                                        <p:tgtEl>
                                          <p:spTgt spid="10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500"/>
                                        <p:tgtEl>
                                          <p:spTgt spid="103"/>
                                        </p:tgtEl>
                                      </p:cBhvr>
                                    </p:animEffect>
                                  </p:childTnLst>
                                </p:cTn>
                              </p:par>
                              <p:par>
                                <p:cTn id="14" presetID="10" presetClass="entr" presetSubtype="0" fill="hold" nodeType="withEffect">
                                  <p:stCondLst>
                                    <p:cond delay="0"/>
                                  </p:stCondLst>
                                  <p:childTnLst>
                                    <p:set>
                                      <p:cBhvr>
                                        <p:cTn id="15" dur="1" fill="hold">
                                          <p:stCondLst>
                                            <p:cond delay="0"/>
                                          </p:stCondLst>
                                        </p:cTn>
                                        <p:tgtEl>
                                          <p:spTgt spid="102"/>
                                        </p:tgtEl>
                                        <p:attrNameLst>
                                          <p:attrName>style.visibility</p:attrName>
                                        </p:attrNameLst>
                                      </p:cBhvr>
                                      <p:to>
                                        <p:strVal val="visible"/>
                                      </p:to>
                                    </p:set>
                                    <p:animEffect transition="in" filter="fade">
                                      <p:cBhvr>
                                        <p:cTn id="16" dur="500"/>
                                        <p:tgtEl>
                                          <p:spTgt spid="102"/>
                                        </p:tgtEl>
                                      </p:cBhvr>
                                    </p:animEffect>
                                  </p:childTnLst>
                                </p:cTn>
                              </p:par>
                              <p:par>
                                <p:cTn id="17" presetID="10" presetClass="entr" presetSubtype="0" fill="hold" nodeType="withEffect">
                                  <p:stCondLst>
                                    <p:cond delay="0"/>
                                  </p:stCondLst>
                                  <p:childTnLst>
                                    <p:set>
                                      <p:cBhvr>
                                        <p:cTn id="18" dur="1" fill="hold">
                                          <p:stCondLst>
                                            <p:cond delay="0"/>
                                          </p:stCondLst>
                                        </p:cTn>
                                        <p:tgtEl>
                                          <p:spTgt spid="109"/>
                                        </p:tgtEl>
                                        <p:attrNameLst>
                                          <p:attrName>style.visibility</p:attrName>
                                        </p:attrNameLst>
                                      </p:cBhvr>
                                      <p:to>
                                        <p:strVal val="visible"/>
                                      </p:to>
                                    </p:set>
                                    <p:animEffect transition="in" filter="fade">
                                      <p:cBhvr>
                                        <p:cTn id="19" dur="500"/>
                                        <p:tgtEl>
                                          <p:spTgt spid="10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8"/>
                                        </p:tgtEl>
                                        <p:attrNameLst>
                                          <p:attrName>style.visibility</p:attrName>
                                        </p:attrNameLst>
                                      </p:cBhvr>
                                      <p:to>
                                        <p:strVal val="visible"/>
                                      </p:to>
                                    </p:set>
                                    <p:animEffect transition="in" filter="fade">
                                      <p:cBhvr>
                                        <p:cTn id="22" dur="500"/>
                                        <p:tgtEl>
                                          <p:spTgt spid="9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9"/>
                                        </p:tgtEl>
                                        <p:attrNameLst>
                                          <p:attrName>style.visibility</p:attrName>
                                        </p:attrNameLst>
                                      </p:cBhvr>
                                      <p:to>
                                        <p:strVal val="visible"/>
                                      </p:to>
                                    </p:set>
                                    <p:animEffect transition="in" filter="fade">
                                      <p:cBhvr>
                                        <p:cTn id="25" dur="500"/>
                                        <p:tgtEl>
                                          <p:spTgt spid="99"/>
                                        </p:tgtEl>
                                      </p:cBhvr>
                                    </p:animEffect>
                                  </p:childTnLst>
                                </p:cTn>
                              </p:par>
                              <p:par>
                                <p:cTn id="26" presetID="10" presetClass="entr" presetSubtype="0" fill="hold" nodeType="withEffect">
                                  <p:stCondLst>
                                    <p:cond delay="0"/>
                                  </p:stCondLst>
                                  <p:childTnLst>
                                    <p:set>
                                      <p:cBhvr>
                                        <p:cTn id="27" dur="1" fill="hold">
                                          <p:stCondLst>
                                            <p:cond delay="0"/>
                                          </p:stCondLst>
                                        </p:cTn>
                                        <p:tgtEl>
                                          <p:spTgt spid="110"/>
                                        </p:tgtEl>
                                        <p:attrNameLst>
                                          <p:attrName>style.visibility</p:attrName>
                                        </p:attrNameLst>
                                      </p:cBhvr>
                                      <p:to>
                                        <p:strVal val="visible"/>
                                      </p:to>
                                    </p:set>
                                    <p:animEffect transition="in" filter="fade">
                                      <p:cBhvr>
                                        <p:cTn id="28" dur="500"/>
                                        <p:tgtEl>
                                          <p:spTgt spid="1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3"/>
                                        </p:tgtEl>
                                        <p:attrNameLst>
                                          <p:attrName>style.visibility</p:attrName>
                                        </p:attrNameLst>
                                      </p:cBhvr>
                                      <p:to>
                                        <p:strVal val="visible"/>
                                      </p:to>
                                    </p:set>
                                    <p:animEffect transition="in" filter="fade">
                                      <p:cBhvr>
                                        <p:cTn id="31" dur="500"/>
                                        <p:tgtEl>
                                          <p:spTgt spid="133"/>
                                        </p:tgtEl>
                                      </p:cBhvr>
                                    </p:animEffect>
                                  </p:childTnLst>
                                </p:cTn>
                              </p:par>
                              <p:par>
                                <p:cTn id="32" presetID="10" presetClass="entr" presetSubtype="0" fill="hold" nodeType="withEffect">
                                  <p:stCondLst>
                                    <p:cond delay="0"/>
                                  </p:stCondLst>
                                  <p:childTnLst>
                                    <p:set>
                                      <p:cBhvr>
                                        <p:cTn id="33" dur="1" fill="hold">
                                          <p:stCondLst>
                                            <p:cond delay="0"/>
                                          </p:stCondLst>
                                        </p:cTn>
                                        <p:tgtEl>
                                          <p:spTgt spid="132"/>
                                        </p:tgtEl>
                                        <p:attrNameLst>
                                          <p:attrName>style.visibility</p:attrName>
                                        </p:attrNameLst>
                                      </p:cBhvr>
                                      <p:to>
                                        <p:strVal val="visible"/>
                                      </p:to>
                                    </p:set>
                                    <p:animEffect transition="in" filter="fade">
                                      <p:cBhvr>
                                        <p:cTn id="34" dur="500"/>
                                        <p:tgtEl>
                                          <p:spTgt spid="132"/>
                                        </p:tgtEl>
                                      </p:cBhvr>
                                    </p:animEffect>
                                  </p:childTnLst>
                                </p:cTn>
                              </p:par>
                              <p:par>
                                <p:cTn id="35" presetID="10" presetClass="entr" presetSubtype="0" fill="hold" nodeType="withEffect">
                                  <p:stCondLst>
                                    <p:cond delay="0"/>
                                  </p:stCondLst>
                                  <p:childTnLst>
                                    <p:set>
                                      <p:cBhvr>
                                        <p:cTn id="36" dur="1" fill="hold">
                                          <p:stCondLst>
                                            <p:cond delay="0"/>
                                          </p:stCondLst>
                                        </p:cTn>
                                        <p:tgtEl>
                                          <p:spTgt spid="125"/>
                                        </p:tgtEl>
                                        <p:attrNameLst>
                                          <p:attrName>style.visibility</p:attrName>
                                        </p:attrNameLst>
                                      </p:cBhvr>
                                      <p:to>
                                        <p:strVal val="visible"/>
                                      </p:to>
                                    </p:set>
                                    <p:animEffect transition="in" filter="fade">
                                      <p:cBhvr>
                                        <p:cTn id="37" dur="500"/>
                                        <p:tgtEl>
                                          <p:spTgt spid="1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1"/>
                                        </p:tgtEl>
                                        <p:attrNameLst>
                                          <p:attrName>style.visibility</p:attrName>
                                        </p:attrNameLst>
                                      </p:cBhvr>
                                      <p:to>
                                        <p:strVal val="visible"/>
                                      </p:to>
                                    </p:set>
                                    <p:animEffect transition="in" filter="fade">
                                      <p:cBhvr>
                                        <p:cTn id="40" dur="500"/>
                                        <p:tgtEl>
                                          <p:spTgt spid="121"/>
                                        </p:tgtEl>
                                      </p:cBhvr>
                                    </p:animEffect>
                                  </p:childTnLst>
                                </p:cTn>
                              </p:par>
                              <p:par>
                                <p:cTn id="41" presetID="10" presetClass="entr" presetSubtype="0" fill="hold" nodeType="withEffect">
                                  <p:stCondLst>
                                    <p:cond delay="0"/>
                                  </p:stCondLst>
                                  <p:childTnLst>
                                    <p:set>
                                      <p:cBhvr>
                                        <p:cTn id="42" dur="1" fill="hold">
                                          <p:stCondLst>
                                            <p:cond delay="0"/>
                                          </p:stCondLst>
                                        </p:cTn>
                                        <p:tgtEl>
                                          <p:spTgt spid="101"/>
                                        </p:tgtEl>
                                        <p:attrNameLst>
                                          <p:attrName>style.visibility</p:attrName>
                                        </p:attrNameLst>
                                      </p:cBhvr>
                                      <p:to>
                                        <p:strVal val="visible"/>
                                      </p:to>
                                    </p:set>
                                    <p:animEffect transition="in" filter="fade">
                                      <p:cBhvr>
                                        <p:cTn id="43" dur="500"/>
                                        <p:tgtEl>
                                          <p:spTgt spid="10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8"/>
                                        </p:tgtEl>
                                        <p:attrNameLst>
                                          <p:attrName>style.visibility</p:attrName>
                                        </p:attrNameLst>
                                      </p:cBhvr>
                                      <p:to>
                                        <p:strVal val="visible"/>
                                      </p:to>
                                    </p:set>
                                    <p:animEffect transition="in" filter="fade">
                                      <p:cBhvr>
                                        <p:cTn id="46" dur="500"/>
                                        <p:tgtEl>
                                          <p:spTgt spid="78"/>
                                        </p:tgtEl>
                                      </p:cBhvr>
                                    </p:animEffect>
                                  </p:childTnLst>
                                </p:cTn>
                              </p:par>
                              <p:par>
                                <p:cTn id="47" presetID="10" presetClass="entr" presetSubtype="0" fill="hold" nodeType="withEffect">
                                  <p:stCondLst>
                                    <p:cond delay="0"/>
                                  </p:stCondLst>
                                  <p:childTnLst>
                                    <p:set>
                                      <p:cBhvr>
                                        <p:cTn id="48" dur="1" fill="hold">
                                          <p:stCondLst>
                                            <p:cond delay="0"/>
                                          </p:stCondLst>
                                        </p:cTn>
                                        <p:tgtEl>
                                          <p:spTgt spid="84"/>
                                        </p:tgtEl>
                                        <p:attrNameLst>
                                          <p:attrName>style.visibility</p:attrName>
                                        </p:attrNameLst>
                                      </p:cBhvr>
                                      <p:to>
                                        <p:strVal val="visible"/>
                                      </p:to>
                                    </p:set>
                                    <p:animEffect transition="in" filter="fade">
                                      <p:cBhvr>
                                        <p:cTn id="49" dur="500"/>
                                        <p:tgtEl>
                                          <p:spTgt spid="84"/>
                                        </p:tgtEl>
                                      </p:cBhvr>
                                    </p:animEffect>
                                  </p:childTnLst>
                                </p:cTn>
                              </p:par>
                              <p:par>
                                <p:cTn id="50" presetID="10" presetClass="entr" presetSubtype="0" fill="hold" nodeType="withEffect">
                                  <p:stCondLst>
                                    <p:cond delay="0"/>
                                  </p:stCondLst>
                                  <p:childTnLst>
                                    <p:set>
                                      <p:cBhvr>
                                        <p:cTn id="51" dur="1" fill="hold">
                                          <p:stCondLst>
                                            <p:cond delay="0"/>
                                          </p:stCondLst>
                                        </p:cTn>
                                        <p:tgtEl>
                                          <p:spTgt spid="79"/>
                                        </p:tgtEl>
                                        <p:attrNameLst>
                                          <p:attrName>style.visibility</p:attrName>
                                        </p:attrNameLst>
                                      </p:cBhvr>
                                      <p:to>
                                        <p:strVal val="visible"/>
                                      </p:to>
                                    </p:set>
                                    <p:animEffect transition="in" filter="fade">
                                      <p:cBhvr>
                                        <p:cTn id="52" dur="500"/>
                                        <p:tgtEl>
                                          <p:spTgt spid="79"/>
                                        </p:tgtEl>
                                      </p:cBhvr>
                                    </p:animEffect>
                                  </p:childTnLst>
                                </p:cTn>
                              </p:par>
                              <p:par>
                                <p:cTn id="53" presetID="10" presetClass="entr" presetSubtype="0" fill="hold" nodeType="withEffect">
                                  <p:stCondLst>
                                    <p:cond delay="0"/>
                                  </p:stCondLst>
                                  <p:childTnLst>
                                    <p:set>
                                      <p:cBhvr>
                                        <p:cTn id="54" dur="1" fill="hold">
                                          <p:stCondLst>
                                            <p:cond delay="0"/>
                                          </p:stCondLst>
                                        </p:cTn>
                                        <p:tgtEl>
                                          <p:spTgt spid="93"/>
                                        </p:tgtEl>
                                        <p:attrNameLst>
                                          <p:attrName>style.visibility</p:attrName>
                                        </p:attrNameLst>
                                      </p:cBhvr>
                                      <p:to>
                                        <p:strVal val="visible"/>
                                      </p:to>
                                    </p:set>
                                    <p:animEffect transition="in" filter="fade">
                                      <p:cBhvr>
                                        <p:cTn id="55" dur="500"/>
                                        <p:tgtEl>
                                          <p:spTgt spid="93"/>
                                        </p:tgtEl>
                                      </p:cBhvr>
                                    </p:animEffect>
                                  </p:childTnLst>
                                </p:cTn>
                              </p:par>
                              <p:par>
                                <p:cTn id="56" presetID="10" presetClass="entr" presetSubtype="0" fill="hold" nodeType="withEffect">
                                  <p:stCondLst>
                                    <p:cond delay="0"/>
                                  </p:stCondLst>
                                  <p:childTnLst>
                                    <p:set>
                                      <p:cBhvr>
                                        <p:cTn id="57" dur="1" fill="hold">
                                          <p:stCondLst>
                                            <p:cond delay="0"/>
                                          </p:stCondLst>
                                        </p:cTn>
                                        <p:tgtEl>
                                          <p:spTgt spid="94"/>
                                        </p:tgtEl>
                                        <p:attrNameLst>
                                          <p:attrName>style.visibility</p:attrName>
                                        </p:attrNameLst>
                                      </p:cBhvr>
                                      <p:to>
                                        <p:strVal val="visible"/>
                                      </p:to>
                                    </p:set>
                                    <p:animEffect transition="in" filter="fade">
                                      <p:cBhvr>
                                        <p:cTn id="58" dur="500"/>
                                        <p:tgtEl>
                                          <p:spTgt spid="94"/>
                                        </p:tgtEl>
                                      </p:cBhvr>
                                    </p:animEffect>
                                  </p:childTnLst>
                                </p:cTn>
                              </p:par>
                              <p:par>
                                <p:cTn id="59" presetID="10" presetClass="entr" presetSubtype="0" fill="hold" nodeType="withEffect">
                                  <p:stCondLst>
                                    <p:cond delay="0"/>
                                  </p:stCondLst>
                                  <p:childTnLst>
                                    <p:set>
                                      <p:cBhvr>
                                        <p:cTn id="60" dur="1" fill="hold">
                                          <p:stCondLst>
                                            <p:cond delay="0"/>
                                          </p:stCondLst>
                                        </p:cTn>
                                        <p:tgtEl>
                                          <p:spTgt spid="83"/>
                                        </p:tgtEl>
                                        <p:attrNameLst>
                                          <p:attrName>style.visibility</p:attrName>
                                        </p:attrNameLst>
                                      </p:cBhvr>
                                      <p:to>
                                        <p:strVal val="visible"/>
                                      </p:to>
                                    </p:set>
                                    <p:animEffect transition="in" filter="fade">
                                      <p:cBhvr>
                                        <p:cTn id="61" dur="500"/>
                                        <p:tgtEl>
                                          <p:spTgt spid="83"/>
                                        </p:tgtEl>
                                      </p:cBhvr>
                                    </p:animEffect>
                                  </p:childTnLst>
                                </p:cTn>
                              </p:par>
                              <p:par>
                                <p:cTn id="62" presetID="10" presetClass="entr" presetSubtype="0" fill="hold" nodeType="withEffect">
                                  <p:stCondLst>
                                    <p:cond delay="0"/>
                                  </p:stCondLst>
                                  <p:childTnLst>
                                    <p:set>
                                      <p:cBhvr>
                                        <p:cTn id="63" dur="1" fill="hold">
                                          <p:stCondLst>
                                            <p:cond delay="0"/>
                                          </p:stCondLst>
                                        </p:cTn>
                                        <p:tgtEl>
                                          <p:spTgt spid="95"/>
                                        </p:tgtEl>
                                        <p:attrNameLst>
                                          <p:attrName>style.visibility</p:attrName>
                                        </p:attrNameLst>
                                      </p:cBhvr>
                                      <p:to>
                                        <p:strVal val="visible"/>
                                      </p:to>
                                    </p:set>
                                    <p:animEffect transition="in" filter="fade">
                                      <p:cBhvr>
                                        <p:cTn id="64" dur="500"/>
                                        <p:tgtEl>
                                          <p:spTgt spid="9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14"/>
                                        </p:tgtEl>
                                        <p:attrNameLst>
                                          <p:attrName>style.visibility</p:attrName>
                                        </p:attrNameLst>
                                      </p:cBhvr>
                                      <p:to>
                                        <p:strVal val="visible"/>
                                      </p:to>
                                    </p:set>
                                    <p:animEffect transition="in" filter="fade">
                                      <p:cBhvr>
                                        <p:cTn id="67" dur="500"/>
                                        <p:tgtEl>
                                          <p:spTgt spid="114"/>
                                        </p:tgtEl>
                                      </p:cBhvr>
                                    </p:animEffect>
                                  </p:childTnLst>
                                </p:cTn>
                              </p:par>
                              <p:par>
                                <p:cTn id="68" presetID="10" presetClass="entr" presetSubtype="0" fill="hold" nodeType="withEffect">
                                  <p:stCondLst>
                                    <p:cond delay="0"/>
                                  </p:stCondLst>
                                  <p:childTnLst>
                                    <p:set>
                                      <p:cBhvr>
                                        <p:cTn id="69" dur="1" fill="hold">
                                          <p:stCondLst>
                                            <p:cond delay="0"/>
                                          </p:stCondLst>
                                        </p:cTn>
                                        <p:tgtEl>
                                          <p:spTgt spid="105"/>
                                        </p:tgtEl>
                                        <p:attrNameLst>
                                          <p:attrName>style.visibility</p:attrName>
                                        </p:attrNameLst>
                                      </p:cBhvr>
                                      <p:to>
                                        <p:strVal val="visible"/>
                                      </p:to>
                                    </p:set>
                                    <p:animEffect transition="in" filter="fade">
                                      <p:cBhvr>
                                        <p:cTn id="70" dur="500"/>
                                        <p:tgtEl>
                                          <p:spTgt spid="105"/>
                                        </p:tgtEl>
                                      </p:cBhvr>
                                    </p:animEffect>
                                  </p:childTnLst>
                                </p:cTn>
                              </p:par>
                              <p:par>
                                <p:cTn id="71" presetID="10" presetClass="entr" presetSubtype="0" fill="hold" nodeType="withEffect">
                                  <p:stCondLst>
                                    <p:cond delay="0"/>
                                  </p:stCondLst>
                                  <p:childTnLst>
                                    <p:set>
                                      <p:cBhvr>
                                        <p:cTn id="72" dur="1" fill="hold">
                                          <p:stCondLst>
                                            <p:cond delay="0"/>
                                          </p:stCondLst>
                                        </p:cTn>
                                        <p:tgtEl>
                                          <p:spTgt spid="89"/>
                                        </p:tgtEl>
                                        <p:attrNameLst>
                                          <p:attrName>style.visibility</p:attrName>
                                        </p:attrNameLst>
                                      </p:cBhvr>
                                      <p:to>
                                        <p:strVal val="visible"/>
                                      </p:to>
                                    </p:set>
                                    <p:animEffect transition="in" filter="fade">
                                      <p:cBhvr>
                                        <p:cTn id="73" dur="500"/>
                                        <p:tgtEl>
                                          <p:spTgt spid="89"/>
                                        </p:tgtEl>
                                      </p:cBhvr>
                                    </p:animEffect>
                                  </p:childTnLst>
                                </p:cTn>
                              </p:par>
                              <p:par>
                                <p:cTn id="74" presetID="10" presetClass="entr" presetSubtype="0" fill="hold" nodeType="withEffect">
                                  <p:stCondLst>
                                    <p:cond delay="0"/>
                                  </p:stCondLst>
                                  <p:childTnLst>
                                    <p:set>
                                      <p:cBhvr>
                                        <p:cTn id="75" dur="1" fill="hold">
                                          <p:stCondLst>
                                            <p:cond delay="0"/>
                                          </p:stCondLst>
                                        </p:cTn>
                                        <p:tgtEl>
                                          <p:spTgt spid="97"/>
                                        </p:tgtEl>
                                        <p:attrNameLst>
                                          <p:attrName>style.visibility</p:attrName>
                                        </p:attrNameLst>
                                      </p:cBhvr>
                                      <p:to>
                                        <p:strVal val="visible"/>
                                      </p:to>
                                    </p:set>
                                    <p:animEffect transition="in" filter="fade">
                                      <p:cBhvr>
                                        <p:cTn id="76" dur="500"/>
                                        <p:tgtEl>
                                          <p:spTgt spid="9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17"/>
                                        </p:tgtEl>
                                        <p:attrNameLst>
                                          <p:attrName>style.visibility</p:attrName>
                                        </p:attrNameLst>
                                      </p:cBhvr>
                                      <p:to>
                                        <p:strVal val="visible"/>
                                      </p:to>
                                    </p:set>
                                    <p:animEffect transition="in" filter="fade">
                                      <p:cBhvr>
                                        <p:cTn id="79" dur="500"/>
                                        <p:tgtEl>
                                          <p:spTgt spid="117"/>
                                        </p:tgtEl>
                                      </p:cBhvr>
                                    </p:animEffect>
                                  </p:childTnLst>
                                </p:cTn>
                              </p:par>
                              <p:par>
                                <p:cTn id="80" presetID="10" presetClass="entr" presetSubtype="0" fill="hold" nodeType="withEffect">
                                  <p:stCondLst>
                                    <p:cond delay="0"/>
                                  </p:stCondLst>
                                  <p:childTnLst>
                                    <p:set>
                                      <p:cBhvr>
                                        <p:cTn id="81" dur="1" fill="hold">
                                          <p:stCondLst>
                                            <p:cond delay="0"/>
                                          </p:stCondLst>
                                        </p:cTn>
                                        <p:tgtEl>
                                          <p:spTgt spid="96"/>
                                        </p:tgtEl>
                                        <p:attrNameLst>
                                          <p:attrName>style.visibility</p:attrName>
                                        </p:attrNameLst>
                                      </p:cBhvr>
                                      <p:to>
                                        <p:strVal val="visible"/>
                                      </p:to>
                                    </p:set>
                                    <p:animEffect transition="in" filter="fade">
                                      <p:cBhvr>
                                        <p:cTn id="82" dur="500"/>
                                        <p:tgtEl>
                                          <p:spTgt spid="9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15"/>
                                        </p:tgtEl>
                                        <p:attrNameLst>
                                          <p:attrName>style.visibility</p:attrName>
                                        </p:attrNameLst>
                                      </p:cBhvr>
                                      <p:to>
                                        <p:strVal val="visible"/>
                                      </p:to>
                                    </p:set>
                                    <p:animEffect transition="in" filter="fade">
                                      <p:cBhvr>
                                        <p:cTn id="85" dur="500"/>
                                        <p:tgtEl>
                                          <p:spTgt spid="115"/>
                                        </p:tgtEl>
                                      </p:cBhvr>
                                    </p:animEffect>
                                  </p:childTnLst>
                                </p:cTn>
                              </p:par>
                              <p:par>
                                <p:cTn id="86" presetID="10" presetClass="entr" presetSubtype="0" fill="hold" nodeType="withEffect">
                                  <p:stCondLst>
                                    <p:cond delay="0"/>
                                  </p:stCondLst>
                                  <p:childTnLst>
                                    <p:set>
                                      <p:cBhvr>
                                        <p:cTn id="87" dur="1" fill="hold">
                                          <p:stCondLst>
                                            <p:cond delay="0"/>
                                          </p:stCondLst>
                                        </p:cTn>
                                        <p:tgtEl>
                                          <p:spTgt spid="108"/>
                                        </p:tgtEl>
                                        <p:attrNameLst>
                                          <p:attrName>style.visibility</p:attrName>
                                        </p:attrNameLst>
                                      </p:cBhvr>
                                      <p:to>
                                        <p:strVal val="visible"/>
                                      </p:to>
                                    </p:set>
                                    <p:animEffect transition="in" filter="fade">
                                      <p:cBhvr>
                                        <p:cTn id="88" dur="500"/>
                                        <p:tgtEl>
                                          <p:spTgt spid="10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19"/>
                                        </p:tgtEl>
                                        <p:attrNameLst>
                                          <p:attrName>style.visibility</p:attrName>
                                        </p:attrNameLst>
                                      </p:cBhvr>
                                      <p:to>
                                        <p:strVal val="visible"/>
                                      </p:to>
                                    </p:set>
                                    <p:animEffect transition="in" filter="fade">
                                      <p:cBhvr>
                                        <p:cTn id="91" dur="500"/>
                                        <p:tgtEl>
                                          <p:spTgt spid="11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20"/>
                                        </p:tgtEl>
                                        <p:attrNameLst>
                                          <p:attrName>style.visibility</p:attrName>
                                        </p:attrNameLst>
                                      </p:cBhvr>
                                      <p:to>
                                        <p:strVal val="visible"/>
                                      </p:to>
                                    </p:set>
                                    <p:animEffect transition="in" filter="fade">
                                      <p:cBhvr>
                                        <p:cTn id="94" dur="500"/>
                                        <p:tgtEl>
                                          <p:spTgt spid="12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30"/>
                                        </p:tgtEl>
                                        <p:attrNameLst>
                                          <p:attrName>style.visibility</p:attrName>
                                        </p:attrNameLst>
                                      </p:cBhvr>
                                      <p:to>
                                        <p:strVal val="visible"/>
                                      </p:to>
                                    </p:set>
                                    <p:animEffect transition="in" filter="fade">
                                      <p:cBhvr>
                                        <p:cTn id="97" dur="500"/>
                                        <p:tgtEl>
                                          <p:spTgt spid="130"/>
                                        </p:tgtEl>
                                      </p:cBhvr>
                                    </p:animEffect>
                                  </p:childTnLst>
                                </p:cTn>
                              </p:par>
                              <p:par>
                                <p:cTn id="98" presetID="10" presetClass="entr" presetSubtype="0" fill="hold" nodeType="withEffect">
                                  <p:stCondLst>
                                    <p:cond delay="0"/>
                                  </p:stCondLst>
                                  <p:childTnLst>
                                    <p:set>
                                      <p:cBhvr>
                                        <p:cTn id="99" dur="1" fill="hold">
                                          <p:stCondLst>
                                            <p:cond delay="0"/>
                                          </p:stCondLst>
                                        </p:cTn>
                                        <p:tgtEl>
                                          <p:spTgt spid="126"/>
                                        </p:tgtEl>
                                        <p:attrNameLst>
                                          <p:attrName>style.visibility</p:attrName>
                                        </p:attrNameLst>
                                      </p:cBhvr>
                                      <p:to>
                                        <p:strVal val="visible"/>
                                      </p:to>
                                    </p:set>
                                    <p:animEffect transition="in" filter="fade">
                                      <p:cBhvr>
                                        <p:cTn id="100" dur="500"/>
                                        <p:tgtEl>
                                          <p:spTgt spid="12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28"/>
                                        </p:tgtEl>
                                        <p:attrNameLst>
                                          <p:attrName>style.visibility</p:attrName>
                                        </p:attrNameLst>
                                      </p:cBhvr>
                                      <p:to>
                                        <p:strVal val="visible"/>
                                      </p:to>
                                    </p:set>
                                    <p:animEffect transition="in" filter="fade">
                                      <p:cBhvr>
                                        <p:cTn id="103" dur="500"/>
                                        <p:tgtEl>
                                          <p:spTgt spid="128"/>
                                        </p:tgtEl>
                                      </p:cBhvr>
                                    </p:animEffect>
                                  </p:childTnLst>
                                </p:cTn>
                              </p:par>
                              <p:par>
                                <p:cTn id="104" presetID="10" presetClass="entr" presetSubtype="0" fill="hold" nodeType="withEffect">
                                  <p:stCondLst>
                                    <p:cond delay="0"/>
                                  </p:stCondLst>
                                  <p:childTnLst>
                                    <p:set>
                                      <p:cBhvr>
                                        <p:cTn id="105" dur="1" fill="hold">
                                          <p:stCondLst>
                                            <p:cond delay="0"/>
                                          </p:stCondLst>
                                        </p:cTn>
                                        <p:tgtEl>
                                          <p:spTgt spid="100"/>
                                        </p:tgtEl>
                                        <p:attrNameLst>
                                          <p:attrName>style.visibility</p:attrName>
                                        </p:attrNameLst>
                                      </p:cBhvr>
                                      <p:to>
                                        <p:strVal val="visible"/>
                                      </p:to>
                                    </p:set>
                                    <p:animEffect transition="in" filter="fade">
                                      <p:cBhvr>
                                        <p:cTn id="106" dur="500"/>
                                        <p:tgtEl>
                                          <p:spTgt spid="100"/>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16"/>
                                        </p:tgtEl>
                                        <p:attrNameLst>
                                          <p:attrName>style.visibility</p:attrName>
                                        </p:attrNameLst>
                                      </p:cBhvr>
                                      <p:to>
                                        <p:strVal val="visible"/>
                                      </p:to>
                                    </p:set>
                                    <p:animEffect transition="in" filter="fade">
                                      <p:cBhvr>
                                        <p:cTn id="109" dur="500"/>
                                        <p:tgtEl>
                                          <p:spTgt spid="11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18"/>
                                        </p:tgtEl>
                                        <p:attrNameLst>
                                          <p:attrName>style.visibility</p:attrName>
                                        </p:attrNameLst>
                                      </p:cBhvr>
                                      <p:to>
                                        <p:strVal val="visible"/>
                                      </p:to>
                                    </p:set>
                                    <p:animEffect transition="in" filter="fade">
                                      <p:cBhvr>
                                        <p:cTn id="112" dur="500"/>
                                        <p:tgtEl>
                                          <p:spTgt spid="11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24"/>
                                        </p:tgtEl>
                                        <p:attrNameLst>
                                          <p:attrName>style.visibility</p:attrName>
                                        </p:attrNameLst>
                                      </p:cBhvr>
                                      <p:to>
                                        <p:strVal val="visible"/>
                                      </p:to>
                                    </p:set>
                                    <p:animEffect transition="in" filter="fade">
                                      <p:cBhvr>
                                        <p:cTn id="115" dur="500"/>
                                        <p:tgtEl>
                                          <p:spTgt spid="124"/>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22"/>
                                        </p:tgtEl>
                                        <p:attrNameLst>
                                          <p:attrName>style.visibility</p:attrName>
                                        </p:attrNameLst>
                                      </p:cBhvr>
                                      <p:to>
                                        <p:strVal val="visible"/>
                                      </p:to>
                                    </p:set>
                                    <p:animEffect transition="in" filter="fade">
                                      <p:cBhvr>
                                        <p:cTn id="118" dur="500"/>
                                        <p:tgtEl>
                                          <p:spTgt spid="12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23"/>
                                        </p:tgtEl>
                                        <p:attrNameLst>
                                          <p:attrName>style.visibility</p:attrName>
                                        </p:attrNameLst>
                                      </p:cBhvr>
                                      <p:to>
                                        <p:strVal val="visible"/>
                                      </p:to>
                                    </p:set>
                                    <p:animEffect transition="in" filter="fade">
                                      <p:cBhvr>
                                        <p:cTn id="121" dur="500"/>
                                        <p:tgtEl>
                                          <p:spTgt spid="12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29"/>
                                        </p:tgtEl>
                                        <p:attrNameLst>
                                          <p:attrName>style.visibility</p:attrName>
                                        </p:attrNameLst>
                                      </p:cBhvr>
                                      <p:to>
                                        <p:strVal val="visible"/>
                                      </p:to>
                                    </p:set>
                                    <p:animEffect transition="in" filter="fade">
                                      <p:cBhvr>
                                        <p:cTn id="124" dur="500"/>
                                        <p:tgtEl>
                                          <p:spTgt spid="129"/>
                                        </p:tgtEl>
                                      </p:cBhvr>
                                    </p:animEffect>
                                  </p:childTnLst>
                                </p:cTn>
                              </p:par>
                              <p:par>
                                <p:cTn id="125" presetID="10" presetClass="entr" presetSubtype="0" fill="hold" nodeType="withEffect">
                                  <p:stCondLst>
                                    <p:cond delay="0"/>
                                  </p:stCondLst>
                                  <p:childTnLst>
                                    <p:set>
                                      <p:cBhvr>
                                        <p:cTn id="126" dur="1" fill="hold">
                                          <p:stCondLst>
                                            <p:cond delay="0"/>
                                          </p:stCondLst>
                                        </p:cTn>
                                        <p:tgtEl>
                                          <p:spTgt spid="127"/>
                                        </p:tgtEl>
                                        <p:attrNameLst>
                                          <p:attrName>style.visibility</p:attrName>
                                        </p:attrNameLst>
                                      </p:cBhvr>
                                      <p:to>
                                        <p:strVal val="visible"/>
                                      </p:to>
                                    </p:set>
                                    <p:animEffect transition="in" filter="fade">
                                      <p:cBhvr>
                                        <p:cTn id="127" dur="500"/>
                                        <p:tgtEl>
                                          <p:spTgt spid="127"/>
                                        </p:tgtEl>
                                      </p:cBhvr>
                                    </p:animEffect>
                                  </p:childTnLst>
                                </p:cTn>
                              </p:par>
                              <p:par>
                                <p:cTn id="128" presetID="10" presetClass="entr" presetSubtype="0" fill="hold" nodeType="withEffect">
                                  <p:stCondLst>
                                    <p:cond delay="0"/>
                                  </p:stCondLst>
                                  <p:childTnLst>
                                    <p:set>
                                      <p:cBhvr>
                                        <p:cTn id="129" dur="1" fill="hold">
                                          <p:stCondLst>
                                            <p:cond delay="0"/>
                                          </p:stCondLst>
                                        </p:cTn>
                                        <p:tgtEl>
                                          <p:spTgt spid="76"/>
                                        </p:tgtEl>
                                        <p:attrNameLst>
                                          <p:attrName>style.visibility</p:attrName>
                                        </p:attrNameLst>
                                      </p:cBhvr>
                                      <p:to>
                                        <p:strVal val="visible"/>
                                      </p:to>
                                    </p:set>
                                    <p:animEffect transition="in" filter="fade">
                                      <p:cBhvr>
                                        <p:cTn id="130" dur="500"/>
                                        <p:tgtEl>
                                          <p:spTgt spid="7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77"/>
                                        </p:tgtEl>
                                        <p:attrNameLst>
                                          <p:attrName>style.visibility</p:attrName>
                                        </p:attrNameLst>
                                      </p:cBhvr>
                                      <p:to>
                                        <p:strVal val="visible"/>
                                      </p:to>
                                    </p:set>
                                    <p:animEffect transition="in" filter="fade">
                                      <p:cBhvr>
                                        <p:cTn id="133" dur="500"/>
                                        <p:tgtEl>
                                          <p:spTgt spid="77"/>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75"/>
                                        </p:tgtEl>
                                        <p:attrNameLst>
                                          <p:attrName>style.visibility</p:attrName>
                                        </p:attrNameLst>
                                      </p:cBhvr>
                                      <p:to>
                                        <p:strVal val="visible"/>
                                      </p:to>
                                    </p:set>
                                    <p:animEffect transition="in" filter="fade">
                                      <p:cBhvr>
                                        <p:cTn id="136" dur="500"/>
                                        <p:tgtEl>
                                          <p:spTgt spid="7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8"/>
                                        </p:tgtEl>
                                        <p:attrNameLst>
                                          <p:attrName>style.visibility</p:attrName>
                                        </p:attrNameLst>
                                      </p:cBhvr>
                                      <p:to>
                                        <p:strVal val="visible"/>
                                      </p:to>
                                    </p:set>
                                    <p:animEffect transition="in" filter="fade">
                                      <p:cBhvr>
                                        <p:cTn id="139" dur="500"/>
                                        <p:tgtEl>
                                          <p:spTgt spid="58"/>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7"/>
                                        </p:tgtEl>
                                        <p:attrNameLst>
                                          <p:attrName>style.visibility</p:attrName>
                                        </p:attrNameLst>
                                      </p:cBhvr>
                                      <p:to>
                                        <p:strVal val="visible"/>
                                      </p:to>
                                    </p:set>
                                    <p:animEffect transition="in" filter="fade">
                                      <p:cBhvr>
                                        <p:cTn id="142" dur="500"/>
                                        <p:tgtEl>
                                          <p:spTgt spid="57"/>
                                        </p:tgtEl>
                                      </p:cBhvr>
                                    </p:animEffect>
                                  </p:childTnLst>
                                </p:cTn>
                              </p:par>
                              <p:par>
                                <p:cTn id="143" presetID="10" presetClass="entr" presetSubtype="0" fill="hold" nodeType="withEffect">
                                  <p:stCondLst>
                                    <p:cond delay="0"/>
                                  </p:stCondLst>
                                  <p:childTnLst>
                                    <p:set>
                                      <p:cBhvr>
                                        <p:cTn id="144" dur="1" fill="hold">
                                          <p:stCondLst>
                                            <p:cond delay="0"/>
                                          </p:stCondLst>
                                        </p:cTn>
                                        <p:tgtEl>
                                          <p:spTgt spid="73"/>
                                        </p:tgtEl>
                                        <p:attrNameLst>
                                          <p:attrName>style.visibility</p:attrName>
                                        </p:attrNameLst>
                                      </p:cBhvr>
                                      <p:to>
                                        <p:strVal val="visible"/>
                                      </p:to>
                                    </p:set>
                                    <p:animEffect transition="in" filter="fade">
                                      <p:cBhvr>
                                        <p:cTn id="145" dur="500"/>
                                        <p:tgtEl>
                                          <p:spTgt spid="73"/>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74"/>
                                        </p:tgtEl>
                                        <p:attrNameLst>
                                          <p:attrName>style.visibility</p:attrName>
                                        </p:attrNameLst>
                                      </p:cBhvr>
                                      <p:to>
                                        <p:strVal val="visible"/>
                                      </p:to>
                                    </p:set>
                                    <p:animEffect transition="in" filter="fade">
                                      <p:cBhvr>
                                        <p:cTn id="148" dur="500"/>
                                        <p:tgtEl>
                                          <p:spTgt spid="74"/>
                                        </p:tgtEl>
                                      </p:cBhvr>
                                    </p:animEffect>
                                  </p:childTnLst>
                                </p:cTn>
                              </p:par>
                              <p:par>
                                <p:cTn id="149" presetID="10" presetClass="entr" presetSubtype="0" fill="hold" nodeType="withEffect">
                                  <p:stCondLst>
                                    <p:cond delay="0"/>
                                  </p:stCondLst>
                                  <p:childTnLst>
                                    <p:set>
                                      <p:cBhvr>
                                        <p:cTn id="150" dur="1" fill="hold">
                                          <p:stCondLst>
                                            <p:cond delay="0"/>
                                          </p:stCondLst>
                                        </p:cTn>
                                        <p:tgtEl>
                                          <p:spTgt spid="59"/>
                                        </p:tgtEl>
                                        <p:attrNameLst>
                                          <p:attrName>style.visibility</p:attrName>
                                        </p:attrNameLst>
                                      </p:cBhvr>
                                      <p:to>
                                        <p:strVal val="visible"/>
                                      </p:to>
                                    </p:set>
                                    <p:animEffect transition="in" filter="fade">
                                      <p:cBhvr>
                                        <p:cTn id="151" dur="500"/>
                                        <p:tgtEl>
                                          <p:spTgt spid="59"/>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xit" presetSubtype="0" fill="hold" grpId="1" nodeType="clickEffect">
                                  <p:stCondLst>
                                    <p:cond delay="0"/>
                                  </p:stCondLst>
                                  <p:childTnLst>
                                    <p:animEffect transition="out" filter="fade">
                                      <p:cBhvr>
                                        <p:cTn id="155" dur="500"/>
                                        <p:tgtEl>
                                          <p:spTgt spid="121"/>
                                        </p:tgtEl>
                                      </p:cBhvr>
                                    </p:animEffect>
                                    <p:set>
                                      <p:cBhvr>
                                        <p:cTn id="156" dur="1" fill="hold">
                                          <p:stCondLst>
                                            <p:cond delay="499"/>
                                          </p:stCondLst>
                                        </p:cTn>
                                        <p:tgtEl>
                                          <p:spTgt spid="121"/>
                                        </p:tgtEl>
                                        <p:attrNameLst>
                                          <p:attrName>style.visibility</p:attrName>
                                        </p:attrNameLst>
                                      </p:cBhvr>
                                      <p:to>
                                        <p:strVal val="hidden"/>
                                      </p:to>
                                    </p:set>
                                  </p:childTnLst>
                                </p:cTn>
                              </p:par>
                              <p:par>
                                <p:cTn id="157" presetID="10" presetClass="exit" presetSubtype="0" fill="hold" grpId="1" nodeType="withEffect">
                                  <p:stCondLst>
                                    <p:cond delay="0"/>
                                  </p:stCondLst>
                                  <p:childTnLst>
                                    <p:animEffect transition="out" filter="fade">
                                      <p:cBhvr>
                                        <p:cTn id="158" dur="500"/>
                                        <p:tgtEl>
                                          <p:spTgt spid="124"/>
                                        </p:tgtEl>
                                      </p:cBhvr>
                                    </p:animEffect>
                                    <p:set>
                                      <p:cBhvr>
                                        <p:cTn id="159" dur="1" fill="hold">
                                          <p:stCondLst>
                                            <p:cond delay="499"/>
                                          </p:stCondLst>
                                        </p:cTn>
                                        <p:tgtEl>
                                          <p:spTgt spid="124"/>
                                        </p:tgtEl>
                                        <p:attrNameLst>
                                          <p:attrName>style.visibility</p:attrName>
                                        </p:attrNameLst>
                                      </p:cBhvr>
                                      <p:to>
                                        <p:strVal val="hidden"/>
                                      </p:to>
                                    </p:set>
                                  </p:childTnLst>
                                </p:cTn>
                              </p:par>
                              <p:par>
                                <p:cTn id="160" presetID="10" presetClass="exit" presetSubtype="0" fill="hold" grpId="1" nodeType="withEffect">
                                  <p:stCondLst>
                                    <p:cond delay="0"/>
                                  </p:stCondLst>
                                  <p:childTnLst>
                                    <p:animEffect transition="out" filter="fade">
                                      <p:cBhvr>
                                        <p:cTn id="161" dur="500"/>
                                        <p:tgtEl>
                                          <p:spTgt spid="122"/>
                                        </p:tgtEl>
                                      </p:cBhvr>
                                    </p:animEffect>
                                    <p:set>
                                      <p:cBhvr>
                                        <p:cTn id="162" dur="1" fill="hold">
                                          <p:stCondLst>
                                            <p:cond delay="499"/>
                                          </p:stCondLst>
                                        </p:cTn>
                                        <p:tgtEl>
                                          <p:spTgt spid="122"/>
                                        </p:tgtEl>
                                        <p:attrNameLst>
                                          <p:attrName>style.visibility</p:attrName>
                                        </p:attrNameLst>
                                      </p:cBhvr>
                                      <p:to>
                                        <p:strVal val="hidden"/>
                                      </p:to>
                                    </p:set>
                                  </p:childTnLst>
                                </p:cTn>
                              </p:par>
                              <p:par>
                                <p:cTn id="163" presetID="10" presetClass="exit" presetSubtype="0" fill="hold" grpId="1" nodeType="withEffect">
                                  <p:stCondLst>
                                    <p:cond delay="0"/>
                                  </p:stCondLst>
                                  <p:childTnLst>
                                    <p:animEffect transition="out" filter="fade">
                                      <p:cBhvr>
                                        <p:cTn id="164" dur="500"/>
                                        <p:tgtEl>
                                          <p:spTgt spid="123"/>
                                        </p:tgtEl>
                                      </p:cBhvr>
                                    </p:animEffect>
                                    <p:set>
                                      <p:cBhvr>
                                        <p:cTn id="165" dur="1" fill="hold">
                                          <p:stCondLst>
                                            <p:cond delay="499"/>
                                          </p:stCondLst>
                                        </p:cTn>
                                        <p:tgtEl>
                                          <p:spTgt spid="123"/>
                                        </p:tgtEl>
                                        <p:attrNameLst>
                                          <p:attrName>style.visibility</p:attrName>
                                        </p:attrNameLst>
                                      </p:cBhvr>
                                      <p:to>
                                        <p:strVal val="hidden"/>
                                      </p:to>
                                    </p:set>
                                  </p:childTnLst>
                                </p:cTn>
                              </p:par>
                            </p:childTnLst>
                          </p:cTn>
                        </p:par>
                      </p:childTnLst>
                    </p:cTn>
                  </p:par>
                  <p:par>
                    <p:cTn id="166" fill="hold">
                      <p:stCondLst>
                        <p:cond delay="indefinite"/>
                      </p:stCondLst>
                      <p:childTnLst>
                        <p:par>
                          <p:cTn id="167" fill="hold">
                            <p:stCondLst>
                              <p:cond delay="0"/>
                            </p:stCondLst>
                            <p:childTnLst>
                              <p:par>
                                <p:cTn id="168" presetID="63" presetClass="path" presetSubtype="0" accel="50000" decel="50000" fill="hold" nodeType="clickEffect">
                                  <p:stCondLst>
                                    <p:cond delay="0"/>
                                  </p:stCondLst>
                                  <p:childTnLst>
                                    <p:animMotion origin="layout" path="M -4.16667E-6 -3.7037E-7 L 0.03803 0.00324 " pathEditMode="relative" rAng="0" ptsTypes="AA">
                                      <p:cBhvr>
                                        <p:cTn id="169" dur="500" fill="hold"/>
                                        <p:tgtEl>
                                          <p:spTgt spid="127"/>
                                        </p:tgtEl>
                                        <p:attrNameLst>
                                          <p:attrName>ppt_x</p:attrName>
                                          <p:attrName>ppt_y</p:attrName>
                                        </p:attrNameLst>
                                      </p:cBhvr>
                                      <p:rCtr x="1901" y="162"/>
                                    </p:animMotion>
                                  </p:childTnLst>
                                </p:cTn>
                              </p:par>
                            </p:childTnLst>
                          </p:cTn>
                        </p:par>
                      </p:childTnLst>
                    </p:cTn>
                  </p:par>
                  <p:par>
                    <p:cTn id="170" fill="hold">
                      <p:stCondLst>
                        <p:cond delay="indefinite"/>
                      </p:stCondLst>
                      <p:childTnLst>
                        <p:par>
                          <p:cTn id="171" fill="hold">
                            <p:stCondLst>
                              <p:cond delay="0"/>
                            </p:stCondLst>
                            <p:childTnLst>
                              <p:par>
                                <p:cTn id="172" presetID="10" presetClass="entr" presetSubtype="0" fill="hold" grpId="0" nodeType="clickEffect">
                                  <p:stCondLst>
                                    <p:cond delay="0"/>
                                  </p:stCondLst>
                                  <p:childTnLst>
                                    <p:set>
                                      <p:cBhvr>
                                        <p:cTn id="173" dur="1" fill="hold">
                                          <p:stCondLst>
                                            <p:cond delay="0"/>
                                          </p:stCondLst>
                                        </p:cTn>
                                        <p:tgtEl>
                                          <p:spTgt spid="136"/>
                                        </p:tgtEl>
                                        <p:attrNameLst>
                                          <p:attrName>style.visibility</p:attrName>
                                        </p:attrNameLst>
                                      </p:cBhvr>
                                      <p:to>
                                        <p:strVal val="visible"/>
                                      </p:to>
                                    </p:set>
                                    <p:animEffect transition="in" filter="fade">
                                      <p:cBhvr>
                                        <p:cTn id="174"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animBg="1"/>
      <p:bldP spid="74" grpId="0"/>
      <p:bldP spid="75" grpId="0"/>
      <p:bldP spid="77" grpId="0"/>
      <p:bldP spid="78" grpId="0" animBg="1"/>
      <p:bldP spid="98" grpId="0" animBg="1"/>
      <p:bldP spid="99" grpId="0" animBg="1"/>
      <p:bldP spid="103" grpId="0" animBg="1"/>
      <p:bldP spid="114" grpId="0"/>
      <p:bldP spid="115" grpId="0"/>
      <p:bldP spid="116" grpId="0"/>
      <p:bldP spid="117" grpId="0"/>
      <p:bldP spid="118" grpId="0"/>
      <p:bldP spid="119" grpId="0"/>
      <p:bldP spid="120" grpId="0"/>
      <p:bldP spid="121" grpId="0" animBg="1"/>
      <p:bldP spid="121" grpId="1" animBg="1"/>
      <p:bldP spid="122" grpId="0"/>
      <p:bldP spid="122" grpId="1"/>
      <p:bldP spid="123" grpId="0"/>
      <p:bldP spid="123" grpId="1"/>
      <p:bldP spid="124" grpId="0"/>
      <p:bldP spid="124" grpId="1"/>
      <p:bldP spid="128" grpId="0"/>
      <p:bldP spid="129" grpId="0" animBg="1"/>
      <p:bldP spid="130" grpId="0" animBg="1"/>
      <p:bldP spid="131" grpId="0" animBg="1"/>
      <p:bldP spid="133" grpId="0" animBg="1"/>
      <p:bldP spid="13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736F4-6358-CCA3-97CE-16DD044FE40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A402CA-0893-F19D-5470-8CB67875829C}"/>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746AC69E-1CBF-06A2-636D-09024A9C28C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CAD9FE1-6797-544A-E9A8-9487729D0220}"/>
              </a:ext>
            </a:extLst>
          </p:cNvPr>
          <p:cNvSpPr>
            <a:spLocks noGrp="1"/>
          </p:cNvSpPr>
          <p:nvPr>
            <p:ph type="sldNum" sz="quarter" idx="4"/>
          </p:nvPr>
        </p:nvSpPr>
        <p:spPr/>
        <p:txBody>
          <a:bodyPr/>
          <a:lstStyle/>
          <a:p>
            <a:pPr>
              <a:defRPr/>
            </a:pPr>
            <a:fld id="{A9CE67A1-BA7F-A74E-B5D7-615746DEEC2B}" type="slidenum">
              <a:rPr lang="en-US" smtClean="0"/>
              <a:pPr>
                <a:defRPr/>
              </a:pPr>
              <a:t>71</a:t>
            </a:fld>
            <a:endParaRPr lang="en-US" baseline="-11000" dirty="0"/>
          </a:p>
        </p:txBody>
      </p:sp>
      <p:sp>
        <p:nvSpPr>
          <p:cNvPr id="6" name="Date Placeholder 5">
            <a:extLst>
              <a:ext uri="{FF2B5EF4-FFF2-40B4-BE49-F238E27FC236}">
                <a16:creationId xmlns:a16="http://schemas.microsoft.com/office/drawing/2014/main" id="{FE6CDD57-6BCD-4B15-9A9C-F36D819D7B5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DA043474-5088-662F-55AE-CD94212B9ADB}"/>
              </a:ext>
            </a:extLst>
          </p:cNvPr>
          <p:cNvSpPr txBox="1"/>
          <p:nvPr/>
        </p:nvSpPr>
        <p:spPr>
          <a:xfrm>
            <a:off x="342901" y="811511"/>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Convergent Rounding</a:t>
            </a:r>
          </a:p>
        </p:txBody>
      </p:sp>
      <p:sp>
        <p:nvSpPr>
          <p:cNvPr id="7" name="TextBox 6">
            <a:extLst>
              <a:ext uri="{FF2B5EF4-FFF2-40B4-BE49-F238E27FC236}">
                <a16:creationId xmlns:a16="http://schemas.microsoft.com/office/drawing/2014/main" id="{302B813A-560E-C4B7-C6F2-F9FCA91F2EA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208E1D23-4046-EC8B-6B26-E03618A6B301}"/>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EF0431F5-FF68-35C2-A71D-74955D9F195D}"/>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8A8874D2-CE6B-1385-0C5F-01E15A434522}"/>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B19F32CC-2B1F-DECD-E0EC-CCFCD743B854}"/>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3CEBB1B4-ADD1-9CA9-E4F1-F2AC3C6B0929}"/>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1B650BFD-9426-6D9C-04CD-ED445BE34E63}"/>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136" name="Rectangle 135">
            <a:extLst>
              <a:ext uri="{FF2B5EF4-FFF2-40B4-BE49-F238E27FC236}">
                <a16:creationId xmlns:a16="http://schemas.microsoft.com/office/drawing/2014/main" id="{F9456259-652B-DA86-383E-2A1C4E2B65A8}"/>
              </a:ext>
            </a:extLst>
          </p:cNvPr>
          <p:cNvSpPr/>
          <p:nvPr/>
        </p:nvSpPr>
        <p:spPr>
          <a:xfrm>
            <a:off x="4688813" y="1321886"/>
            <a:ext cx="1104373" cy="81018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Convergent</a:t>
            </a:r>
            <a:r>
              <a:rPr lang="en-US" sz="1400" b="1" dirty="0"/>
              <a:t> </a:t>
            </a:r>
            <a:r>
              <a:rPr lang="en-US" sz="1400" b="1" dirty="0">
                <a:solidFill>
                  <a:schemeClr val="tx1"/>
                </a:solidFill>
              </a:rPr>
              <a:t>Rounding</a:t>
            </a:r>
          </a:p>
        </p:txBody>
      </p:sp>
      <p:cxnSp>
        <p:nvCxnSpPr>
          <p:cNvPr id="9" name="Straight Arrow Connector 8">
            <a:extLst>
              <a:ext uri="{FF2B5EF4-FFF2-40B4-BE49-F238E27FC236}">
                <a16:creationId xmlns:a16="http://schemas.microsoft.com/office/drawing/2014/main" id="{21697AB3-8C64-242E-E352-DDCA2774CA1E}"/>
              </a:ext>
            </a:extLst>
          </p:cNvPr>
          <p:cNvCxnSpPr>
            <a:cxnSpLocks/>
          </p:cNvCxnSpPr>
          <p:nvPr/>
        </p:nvCxnSpPr>
        <p:spPr>
          <a:xfrm>
            <a:off x="3578087" y="1726979"/>
            <a:ext cx="1110726"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0FCD5EF0-6CAC-63C8-5555-823CA2F39284}"/>
              </a:ext>
            </a:extLst>
          </p:cNvPr>
          <p:cNvSpPr txBox="1"/>
          <p:nvPr/>
        </p:nvSpPr>
        <p:spPr>
          <a:xfrm>
            <a:off x="489859" y="2137285"/>
            <a:ext cx="4198954" cy="369332"/>
          </a:xfrm>
          <a:prstGeom prst="rect">
            <a:avLst/>
          </a:prstGeom>
          <a:noFill/>
        </p:spPr>
        <p:txBody>
          <a:bodyPr wrap="square">
            <a:spAutoFit/>
          </a:bodyPr>
          <a:lstStyle/>
          <a:p>
            <a:r>
              <a:rPr lang="en-US" dirty="0"/>
              <a:t>(rounding to the nearest </a:t>
            </a:r>
            <a:r>
              <a:rPr lang="en-US" b="1" dirty="0"/>
              <a:t>even</a:t>
            </a:r>
            <a:r>
              <a:rPr lang="en-US" dirty="0"/>
              <a:t> number)</a:t>
            </a:r>
          </a:p>
        </p:txBody>
      </p:sp>
      <p:cxnSp>
        <p:nvCxnSpPr>
          <p:cNvPr id="14" name="Straight Arrow Connector 13">
            <a:extLst>
              <a:ext uri="{FF2B5EF4-FFF2-40B4-BE49-F238E27FC236}">
                <a16:creationId xmlns:a16="http://schemas.microsoft.com/office/drawing/2014/main" id="{B90695E6-2ECC-935C-EBC1-524C2434E16E}"/>
              </a:ext>
            </a:extLst>
          </p:cNvPr>
          <p:cNvCxnSpPr>
            <a:cxnSpLocks/>
          </p:cNvCxnSpPr>
          <p:nvPr/>
        </p:nvCxnSpPr>
        <p:spPr>
          <a:xfrm>
            <a:off x="5793186" y="1737156"/>
            <a:ext cx="1110726"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361639B-BAFC-76C4-CD7B-EEA2CB7F2CEA}"/>
              </a:ext>
            </a:extLst>
          </p:cNvPr>
          <p:cNvSpPr txBox="1"/>
          <p:nvPr/>
        </p:nvSpPr>
        <p:spPr>
          <a:xfrm>
            <a:off x="2230706" y="1537101"/>
            <a:ext cx="1361440"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13-bit input</a:t>
            </a:r>
          </a:p>
        </p:txBody>
      </p:sp>
      <p:sp>
        <p:nvSpPr>
          <p:cNvPr id="17" name="TextBox 16">
            <a:extLst>
              <a:ext uri="{FF2B5EF4-FFF2-40B4-BE49-F238E27FC236}">
                <a16:creationId xmlns:a16="http://schemas.microsoft.com/office/drawing/2014/main" id="{300CF9A4-73A0-9A67-A686-A0F5842452C3}"/>
              </a:ext>
            </a:extLst>
          </p:cNvPr>
          <p:cNvSpPr txBox="1"/>
          <p:nvPr/>
        </p:nvSpPr>
        <p:spPr>
          <a:xfrm>
            <a:off x="7058733" y="1537101"/>
            <a:ext cx="189910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12-bit output</a:t>
            </a:r>
          </a:p>
        </p:txBody>
      </p:sp>
      <p:sp>
        <p:nvSpPr>
          <p:cNvPr id="18" name="TextBox 17">
            <a:extLst>
              <a:ext uri="{FF2B5EF4-FFF2-40B4-BE49-F238E27FC236}">
                <a16:creationId xmlns:a16="http://schemas.microsoft.com/office/drawing/2014/main" id="{6D2A63CA-42CC-2306-1EE6-E2A30C2BDAA7}"/>
              </a:ext>
            </a:extLst>
          </p:cNvPr>
          <p:cNvSpPr txBox="1"/>
          <p:nvPr/>
        </p:nvSpPr>
        <p:spPr>
          <a:xfrm>
            <a:off x="489859" y="2560388"/>
            <a:ext cx="749661" cy="369332"/>
          </a:xfrm>
          <a:prstGeom prst="rect">
            <a:avLst/>
          </a:prstGeom>
          <a:noFill/>
        </p:spPr>
        <p:txBody>
          <a:bodyPr wrap="square">
            <a:spAutoFit/>
          </a:bodyPr>
          <a:lstStyle/>
          <a:p>
            <a:r>
              <a:rPr lang="en-US" dirty="0"/>
              <a:t>Ex:</a:t>
            </a:r>
          </a:p>
        </p:txBody>
      </p:sp>
      <p:graphicFrame>
        <p:nvGraphicFramePr>
          <p:cNvPr id="21" name="Table 20">
            <a:extLst>
              <a:ext uri="{FF2B5EF4-FFF2-40B4-BE49-F238E27FC236}">
                <a16:creationId xmlns:a16="http://schemas.microsoft.com/office/drawing/2014/main" id="{09A7DA64-00D4-C647-AB83-A9C6EA30AF86}"/>
              </a:ext>
            </a:extLst>
          </p:cNvPr>
          <p:cNvGraphicFramePr>
            <a:graphicFrameLocks noGrp="1"/>
          </p:cNvGraphicFramePr>
          <p:nvPr>
            <p:extLst>
              <p:ext uri="{D42A27DB-BD31-4B8C-83A1-F6EECF244321}">
                <p14:modId xmlns:p14="http://schemas.microsoft.com/office/powerpoint/2010/main" val="667748284"/>
              </p:ext>
            </p:extLst>
          </p:nvPr>
        </p:nvGraphicFramePr>
        <p:xfrm>
          <a:off x="2078681" y="3225420"/>
          <a:ext cx="8128003" cy="370840"/>
        </p:xfrm>
        <a:graphic>
          <a:graphicData uri="http://schemas.openxmlformats.org/drawingml/2006/table">
            <a:tbl>
              <a:tblPr firstRow="1" bandRow="1">
                <a:tableStyleId>{2D5ABB26-0587-4C30-8999-92F81FD0307C}</a:tableStyleId>
              </a:tblPr>
              <a:tblGrid>
                <a:gridCol w="625231">
                  <a:extLst>
                    <a:ext uri="{9D8B030D-6E8A-4147-A177-3AD203B41FA5}">
                      <a16:colId xmlns:a16="http://schemas.microsoft.com/office/drawing/2014/main" val="2371250659"/>
                    </a:ext>
                  </a:extLst>
                </a:gridCol>
                <a:gridCol w="625231">
                  <a:extLst>
                    <a:ext uri="{9D8B030D-6E8A-4147-A177-3AD203B41FA5}">
                      <a16:colId xmlns:a16="http://schemas.microsoft.com/office/drawing/2014/main" val="901827454"/>
                    </a:ext>
                  </a:extLst>
                </a:gridCol>
                <a:gridCol w="625231">
                  <a:extLst>
                    <a:ext uri="{9D8B030D-6E8A-4147-A177-3AD203B41FA5}">
                      <a16:colId xmlns:a16="http://schemas.microsoft.com/office/drawing/2014/main" val="3473138962"/>
                    </a:ext>
                  </a:extLst>
                </a:gridCol>
                <a:gridCol w="625231">
                  <a:extLst>
                    <a:ext uri="{9D8B030D-6E8A-4147-A177-3AD203B41FA5}">
                      <a16:colId xmlns:a16="http://schemas.microsoft.com/office/drawing/2014/main" val="2865092060"/>
                    </a:ext>
                  </a:extLst>
                </a:gridCol>
                <a:gridCol w="625231">
                  <a:extLst>
                    <a:ext uri="{9D8B030D-6E8A-4147-A177-3AD203B41FA5}">
                      <a16:colId xmlns:a16="http://schemas.microsoft.com/office/drawing/2014/main" val="2574721453"/>
                    </a:ext>
                  </a:extLst>
                </a:gridCol>
                <a:gridCol w="625231">
                  <a:extLst>
                    <a:ext uri="{9D8B030D-6E8A-4147-A177-3AD203B41FA5}">
                      <a16:colId xmlns:a16="http://schemas.microsoft.com/office/drawing/2014/main" val="2445864969"/>
                    </a:ext>
                  </a:extLst>
                </a:gridCol>
                <a:gridCol w="625231">
                  <a:extLst>
                    <a:ext uri="{9D8B030D-6E8A-4147-A177-3AD203B41FA5}">
                      <a16:colId xmlns:a16="http://schemas.microsoft.com/office/drawing/2014/main" val="3807079164"/>
                    </a:ext>
                  </a:extLst>
                </a:gridCol>
                <a:gridCol w="625231">
                  <a:extLst>
                    <a:ext uri="{9D8B030D-6E8A-4147-A177-3AD203B41FA5}">
                      <a16:colId xmlns:a16="http://schemas.microsoft.com/office/drawing/2014/main" val="3317720697"/>
                    </a:ext>
                  </a:extLst>
                </a:gridCol>
                <a:gridCol w="625231">
                  <a:extLst>
                    <a:ext uri="{9D8B030D-6E8A-4147-A177-3AD203B41FA5}">
                      <a16:colId xmlns:a16="http://schemas.microsoft.com/office/drawing/2014/main" val="1226402085"/>
                    </a:ext>
                  </a:extLst>
                </a:gridCol>
                <a:gridCol w="625231">
                  <a:extLst>
                    <a:ext uri="{9D8B030D-6E8A-4147-A177-3AD203B41FA5}">
                      <a16:colId xmlns:a16="http://schemas.microsoft.com/office/drawing/2014/main" val="436428673"/>
                    </a:ext>
                  </a:extLst>
                </a:gridCol>
                <a:gridCol w="625231">
                  <a:extLst>
                    <a:ext uri="{9D8B030D-6E8A-4147-A177-3AD203B41FA5}">
                      <a16:colId xmlns:a16="http://schemas.microsoft.com/office/drawing/2014/main" val="3513046718"/>
                    </a:ext>
                  </a:extLst>
                </a:gridCol>
                <a:gridCol w="625231">
                  <a:extLst>
                    <a:ext uri="{9D8B030D-6E8A-4147-A177-3AD203B41FA5}">
                      <a16:colId xmlns:a16="http://schemas.microsoft.com/office/drawing/2014/main" val="2485424351"/>
                    </a:ext>
                  </a:extLst>
                </a:gridCol>
                <a:gridCol w="625231">
                  <a:extLst>
                    <a:ext uri="{9D8B030D-6E8A-4147-A177-3AD203B41FA5}">
                      <a16:colId xmlns:a16="http://schemas.microsoft.com/office/drawing/2014/main" val="332861536"/>
                    </a:ext>
                  </a:extLst>
                </a:gridCol>
              </a:tblGrid>
              <a:tr h="37084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044283"/>
                  </a:ext>
                </a:extLst>
              </a:tr>
            </a:tbl>
          </a:graphicData>
        </a:graphic>
      </p:graphicFrame>
      <p:sp>
        <p:nvSpPr>
          <p:cNvPr id="22" name="TextBox 21">
            <a:extLst>
              <a:ext uri="{FF2B5EF4-FFF2-40B4-BE49-F238E27FC236}">
                <a16:creationId xmlns:a16="http://schemas.microsoft.com/office/drawing/2014/main" id="{03F21C4B-550A-1D5A-E007-7B9FDC6F5527}"/>
              </a:ext>
            </a:extLst>
          </p:cNvPr>
          <p:cNvSpPr txBox="1"/>
          <p:nvPr/>
        </p:nvSpPr>
        <p:spPr>
          <a:xfrm>
            <a:off x="489859" y="3251576"/>
            <a:ext cx="1361440"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13-bit input</a:t>
            </a:r>
          </a:p>
        </p:txBody>
      </p:sp>
      <p:cxnSp>
        <p:nvCxnSpPr>
          <p:cNvPr id="27" name="Straight Arrow Connector 26">
            <a:extLst>
              <a:ext uri="{FF2B5EF4-FFF2-40B4-BE49-F238E27FC236}">
                <a16:creationId xmlns:a16="http://schemas.microsoft.com/office/drawing/2014/main" id="{C8F42C3E-9D95-F509-AD8B-C8D6344DC97D}"/>
              </a:ext>
            </a:extLst>
          </p:cNvPr>
          <p:cNvCxnSpPr/>
          <p:nvPr/>
        </p:nvCxnSpPr>
        <p:spPr>
          <a:xfrm>
            <a:off x="9145986" y="3596260"/>
            <a:ext cx="0" cy="71158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5181FE69-831A-62E3-DC16-7AC9F9CD582F}"/>
              </a:ext>
            </a:extLst>
          </p:cNvPr>
          <p:cNvGraphicFramePr>
            <a:graphicFrameLocks noGrp="1"/>
          </p:cNvGraphicFramePr>
          <p:nvPr>
            <p:extLst>
              <p:ext uri="{D42A27DB-BD31-4B8C-83A1-F6EECF244321}">
                <p14:modId xmlns:p14="http://schemas.microsoft.com/office/powerpoint/2010/main" val="3439945269"/>
              </p:ext>
            </p:extLst>
          </p:nvPr>
        </p:nvGraphicFramePr>
        <p:xfrm>
          <a:off x="2078681" y="4355661"/>
          <a:ext cx="7502772" cy="370840"/>
        </p:xfrm>
        <a:graphic>
          <a:graphicData uri="http://schemas.openxmlformats.org/drawingml/2006/table">
            <a:tbl>
              <a:tblPr firstRow="1" bandRow="1">
                <a:tableStyleId>{2D5ABB26-0587-4C30-8999-92F81FD0307C}</a:tableStyleId>
              </a:tblPr>
              <a:tblGrid>
                <a:gridCol w="625231">
                  <a:extLst>
                    <a:ext uri="{9D8B030D-6E8A-4147-A177-3AD203B41FA5}">
                      <a16:colId xmlns:a16="http://schemas.microsoft.com/office/drawing/2014/main" val="2371250659"/>
                    </a:ext>
                  </a:extLst>
                </a:gridCol>
                <a:gridCol w="625231">
                  <a:extLst>
                    <a:ext uri="{9D8B030D-6E8A-4147-A177-3AD203B41FA5}">
                      <a16:colId xmlns:a16="http://schemas.microsoft.com/office/drawing/2014/main" val="901827454"/>
                    </a:ext>
                  </a:extLst>
                </a:gridCol>
                <a:gridCol w="625231">
                  <a:extLst>
                    <a:ext uri="{9D8B030D-6E8A-4147-A177-3AD203B41FA5}">
                      <a16:colId xmlns:a16="http://schemas.microsoft.com/office/drawing/2014/main" val="3473138962"/>
                    </a:ext>
                  </a:extLst>
                </a:gridCol>
                <a:gridCol w="625231">
                  <a:extLst>
                    <a:ext uri="{9D8B030D-6E8A-4147-A177-3AD203B41FA5}">
                      <a16:colId xmlns:a16="http://schemas.microsoft.com/office/drawing/2014/main" val="2865092060"/>
                    </a:ext>
                  </a:extLst>
                </a:gridCol>
                <a:gridCol w="625231">
                  <a:extLst>
                    <a:ext uri="{9D8B030D-6E8A-4147-A177-3AD203B41FA5}">
                      <a16:colId xmlns:a16="http://schemas.microsoft.com/office/drawing/2014/main" val="2574721453"/>
                    </a:ext>
                  </a:extLst>
                </a:gridCol>
                <a:gridCol w="625231">
                  <a:extLst>
                    <a:ext uri="{9D8B030D-6E8A-4147-A177-3AD203B41FA5}">
                      <a16:colId xmlns:a16="http://schemas.microsoft.com/office/drawing/2014/main" val="2445864969"/>
                    </a:ext>
                  </a:extLst>
                </a:gridCol>
                <a:gridCol w="625231">
                  <a:extLst>
                    <a:ext uri="{9D8B030D-6E8A-4147-A177-3AD203B41FA5}">
                      <a16:colId xmlns:a16="http://schemas.microsoft.com/office/drawing/2014/main" val="3807079164"/>
                    </a:ext>
                  </a:extLst>
                </a:gridCol>
                <a:gridCol w="625231">
                  <a:extLst>
                    <a:ext uri="{9D8B030D-6E8A-4147-A177-3AD203B41FA5}">
                      <a16:colId xmlns:a16="http://schemas.microsoft.com/office/drawing/2014/main" val="3317720697"/>
                    </a:ext>
                  </a:extLst>
                </a:gridCol>
                <a:gridCol w="625231">
                  <a:extLst>
                    <a:ext uri="{9D8B030D-6E8A-4147-A177-3AD203B41FA5}">
                      <a16:colId xmlns:a16="http://schemas.microsoft.com/office/drawing/2014/main" val="1226402085"/>
                    </a:ext>
                  </a:extLst>
                </a:gridCol>
                <a:gridCol w="625231">
                  <a:extLst>
                    <a:ext uri="{9D8B030D-6E8A-4147-A177-3AD203B41FA5}">
                      <a16:colId xmlns:a16="http://schemas.microsoft.com/office/drawing/2014/main" val="436428673"/>
                    </a:ext>
                  </a:extLst>
                </a:gridCol>
                <a:gridCol w="625231">
                  <a:extLst>
                    <a:ext uri="{9D8B030D-6E8A-4147-A177-3AD203B41FA5}">
                      <a16:colId xmlns:a16="http://schemas.microsoft.com/office/drawing/2014/main" val="3513046718"/>
                    </a:ext>
                  </a:extLst>
                </a:gridCol>
                <a:gridCol w="625231">
                  <a:extLst>
                    <a:ext uri="{9D8B030D-6E8A-4147-A177-3AD203B41FA5}">
                      <a16:colId xmlns:a16="http://schemas.microsoft.com/office/drawing/2014/main" val="2485424351"/>
                    </a:ext>
                  </a:extLst>
                </a:gridCol>
              </a:tblGrid>
              <a:tr h="37084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044283"/>
                  </a:ext>
                </a:extLst>
              </a:tr>
            </a:tbl>
          </a:graphicData>
        </a:graphic>
      </p:graphicFrame>
      <p:sp>
        <p:nvSpPr>
          <p:cNvPr id="29" name="TextBox 28">
            <a:extLst>
              <a:ext uri="{FF2B5EF4-FFF2-40B4-BE49-F238E27FC236}">
                <a16:creationId xmlns:a16="http://schemas.microsoft.com/office/drawing/2014/main" id="{911F9147-6570-2154-EF05-0D6A2E8CF212}"/>
              </a:ext>
            </a:extLst>
          </p:cNvPr>
          <p:cNvSpPr txBox="1"/>
          <p:nvPr/>
        </p:nvSpPr>
        <p:spPr>
          <a:xfrm>
            <a:off x="585255" y="4987518"/>
            <a:ext cx="9320745" cy="369332"/>
          </a:xfrm>
          <a:prstGeom prst="rect">
            <a:avLst/>
          </a:prstGeom>
          <a:noFill/>
        </p:spPr>
        <p:txBody>
          <a:bodyPr wrap="square">
            <a:spAutoFit/>
          </a:bodyPr>
          <a:lstStyle/>
          <a:p>
            <a:r>
              <a:rPr lang="en-US" dirty="0"/>
              <a:t>As we can see we didn’t round the LSB (0) as it’s even but what if the LSB was 1 ? Let’s see </a:t>
            </a:r>
          </a:p>
        </p:txBody>
      </p:sp>
      <p:sp>
        <p:nvSpPr>
          <p:cNvPr id="30" name="TextBox 29">
            <a:extLst>
              <a:ext uri="{FF2B5EF4-FFF2-40B4-BE49-F238E27FC236}">
                <a16:creationId xmlns:a16="http://schemas.microsoft.com/office/drawing/2014/main" id="{5B244B35-5530-C842-E1A9-18F34BA6DDE8}"/>
              </a:ext>
            </a:extLst>
          </p:cNvPr>
          <p:cNvSpPr txBox="1"/>
          <p:nvPr/>
        </p:nvSpPr>
        <p:spPr>
          <a:xfrm>
            <a:off x="489859" y="4300324"/>
            <a:ext cx="189910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12-bit output</a:t>
            </a:r>
          </a:p>
        </p:txBody>
      </p:sp>
      <p:sp>
        <p:nvSpPr>
          <p:cNvPr id="34" name="Oval 33">
            <a:extLst>
              <a:ext uri="{FF2B5EF4-FFF2-40B4-BE49-F238E27FC236}">
                <a16:creationId xmlns:a16="http://schemas.microsoft.com/office/drawing/2014/main" id="{5F1AD226-12D8-FC47-14D1-4D5D1FD686DF}"/>
              </a:ext>
            </a:extLst>
          </p:cNvPr>
          <p:cNvSpPr/>
          <p:nvPr/>
        </p:nvSpPr>
        <p:spPr>
          <a:xfrm>
            <a:off x="9026450" y="3171922"/>
            <a:ext cx="514155" cy="514155"/>
          </a:xfrm>
          <a:prstGeom prst="ellipse">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972508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animEffect transition="in" filter="fade">
                                      <p:cBhvr>
                                        <p:cTn id="19" dur="500"/>
                                        <p:tgtEl>
                                          <p:spTgt spid="12">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animEffect transition="in" filter="fade">
                                      <p:cBhvr>
                                        <p:cTn id="27" dur="500"/>
                                        <p:tgtEl>
                                          <p:spTgt spid="18">
                                            <p:txEl>
                                              <p:pRg st="0" end="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childTnLst>
                                </p:cTn>
                              </p:par>
                              <p:par>
                                <p:cTn id="36" presetID="10" presetClass="entr" presetSubtype="0"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9">
                                            <p:txEl>
                                              <p:pRg st="0" end="0"/>
                                            </p:txEl>
                                          </p:spTgt>
                                        </p:tgtEl>
                                        <p:attrNameLst>
                                          <p:attrName>style.visibility</p:attrName>
                                        </p:attrNameLst>
                                      </p:cBhvr>
                                      <p:to>
                                        <p:strVal val="visible"/>
                                      </p:to>
                                    </p:set>
                                    <p:animEffect transition="in" filter="fade">
                                      <p:cBhvr>
                                        <p:cTn id="48" dur="500"/>
                                        <p:tgtEl>
                                          <p:spTgt spid="29">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2" grpId="0"/>
      <p:bldP spid="30" grpId="0"/>
      <p:bldP spid="3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DDC21-A4EF-E261-643B-1EE37DACF37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729939E-56D7-67D0-FB93-A40C3AE37A64}"/>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AFD90280-8C9D-C48F-BF7F-BA7B2411ABE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4D76F49F-1E37-1065-13A2-BE3C5BE7C57C}"/>
              </a:ext>
            </a:extLst>
          </p:cNvPr>
          <p:cNvSpPr>
            <a:spLocks noGrp="1"/>
          </p:cNvSpPr>
          <p:nvPr>
            <p:ph type="sldNum" sz="quarter" idx="4"/>
          </p:nvPr>
        </p:nvSpPr>
        <p:spPr/>
        <p:txBody>
          <a:bodyPr/>
          <a:lstStyle/>
          <a:p>
            <a:pPr>
              <a:defRPr/>
            </a:pPr>
            <a:fld id="{A9CE67A1-BA7F-A74E-B5D7-615746DEEC2B}" type="slidenum">
              <a:rPr lang="en-US" smtClean="0"/>
              <a:pPr>
                <a:defRPr/>
              </a:pPr>
              <a:t>72</a:t>
            </a:fld>
            <a:endParaRPr lang="en-US" baseline="-11000" dirty="0"/>
          </a:p>
        </p:txBody>
      </p:sp>
      <p:sp>
        <p:nvSpPr>
          <p:cNvPr id="6" name="Date Placeholder 5">
            <a:extLst>
              <a:ext uri="{FF2B5EF4-FFF2-40B4-BE49-F238E27FC236}">
                <a16:creationId xmlns:a16="http://schemas.microsoft.com/office/drawing/2014/main" id="{2B0C3B26-6ADD-2EA0-C150-D4D48080462D}"/>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14378E4D-41B4-D75C-D6AE-305F7A092979}"/>
              </a:ext>
            </a:extLst>
          </p:cNvPr>
          <p:cNvSpPr txBox="1"/>
          <p:nvPr/>
        </p:nvSpPr>
        <p:spPr>
          <a:xfrm>
            <a:off x="342901" y="811511"/>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Convergent Rounding</a:t>
            </a:r>
          </a:p>
        </p:txBody>
      </p:sp>
      <p:sp>
        <p:nvSpPr>
          <p:cNvPr id="7" name="TextBox 6">
            <a:extLst>
              <a:ext uri="{FF2B5EF4-FFF2-40B4-BE49-F238E27FC236}">
                <a16:creationId xmlns:a16="http://schemas.microsoft.com/office/drawing/2014/main" id="{089917DD-ACC5-C2EE-632E-A5D4752E826D}"/>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E051559D-C61B-6D03-1832-11E507D29B8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473E79B6-A977-1CA5-5F86-4D251552DAFE}"/>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5E98FFE7-8EE3-F9D6-5C4A-D712DF1B38D2}"/>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E9E9C241-FDFF-89E3-33B5-E0AD9E9A636B}"/>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2F9881B5-3800-6DE8-4D3A-F27290564409}"/>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DAAF03F1-D7BF-A2A8-EBC4-845B714BF88F}"/>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18" name="TextBox 17">
            <a:extLst>
              <a:ext uri="{FF2B5EF4-FFF2-40B4-BE49-F238E27FC236}">
                <a16:creationId xmlns:a16="http://schemas.microsoft.com/office/drawing/2014/main" id="{AB3876D0-E11B-4BFD-AE52-A4BF023BABF9}"/>
              </a:ext>
            </a:extLst>
          </p:cNvPr>
          <p:cNvSpPr txBox="1"/>
          <p:nvPr/>
        </p:nvSpPr>
        <p:spPr>
          <a:xfrm>
            <a:off x="544623" y="1166061"/>
            <a:ext cx="749661" cy="369332"/>
          </a:xfrm>
          <a:prstGeom prst="rect">
            <a:avLst/>
          </a:prstGeom>
          <a:noFill/>
        </p:spPr>
        <p:txBody>
          <a:bodyPr wrap="square">
            <a:spAutoFit/>
          </a:bodyPr>
          <a:lstStyle/>
          <a:p>
            <a:r>
              <a:rPr lang="en-US" dirty="0"/>
              <a:t>Ex:</a:t>
            </a:r>
          </a:p>
        </p:txBody>
      </p:sp>
      <p:graphicFrame>
        <p:nvGraphicFramePr>
          <p:cNvPr id="21" name="Table 20">
            <a:extLst>
              <a:ext uri="{FF2B5EF4-FFF2-40B4-BE49-F238E27FC236}">
                <a16:creationId xmlns:a16="http://schemas.microsoft.com/office/drawing/2014/main" id="{9B9862E3-2AA1-30C6-7178-390504CA2757}"/>
              </a:ext>
            </a:extLst>
          </p:cNvPr>
          <p:cNvGraphicFramePr>
            <a:graphicFrameLocks noGrp="1"/>
          </p:cNvGraphicFramePr>
          <p:nvPr>
            <p:extLst>
              <p:ext uri="{D42A27DB-BD31-4B8C-83A1-F6EECF244321}">
                <p14:modId xmlns:p14="http://schemas.microsoft.com/office/powerpoint/2010/main" val="2962562059"/>
              </p:ext>
            </p:extLst>
          </p:nvPr>
        </p:nvGraphicFramePr>
        <p:xfrm>
          <a:off x="2133445" y="1831093"/>
          <a:ext cx="8128003" cy="370840"/>
        </p:xfrm>
        <a:graphic>
          <a:graphicData uri="http://schemas.openxmlformats.org/drawingml/2006/table">
            <a:tbl>
              <a:tblPr firstRow="1" bandRow="1">
                <a:tableStyleId>{2D5ABB26-0587-4C30-8999-92F81FD0307C}</a:tableStyleId>
              </a:tblPr>
              <a:tblGrid>
                <a:gridCol w="625231">
                  <a:extLst>
                    <a:ext uri="{9D8B030D-6E8A-4147-A177-3AD203B41FA5}">
                      <a16:colId xmlns:a16="http://schemas.microsoft.com/office/drawing/2014/main" val="2371250659"/>
                    </a:ext>
                  </a:extLst>
                </a:gridCol>
                <a:gridCol w="625231">
                  <a:extLst>
                    <a:ext uri="{9D8B030D-6E8A-4147-A177-3AD203B41FA5}">
                      <a16:colId xmlns:a16="http://schemas.microsoft.com/office/drawing/2014/main" val="901827454"/>
                    </a:ext>
                  </a:extLst>
                </a:gridCol>
                <a:gridCol w="625231">
                  <a:extLst>
                    <a:ext uri="{9D8B030D-6E8A-4147-A177-3AD203B41FA5}">
                      <a16:colId xmlns:a16="http://schemas.microsoft.com/office/drawing/2014/main" val="3473138962"/>
                    </a:ext>
                  </a:extLst>
                </a:gridCol>
                <a:gridCol w="625231">
                  <a:extLst>
                    <a:ext uri="{9D8B030D-6E8A-4147-A177-3AD203B41FA5}">
                      <a16:colId xmlns:a16="http://schemas.microsoft.com/office/drawing/2014/main" val="2865092060"/>
                    </a:ext>
                  </a:extLst>
                </a:gridCol>
                <a:gridCol w="625231">
                  <a:extLst>
                    <a:ext uri="{9D8B030D-6E8A-4147-A177-3AD203B41FA5}">
                      <a16:colId xmlns:a16="http://schemas.microsoft.com/office/drawing/2014/main" val="2574721453"/>
                    </a:ext>
                  </a:extLst>
                </a:gridCol>
                <a:gridCol w="625231">
                  <a:extLst>
                    <a:ext uri="{9D8B030D-6E8A-4147-A177-3AD203B41FA5}">
                      <a16:colId xmlns:a16="http://schemas.microsoft.com/office/drawing/2014/main" val="2445864969"/>
                    </a:ext>
                  </a:extLst>
                </a:gridCol>
                <a:gridCol w="625231">
                  <a:extLst>
                    <a:ext uri="{9D8B030D-6E8A-4147-A177-3AD203B41FA5}">
                      <a16:colId xmlns:a16="http://schemas.microsoft.com/office/drawing/2014/main" val="3807079164"/>
                    </a:ext>
                  </a:extLst>
                </a:gridCol>
                <a:gridCol w="625231">
                  <a:extLst>
                    <a:ext uri="{9D8B030D-6E8A-4147-A177-3AD203B41FA5}">
                      <a16:colId xmlns:a16="http://schemas.microsoft.com/office/drawing/2014/main" val="3317720697"/>
                    </a:ext>
                  </a:extLst>
                </a:gridCol>
                <a:gridCol w="625231">
                  <a:extLst>
                    <a:ext uri="{9D8B030D-6E8A-4147-A177-3AD203B41FA5}">
                      <a16:colId xmlns:a16="http://schemas.microsoft.com/office/drawing/2014/main" val="1226402085"/>
                    </a:ext>
                  </a:extLst>
                </a:gridCol>
                <a:gridCol w="625231">
                  <a:extLst>
                    <a:ext uri="{9D8B030D-6E8A-4147-A177-3AD203B41FA5}">
                      <a16:colId xmlns:a16="http://schemas.microsoft.com/office/drawing/2014/main" val="436428673"/>
                    </a:ext>
                  </a:extLst>
                </a:gridCol>
                <a:gridCol w="625231">
                  <a:extLst>
                    <a:ext uri="{9D8B030D-6E8A-4147-A177-3AD203B41FA5}">
                      <a16:colId xmlns:a16="http://schemas.microsoft.com/office/drawing/2014/main" val="3513046718"/>
                    </a:ext>
                  </a:extLst>
                </a:gridCol>
                <a:gridCol w="625231">
                  <a:extLst>
                    <a:ext uri="{9D8B030D-6E8A-4147-A177-3AD203B41FA5}">
                      <a16:colId xmlns:a16="http://schemas.microsoft.com/office/drawing/2014/main" val="2485424351"/>
                    </a:ext>
                  </a:extLst>
                </a:gridCol>
                <a:gridCol w="625231">
                  <a:extLst>
                    <a:ext uri="{9D8B030D-6E8A-4147-A177-3AD203B41FA5}">
                      <a16:colId xmlns:a16="http://schemas.microsoft.com/office/drawing/2014/main" val="332861536"/>
                    </a:ext>
                  </a:extLst>
                </a:gridCol>
              </a:tblGrid>
              <a:tr h="37084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044283"/>
                  </a:ext>
                </a:extLst>
              </a:tr>
            </a:tbl>
          </a:graphicData>
        </a:graphic>
      </p:graphicFrame>
      <p:sp>
        <p:nvSpPr>
          <p:cNvPr id="22" name="TextBox 21">
            <a:extLst>
              <a:ext uri="{FF2B5EF4-FFF2-40B4-BE49-F238E27FC236}">
                <a16:creationId xmlns:a16="http://schemas.microsoft.com/office/drawing/2014/main" id="{F64675F0-CB0B-A055-161B-C136A29008F0}"/>
              </a:ext>
            </a:extLst>
          </p:cNvPr>
          <p:cNvSpPr txBox="1"/>
          <p:nvPr/>
        </p:nvSpPr>
        <p:spPr>
          <a:xfrm>
            <a:off x="544623" y="1857249"/>
            <a:ext cx="1361440"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13-bit input</a:t>
            </a:r>
          </a:p>
        </p:txBody>
      </p:sp>
      <p:cxnSp>
        <p:nvCxnSpPr>
          <p:cNvPr id="27" name="Straight Arrow Connector 26">
            <a:extLst>
              <a:ext uri="{FF2B5EF4-FFF2-40B4-BE49-F238E27FC236}">
                <a16:creationId xmlns:a16="http://schemas.microsoft.com/office/drawing/2014/main" id="{E73F1DFD-BCD7-49E9-596E-7CC37434075E}"/>
              </a:ext>
            </a:extLst>
          </p:cNvPr>
          <p:cNvCxnSpPr/>
          <p:nvPr/>
        </p:nvCxnSpPr>
        <p:spPr>
          <a:xfrm>
            <a:off x="9322670" y="2201933"/>
            <a:ext cx="0" cy="71158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26639475-C77E-8833-E2E5-E15C0C7F8E87}"/>
              </a:ext>
            </a:extLst>
          </p:cNvPr>
          <p:cNvGraphicFramePr>
            <a:graphicFrameLocks noGrp="1"/>
          </p:cNvGraphicFramePr>
          <p:nvPr>
            <p:extLst>
              <p:ext uri="{D42A27DB-BD31-4B8C-83A1-F6EECF244321}">
                <p14:modId xmlns:p14="http://schemas.microsoft.com/office/powerpoint/2010/main" val="1372592907"/>
              </p:ext>
            </p:extLst>
          </p:nvPr>
        </p:nvGraphicFramePr>
        <p:xfrm>
          <a:off x="2133445" y="2961334"/>
          <a:ext cx="7502772" cy="370840"/>
        </p:xfrm>
        <a:graphic>
          <a:graphicData uri="http://schemas.openxmlformats.org/drawingml/2006/table">
            <a:tbl>
              <a:tblPr firstRow="1" bandRow="1">
                <a:tableStyleId>{2D5ABB26-0587-4C30-8999-92F81FD0307C}</a:tableStyleId>
              </a:tblPr>
              <a:tblGrid>
                <a:gridCol w="625231">
                  <a:extLst>
                    <a:ext uri="{9D8B030D-6E8A-4147-A177-3AD203B41FA5}">
                      <a16:colId xmlns:a16="http://schemas.microsoft.com/office/drawing/2014/main" val="2371250659"/>
                    </a:ext>
                  </a:extLst>
                </a:gridCol>
                <a:gridCol w="625231">
                  <a:extLst>
                    <a:ext uri="{9D8B030D-6E8A-4147-A177-3AD203B41FA5}">
                      <a16:colId xmlns:a16="http://schemas.microsoft.com/office/drawing/2014/main" val="901827454"/>
                    </a:ext>
                  </a:extLst>
                </a:gridCol>
                <a:gridCol w="625231">
                  <a:extLst>
                    <a:ext uri="{9D8B030D-6E8A-4147-A177-3AD203B41FA5}">
                      <a16:colId xmlns:a16="http://schemas.microsoft.com/office/drawing/2014/main" val="3473138962"/>
                    </a:ext>
                  </a:extLst>
                </a:gridCol>
                <a:gridCol w="625231">
                  <a:extLst>
                    <a:ext uri="{9D8B030D-6E8A-4147-A177-3AD203B41FA5}">
                      <a16:colId xmlns:a16="http://schemas.microsoft.com/office/drawing/2014/main" val="2865092060"/>
                    </a:ext>
                  </a:extLst>
                </a:gridCol>
                <a:gridCol w="625231">
                  <a:extLst>
                    <a:ext uri="{9D8B030D-6E8A-4147-A177-3AD203B41FA5}">
                      <a16:colId xmlns:a16="http://schemas.microsoft.com/office/drawing/2014/main" val="2574721453"/>
                    </a:ext>
                  </a:extLst>
                </a:gridCol>
                <a:gridCol w="625231">
                  <a:extLst>
                    <a:ext uri="{9D8B030D-6E8A-4147-A177-3AD203B41FA5}">
                      <a16:colId xmlns:a16="http://schemas.microsoft.com/office/drawing/2014/main" val="2445864969"/>
                    </a:ext>
                  </a:extLst>
                </a:gridCol>
                <a:gridCol w="625231">
                  <a:extLst>
                    <a:ext uri="{9D8B030D-6E8A-4147-A177-3AD203B41FA5}">
                      <a16:colId xmlns:a16="http://schemas.microsoft.com/office/drawing/2014/main" val="3807079164"/>
                    </a:ext>
                  </a:extLst>
                </a:gridCol>
                <a:gridCol w="625231">
                  <a:extLst>
                    <a:ext uri="{9D8B030D-6E8A-4147-A177-3AD203B41FA5}">
                      <a16:colId xmlns:a16="http://schemas.microsoft.com/office/drawing/2014/main" val="3317720697"/>
                    </a:ext>
                  </a:extLst>
                </a:gridCol>
                <a:gridCol w="625231">
                  <a:extLst>
                    <a:ext uri="{9D8B030D-6E8A-4147-A177-3AD203B41FA5}">
                      <a16:colId xmlns:a16="http://schemas.microsoft.com/office/drawing/2014/main" val="1226402085"/>
                    </a:ext>
                  </a:extLst>
                </a:gridCol>
                <a:gridCol w="625231">
                  <a:extLst>
                    <a:ext uri="{9D8B030D-6E8A-4147-A177-3AD203B41FA5}">
                      <a16:colId xmlns:a16="http://schemas.microsoft.com/office/drawing/2014/main" val="436428673"/>
                    </a:ext>
                  </a:extLst>
                </a:gridCol>
                <a:gridCol w="625231">
                  <a:extLst>
                    <a:ext uri="{9D8B030D-6E8A-4147-A177-3AD203B41FA5}">
                      <a16:colId xmlns:a16="http://schemas.microsoft.com/office/drawing/2014/main" val="3513046718"/>
                    </a:ext>
                  </a:extLst>
                </a:gridCol>
                <a:gridCol w="625231">
                  <a:extLst>
                    <a:ext uri="{9D8B030D-6E8A-4147-A177-3AD203B41FA5}">
                      <a16:colId xmlns:a16="http://schemas.microsoft.com/office/drawing/2014/main" val="2485424351"/>
                    </a:ext>
                  </a:extLst>
                </a:gridCol>
              </a:tblGrid>
              <a:tr h="37084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044283"/>
                  </a:ext>
                </a:extLst>
              </a:tr>
            </a:tbl>
          </a:graphicData>
        </a:graphic>
      </p:graphicFrame>
      <p:sp>
        <p:nvSpPr>
          <p:cNvPr id="29" name="TextBox 28">
            <a:extLst>
              <a:ext uri="{FF2B5EF4-FFF2-40B4-BE49-F238E27FC236}">
                <a16:creationId xmlns:a16="http://schemas.microsoft.com/office/drawing/2014/main" id="{6F1E9BD2-33DA-CA26-7900-77A2762760B9}"/>
              </a:ext>
            </a:extLst>
          </p:cNvPr>
          <p:cNvSpPr txBox="1"/>
          <p:nvPr/>
        </p:nvSpPr>
        <p:spPr>
          <a:xfrm>
            <a:off x="464078" y="3519830"/>
            <a:ext cx="11385022" cy="1200329"/>
          </a:xfrm>
          <a:prstGeom prst="rect">
            <a:avLst/>
          </a:prstGeom>
          <a:noFill/>
        </p:spPr>
        <p:txBody>
          <a:bodyPr wrap="square">
            <a:spAutoFit/>
          </a:bodyPr>
          <a:lstStyle/>
          <a:p>
            <a:r>
              <a:rPr lang="en-US" dirty="0"/>
              <a:t>We rounded it up, so it became even and to understand the logic let’s call the bit (1) in the input L and the bit (0) S then we have rounded bit Which= L &amp; S  and then we take this rounded bit and add it to the input [12:1] </a:t>
            </a:r>
          </a:p>
          <a:p>
            <a:r>
              <a:rPr lang="en-US" dirty="0"/>
              <a:t>let’s revisit the last example again </a:t>
            </a:r>
          </a:p>
          <a:p>
            <a:endParaRPr lang="en-US" dirty="0"/>
          </a:p>
        </p:txBody>
      </p:sp>
      <p:sp>
        <p:nvSpPr>
          <p:cNvPr id="30" name="TextBox 29">
            <a:extLst>
              <a:ext uri="{FF2B5EF4-FFF2-40B4-BE49-F238E27FC236}">
                <a16:creationId xmlns:a16="http://schemas.microsoft.com/office/drawing/2014/main" id="{40FB4760-499C-A754-2768-8C1A41DBC121}"/>
              </a:ext>
            </a:extLst>
          </p:cNvPr>
          <p:cNvSpPr txBox="1"/>
          <p:nvPr/>
        </p:nvSpPr>
        <p:spPr>
          <a:xfrm>
            <a:off x="544623" y="2905997"/>
            <a:ext cx="189910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12-bit output</a:t>
            </a:r>
          </a:p>
        </p:txBody>
      </p:sp>
      <p:cxnSp>
        <p:nvCxnSpPr>
          <p:cNvPr id="8" name="Straight Arrow Connector 7">
            <a:extLst>
              <a:ext uri="{FF2B5EF4-FFF2-40B4-BE49-F238E27FC236}">
                <a16:creationId xmlns:a16="http://schemas.microsoft.com/office/drawing/2014/main" id="{3655A3FC-115B-766F-4E5F-34160F2578E0}"/>
              </a:ext>
            </a:extLst>
          </p:cNvPr>
          <p:cNvCxnSpPr/>
          <p:nvPr/>
        </p:nvCxnSpPr>
        <p:spPr>
          <a:xfrm>
            <a:off x="8703495" y="2194417"/>
            <a:ext cx="0" cy="71158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244EF16D-B30B-EB0C-1ED8-A7ACA239FA79}"/>
              </a:ext>
            </a:extLst>
          </p:cNvPr>
          <p:cNvSpPr txBox="1"/>
          <p:nvPr/>
        </p:nvSpPr>
        <p:spPr>
          <a:xfrm>
            <a:off x="463847" y="5428632"/>
            <a:ext cx="11264305" cy="369332"/>
          </a:xfrm>
          <a:prstGeom prst="rect">
            <a:avLst/>
          </a:prstGeom>
          <a:noFill/>
        </p:spPr>
        <p:txBody>
          <a:bodyPr wrap="square">
            <a:spAutoFit/>
          </a:bodyPr>
          <a:lstStyle/>
          <a:p>
            <a:r>
              <a:rPr lang="en-US" dirty="0"/>
              <a:t>L=1 , S=1 -&gt; rounded bit =1 , output= input [12:1]  + rounded bit = [000000001101]+[1’b1] =[000000001110]</a:t>
            </a:r>
          </a:p>
        </p:txBody>
      </p:sp>
      <p:graphicFrame>
        <p:nvGraphicFramePr>
          <p:cNvPr id="24" name="Table 23">
            <a:extLst>
              <a:ext uri="{FF2B5EF4-FFF2-40B4-BE49-F238E27FC236}">
                <a16:creationId xmlns:a16="http://schemas.microsoft.com/office/drawing/2014/main" id="{4DF58135-F339-ED60-B93E-BEE15F27C187}"/>
              </a:ext>
            </a:extLst>
          </p:cNvPr>
          <p:cNvGraphicFramePr>
            <a:graphicFrameLocks noGrp="1"/>
          </p:cNvGraphicFramePr>
          <p:nvPr>
            <p:extLst>
              <p:ext uri="{D42A27DB-BD31-4B8C-83A1-F6EECF244321}">
                <p14:modId xmlns:p14="http://schemas.microsoft.com/office/powerpoint/2010/main" val="137565737"/>
              </p:ext>
            </p:extLst>
          </p:nvPr>
        </p:nvGraphicFramePr>
        <p:xfrm>
          <a:off x="2133445" y="4722750"/>
          <a:ext cx="8128003" cy="370840"/>
        </p:xfrm>
        <a:graphic>
          <a:graphicData uri="http://schemas.openxmlformats.org/drawingml/2006/table">
            <a:tbl>
              <a:tblPr firstRow="1" bandRow="1">
                <a:tableStyleId>{2D5ABB26-0587-4C30-8999-92F81FD0307C}</a:tableStyleId>
              </a:tblPr>
              <a:tblGrid>
                <a:gridCol w="625231">
                  <a:extLst>
                    <a:ext uri="{9D8B030D-6E8A-4147-A177-3AD203B41FA5}">
                      <a16:colId xmlns:a16="http://schemas.microsoft.com/office/drawing/2014/main" val="2371250659"/>
                    </a:ext>
                  </a:extLst>
                </a:gridCol>
                <a:gridCol w="625231">
                  <a:extLst>
                    <a:ext uri="{9D8B030D-6E8A-4147-A177-3AD203B41FA5}">
                      <a16:colId xmlns:a16="http://schemas.microsoft.com/office/drawing/2014/main" val="901827454"/>
                    </a:ext>
                  </a:extLst>
                </a:gridCol>
                <a:gridCol w="625231">
                  <a:extLst>
                    <a:ext uri="{9D8B030D-6E8A-4147-A177-3AD203B41FA5}">
                      <a16:colId xmlns:a16="http://schemas.microsoft.com/office/drawing/2014/main" val="3473138962"/>
                    </a:ext>
                  </a:extLst>
                </a:gridCol>
                <a:gridCol w="625231">
                  <a:extLst>
                    <a:ext uri="{9D8B030D-6E8A-4147-A177-3AD203B41FA5}">
                      <a16:colId xmlns:a16="http://schemas.microsoft.com/office/drawing/2014/main" val="2865092060"/>
                    </a:ext>
                  </a:extLst>
                </a:gridCol>
                <a:gridCol w="625231">
                  <a:extLst>
                    <a:ext uri="{9D8B030D-6E8A-4147-A177-3AD203B41FA5}">
                      <a16:colId xmlns:a16="http://schemas.microsoft.com/office/drawing/2014/main" val="2574721453"/>
                    </a:ext>
                  </a:extLst>
                </a:gridCol>
                <a:gridCol w="625231">
                  <a:extLst>
                    <a:ext uri="{9D8B030D-6E8A-4147-A177-3AD203B41FA5}">
                      <a16:colId xmlns:a16="http://schemas.microsoft.com/office/drawing/2014/main" val="2445864969"/>
                    </a:ext>
                  </a:extLst>
                </a:gridCol>
                <a:gridCol w="625231">
                  <a:extLst>
                    <a:ext uri="{9D8B030D-6E8A-4147-A177-3AD203B41FA5}">
                      <a16:colId xmlns:a16="http://schemas.microsoft.com/office/drawing/2014/main" val="3807079164"/>
                    </a:ext>
                  </a:extLst>
                </a:gridCol>
                <a:gridCol w="625231">
                  <a:extLst>
                    <a:ext uri="{9D8B030D-6E8A-4147-A177-3AD203B41FA5}">
                      <a16:colId xmlns:a16="http://schemas.microsoft.com/office/drawing/2014/main" val="3317720697"/>
                    </a:ext>
                  </a:extLst>
                </a:gridCol>
                <a:gridCol w="625231">
                  <a:extLst>
                    <a:ext uri="{9D8B030D-6E8A-4147-A177-3AD203B41FA5}">
                      <a16:colId xmlns:a16="http://schemas.microsoft.com/office/drawing/2014/main" val="1226402085"/>
                    </a:ext>
                  </a:extLst>
                </a:gridCol>
                <a:gridCol w="625231">
                  <a:extLst>
                    <a:ext uri="{9D8B030D-6E8A-4147-A177-3AD203B41FA5}">
                      <a16:colId xmlns:a16="http://schemas.microsoft.com/office/drawing/2014/main" val="436428673"/>
                    </a:ext>
                  </a:extLst>
                </a:gridCol>
                <a:gridCol w="625231">
                  <a:extLst>
                    <a:ext uri="{9D8B030D-6E8A-4147-A177-3AD203B41FA5}">
                      <a16:colId xmlns:a16="http://schemas.microsoft.com/office/drawing/2014/main" val="3513046718"/>
                    </a:ext>
                  </a:extLst>
                </a:gridCol>
                <a:gridCol w="625231">
                  <a:extLst>
                    <a:ext uri="{9D8B030D-6E8A-4147-A177-3AD203B41FA5}">
                      <a16:colId xmlns:a16="http://schemas.microsoft.com/office/drawing/2014/main" val="2485424351"/>
                    </a:ext>
                  </a:extLst>
                </a:gridCol>
                <a:gridCol w="625231">
                  <a:extLst>
                    <a:ext uri="{9D8B030D-6E8A-4147-A177-3AD203B41FA5}">
                      <a16:colId xmlns:a16="http://schemas.microsoft.com/office/drawing/2014/main" val="332861536"/>
                    </a:ext>
                  </a:extLst>
                </a:gridCol>
              </a:tblGrid>
              <a:tr h="37084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044283"/>
                  </a:ext>
                </a:extLst>
              </a:tr>
            </a:tbl>
          </a:graphicData>
        </a:graphic>
      </p:graphicFrame>
      <p:sp>
        <p:nvSpPr>
          <p:cNvPr id="25" name="TextBox 24">
            <a:extLst>
              <a:ext uri="{FF2B5EF4-FFF2-40B4-BE49-F238E27FC236}">
                <a16:creationId xmlns:a16="http://schemas.microsoft.com/office/drawing/2014/main" id="{1A84B7B3-C57F-4840-2197-21928761FD18}"/>
              </a:ext>
            </a:extLst>
          </p:cNvPr>
          <p:cNvSpPr txBox="1"/>
          <p:nvPr/>
        </p:nvSpPr>
        <p:spPr>
          <a:xfrm>
            <a:off x="544623" y="4748906"/>
            <a:ext cx="1361440"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13-bit input</a:t>
            </a:r>
          </a:p>
        </p:txBody>
      </p:sp>
      <p:sp>
        <p:nvSpPr>
          <p:cNvPr id="26" name="TextBox 25">
            <a:extLst>
              <a:ext uri="{FF2B5EF4-FFF2-40B4-BE49-F238E27FC236}">
                <a16:creationId xmlns:a16="http://schemas.microsoft.com/office/drawing/2014/main" id="{1967EE38-1CB8-56B7-F106-F9AB42A7640B}"/>
              </a:ext>
            </a:extLst>
          </p:cNvPr>
          <p:cNvSpPr txBox="1"/>
          <p:nvPr/>
        </p:nvSpPr>
        <p:spPr>
          <a:xfrm>
            <a:off x="9757985" y="4310087"/>
            <a:ext cx="351370" cy="400110"/>
          </a:xfrm>
          <a:prstGeom prst="rect">
            <a:avLst/>
          </a:prstGeom>
          <a:noFill/>
        </p:spPr>
        <p:txBody>
          <a:bodyPr wrap="square">
            <a:spAutoFit/>
          </a:bodyPr>
          <a:lstStyle/>
          <a:p>
            <a:r>
              <a:rPr lang="en-US" sz="2000" b="1" dirty="0"/>
              <a:t>S</a:t>
            </a:r>
          </a:p>
        </p:txBody>
      </p:sp>
      <p:sp>
        <p:nvSpPr>
          <p:cNvPr id="31" name="TextBox 30">
            <a:extLst>
              <a:ext uri="{FF2B5EF4-FFF2-40B4-BE49-F238E27FC236}">
                <a16:creationId xmlns:a16="http://schemas.microsoft.com/office/drawing/2014/main" id="{DBA0335C-C551-8C9A-B4C3-DB4F4B0F1EFA}"/>
              </a:ext>
            </a:extLst>
          </p:cNvPr>
          <p:cNvSpPr txBox="1"/>
          <p:nvPr/>
        </p:nvSpPr>
        <p:spPr>
          <a:xfrm>
            <a:off x="9164851" y="4310087"/>
            <a:ext cx="351370" cy="400110"/>
          </a:xfrm>
          <a:prstGeom prst="rect">
            <a:avLst/>
          </a:prstGeom>
          <a:noFill/>
        </p:spPr>
        <p:txBody>
          <a:bodyPr wrap="square">
            <a:spAutoFit/>
          </a:bodyPr>
          <a:lstStyle/>
          <a:p>
            <a:r>
              <a:rPr lang="en-US" sz="2000" b="1" dirty="0"/>
              <a:t>L</a:t>
            </a:r>
          </a:p>
        </p:txBody>
      </p:sp>
      <p:sp>
        <p:nvSpPr>
          <p:cNvPr id="32" name="Oval 31">
            <a:extLst>
              <a:ext uri="{FF2B5EF4-FFF2-40B4-BE49-F238E27FC236}">
                <a16:creationId xmlns:a16="http://schemas.microsoft.com/office/drawing/2014/main" id="{F41D007E-01EC-86C1-8037-03A596701490}"/>
              </a:ext>
            </a:extLst>
          </p:cNvPr>
          <p:cNvSpPr/>
          <p:nvPr/>
        </p:nvSpPr>
        <p:spPr>
          <a:xfrm>
            <a:off x="9083458" y="1777335"/>
            <a:ext cx="514155" cy="514155"/>
          </a:xfrm>
          <a:prstGeom prst="ellipse">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394064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9">
                                            <p:txEl>
                                              <p:pRg st="0" end="0"/>
                                            </p:txEl>
                                          </p:spTgt>
                                        </p:tgtEl>
                                        <p:attrNameLst>
                                          <p:attrName>style.visibility</p:attrName>
                                        </p:attrNameLst>
                                      </p:cBhvr>
                                      <p:to>
                                        <p:strVal val="visible"/>
                                      </p:to>
                                    </p:set>
                                    <p:animEffect transition="in" filter="fade">
                                      <p:cBhvr>
                                        <p:cTn id="28" dur="500"/>
                                        <p:tgtEl>
                                          <p:spTgt spid="29">
                                            <p:txEl>
                                              <p:pRg st="0" end="0"/>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xEl>
                                              <p:pRg st="1" end="1"/>
                                            </p:txEl>
                                          </p:spTgt>
                                        </p:tgtEl>
                                        <p:attrNameLst>
                                          <p:attrName>style.visibility</p:attrName>
                                        </p:attrNameLst>
                                      </p:cBhvr>
                                      <p:to>
                                        <p:strVal val="visible"/>
                                      </p:to>
                                    </p:set>
                                    <p:animEffect transition="in" filter="fade">
                                      <p:cBhvr>
                                        <p:cTn id="31" dur="500"/>
                                        <p:tgtEl>
                                          <p:spTgt spid="29">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0">
                                            <p:txEl>
                                              <p:pRg st="0" end="0"/>
                                            </p:txEl>
                                          </p:spTgt>
                                        </p:tgtEl>
                                        <p:attrNameLst>
                                          <p:attrName>style.visibility</p:attrName>
                                        </p:attrNameLst>
                                      </p:cBhvr>
                                      <p:to>
                                        <p:strVal val="visible"/>
                                      </p:to>
                                    </p:set>
                                    <p:animEffect transition="in" filter="fade">
                                      <p:cBhvr>
                                        <p:cTn id="52"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0" grpId="0"/>
      <p:bldP spid="25" grpId="0"/>
      <p:bldP spid="26" grpId="0"/>
      <p:bldP spid="31" grpId="0"/>
      <p:bldP spid="3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6C4F5-985D-2E05-D3AC-284F6BE6F4B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E34B5C5-C35F-53CB-BB69-E5D77CAC29CE}"/>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7CEF4717-A204-16F6-9280-7E8854A8A65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206A61C-039D-7820-21A4-8D98EAE8AF1E}"/>
              </a:ext>
            </a:extLst>
          </p:cNvPr>
          <p:cNvSpPr>
            <a:spLocks noGrp="1"/>
          </p:cNvSpPr>
          <p:nvPr>
            <p:ph type="sldNum" sz="quarter" idx="4"/>
          </p:nvPr>
        </p:nvSpPr>
        <p:spPr/>
        <p:txBody>
          <a:bodyPr/>
          <a:lstStyle/>
          <a:p>
            <a:pPr>
              <a:defRPr/>
            </a:pPr>
            <a:fld id="{A9CE67A1-BA7F-A74E-B5D7-615746DEEC2B}" type="slidenum">
              <a:rPr lang="en-US" smtClean="0"/>
              <a:pPr>
                <a:defRPr/>
              </a:pPr>
              <a:t>73</a:t>
            </a:fld>
            <a:endParaRPr lang="en-US" baseline="-11000" dirty="0"/>
          </a:p>
        </p:txBody>
      </p:sp>
      <p:sp>
        <p:nvSpPr>
          <p:cNvPr id="6" name="Date Placeholder 5">
            <a:extLst>
              <a:ext uri="{FF2B5EF4-FFF2-40B4-BE49-F238E27FC236}">
                <a16:creationId xmlns:a16="http://schemas.microsoft.com/office/drawing/2014/main" id="{750206CB-8E58-3CFF-7F7C-88499288B961}"/>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D2918F6C-F494-634A-DFA9-F8FF7A6A4EDA}"/>
              </a:ext>
            </a:extLst>
          </p:cNvPr>
          <p:cNvSpPr txBox="1"/>
          <p:nvPr/>
        </p:nvSpPr>
        <p:spPr>
          <a:xfrm>
            <a:off x="342901" y="811511"/>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Convergent Rounding</a:t>
            </a:r>
          </a:p>
        </p:txBody>
      </p:sp>
      <p:sp>
        <p:nvSpPr>
          <p:cNvPr id="7" name="TextBox 6">
            <a:extLst>
              <a:ext uri="{FF2B5EF4-FFF2-40B4-BE49-F238E27FC236}">
                <a16:creationId xmlns:a16="http://schemas.microsoft.com/office/drawing/2014/main" id="{39AA3862-BA69-D906-DFBA-428B1D4D9BEA}"/>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EF2A08D1-6767-CD1B-6D21-4A2FF6633C7D}"/>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1C48B602-18F1-BEE3-6770-9EC9235C346C}"/>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D8AFF17-60DD-514C-603D-83109C824A9C}"/>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F4CAB085-D7AF-02AD-1FE2-0CC9F283A44A}"/>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52533CBF-3D93-CFF5-DA48-113DB746E7CB}"/>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582ECAA2-104A-AF1C-732C-567F44DC781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9" name="TextBox 8">
            <a:extLst>
              <a:ext uri="{FF2B5EF4-FFF2-40B4-BE49-F238E27FC236}">
                <a16:creationId xmlns:a16="http://schemas.microsoft.com/office/drawing/2014/main" id="{006C4830-0840-D291-77DB-B9B56907C7BF}"/>
              </a:ext>
            </a:extLst>
          </p:cNvPr>
          <p:cNvSpPr txBox="1"/>
          <p:nvPr/>
        </p:nvSpPr>
        <p:spPr>
          <a:xfrm>
            <a:off x="518160" y="1371600"/>
            <a:ext cx="11582400" cy="356616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Let’s compare Convergent Rounding to other two rounding methods (Round-floor )</a:t>
            </a:r>
          </a:p>
          <a:p>
            <a:pPr defTabSz="457200">
              <a:spcBef>
                <a:spcPts val="1000"/>
              </a:spcBef>
              <a:buClr>
                <a:srgbClr val="1E4056"/>
              </a:buClr>
              <a:buSzPct val="75000"/>
            </a:pPr>
            <a:r>
              <a:rPr lang="en-US" sz="2000" b="1" dirty="0">
                <a:solidFill>
                  <a:srgbClr val="000000"/>
                </a:solidFill>
              </a:rPr>
              <a:t>Recall : </a:t>
            </a:r>
          </a:p>
          <a:p>
            <a:pPr defTabSz="457200">
              <a:spcBef>
                <a:spcPts val="1000"/>
              </a:spcBef>
              <a:buClr>
                <a:srgbClr val="1E4056"/>
              </a:buClr>
              <a:buSzPct val="75000"/>
            </a:pPr>
            <a:r>
              <a:rPr lang="en-US" sz="2000" b="1" dirty="0">
                <a:solidFill>
                  <a:srgbClr val="000000"/>
                </a:solidFill>
              </a:rPr>
              <a:t>Rounding Methods :</a:t>
            </a:r>
          </a:p>
          <a:p>
            <a:pPr defTabSz="457200">
              <a:spcBef>
                <a:spcPts val="1000"/>
              </a:spcBef>
              <a:buClr>
                <a:srgbClr val="1E4056"/>
              </a:buClr>
              <a:buSzPct val="75000"/>
            </a:pPr>
            <a:endParaRPr lang="en-US" sz="2000" b="1" dirty="0">
              <a:solidFill>
                <a:srgbClr val="000000"/>
              </a:solidFill>
            </a:endParaRPr>
          </a:p>
          <a:p>
            <a:pPr defTabSz="457200">
              <a:spcBef>
                <a:spcPts val="1000"/>
              </a:spcBef>
              <a:buClr>
                <a:srgbClr val="1E4056"/>
              </a:buClr>
              <a:buSzPct val="75000"/>
            </a:pPr>
            <a:endParaRPr lang="ar-EG" sz="2000" b="1" dirty="0">
              <a:solidFill>
                <a:srgbClr val="000000"/>
              </a:solidFill>
            </a:endParaRPr>
          </a:p>
        </p:txBody>
      </p:sp>
      <p:sp>
        <p:nvSpPr>
          <p:cNvPr id="8" name="TextBox 7">
            <a:extLst>
              <a:ext uri="{FF2B5EF4-FFF2-40B4-BE49-F238E27FC236}">
                <a16:creationId xmlns:a16="http://schemas.microsoft.com/office/drawing/2014/main" id="{18913640-C9DB-A683-64EC-7E602B2AA9AD}"/>
              </a:ext>
            </a:extLst>
          </p:cNvPr>
          <p:cNvSpPr txBox="1"/>
          <p:nvPr/>
        </p:nvSpPr>
        <p:spPr>
          <a:xfrm>
            <a:off x="476336" y="2550231"/>
            <a:ext cx="6111240" cy="2395528"/>
          </a:xfrm>
          <a:prstGeom prst="rect">
            <a:avLst/>
          </a:prstGeom>
          <a:noFill/>
        </p:spPr>
        <p:txBody>
          <a:bodyPr wrap="square">
            <a:spAutoFit/>
          </a:bodyPr>
          <a:lstStyle/>
          <a:p>
            <a:pPr defTabSz="457200">
              <a:spcBef>
                <a:spcPts val="1000"/>
              </a:spcBef>
              <a:buClr>
                <a:srgbClr val="1E4056"/>
              </a:buClr>
              <a:buSzPct val="75000"/>
            </a:pPr>
            <a:r>
              <a:rPr lang="en-US" sz="1800" dirty="0">
                <a:solidFill>
                  <a:srgbClr val="000000"/>
                </a:solidFill>
                <a:latin typeface="+mj-lt"/>
              </a:rPr>
              <a:t>1-Floor </a:t>
            </a:r>
          </a:p>
          <a:p>
            <a:pPr defTabSz="457200">
              <a:spcBef>
                <a:spcPts val="1000"/>
              </a:spcBef>
              <a:buClr>
                <a:srgbClr val="1E4056"/>
              </a:buClr>
              <a:buSzPct val="75000"/>
            </a:pPr>
            <a:r>
              <a:rPr lang="en-US" sz="1800" dirty="0">
                <a:solidFill>
                  <a:srgbClr val="000000">
                    <a:alpha val="30000"/>
                  </a:srgbClr>
                </a:solidFill>
                <a:latin typeface="+mj-lt"/>
              </a:rPr>
              <a:t>2-Celling </a:t>
            </a:r>
          </a:p>
          <a:p>
            <a:pPr defTabSz="457200">
              <a:spcBef>
                <a:spcPts val="1000"/>
              </a:spcBef>
              <a:buClr>
                <a:srgbClr val="1E4056"/>
              </a:buClr>
              <a:buSzPct val="75000"/>
            </a:pPr>
            <a:r>
              <a:rPr lang="en-US" sz="1800" dirty="0">
                <a:solidFill>
                  <a:srgbClr val="000000">
                    <a:alpha val="30000"/>
                  </a:srgbClr>
                </a:solidFill>
                <a:latin typeface="+mj-lt"/>
              </a:rPr>
              <a:t>3-Zero</a:t>
            </a:r>
          </a:p>
          <a:p>
            <a:pPr defTabSz="457200">
              <a:spcBef>
                <a:spcPts val="1000"/>
              </a:spcBef>
              <a:buClr>
                <a:srgbClr val="1E4056"/>
              </a:buClr>
              <a:buSzPct val="75000"/>
            </a:pPr>
            <a:r>
              <a:rPr lang="en-US" sz="1800" dirty="0">
                <a:solidFill>
                  <a:srgbClr val="000000">
                    <a:alpha val="30000"/>
                  </a:srgbClr>
                </a:solidFill>
                <a:latin typeface="+mj-lt"/>
              </a:rPr>
              <a:t>4-Nearest </a:t>
            </a:r>
          </a:p>
          <a:p>
            <a:pPr defTabSz="457200">
              <a:spcBef>
                <a:spcPts val="1000"/>
              </a:spcBef>
              <a:buClr>
                <a:srgbClr val="1E4056"/>
              </a:buClr>
              <a:buSzPct val="75000"/>
            </a:pPr>
            <a:r>
              <a:rPr lang="en-US" sz="1800" dirty="0">
                <a:solidFill>
                  <a:srgbClr val="000000"/>
                </a:solidFill>
                <a:latin typeface="+mj-lt"/>
              </a:rPr>
              <a:t>5-Round </a:t>
            </a:r>
          </a:p>
          <a:p>
            <a:pPr defTabSz="457200">
              <a:spcBef>
                <a:spcPts val="1000"/>
              </a:spcBef>
              <a:buClr>
                <a:srgbClr val="1E4056"/>
              </a:buClr>
              <a:buSzPct val="75000"/>
            </a:pPr>
            <a:r>
              <a:rPr lang="en-US" sz="1800" dirty="0">
                <a:latin typeface="+mj-lt"/>
              </a:rPr>
              <a:t>6-Convergent</a:t>
            </a:r>
          </a:p>
        </p:txBody>
      </p:sp>
    </p:spTree>
    <p:extLst>
      <p:ext uri="{BB962C8B-B14F-4D97-AF65-F5344CB8AC3E}">
        <p14:creationId xmlns:p14="http://schemas.microsoft.com/office/powerpoint/2010/main" val="400235220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8C946-2A84-51B2-0FD6-FFBBDC95C4F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E0A238-8AAC-D5F0-23DE-1F21DB26A6D7}"/>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4A1CA140-45AB-E538-6FCB-2B6201C2F64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E18BA1A-75DB-0FD2-6659-0B7E04A00590}"/>
              </a:ext>
            </a:extLst>
          </p:cNvPr>
          <p:cNvSpPr>
            <a:spLocks noGrp="1"/>
          </p:cNvSpPr>
          <p:nvPr>
            <p:ph type="sldNum" sz="quarter" idx="4"/>
          </p:nvPr>
        </p:nvSpPr>
        <p:spPr/>
        <p:txBody>
          <a:bodyPr/>
          <a:lstStyle/>
          <a:p>
            <a:pPr>
              <a:defRPr/>
            </a:pPr>
            <a:fld id="{A9CE67A1-BA7F-A74E-B5D7-615746DEEC2B}" type="slidenum">
              <a:rPr lang="en-US" smtClean="0"/>
              <a:pPr>
                <a:defRPr/>
              </a:pPr>
              <a:t>74</a:t>
            </a:fld>
            <a:endParaRPr lang="en-US" baseline="-11000" dirty="0"/>
          </a:p>
        </p:txBody>
      </p:sp>
      <p:sp>
        <p:nvSpPr>
          <p:cNvPr id="6" name="Date Placeholder 5">
            <a:extLst>
              <a:ext uri="{FF2B5EF4-FFF2-40B4-BE49-F238E27FC236}">
                <a16:creationId xmlns:a16="http://schemas.microsoft.com/office/drawing/2014/main" id="{64889022-0095-789C-C4AB-57DD3625A77A}"/>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92F6D2E7-A995-AB54-7CF0-8BE7662DA8FB}"/>
              </a:ext>
            </a:extLst>
          </p:cNvPr>
          <p:cNvSpPr txBox="1"/>
          <p:nvPr/>
        </p:nvSpPr>
        <p:spPr>
          <a:xfrm>
            <a:off x="342901" y="811511"/>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Convergent Rounding</a:t>
            </a:r>
          </a:p>
        </p:txBody>
      </p:sp>
      <p:sp>
        <p:nvSpPr>
          <p:cNvPr id="7" name="TextBox 6">
            <a:extLst>
              <a:ext uri="{FF2B5EF4-FFF2-40B4-BE49-F238E27FC236}">
                <a16:creationId xmlns:a16="http://schemas.microsoft.com/office/drawing/2014/main" id="{EF6233E4-D8B0-A5E5-4955-9568589D5A0C}"/>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04189385-3A83-D78B-1942-9E901E1D4E76}"/>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641FEC83-E5DA-4036-0904-C913F45565EA}"/>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13F5696-652B-C5AC-2986-068C8534C522}"/>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EDF0EE6F-FDD6-6BEA-1180-D9E9E2060F52}"/>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705C115C-D29A-9262-59E2-907E2F9060ED}"/>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BC28089B-84C6-811D-260D-E01A1563818C}"/>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9" name="TextBox 8">
            <a:extLst>
              <a:ext uri="{FF2B5EF4-FFF2-40B4-BE49-F238E27FC236}">
                <a16:creationId xmlns:a16="http://schemas.microsoft.com/office/drawing/2014/main" id="{DA5205F4-8CA6-AA16-ED79-348D170EFFC6}"/>
              </a:ext>
            </a:extLst>
          </p:cNvPr>
          <p:cNvSpPr txBox="1"/>
          <p:nvPr/>
        </p:nvSpPr>
        <p:spPr>
          <a:xfrm>
            <a:off x="518160" y="1371600"/>
            <a:ext cx="11582400" cy="356616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Why does the convergent rounding enhance the SQNR by 6 dB compared to floor rounding ?</a:t>
            </a:r>
          </a:p>
          <a:p>
            <a:pPr defTabSz="457200">
              <a:spcBef>
                <a:spcPts val="1000"/>
              </a:spcBef>
              <a:buClr>
                <a:srgbClr val="1E4056"/>
              </a:buClr>
              <a:buSzPct val="75000"/>
            </a:pPr>
            <a:r>
              <a:rPr lang="en-US" sz="2000" dirty="0"/>
              <a:t>This is because Floor rounding consistently rounds down, introducing a DC offset that degrades the SQNR</a:t>
            </a:r>
            <a:endParaRPr lang="en-US" sz="2000" dirty="0">
              <a:solidFill>
                <a:srgbClr val="000000"/>
              </a:solidFill>
            </a:endParaRPr>
          </a:p>
        </p:txBody>
      </p:sp>
      <p:graphicFrame>
        <p:nvGraphicFramePr>
          <p:cNvPr id="11" name="Table 10">
            <a:extLst>
              <a:ext uri="{FF2B5EF4-FFF2-40B4-BE49-F238E27FC236}">
                <a16:creationId xmlns:a16="http://schemas.microsoft.com/office/drawing/2014/main" id="{8680A266-8AF6-1E60-02A2-DE4805E007C5}"/>
              </a:ext>
            </a:extLst>
          </p:cNvPr>
          <p:cNvGraphicFramePr>
            <a:graphicFrameLocks noGrp="1"/>
          </p:cNvGraphicFramePr>
          <p:nvPr>
            <p:extLst>
              <p:ext uri="{D42A27DB-BD31-4B8C-83A1-F6EECF244321}">
                <p14:modId xmlns:p14="http://schemas.microsoft.com/office/powerpoint/2010/main" val="1232555608"/>
              </p:ext>
            </p:extLst>
          </p:nvPr>
        </p:nvGraphicFramePr>
        <p:xfrm>
          <a:off x="502786" y="2869642"/>
          <a:ext cx="11146369" cy="2844662"/>
        </p:xfrm>
        <a:graphic>
          <a:graphicData uri="http://schemas.openxmlformats.org/drawingml/2006/table">
            <a:tbl>
              <a:tblPr firstRow="1" bandRow="1">
                <a:tableStyleId>{72833802-FEF1-4C79-8D5D-14CF1EAF98D9}</a:tableStyleId>
              </a:tblPr>
              <a:tblGrid>
                <a:gridCol w="853701">
                  <a:extLst>
                    <a:ext uri="{9D8B030D-6E8A-4147-A177-3AD203B41FA5}">
                      <a16:colId xmlns:a16="http://schemas.microsoft.com/office/drawing/2014/main" val="2872577477"/>
                    </a:ext>
                  </a:extLst>
                </a:gridCol>
                <a:gridCol w="5212115">
                  <a:extLst>
                    <a:ext uri="{9D8B030D-6E8A-4147-A177-3AD203B41FA5}">
                      <a16:colId xmlns:a16="http://schemas.microsoft.com/office/drawing/2014/main" val="435554421"/>
                    </a:ext>
                  </a:extLst>
                </a:gridCol>
                <a:gridCol w="5080553">
                  <a:extLst>
                    <a:ext uri="{9D8B030D-6E8A-4147-A177-3AD203B41FA5}">
                      <a16:colId xmlns:a16="http://schemas.microsoft.com/office/drawing/2014/main" val="3280058999"/>
                    </a:ext>
                  </a:extLst>
                </a:gridCol>
              </a:tblGrid>
              <a:tr h="33710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bg1"/>
                          </a:solidFill>
                          <a:effectLst/>
                          <a:latin typeface="+mn-lt"/>
                          <a:ea typeface="+mn-ea"/>
                          <a:cs typeface="+mn-cs"/>
                        </a:rPr>
                        <a:t>Floor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bg1"/>
                          </a:solidFill>
                          <a:effectLst/>
                          <a:latin typeface="+mn-lt"/>
                          <a:ea typeface="+mn-ea"/>
                          <a:cs typeface="+mn-cs"/>
                        </a:rPr>
                        <a:t>Convergent rounding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0567522"/>
                  </a:ext>
                </a:extLst>
              </a:tr>
              <a:tr h="247890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latin typeface="+mn-lt"/>
                          <a:ea typeface="+mn-ea"/>
                          <a:cs typeface="+mn-cs"/>
                        </a:rPr>
                        <a:t>SQNR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905536"/>
                  </a:ext>
                </a:extLst>
              </a:tr>
            </a:tbl>
          </a:graphicData>
        </a:graphic>
      </p:graphicFrame>
      <p:pic>
        <p:nvPicPr>
          <p:cNvPr id="14" name="Picture 13">
            <a:extLst>
              <a:ext uri="{FF2B5EF4-FFF2-40B4-BE49-F238E27FC236}">
                <a16:creationId xmlns:a16="http://schemas.microsoft.com/office/drawing/2014/main" id="{7B0757C5-102B-D065-69A1-1FF3EFB95FA8}"/>
              </a:ext>
            </a:extLst>
          </p:cNvPr>
          <p:cNvPicPr>
            <a:picLocks noChangeAspect="1"/>
          </p:cNvPicPr>
          <p:nvPr/>
        </p:nvPicPr>
        <p:blipFill>
          <a:blip r:embed="rId2">
            <a:extLst>
              <a:ext uri="{28A0092B-C50C-407E-A947-70E740481C1C}">
                <a14:useLocalDpi xmlns:a14="http://schemas.microsoft.com/office/drawing/2010/main" val="0"/>
              </a:ext>
            </a:extLst>
          </a:blip>
          <a:srcRect r="6057"/>
          <a:stretch>
            <a:fillRect/>
          </a:stretch>
        </p:blipFill>
        <p:spPr>
          <a:xfrm>
            <a:off x="8063872" y="3343006"/>
            <a:ext cx="2374924" cy="1896041"/>
          </a:xfrm>
          <a:prstGeom prst="rect">
            <a:avLst/>
          </a:prstGeom>
          <a:ln>
            <a:solidFill>
              <a:schemeClr val="tx1"/>
            </a:solidFill>
          </a:ln>
        </p:spPr>
      </p:pic>
      <p:sp>
        <p:nvSpPr>
          <p:cNvPr id="16" name="TextBox 15">
            <a:extLst>
              <a:ext uri="{FF2B5EF4-FFF2-40B4-BE49-F238E27FC236}">
                <a16:creationId xmlns:a16="http://schemas.microsoft.com/office/drawing/2014/main" id="{2DBFA9A8-AAF5-D8DF-BC85-BE8AC6E570DF}"/>
              </a:ext>
            </a:extLst>
          </p:cNvPr>
          <p:cNvSpPr txBox="1"/>
          <p:nvPr/>
        </p:nvSpPr>
        <p:spPr>
          <a:xfrm>
            <a:off x="2665645" y="5338516"/>
            <a:ext cx="3067665"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Average SQNR = 41.9 dB</a:t>
            </a:r>
            <a:endParaRPr lang="en-US" sz="2000" dirty="0">
              <a:solidFill>
                <a:srgbClr val="000000"/>
              </a:solidFill>
            </a:endParaRPr>
          </a:p>
        </p:txBody>
      </p:sp>
      <p:sp>
        <p:nvSpPr>
          <p:cNvPr id="17" name="TextBox 16">
            <a:extLst>
              <a:ext uri="{FF2B5EF4-FFF2-40B4-BE49-F238E27FC236}">
                <a16:creationId xmlns:a16="http://schemas.microsoft.com/office/drawing/2014/main" id="{B99D5F6D-ED7D-8402-BD7C-358B40054362}"/>
              </a:ext>
            </a:extLst>
          </p:cNvPr>
          <p:cNvSpPr txBox="1"/>
          <p:nvPr/>
        </p:nvSpPr>
        <p:spPr>
          <a:xfrm>
            <a:off x="7896169" y="5328952"/>
            <a:ext cx="3323303"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Average SQNR = 48.35 dB</a:t>
            </a:r>
            <a:endParaRPr lang="en-US" sz="2000" dirty="0">
              <a:solidFill>
                <a:srgbClr val="000000"/>
              </a:solidFill>
            </a:endParaRPr>
          </a:p>
        </p:txBody>
      </p:sp>
      <p:pic>
        <p:nvPicPr>
          <p:cNvPr id="38" name="Picture 37">
            <a:extLst>
              <a:ext uri="{FF2B5EF4-FFF2-40B4-BE49-F238E27FC236}">
                <a16:creationId xmlns:a16="http://schemas.microsoft.com/office/drawing/2014/main" id="{3ED96847-2314-5BD4-DA92-A3160A59870D}"/>
              </a:ext>
            </a:extLst>
          </p:cNvPr>
          <p:cNvPicPr>
            <a:picLocks noChangeAspect="1"/>
          </p:cNvPicPr>
          <p:nvPr/>
        </p:nvPicPr>
        <p:blipFill>
          <a:blip r:embed="rId3">
            <a:extLst>
              <a:ext uri="{28A0092B-C50C-407E-A947-70E740481C1C}">
                <a14:useLocalDpi xmlns:a14="http://schemas.microsoft.com/office/drawing/2010/main" val="0"/>
              </a:ext>
            </a:extLst>
          </a:blip>
          <a:srcRect r="5829"/>
          <a:stretch>
            <a:fillRect/>
          </a:stretch>
        </p:blipFill>
        <p:spPr>
          <a:xfrm>
            <a:off x="2740032" y="3343006"/>
            <a:ext cx="2396713" cy="1896041"/>
          </a:xfrm>
          <a:prstGeom prst="rect">
            <a:avLst/>
          </a:prstGeom>
          <a:ln>
            <a:solidFill>
              <a:schemeClr val="tx1"/>
            </a:solidFill>
          </a:ln>
        </p:spPr>
      </p:pic>
    </p:spTree>
    <p:extLst>
      <p:ext uri="{BB962C8B-B14F-4D97-AF65-F5344CB8AC3E}">
        <p14:creationId xmlns:p14="http://schemas.microsoft.com/office/powerpoint/2010/main" val="329566141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nodeType="with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567C1-8596-CF99-65E7-350C6B6476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D753F6-23AD-3E0E-F7B4-5E5A9B0606F4}"/>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0EE48B62-AAB4-7159-97BE-70D87713CE9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205E978-F851-9D91-E847-946E899060A0}"/>
              </a:ext>
            </a:extLst>
          </p:cNvPr>
          <p:cNvSpPr>
            <a:spLocks noGrp="1"/>
          </p:cNvSpPr>
          <p:nvPr>
            <p:ph type="sldNum" sz="quarter" idx="4"/>
          </p:nvPr>
        </p:nvSpPr>
        <p:spPr/>
        <p:txBody>
          <a:bodyPr/>
          <a:lstStyle/>
          <a:p>
            <a:pPr>
              <a:defRPr/>
            </a:pPr>
            <a:fld id="{A9CE67A1-BA7F-A74E-B5D7-615746DEEC2B}" type="slidenum">
              <a:rPr lang="en-US" smtClean="0"/>
              <a:pPr>
                <a:defRPr/>
              </a:pPr>
              <a:t>75</a:t>
            </a:fld>
            <a:endParaRPr lang="en-US" baseline="-11000" dirty="0"/>
          </a:p>
        </p:txBody>
      </p:sp>
      <p:sp>
        <p:nvSpPr>
          <p:cNvPr id="6" name="Date Placeholder 5">
            <a:extLst>
              <a:ext uri="{FF2B5EF4-FFF2-40B4-BE49-F238E27FC236}">
                <a16:creationId xmlns:a16="http://schemas.microsoft.com/office/drawing/2014/main" id="{54B2A8F0-4A34-4498-90F3-27E43B8BBC46}"/>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CE36CB27-7479-22CD-F803-017128DC27A7}"/>
              </a:ext>
            </a:extLst>
          </p:cNvPr>
          <p:cNvSpPr txBox="1"/>
          <p:nvPr/>
        </p:nvSpPr>
        <p:spPr>
          <a:xfrm>
            <a:off x="342901" y="811511"/>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Convergent Rounding</a:t>
            </a:r>
          </a:p>
        </p:txBody>
      </p:sp>
      <p:sp>
        <p:nvSpPr>
          <p:cNvPr id="7" name="TextBox 6">
            <a:extLst>
              <a:ext uri="{FF2B5EF4-FFF2-40B4-BE49-F238E27FC236}">
                <a16:creationId xmlns:a16="http://schemas.microsoft.com/office/drawing/2014/main" id="{B3691CBB-1675-67BE-2A5E-E640849AC4AA}"/>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922B6FAB-F363-D8CC-2236-DC2A29CBBE69}"/>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CB62F6CD-876B-AD79-666D-0612EBAAB262}"/>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E50353A8-E30A-D989-BFB6-632E8B17A4BB}"/>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2BD7E9FE-8691-BB33-058C-16B98690F394}"/>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AC08322D-D5BF-3131-7484-7672229F29AC}"/>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8304C894-2FA4-F08C-99D9-ABD4834E845E}"/>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9" name="TextBox 8">
            <a:extLst>
              <a:ext uri="{FF2B5EF4-FFF2-40B4-BE49-F238E27FC236}">
                <a16:creationId xmlns:a16="http://schemas.microsoft.com/office/drawing/2014/main" id="{D42A7615-9BD5-371A-A075-6160698DC2B4}"/>
              </a:ext>
            </a:extLst>
          </p:cNvPr>
          <p:cNvSpPr txBox="1"/>
          <p:nvPr/>
        </p:nvSpPr>
        <p:spPr>
          <a:xfrm>
            <a:off x="518160" y="1371599"/>
            <a:ext cx="11582400" cy="3054927"/>
          </a:xfrm>
          <a:prstGeom prst="rect">
            <a:avLst/>
          </a:prstGeom>
          <a:noFill/>
        </p:spPr>
        <p:txBody>
          <a:bodyPr wrap="square" lIns="0" tIns="0" rIns="0" bIns="0" rtlCol="0">
            <a:noAutofit/>
          </a:bodyPr>
          <a:lstStyle/>
          <a:p>
            <a:r>
              <a:rPr lang="en-US" sz="2000" b="1" dirty="0"/>
              <a:t>Why does Convergent Rounding enhance the SQNR by ~2 dB compared to Standard Rounding (Round) ?</a:t>
            </a:r>
            <a:endParaRPr lang="en-US" sz="2000" dirty="0"/>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Standard Rounding Issue:</a:t>
            </a:r>
            <a:r>
              <a:rPr lang="en-US" sz="2000" dirty="0"/>
              <a:t> It rounds up for positive signals and down for negative signals. While this doesn't introduce a DC offset, it makes the quantization error dependent on the signal itself. This correlation creates unwanted harmonics.</a:t>
            </a:r>
          </a:p>
          <a:p>
            <a:pPr marL="342900" indent="-342900">
              <a:buFont typeface="Arial" panose="020B0604020202020204" pitchFamily="34" charset="0"/>
              <a:buChar char="•"/>
            </a:pPr>
            <a:r>
              <a:rPr lang="en-US" sz="2000" b="1" dirty="0"/>
              <a:t>The Convergent Advantage:</a:t>
            </a:r>
            <a:r>
              <a:rPr lang="en-US" sz="2000" dirty="0"/>
              <a:t> It breaks ties based on the Least Significant Bit (LSB). Since the LSB acts as a random variable, it decorrelates the error from the signal, turning the error into evenly distributed "white noise."</a:t>
            </a:r>
          </a:p>
          <a:p>
            <a:pPr marL="342900" indent="-342900">
              <a:buFont typeface="Arial" panose="020B0604020202020204" pitchFamily="34" charset="0"/>
              <a:buChar char="•"/>
            </a:pPr>
            <a:r>
              <a:rPr lang="en-US" sz="2000" b="1" dirty="0"/>
              <a:t>Proof in Frequency Domain:</a:t>
            </a:r>
            <a:r>
              <a:rPr lang="en-US" sz="2000" dirty="0"/>
              <a:t> Let’s look at the next demo lab result. We input a single-tone signal and monitored the error spectrum for both methods to see this difference clearly</a:t>
            </a:r>
          </a:p>
        </p:txBody>
      </p:sp>
    </p:spTree>
    <p:extLst>
      <p:ext uri="{BB962C8B-B14F-4D97-AF65-F5344CB8AC3E}">
        <p14:creationId xmlns:p14="http://schemas.microsoft.com/office/powerpoint/2010/main" val="2381611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2DF53-01CA-349F-6D0D-AB18F7FE6D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6DE1E7D-D433-D00C-7289-98381D570BAA}"/>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5A431C9B-B30F-41E7-66CB-3DE92ED33E1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E89A146-1642-B9DE-919B-7A10D500781D}"/>
              </a:ext>
            </a:extLst>
          </p:cNvPr>
          <p:cNvSpPr>
            <a:spLocks noGrp="1"/>
          </p:cNvSpPr>
          <p:nvPr>
            <p:ph type="sldNum" sz="quarter" idx="4"/>
          </p:nvPr>
        </p:nvSpPr>
        <p:spPr/>
        <p:txBody>
          <a:bodyPr/>
          <a:lstStyle/>
          <a:p>
            <a:pPr>
              <a:defRPr/>
            </a:pPr>
            <a:fld id="{A9CE67A1-BA7F-A74E-B5D7-615746DEEC2B}" type="slidenum">
              <a:rPr lang="en-US" smtClean="0"/>
              <a:pPr>
                <a:defRPr/>
              </a:pPr>
              <a:t>76</a:t>
            </a:fld>
            <a:endParaRPr lang="en-US" baseline="-11000" dirty="0"/>
          </a:p>
        </p:txBody>
      </p:sp>
      <p:sp>
        <p:nvSpPr>
          <p:cNvPr id="6" name="Date Placeholder 5">
            <a:extLst>
              <a:ext uri="{FF2B5EF4-FFF2-40B4-BE49-F238E27FC236}">
                <a16:creationId xmlns:a16="http://schemas.microsoft.com/office/drawing/2014/main" id="{CEED2EF6-2CD8-CF47-FFD5-0D35F0B4FA3D}"/>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6DFEC2E6-6335-0DA9-59A3-393653ECCDAE}"/>
              </a:ext>
            </a:extLst>
          </p:cNvPr>
          <p:cNvSpPr txBox="1"/>
          <p:nvPr/>
        </p:nvSpPr>
        <p:spPr>
          <a:xfrm>
            <a:off x="342901" y="811511"/>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Convergent Rounding</a:t>
            </a:r>
          </a:p>
        </p:txBody>
      </p:sp>
      <p:sp>
        <p:nvSpPr>
          <p:cNvPr id="7" name="TextBox 6">
            <a:extLst>
              <a:ext uri="{FF2B5EF4-FFF2-40B4-BE49-F238E27FC236}">
                <a16:creationId xmlns:a16="http://schemas.microsoft.com/office/drawing/2014/main" id="{BC9A0F19-6BB1-D332-10EE-3B0D544D762B}"/>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34333C04-3ED9-8628-ACB2-029875A93F28}"/>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E786821B-DCBC-BE1C-C2DB-D5A8496D93FA}"/>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07715935-4B0E-3111-B2C6-2A4BF38770C8}"/>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31F59471-3E0F-9219-F722-3A8B69DF6692}"/>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2471ED6A-1BB6-3EFC-85B9-16EB1698B37A}"/>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E7DE5FAA-93B2-B443-BB03-D6FB5F7DEE38}"/>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graphicFrame>
        <p:nvGraphicFramePr>
          <p:cNvPr id="11" name="Table 10">
            <a:extLst>
              <a:ext uri="{FF2B5EF4-FFF2-40B4-BE49-F238E27FC236}">
                <a16:creationId xmlns:a16="http://schemas.microsoft.com/office/drawing/2014/main" id="{4625E470-398B-00B4-C1CF-1625738C7625}"/>
              </a:ext>
            </a:extLst>
          </p:cNvPr>
          <p:cNvGraphicFramePr>
            <a:graphicFrameLocks noGrp="1"/>
          </p:cNvGraphicFramePr>
          <p:nvPr>
            <p:extLst>
              <p:ext uri="{D42A27DB-BD31-4B8C-83A1-F6EECF244321}">
                <p14:modId xmlns:p14="http://schemas.microsoft.com/office/powerpoint/2010/main" val="377273151"/>
              </p:ext>
            </p:extLst>
          </p:nvPr>
        </p:nvGraphicFramePr>
        <p:xfrm>
          <a:off x="1304985" y="1276111"/>
          <a:ext cx="9933708" cy="4818640"/>
        </p:xfrm>
        <a:graphic>
          <a:graphicData uri="http://schemas.openxmlformats.org/drawingml/2006/table">
            <a:tbl>
              <a:tblPr firstRow="1" bandRow="1">
                <a:tableStyleId>{72833802-FEF1-4C79-8D5D-14CF1EAF98D9}</a:tableStyleId>
              </a:tblPr>
              <a:tblGrid>
                <a:gridCol w="1506682">
                  <a:extLst>
                    <a:ext uri="{9D8B030D-6E8A-4147-A177-3AD203B41FA5}">
                      <a16:colId xmlns:a16="http://schemas.microsoft.com/office/drawing/2014/main" val="2872577477"/>
                    </a:ext>
                  </a:extLst>
                </a:gridCol>
                <a:gridCol w="3899208">
                  <a:extLst>
                    <a:ext uri="{9D8B030D-6E8A-4147-A177-3AD203B41FA5}">
                      <a16:colId xmlns:a16="http://schemas.microsoft.com/office/drawing/2014/main" val="435554421"/>
                    </a:ext>
                  </a:extLst>
                </a:gridCol>
                <a:gridCol w="4527818">
                  <a:extLst>
                    <a:ext uri="{9D8B030D-6E8A-4147-A177-3AD203B41FA5}">
                      <a16:colId xmlns:a16="http://schemas.microsoft.com/office/drawing/2014/main" val="3280058999"/>
                    </a:ext>
                  </a:extLst>
                </a:gridCol>
              </a:tblGrid>
              <a:tr h="36257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bg1"/>
                          </a:solidFill>
                          <a:effectLst/>
                          <a:latin typeface="+mn-lt"/>
                          <a:ea typeface="+mn-ea"/>
                          <a:cs typeface="+mn-cs"/>
                        </a:rPr>
                        <a:t>Time domain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bg1"/>
                          </a:solidFill>
                          <a:effectLst/>
                          <a:latin typeface="+mn-lt"/>
                          <a:ea typeface="+mn-ea"/>
                          <a:cs typeface="+mn-cs"/>
                        </a:rPr>
                        <a:t>Frequency domain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0567522"/>
                  </a:ext>
                </a:extLst>
              </a:tr>
              <a:tr h="233626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latin typeface="+mn-lt"/>
                          <a:ea typeface="+mn-ea"/>
                          <a:cs typeface="+mn-cs"/>
                        </a:rPr>
                        <a:t>Round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905536"/>
                  </a:ext>
                </a:extLst>
              </a:tr>
              <a:tr h="211661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latin typeface="+mn-lt"/>
                          <a:ea typeface="+mn-ea"/>
                          <a:cs typeface="+mn-cs"/>
                        </a:rPr>
                        <a:t>Convergent Rounding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479919"/>
                  </a:ext>
                </a:extLst>
              </a:tr>
            </a:tbl>
          </a:graphicData>
        </a:graphic>
      </p:graphicFrame>
      <p:pic>
        <p:nvPicPr>
          <p:cNvPr id="12" name="Picture 11">
            <a:extLst>
              <a:ext uri="{FF2B5EF4-FFF2-40B4-BE49-F238E27FC236}">
                <a16:creationId xmlns:a16="http://schemas.microsoft.com/office/drawing/2014/main" id="{9650EDF0-C9A3-A002-17BC-88F8FD2B84A1}"/>
              </a:ext>
            </a:extLst>
          </p:cNvPr>
          <p:cNvPicPr>
            <a:picLocks noChangeAspect="1"/>
          </p:cNvPicPr>
          <p:nvPr/>
        </p:nvPicPr>
        <p:blipFill>
          <a:blip r:embed="rId2">
            <a:extLst>
              <a:ext uri="{28A0092B-C50C-407E-A947-70E740481C1C}">
                <a14:useLocalDpi xmlns:a14="http://schemas.microsoft.com/office/drawing/2010/main" val="0"/>
              </a:ext>
            </a:extLst>
          </a:blip>
          <a:srcRect l="8527" t="2840" r="52383" b="53014"/>
          <a:stretch>
            <a:fillRect/>
          </a:stretch>
        </p:blipFill>
        <p:spPr>
          <a:xfrm>
            <a:off x="3264809" y="1871894"/>
            <a:ext cx="2473960" cy="1844041"/>
          </a:xfrm>
          <a:prstGeom prst="rect">
            <a:avLst/>
          </a:prstGeom>
        </p:spPr>
      </p:pic>
      <p:pic>
        <p:nvPicPr>
          <p:cNvPr id="18" name="Picture 17">
            <a:extLst>
              <a:ext uri="{FF2B5EF4-FFF2-40B4-BE49-F238E27FC236}">
                <a16:creationId xmlns:a16="http://schemas.microsoft.com/office/drawing/2014/main" id="{55E79BF4-390A-D08B-6E5A-0DF8A9681D3F}"/>
              </a:ext>
            </a:extLst>
          </p:cNvPr>
          <p:cNvPicPr>
            <a:picLocks noChangeAspect="1"/>
          </p:cNvPicPr>
          <p:nvPr/>
        </p:nvPicPr>
        <p:blipFill>
          <a:blip r:embed="rId2">
            <a:extLst>
              <a:ext uri="{28A0092B-C50C-407E-A947-70E740481C1C}">
                <a14:useLocalDpi xmlns:a14="http://schemas.microsoft.com/office/drawing/2010/main" val="0"/>
              </a:ext>
            </a:extLst>
          </a:blip>
          <a:srcRect l="52936" t="2833" r="6344" b="52143"/>
          <a:stretch>
            <a:fillRect/>
          </a:stretch>
        </p:blipFill>
        <p:spPr>
          <a:xfrm>
            <a:off x="7875696" y="1853537"/>
            <a:ext cx="2577212" cy="1880754"/>
          </a:xfrm>
          <a:prstGeom prst="rect">
            <a:avLst/>
          </a:prstGeom>
        </p:spPr>
      </p:pic>
      <p:pic>
        <p:nvPicPr>
          <p:cNvPr id="20" name="Picture 19">
            <a:extLst>
              <a:ext uri="{FF2B5EF4-FFF2-40B4-BE49-F238E27FC236}">
                <a16:creationId xmlns:a16="http://schemas.microsoft.com/office/drawing/2014/main" id="{47190D98-9522-99F8-21C2-11AC423FE4A5}"/>
              </a:ext>
            </a:extLst>
          </p:cNvPr>
          <p:cNvPicPr>
            <a:picLocks noChangeAspect="1"/>
          </p:cNvPicPr>
          <p:nvPr/>
        </p:nvPicPr>
        <p:blipFill>
          <a:blip r:embed="rId2">
            <a:extLst>
              <a:ext uri="{28A0092B-C50C-407E-A947-70E740481C1C}">
                <a14:useLocalDpi xmlns:a14="http://schemas.microsoft.com/office/drawing/2010/main" val="0"/>
              </a:ext>
            </a:extLst>
          </a:blip>
          <a:srcRect l="8239" t="50278" r="49812" b="3439"/>
          <a:stretch>
            <a:fillRect/>
          </a:stretch>
        </p:blipFill>
        <p:spPr>
          <a:xfrm>
            <a:off x="3264809" y="4027169"/>
            <a:ext cx="2654906" cy="1933252"/>
          </a:xfrm>
          <a:prstGeom prst="rect">
            <a:avLst/>
          </a:prstGeom>
        </p:spPr>
      </p:pic>
      <p:pic>
        <p:nvPicPr>
          <p:cNvPr id="21" name="Picture 20">
            <a:extLst>
              <a:ext uri="{FF2B5EF4-FFF2-40B4-BE49-F238E27FC236}">
                <a16:creationId xmlns:a16="http://schemas.microsoft.com/office/drawing/2014/main" id="{6DF1BAA6-F632-830D-AF28-F7473C8EBD6F}"/>
              </a:ext>
            </a:extLst>
          </p:cNvPr>
          <p:cNvPicPr>
            <a:picLocks noChangeAspect="1"/>
          </p:cNvPicPr>
          <p:nvPr/>
        </p:nvPicPr>
        <p:blipFill>
          <a:blip r:embed="rId2">
            <a:extLst>
              <a:ext uri="{28A0092B-C50C-407E-A947-70E740481C1C}">
                <a14:useLocalDpi xmlns:a14="http://schemas.microsoft.com/office/drawing/2010/main" val="0"/>
              </a:ext>
            </a:extLst>
          </a:blip>
          <a:srcRect l="52037" t="51436" r="7243" b="3539"/>
          <a:stretch>
            <a:fillRect/>
          </a:stretch>
        </p:blipFill>
        <p:spPr>
          <a:xfrm>
            <a:off x="7875696" y="4053418"/>
            <a:ext cx="2577212" cy="1880754"/>
          </a:xfrm>
          <a:prstGeom prst="rect">
            <a:avLst/>
          </a:prstGeom>
        </p:spPr>
      </p:pic>
    </p:spTree>
    <p:extLst>
      <p:ext uri="{BB962C8B-B14F-4D97-AF65-F5344CB8AC3E}">
        <p14:creationId xmlns:p14="http://schemas.microsoft.com/office/powerpoint/2010/main" val="253801054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0BD5F-5AB4-E2AF-AA6F-E155D831BAA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76E765-5296-3A0A-132D-455F8E060CFF}"/>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31F27658-16BA-A7E0-1D5E-72FC7E49B28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B3ABF922-43E9-FA1A-788A-41E717EBE20E}"/>
              </a:ext>
            </a:extLst>
          </p:cNvPr>
          <p:cNvSpPr>
            <a:spLocks noGrp="1"/>
          </p:cNvSpPr>
          <p:nvPr>
            <p:ph type="sldNum" sz="quarter" idx="4"/>
          </p:nvPr>
        </p:nvSpPr>
        <p:spPr/>
        <p:txBody>
          <a:bodyPr/>
          <a:lstStyle/>
          <a:p>
            <a:pPr>
              <a:defRPr/>
            </a:pPr>
            <a:fld id="{A9CE67A1-BA7F-A74E-B5D7-615746DEEC2B}" type="slidenum">
              <a:rPr lang="en-US" smtClean="0"/>
              <a:pPr>
                <a:defRPr/>
              </a:pPr>
              <a:t>77</a:t>
            </a:fld>
            <a:endParaRPr lang="en-US" baseline="-11000" dirty="0"/>
          </a:p>
        </p:txBody>
      </p:sp>
      <p:sp>
        <p:nvSpPr>
          <p:cNvPr id="6" name="Date Placeholder 5">
            <a:extLst>
              <a:ext uri="{FF2B5EF4-FFF2-40B4-BE49-F238E27FC236}">
                <a16:creationId xmlns:a16="http://schemas.microsoft.com/office/drawing/2014/main" id="{1D4DF3FB-BBA6-C02E-747C-DF3CF513302B}"/>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50A795EA-4C80-7A29-C802-F2748DEE6556}"/>
              </a:ext>
            </a:extLst>
          </p:cNvPr>
          <p:cNvSpPr txBox="1"/>
          <p:nvPr/>
        </p:nvSpPr>
        <p:spPr>
          <a:xfrm>
            <a:off x="342901" y="811511"/>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Convergent Rounding</a:t>
            </a:r>
          </a:p>
        </p:txBody>
      </p:sp>
      <p:sp>
        <p:nvSpPr>
          <p:cNvPr id="7" name="TextBox 6">
            <a:extLst>
              <a:ext uri="{FF2B5EF4-FFF2-40B4-BE49-F238E27FC236}">
                <a16:creationId xmlns:a16="http://schemas.microsoft.com/office/drawing/2014/main" id="{392F9B49-67F6-BAA8-C8FA-EF427B30A40E}"/>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80191D4F-BE0C-76E4-92C9-BBAFEF490048}"/>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A6E9D475-E3A2-4A93-71EC-1EF103097C81}"/>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3C5816A-AA90-BBE2-5834-8701A18AD99F}"/>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847CB1DD-8874-447E-C79F-057753C30A1F}"/>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BBD22DC0-F4FC-D20F-F0C4-369BF55A9610}"/>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DB29C3B0-F105-FAA3-7268-E69D260C56F5}"/>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8" name="TextBox 7">
            <a:extLst>
              <a:ext uri="{FF2B5EF4-FFF2-40B4-BE49-F238E27FC236}">
                <a16:creationId xmlns:a16="http://schemas.microsoft.com/office/drawing/2014/main" id="{2B8A6136-F6EF-3908-DA59-6F6F75B22884}"/>
              </a:ext>
            </a:extLst>
          </p:cNvPr>
          <p:cNvSpPr txBox="1"/>
          <p:nvPr/>
        </p:nvSpPr>
        <p:spPr>
          <a:xfrm>
            <a:off x="480639" y="1260606"/>
            <a:ext cx="11582400" cy="510902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As seen in the previous figure, when the error is dependent on the signal, it introduces severe distortion in the frequency domain. In contrast, with Convergent Rounding, the error becomes like noise spread evenly across all frequencies</a:t>
            </a:r>
            <a:endParaRPr lang="ar-EG" sz="2000" dirty="0">
              <a:solidFill>
                <a:srgbClr val="000000"/>
              </a:solidFill>
            </a:endParaRPr>
          </a:p>
          <a:p>
            <a:pPr defTabSz="457200">
              <a:spcBef>
                <a:spcPts val="1000"/>
              </a:spcBef>
              <a:buClr>
                <a:srgbClr val="1E4056"/>
              </a:buClr>
              <a:buSzPct val="75000"/>
            </a:pPr>
            <a:r>
              <a:rPr lang="en-US" sz="2000" b="1" dirty="0"/>
              <a:t>Note: </a:t>
            </a:r>
            <a:r>
              <a:rPr lang="en-US" sz="2000" dirty="0"/>
              <a:t>Rounding and Convergent Rounding behave identically for any value not exactly at 0.5 (e.g., both round 3.4 to 3, and 3.6 to 4). Their behavior only diverges at exact half-way points (e.g., 3.5) due to their different tie-breaking rules</a:t>
            </a:r>
            <a:r>
              <a:rPr lang="ar-EG" sz="2000" dirty="0"/>
              <a:t>																			   </a:t>
            </a:r>
          </a:p>
          <a:p>
            <a:r>
              <a:rPr lang="en-US" sz="2000" b="1" dirty="0"/>
              <a:t>Example: Q11.1 to Q12.0 Conversion</a:t>
            </a:r>
            <a:r>
              <a:rPr lang="en-US" sz="2000" dirty="0"/>
              <a:t> Let's assume the input value is </a:t>
            </a:r>
            <a:r>
              <a:rPr lang="en-US" sz="2000" b="1" dirty="0"/>
              <a:t>2.5</a:t>
            </a:r>
            <a:r>
              <a:rPr lang="en-US" sz="2000" dirty="0"/>
              <a:t>. We need to remove the 1 fractional bit to get an integer output (Q12.0).</a:t>
            </a:r>
          </a:p>
          <a:p>
            <a:r>
              <a:rPr lang="en-US" sz="2000" b="1" dirty="0"/>
              <a:t>Convergent Rounding:</a:t>
            </a:r>
            <a:r>
              <a:rPr lang="en-US" sz="2000" dirty="0"/>
              <a:t> Rounds to the nearest even number → </a:t>
            </a:r>
            <a:r>
              <a:rPr lang="en-US" sz="2000" b="1" dirty="0"/>
              <a:t>2</a:t>
            </a:r>
            <a:endParaRPr lang="en-US" sz="2000" dirty="0"/>
          </a:p>
          <a:p>
            <a:r>
              <a:rPr lang="en-US" sz="2000" b="1" dirty="0"/>
              <a:t>Standard Round:</a:t>
            </a:r>
            <a:r>
              <a:rPr lang="en-US" sz="2000" dirty="0"/>
              <a:t> Rounds up (away from zero) → </a:t>
            </a:r>
            <a:r>
              <a:rPr lang="en-US" sz="2000" b="1" dirty="0"/>
              <a:t>3</a:t>
            </a:r>
            <a:endParaRPr lang="en-US" sz="2000" dirty="0"/>
          </a:p>
          <a:p>
            <a:r>
              <a:rPr lang="en-US" sz="2000" b="1" dirty="0"/>
              <a:t>Floor (Truncation):</a:t>
            </a:r>
            <a:r>
              <a:rPr lang="en-US" sz="2000" dirty="0"/>
              <a:t> Rounds down → </a:t>
            </a:r>
            <a:r>
              <a:rPr lang="en-US" sz="2000" b="1" dirty="0"/>
              <a:t>2</a:t>
            </a:r>
            <a:endParaRPr lang="en-US" sz="2000" dirty="0"/>
          </a:p>
          <a:p>
            <a:pPr defTabSz="457200">
              <a:spcBef>
                <a:spcPts val="1000"/>
              </a:spcBef>
              <a:buClr>
                <a:srgbClr val="1E4056"/>
              </a:buClr>
              <a:buSzPct val="75000"/>
            </a:pPr>
            <a:r>
              <a:rPr lang="en-US" sz="2000" b="1" dirty="0"/>
              <a:t>Final Note: </a:t>
            </a:r>
            <a:r>
              <a:rPr lang="en-US" sz="2000" dirty="0"/>
              <a:t>Round and Convergent Rounding outperform Floor not only by preventing severe DC offset, but also by minimizing the maximum quantization error. They introduce a worst-case error of 0.5 LSB, whereas Floor introduces an error approaching 1 LSB</a:t>
            </a:r>
            <a:endParaRPr lang="en-US" sz="2000" dirty="0">
              <a:solidFill>
                <a:srgbClr val="000000"/>
              </a:solidFill>
            </a:endParaRPr>
          </a:p>
        </p:txBody>
      </p:sp>
    </p:spTree>
    <p:extLst>
      <p:ext uri="{BB962C8B-B14F-4D97-AF65-F5344CB8AC3E}">
        <p14:creationId xmlns:p14="http://schemas.microsoft.com/office/powerpoint/2010/main" val="403112751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fade">
                                      <p:cBhvr>
                                        <p:cTn id="20" dur="500"/>
                                        <p:tgtEl>
                                          <p:spTgt spid="8">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animEffect transition="in" filter="fade">
                                      <p:cBhvr>
                                        <p:cTn id="23" dur="500"/>
                                        <p:tgtEl>
                                          <p:spTgt spid="8">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500"/>
                                        <p:tgtEl>
                                          <p:spTgt spid="8">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Effect transition="in" filter="fade">
                                      <p:cBhvr>
                                        <p:cTn id="31"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E78EB-65E2-E1EA-273C-C4903DBE7D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53B5FB0-9B42-F0B0-2AC7-7DD1D4C402A6}"/>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FE376A31-EFD7-58BD-0385-DB9904F2329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0AA2041-4A57-BA0C-3778-FE3B02ADC294}"/>
              </a:ext>
            </a:extLst>
          </p:cNvPr>
          <p:cNvSpPr>
            <a:spLocks noGrp="1"/>
          </p:cNvSpPr>
          <p:nvPr>
            <p:ph type="sldNum" sz="quarter" idx="4"/>
          </p:nvPr>
        </p:nvSpPr>
        <p:spPr/>
        <p:txBody>
          <a:bodyPr/>
          <a:lstStyle/>
          <a:p>
            <a:pPr>
              <a:defRPr/>
            </a:pPr>
            <a:fld id="{A9CE67A1-BA7F-A74E-B5D7-615746DEEC2B}" type="slidenum">
              <a:rPr lang="en-US" smtClean="0"/>
              <a:pPr>
                <a:defRPr/>
              </a:pPr>
              <a:t>78</a:t>
            </a:fld>
            <a:endParaRPr lang="en-US" baseline="-11000" dirty="0"/>
          </a:p>
        </p:txBody>
      </p:sp>
      <p:sp>
        <p:nvSpPr>
          <p:cNvPr id="6" name="Date Placeholder 5">
            <a:extLst>
              <a:ext uri="{FF2B5EF4-FFF2-40B4-BE49-F238E27FC236}">
                <a16:creationId xmlns:a16="http://schemas.microsoft.com/office/drawing/2014/main" id="{0472726C-9BAD-EE8D-9187-AAFECC66CDED}"/>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7462D1AD-03F1-D43C-CD57-74393C076F24}"/>
              </a:ext>
            </a:extLst>
          </p:cNvPr>
          <p:cNvSpPr txBox="1"/>
          <p:nvPr/>
        </p:nvSpPr>
        <p:spPr>
          <a:xfrm>
            <a:off x="342901" y="811511"/>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Convergent Rounding</a:t>
            </a:r>
          </a:p>
        </p:txBody>
      </p:sp>
      <p:sp>
        <p:nvSpPr>
          <p:cNvPr id="7" name="TextBox 6">
            <a:extLst>
              <a:ext uri="{FF2B5EF4-FFF2-40B4-BE49-F238E27FC236}">
                <a16:creationId xmlns:a16="http://schemas.microsoft.com/office/drawing/2014/main" id="{C0FB16A9-EA02-4720-F57D-F8A376436AD3}"/>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108AF2A3-55BD-1738-167F-5215E08F332E}"/>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1FB4E2FD-A533-9990-AEF1-F04DD383CBE8}"/>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81DC914-CC70-1D05-2929-AE300E1D6480}"/>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E6BE7323-85B4-8EC2-5C97-ACA4C86E5B51}"/>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1B306747-AB64-2896-1104-B05D517E2C19}"/>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45A73E9A-8AD7-B22F-09F6-DD1260B2452C}"/>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graphicFrame>
        <p:nvGraphicFramePr>
          <p:cNvPr id="9" name="Table 8">
            <a:extLst>
              <a:ext uri="{FF2B5EF4-FFF2-40B4-BE49-F238E27FC236}">
                <a16:creationId xmlns:a16="http://schemas.microsoft.com/office/drawing/2014/main" id="{29DADB35-A9CA-A926-DAC0-5E8EE6A5B6F5}"/>
              </a:ext>
            </a:extLst>
          </p:cNvPr>
          <p:cNvGraphicFramePr>
            <a:graphicFrameLocks noGrp="1"/>
          </p:cNvGraphicFramePr>
          <p:nvPr>
            <p:extLst>
              <p:ext uri="{D42A27DB-BD31-4B8C-83A1-F6EECF244321}">
                <p14:modId xmlns:p14="http://schemas.microsoft.com/office/powerpoint/2010/main" val="3311154321"/>
              </p:ext>
            </p:extLst>
          </p:nvPr>
        </p:nvGraphicFramePr>
        <p:xfrm>
          <a:off x="1122011" y="1762221"/>
          <a:ext cx="9783032" cy="1483360"/>
        </p:xfrm>
        <a:graphic>
          <a:graphicData uri="http://schemas.openxmlformats.org/drawingml/2006/table">
            <a:tbl>
              <a:tblPr firstRow="1" bandRow="1">
                <a:tableStyleId>{72833802-FEF1-4C79-8D5D-14CF1EAF98D9}</a:tableStyleId>
              </a:tblPr>
              <a:tblGrid>
                <a:gridCol w="3078200">
                  <a:extLst>
                    <a:ext uri="{9D8B030D-6E8A-4147-A177-3AD203B41FA5}">
                      <a16:colId xmlns:a16="http://schemas.microsoft.com/office/drawing/2014/main" val="2895743444"/>
                    </a:ext>
                  </a:extLst>
                </a:gridCol>
                <a:gridCol w="3001053">
                  <a:extLst>
                    <a:ext uri="{9D8B030D-6E8A-4147-A177-3AD203B41FA5}">
                      <a16:colId xmlns:a16="http://schemas.microsoft.com/office/drawing/2014/main" val="662070517"/>
                    </a:ext>
                  </a:extLst>
                </a:gridCol>
                <a:gridCol w="1788607">
                  <a:extLst>
                    <a:ext uri="{9D8B030D-6E8A-4147-A177-3AD203B41FA5}">
                      <a16:colId xmlns:a16="http://schemas.microsoft.com/office/drawing/2014/main" val="2865243418"/>
                    </a:ext>
                  </a:extLst>
                </a:gridCol>
                <a:gridCol w="1915172">
                  <a:extLst>
                    <a:ext uri="{9D8B030D-6E8A-4147-A177-3AD203B41FA5}">
                      <a16:colId xmlns:a16="http://schemas.microsoft.com/office/drawing/2014/main" val="969267514"/>
                    </a:ext>
                  </a:extLst>
                </a:gridCol>
              </a:tblGrid>
              <a:tr h="370840">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Convergent Rounding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Floor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Round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416460"/>
                  </a:ext>
                </a:extLst>
              </a:tr>
              <a:tr h="370840">
                <a:tc>
                  <a:txBody>
                    <a:bodyPr/>
                    <a:lstStyle/>
                    <a:p>
                      <a:pPr algn="ctr"/>
                      <a:r>
                        <a:rPr lang="en-US" dirty="0"/>
                        <a:t>DC offset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3822008"/>
                  </a:ext>
                </a:extLst>
              </a:tr>
              <a:tr h="370840">
                <a:tc>
                  <a:txBody>
                    <a:bodyPr/>
                    <a:lstStyle/>
                    <a:p>
                      <a:pPr algn="ctr"/>
                      <a:r>
                        <a:rPr lang="en-US" dirty="0"/>
                        <a:t>Maximum Quantization error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0.5 bit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1 bit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0.5 bit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1400877"/>
                  </a:ext>
                </a:extLst>
              </a:tr>
              <a:tr h="370840">
                <a:tc>
                  <a:txBody>
                    <a:bodyPr/>
                    <a:lstStyle/>
                    <a:p>
                      <a:pPr algn="ctr"/>
                      <a:r>
                        <a:rPr lang="en-US" dirty="0"/>
                        <a:t>SQNR values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48.35 dB</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 41.9 dB</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46.4dB</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2648918"/>
                  </a:ext>
                </a:extLst>
              </a:tr>
            </a:tbl>
          </a:graphicData>
        </a:graphic>
      </p:graphicFrame>
    </p:spTree>
    <p:extLst>
      <p:ext uri="{BB962C8B-B14F-4D97-AF65-F5344CB8AC3E}">
        <p14:creationId xmlns:p14="http://schemas.microsoft.com/office/powerpoint/2010/main" val="54251964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C0E7D-446C-7B4F-D296-1F486D542B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31D494-D2F1-C56D-D1BD-96997914C7EF}"/>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8463C06B-6D6A-215C-A7FB-011AC59D213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F34BF5B-B6C9-4C89-6ABD-1B19B2844821}"/>
              </a:ext>
            </a:extLst>
          </p:cNvPr>
          <p:cNvSpPr>
            <a:spLocks noGrp="1"/>
          </p:cNvSpPr>
          <p:nvPr>
            <p:ph type="sldNum" sz="quarter" idx="4"/>
          </p:nvPr>
        </p:nvSpPr>
        <p:spPr/>
        <p:txBody>
          <a:bodyPr/>
          <a:lstStyle/>
          <a:p>
            <a:pPr>
              <a:defRPr/>
            </a:pPr>
            <a:fld id="{A9CE67A1-BA7F-A74E-B5D7-615746DEEC2B}" type="slidenum">
              <a:rPr lang="en-US" smtClean="0"/>
              <a:pPr>
                <a:defRPr/>
              </a:pPr>
              <a:t>79</a:t>
            </a:fld>
            <a:endParaRPr lang="en-US" baseline="-11000" dirty="0"/>
          </a:p>
        </p:txBody>
      </p:sp>
      <p:sp>
        <p:nvSpPr>
          <p:cNvPr id="6" name="Date Placeholder 5">
            <a:extLst>
              <a:ext uri="{FF2B5EF4-FFF2-40B4-BE49-F238E27FC236}">
                <a16:creationId xmlns:a16="http://schemas.microsoft.com/office/drawing/2014/main" id="{C10F60D6-BB7D-A02E-14CD-9C7D1D79050D}"/>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BC3F521C-6AEE-D615-227B-BCB296E4A271}"/>
              </a:ext>
            </a:extLst>
          </p:cNvPr>
          <p:cNvSpPr txBox="1"/>
          <p:nvPr/>
        </p:nvSpPr>
        <p:spPr>
          <a:xfrm>
            <a:off x="354862" y="810580"/>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Different Q notation form sum and multiplier	</a:t>
            </a:r>
          </a:p>
        </p:txBody>
      </p:sp>
      <p:grpSp>
        <p:nvGrpSpPr>
          <p:cNvPr id="8" name="Group 7">
            <a:extLst>
              <a:ext uri="{FF2B5EF4-FFF2-40B4-BE49-F238E27FC236}">
                <a16:creationId xmlns:a16="http://schemas.microsoft.com/office/drawing/2014/main" id="{363300A3-A040-5C70-7DF9-4515EC496856}"/>
              </a:ext>
            </a:extLst>
          </p:cNvPr>
          <p:cNvGrpSpPr/>
          <p:nvPr/>
        </p:nvGrpSpPr>
        <p:grpSpPr>
          <a:xfrm>
            <a:off x="2049610" y="1705377"/>
            <a:ext cx="7678647" cy="2594917"/>
            <a:chOff x="469667" y="869643"/>
            <a:chExt cx="10965234" cy="3827917"/>
          </a:xfrm>
        </p:grpSpPr>
        <p:grpSp>
          <p:nvGrpSpPr>
            <p:cNvPr id="9" name="Group 8">
              <a:extLst>
                <a:ext uri="{FF2B5EF4-FFF2-40B4-BE49-F238E27FC236}">
                  <a16:creationId xmlns:a16="http://schemas.microsoft.com/office/drawing/2014/main" id="{858E5FB7-9C73-54C7-BD1B-67673ADCCA12}"/>
                </a:ext>
              </a:extLst>
            </p:cNvPr>
            <p:cNvGrpSpPr/>
            <p:nvPr/>
          </p:nvGrpSpPr>
          <p:grpSpPr>
            <a:xfrm>
              <a:off x="469667" y="3643520"/>
              <a:ext cx="2180533" cy="426962"/>
              <a:chOff x="1974605" y="3819657"/>
              <a:chExt cx="1448457" cy="178610"/>
            </a:xfrm>
          </p:grpSpPr>
          <p:cxnSp>
            <p:nvCxnSpPr>
              <p:cNvPr id="67" name="Straight Arrow Connector 66">
                <a:extLst>
                  <a:ext uri="{FF2B5EF4-FFF2-40B4-BE49-F238E27FC236}">
                    <a16:creationId xmlns:a16="http://schemas.microsoft.com/office/drawing/2014/main" id="{2D798CF1-5976-7333-8C9F-25569AE78093}"/>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Straight Connector 67">
                <a:extLst>
                  <a:ext uri="{FF2B5EF4-FFF2-40B4-BE49-F238E27FC236}">
                    <a16:creationId xmlns:a16="http://schemas.microsoft.com/office/drawing/2014/main" id="{8D22D2AA-CF75-7E1F-37D1-FE3776895132}"/>
                  </a:ext>
                </a:extLst>
              </p:cNvPr>
              <p:cNvCxnSpPr>
                <a:cxnSpLocks/>
              </p:cNvCxnSpPr>
              <p:nvPr/>
            </p:nvCxnSpPr>
            <p:spPr>
              <a:xfrm flipH="1">
                <a:off x="2239762" y="3819657"/>
                <a:ext cx="249595" cy="13371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69" name="TextBox 68">
                <a:extLst>
                  <a:ext uri="{FF2B5EF4-FFF2-40B4-BE49-F238E27FC236}">
                    <a16:creationId xmlns:a16="http://schemas.microsoft.com/office/drawing/2014/main" id="{93E2D516-CE76-47E1-A8FD-512522EB818A}"/>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grpSp>
        <p:cxnSp>
          <p:nvCxnSpPr>
            <p:cNvPr id="11" name="Straight Connector 10">
              <a:extLst>
                <a:ext uri="{FF2B5EF4-FFF2-40B4-BE49-F238E27FC236}">
                  <a16:creationId xmlns:a16="http://schemas.microsoft.com/office/drawing/2014/main" id="{85CAFABC-F1E9-F233-2C5B-287F3A04FD47}"/>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FBF5FE8E-98CD-191C-F95E-2E01A621208A}"/>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4" name="Rectangle 13">
              <a:extLst>
                <a:ext uri="{FF2B5EF4-FFF2-40B4-BE49-F238E27FC236}">
                  <a16:creationId xmlns:a16="http://schemas.microsoft.com/office/drawing/2014/main" id="{F51EE22A-2E98-37CA-49E7-2898118940FB}"/>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6" name="Straight Arrow Connector 15">
              <a:extLst>
                <a:ext uri="{FF2B5EF4-FFF2-40B4-BE49-F238E27FC236}">
                  <a16:creationId xmlns:a16="http://schemas.microsoft.com/office/drawing/2014/main" id="{16CC43A1-192C-AC8C-833C-296CB611E8C3}"/>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2B362D7B-4EEB-F801-25C7-8183E9F544F6}"/>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Group 17">
              <a:extLst>
                <a:ext uri="{FF2B5EF4-FFF2-40B4-BE49-F238E27FC236}">
                  <a16:creationId xmlns:a16="http://schemas.microsoft.com/office/drawing/2014/main" id="{3847E36A-1102-A1C1-9B23-F93BA506C307}"/>
                </a:ext>
              </a:extLst>
            </p:cNvPr>
            <p:cNvGrpSpPr/>
            <p:nvPr/>
          </p:nvGrpSpPr>
          <p:grpSpPr>
            <a:xfrm>
              <a:off x="3382766" y="2583458"/>
              <a:ext cx="371568" cy="371568"/>
              <a:chOff x="5114833" y="2825052"/>
              <a:chExt cx="371568" cy="371568"/>
            </a:xfrm>
          </p:grpSpPr>
          <p:sp>
            <p:nvSpPr>
              <p:cNvPr id="63" name="Oval 62">
                <a:extLst>
                  <a:ext uri="{FF2B5EF4-FFF2-40B4-BE49-F238E27FC236}">
                    <a16:creationId xmlns:a16="http://schemas.microsoft.com/office/drawing/2014/main" id="{C228EC33-34CB-2995-BC88-242F44F26B95}"/>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4" name="Straight Connector 63">
                <a:extLst>
                  <a:ext uri="{FF2B5EF4-FFF2-40B4-BE49-F238E27FC236}">
                    <a16:creationId xmlns:a16="http://schemas.microsoft.com/office/drawing/2014/main" id="{C79338F5-CC4F-22E9-FD3B-502B34EBE547}"/>
                  </a:ext>
                </a:extLst>
              </p:cNvPr>
              <p:cNvCxnSpPr>
                <a:stCxn id="63" idx="6"/>
                <a:endCxn id="63"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5" name="Straight Connector 64">
                <a:extLst>
                  <a:ext uri="{FF2B5EF4-FFF2-40B4-BE49-F238E27FC236}">
                    <a16:creationId xmlns:a16="http://schemas.microsoft.com/office/drawing/2014/main" id="{D8090F0D-E518-9432-42DF-977C2C865D07}"/>
                  </a:ext>
                </a:extLst>
              </p:cNvPr>
              <p:cNvCxnSpPr>
                <a:cxnSpLocks/>
                <a:stCxn id="63" idx="4"/>
                <a:endCxn id="63"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20" name="Group 19">
              <a:extLst>
                <a:ext uri="{FF2B5EF4-FFF2-40B4-BE49-F238E27FC236}">
                  <a16:creationId xmlns:a16="http://schemas.microsoft.com/office/drawing/2014/main" id="{AABAF9CD-2782-A0D1-9446-5ED2092378AD}"/>
                </a:ext>
              </a:extLst>
            </p:cNvPr>
            <p:cNvGrpSpPr/>
            <p:nvPr/>
          </p:nvGrpSpPr>
          <p:grpSpPr>
            <a:xfrm>
              <a:off x="3403179" y="3576527"/>
              <a:ext cx="371568" cy="371568"/>
              <a:chOff x="5114833" y="2825052"/>
              <a:chExt cx="371568" cy="371568"/>
            </a:xfrm>
          </p:grpSpPr>
          <p:sp>
            <p:nvSpPr>
              <p:cNvPr id="60" name="Oval 59">
                <a:extLst>
                  <a:ext uri="{FF2B5EF4-FFF2-40B4-BE49-F238E27FC236}">
                    <a16:creationId xmlns:a16="http://schemas.microsoft.com/office/drawing/2014/main" id="{EC6CB78E-95CF-10B9-998D-8748FA8D71FA}"/>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1" name="Straight Connector 60">
                <a:extLst>
                  <a:ext uri="{FF2B5EF4-FFF2-40B4-BE49-F238E27FC236}">
                    <a16:creationId xmlns:a16="http://schemas.microsoft.com/office/drawing/2014/main" id="{DE364409-9F56-6D55-8594-CB652FA5CC52}"/>
                  </a:ext>
                </a:extLst>
              </p:cNvPr>
              <p:cNvCxnSpPr>
                <a:stCxn id="60" idx="6"/>
                <a:endCxn id="60"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Connector 61">
                <a:extLst>
                  <a:ext uri="{FF2B5EF4-FFF2-40B4-BE49-F238E27FC236}">
                    <a16:creationId xmlns:a16="http://schemas.microsoft.com/office/drawing/2014/main" id="{D82AF787-6831-6859-38E8-42302DD824C4}"/>
                  </a:ext>
                </a:extLst>
              </p:cNvPr>
              <p:cNvCxnSpPr>
                <a:cxnSpLocks/>
                <a:stCxn id="60" idx="4"/>
                <a:endCxn id="60"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21" name="Straight Arrow Connector 20">
              <a:extLst>
                <a:ext uri="{FF2B5EF4-FFF2-40B4-BE49-F238E27FC236}">
                  <a16:creationId xmlns:a16="http://schemas.microsoft.com/office/drawing/2014/main" id="{E71335E5-0E49-950F-3E24-A3702EF95633}"/>
                </a:ext>
              </a:extLst>
            </p:cNvPr>
            <p:cNvCxnSpPr>
              <a:cxnSpLocks/>
              <a:endCxn id="60"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Straight Arrow Connector 21">
              <a:extLst>
                <a:ext uri="{FF2B5EF4-FFF2-40B4-BE49-F238E27FC236}">
                  <a16:creationId xmlns:a16="http://schemas.microsoft.com/office/drawing/2014/main" id="{7E95C403-D208-7363-4BC3-A29E83A74206}"/>
                </a:ext>
              </a:extLst>
            </p:cNvPr>
            <p:cNvCxnSpPr>
              <a:cxnSpLocks/>
              <a:endCxn id="63"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E94C4D41-7D3E-0A9A-9D5D-527D6200A463}"/>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EED50B56-78B7-2B98-B11E-DCCAAFA29484}"/>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8D5FF404-4209-83B7-7F06-027FF41A3BF5}"/>
                </a:ext>
              </a:extLst>
            </p:cNvPr>
            <p:cNvCxnSpPr>
              <a:cxnSpLocks/>
              <a:stCxn id="60"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7" name="Rectangle 81">
              <a:extLst>
                <a:ext uri="{FF2B5EF4-FFF2-40B4-BE49-F238E27FC236}">
                  <a16:creationId xmlns:a16="http://schemas.microsoft.com/office/drawing/2014/main" id="{9420E9EA-98AA-1896-139F-181BA27E75FA}"/>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8" name="Rectangle 81">
              <a:extLst>
                <a:ext uri="{FF2B5EF4-FFF2-40B4-BE49-F238E27FC236}">
                  <a16:creationId xmlns:a16="http://schemas.microsoft.com/office/drawing/2014/main" id="{8E6937A9-976A-CC90-A5B1-E64B7E45CC13}"/>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9" name="Connector: Elbow 28">
              <a:extLst>
                <a:ext uri="{FF2B5EF4-FFF2-40B4-BE49-F238E27FC236}">
                  <a16:creationId xmlns:a16="http://schemas.microsoft.com/office/drawing/2014/main" id="{F5D2C25E-DF63-A9FC-A566-A88DD609E329}"/>
                </a:ext>
              </a:extLst>
            </p:cNvPr>
            <p:cNvCxnSpPr>
              <a:cxnSpLocks/>
              <a:stCxn id="54" idx="6"/>
            </p:cNvCxnSpPr>
            <p:nvPr/>
          </p:nvCxnSpPr>
          <p:spPr>
            <a:xfrm>
              <a:off x="1808099" y="3762310"/>
              <a:ext cx="2713056" cy="565522"/>
            </a:xfrm>
            <a:prstGeom prst="bentConnector3">
              <a:avLst>
                <a:gd name="adj1" fmla="val -1338"/>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Connector: Elbow 29">
              <a:extLst>
                <a:ext uri="{FF2B5EF4-FFF2-40B4-BE49-F238E27FC236}">
                  <a16:creationId xmlns:a16="http://schemas.microsoft.com/office/drawing/2014/main" id="{06402ACA-438E-DC22-9942-8A961E3CF1C7}"/>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Rectangle 30">
              <a:extLst>
                <a:ext uri="{FF2B5EF4-FFF2-40B4-BE49-F238E27FC236}">
                  <a16:creationId xmlns:a16="http://schemas.microsoft.com/office/drawing/2014/main" id="{B7A3FA07-03E1-43F3-A7F4-2E69368FED9F}"/>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32" name="Straight Arrow Connector 31">
              <a:extLst>
                <a:ext uri="{FF2B5EF4-FFF2-40B4-BE49-F238E27FC236}">
                  <a16:creationId xmlns:a16="http://schemas.microsoft.com/office/drawing/2014/main" id="{19459849-2CE3-7525-9299-A5B46191D7E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Connector: Elbow 33">
              <a:extLst>
                <a:ext uri="{FF2B5EF4-FFF2-40B4-BE49-F238E27FC236}">
                  <a16:creationId xmlns:a16="http://schemas.microsoft.com/office/drawing/2014/main" id="{BE9CDC73-1CA3-949B-E679-AB9EFFF10BDF}"/>
                </a:ext>
              </a:extLst>
            </p:cNvPr>
            <p:cNvCxnSpPr>
              <a:cxnSpLocks/>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Straight Arrow Connector 34">
              <a:extLst>
                <a:ext uri="{FF2B5EF4-FFF2-40B4-BE49-F238E27FC236}">
                  <a16:creationId xmlns:a16="http://schemas.microsoft.com/office/drawing/2014/main" id="{735F7689-E90A-26EA-B91C-1B22C50E1DA4}"/>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Connector: Elbow 35">
              <a:extLst>
                <a:ext uri="{FF2B5EF4-FFF2-40B4-BE49-F238E27FC236}">
                  <a16:creationId xmlns:a16="http://schemas.microsoft.com/office/drawing/2014/main" id="{C7615996-1076-683F-0365-602976680107}"/>
                </a:ext>
              </a:extLst>
            </p:cNvPr>
            <p:cNvCxnSpPr>
              <a:cxnSpLocks/>
              <a:stCxn id="52"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Connector: Elbow 36">
              <a:extLst>
                <a:ext uri="{FF2B5EF4-FFF2-40B4-BE49-F238E27FC236}">
                  <a16:creationId xmlns:a16="http://schemas.microsoft.com/office/drawing/2014/main" id="{433FBA9C-F4CD-326E-BA96-A58B3E8CA9C8}"/>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TextBox 37">
              <a:extLst>
                <a:ext uri="{FF2B5EF4-FFF2-40B4-BE49-F238E27FC236}">
                  <a16:creationId xmlns:a16="http://schemas.microsoft.com/office/drawing/2014/main" id="{B6757830-E886-4570-4DA2-F7461451DB2D}"/>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39" name="TextBox 38">
              <a:extLst>
                <a:ext uri="{FF2B5EF4-FFF2-40B4-BE49-F238E27FC236}">
                  <a16:creationId xmlns:a16="http://schemas.microsoft.com/office/drawing/2014/main" id="{59FBBD77-EF60-FD9D-EB26-783B8DE0D6E8}"/>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40" name="TextBox 39">
              <a:extLst>
                <a:ext uri="{FF2B5EF4-FFF2-40B4-BE49-F238E27FC236}">
                  <a16:creationId xmlns:a16="http://schemas.microsoft.com/office/drawing/2014/main" id="{39C47CB3-DDFA-E552-524C-61FAD16EBD8F}"/>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41" name="TextBox 40">
              <a:extLst>
                <a:ext uri="{FF2B5EF4-FFF2-40B4-BE49-F238E27FC236}">
                  <a16:creationId xmlns:a16="http://schemas.microsoft.com/office/drawing/2014/main" id="{CAB9D51C-7FDB-0033-CF47-2FB19A1B838D}"/>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42" name="TextBox 41">
              <a:extLst>
                <a:ext uri="{FF2B5EF4-FFF2-40B4-BE49-F238E27FC236}">
                  <a16:creationId xmlns:a16="http://schemas.microsoft.com/office/drawing/2014/main" id="{484C03D0-99FA-0F56-1D6E-853063FE7CDA}"/>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43" name="TextBox 42">
              <a:extLst>
                <a:ext uri="{FF2B5EF4-FFF2-40B4-BE49-F238E27FC236}">
                  <a16:creationId xmlns:a16="http://schemas.microsoft.com/office/drawing/2014/main" id="{4107CB80-EFEB-83E2-E911-0F01D769F6D7}"/>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44" name="TextBox 43">
              <a:extLst>
                <a:ext uri="{FF2B5EF4-FFF2-40B4-BE49-F238E27FC236}">
                  <a16:creationId xmlns:a16="http://schemas.microsoft.com/office/drawing/2014/main" id="{773695FE-781D-09B8-F53F-13B64F63F4C3}"/>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45" name="Rectangle 81">
              <a:extLst>
                <a:ext uri="{FF2B5EF4-FFF2-40B4-BE49-F238E27FC236}">
                  <a16:creationId xmlns:a16="http://schemas.microsoft.com/office/drawing/2014/main" id="{EDA80D18-43DF-05E2-2E44-479365FE2749}"/>
                </a:ext>
              </a:extLst>
            </p:cNvPr>
            <p:cNvSpPr/>
            <p:nvPr/>
          </p:nvSpPr>
          <p:spPr>
            <a:xfrm>
              <a:off x="8848788" y="3135568"/>
              <a:ext cx="548003" cy="935180"/>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6" name="TextBox 45">
              <a:extLst>
                <a:ext uri="{FF2B5EF4-FFF2-40B4-BE49-F238E27FC236}">
                  <a16:creationId xmlns:a16="http://schemas.microsoft.com/office/drawing/2014/main" id="{A1609E5C-3D80-9E41-4471-4F5920322860}"/>
                </a:ext>
              </a:extLst>
            </p:cNvPr>
            <p:cNvSpPr txBox="1"/>
            <p:nvPr/>
          </p:nvSpPr>
          <p:spPr>
            <a:xfrm>
              <a:off x="8893177" y="3177974"/>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47" name="TextBox 46">
              <a:extLst>
                <a:ext uri="{FF2B5EF4-FFF2-40B4-BE49-F238E27FC236}">
                  <a16:creationId xmlns:a16="http://schemas.microsoft.com/office/drawing/2014/main" id="{2F3BCAD3-F2F1-7842-E2F2-B622A7BA2B7B}"/>
                </a:ext>
              </a:extLst>
            </p:cNvPr>
            <p:cNvSpPr txBox="1"/>
            <p:nvPr/>
          </p:nvSpPr>
          <p:spPr>
            <a:xfrm>
              <a:off x="8899173" y="380752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48" name="TextBox 47">
              <a:extLst>
                <a:ext uri="{FF2B5EF4-FFF2-40B4-BE49-F238E27FC236}">
                  <a16:creationId xmlns:a16="http://schemas.microsoft.com/office/drawing/2014/main" id="{F297C406-31F1-AE2F-14FE-3A19BDF17EB6}"/>
                </a:ext>
              </a:extLst>
            </p:cNvPr>
            <p:cNvSpPr txBox="1"/>
            <p:nvPr/>
          </p:nvSpPr>
          <p:spPr>
            <a:xfrm>
              <a:off x="8947396" y="3519413"/>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49" name="Connector: Elbow 48">
              <a:extLst>
                <a:ext uri="{FF2B5EF4-FFF2-40B4-BE49-F238E27FC236}">
                  <a16:creationId xmlns:a16="http://schemas.microsoft.com/office/drawing/2014/main" id="{E4C01F24-FD9E-3517-CBED-14B2FB3CB9B3}"/>
                </a:ext>
              </a:extLst>
            </p:cNvPr>
            <p:cNvCxnSpPr>
              <a:cxnSpLocks/>
            </p:cNvCxnSpPr>
            <p:nvPr/>
          </p:nvCxnSpPr>
          <p:spPr>
            <a:xfrm>
              <a:off x="7879374" y="3610592"/>
              <a:ext cx="969413" cy="275157"/>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Connector: Elbow 49">
              <a:extLst>
                <a:ext uri="{FF2B5EF4-FFF2-40B4-BE49-F238E27FC236}">
                  <a16:creationId xmlns:a16="http://schemas.microsoft.com/office/drawing/2014/main" id="{819B3ED8-8506-846A-8528-EEE479BCC09C}"/>
                </a:ext>
              </a:extLst>
            </p:cNvPr>
            <p:cNvCxnSpPr>
              <a:cxnSpLocks/>
              <a:endCxn id="46" idx="1"/>
            </p:cNvCxnSpPr>
            <p:nvPr/>
          </p:nvCxnSpPr>
          <p:spPr>
            <a:xfrm flipV="1">
              <a:off x="7068818" y="3310473"/>
              <a:ext cx="1824360" cy="315063"/>
            </a:xfrm>
            <a:prstGeom prst="bentConnector3">
              <a:avLst>
                <a:gd name="adj1" fmla="val 375"/>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Connector: Elbow 50">
              <a:extLst>
                <a:ext uri="{FF2B5EF4-FFF2-40B4-BE49-F238E27FC236}">
                  <a16:creationId xmlns:a16="http://schemas.microsoft.com/office/drawing/2014/main" id="{E6A508F5-FB81-B049-AE68-9980B990D1ED}"/>
                </a:ext>
              </a:extLst>
            </p:cNvPr>
            <p:cNvCxnSpPr>
              <a:cxnSpLocks/>
            </p:cNvCxnSpPr>
            <p:nvPr/>
          </p:nvCxnSpPr>
          <p:spPr>
            <a:xfrm flipV="1">
              <a:off x="9394428" y="2955025"/>
              <a:ext cx="2040473" cy="777951"/>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2" name="Oval 51">
              <a:extLst>
                <a:ext uri="{FF2B5EF4-FFF2-40B4-BE49-F238E27FC236}">
                  <a16:creationId xmlns:a16="http://schemas.microsoft.com/office/drawing/2014/main" id="{F072ABF1-7167-1BF1-7E86-41238CC7A381}"/>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C01DE872-45E8-644C-7E8B-49DE39C92445}"/>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66A44DFF-DB0A-448C-CC41-78B93752270D}"/>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55" name="Straight Arrow Connector 54">
              <a:extLst>
                <a:ext uri="{FF2B5EF4-FFF2-40B4-BE49-F238E27FC236}">
                  <a16:creationId xmlns:a16="http://schemas.microsoft.com/office/drawing/2014/main" id="{18546367-A4B1-567F-51DF-762492B0C727}"/>
                </a:ext>
              </a:extLst>
            </p:cNvPr>
            <p:cNvCxnSpPr>
              <a:cxnSpLocks/>
              <a:stCxn id="56" idx="0"/>
            </p:cNvCxnSpPr>
            <p:nvPr/>
          </p:nvCxnSpPr>
          <p:spPr>
            <a:xfrm flipV="1">
              <a:off x="7691678" y="3854390"/>
              <a:ext cx="1912" cy="4327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6" name="Rectangle 55">
              <a:extLst>
                <a:ext uri="{FF2B5EF4-FFF2-40B4-BE49-F238E27FC236}">
                  <a16:creationId xmlns:a16="http://schemas.microsoft.com/office/drawing/2014/main" id="{3F1ECBFE-8FDA-C290-2275-9662B433D141}"/>
                </a:ext>
              </a:extLst>
            </p:cNvPr>
            <p:cNvSpPr/>
            <p:nvPr/>
          </p:nvSpPr>
          <p:spPr>
            <a:xfrm>
              <a:off x="6466890" y="4287106"/>
              <a:ext cx="2449576" cy="223631"/>
            </a:xfrm>
            <a:prstGeom prst="rect">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grpSp>
      <p:sp>
        <p:nvSpPr>
          <p:cNvPr id="70" name="Oval 69">
            <a:extLst>
              <a:ext uri="{FF2B5EF4-FFF2-40B4-BE49-F238E27FC236}">
                <a16:creationId xmlns:a16="http://schemas.microsoft.com/office/drawing/2014/main" id="{429E75E4-8280-624E-62AA-29F0C2F0EBE5}"/>
              </a:ext>
            </a:extLst>
          </p:cNvPr>
          <p:cNvSpPr/>
          <p:nvPr/>
        </p:nvSpPr>
        <p:spPr>
          <a:xfrm>
            <a:off x="6978224" y="3437504"/>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1" name="Straight Connector 70">
            <a:extLst>
              <a:ext uri="{FF2B5EF4-FFF2-40B4-BE49-F238E27FC236}">
                <a16:creationId xmlns:a16="http://schemas.microsoft.com/office/drawing/2014/main" id="{D455BC8B-3BB7-F0F8-9364-861FB292C915}"/>
              </a:ext>
            </a:extLst>
          </p:cNvPr>
          <p:cNvCxnSpPr>
            <a:cxnSpLocks/>
            <a:stCxn id="70" idx="7"/>
            <a:endCxn id="70" idx="3"/>
          </p:cNvCxnSpPr>
          <p:nvPr/>
        </p:nvCxnSpPr>
        <p:spPr>
          <a:xfrm flipH="1">
            <a:off x="7016329" y="3474391"/>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72" name="Straight Connector 71">
            <a:extLst>
              <a:ext uri="{FF2B5EF4-FFF2-40B4-BE49-F238E27FC236}">
                <a16:creationId xmlns:a16="http://schemas.microsoft.com/office/drawing/2014/main" id="{142333AF-DFF8-6EC5-9C57-886FF92BE347}"/>
              </a:ext>
            </a:extLst>
          </p:cNvPr>
          <p:cNvCxnSpPr>
            <a:cxnSpLocks/>
            <a:stCxn id="70" idx="5"/>
            <a:endCxn id="70" idx="1"/>
          </p:cNvCxnSpPr>
          <p:nvPr/>
        </p:nvCxnSpPr>
        <p:spPr>
          <a:xfrm flipH="1" flipV="1">
            <a:off x="7016329" y="3474391"/>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sp>
        <p:nvSpPr>
          <p:cNvPr id="80" name="Rectangle 79">
            <a:extLst>
              <a:ext uri="{FF2B5EF4-FFF2-40B4-BE49-F238E27FC236}">
                <a16:creationId xmlns:a16="http://schemas.microsoft.com/office/drawing/2014/main" id="{0A3AD2BD-07B6-782A-C380-C5DBE9EB7396}"/>
              </a:ext>
            </a:extLst>
          </p:cNvPr>
          <p:cNvSpPr/>
          <p:nvPr/>
        </p:nvSpPr>
        <p:spPr>
          <a:xfrm>
            <a:off x="3854693" y="1913312"/>
            <a:ext cx="101787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1" name="TextBox 80">
            <a:extLst>
              <a:ext uri="{FF2B5EF4-FFF2-40B4-BE49-F238E27FC236}">
                <a16:creationId xmlns:a16="http://schemas.microsoft.com/office/drawing/2014/main" id="{D5B561C9-42BC-5785-2BA1-DDBD44293762}"/>
              </a:ext>
            </a:extLst>
          </p:cNvPr>
          <p:cNvSpPr txBox="1"/>
          <p:nvPr/>
        </p:nvSpPr>
        <p:spPr>
          <a:xfrm>
            <a:off x="4186062" y="1984515"/>
            <a:ext cx="325342"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82" name="TextBox 81">
            <a:extLst>
              <a:ext uri="{FF2B5EF4-FFF2-40B4-BE49-F238E27FC236}">
                <a16:creationId xmlns:a16="http://schemas.microsoft.com/office/drawing/2014/main" id="{DA8E3B01-C139-FBEE-3BDE-783B89D2D7DE}"/>
              </a:ext>
            </a:extLst>
          </p:cNvPr>
          <p:cNvSpPr txBox="1"/>
          <p:nvPr/>
        </p:nvSpPr>
        <p:spPr>
          <a:xfrm>
            <a:off x="7438707" y="3135007"/>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Q2.10</a:t>
            </a:r>
          </a:p>
        </p:txBody>
      </p:sp>
      <p:sp>
        <p:nvSpPr>
          <p:cNvPr id="85" name="TextBox 84">
            <a:extLst>
              <a:ext uri="{FF2B5EF4-FFF2-40B4-BE49-F238E27FC236}">
                <a16:creationId xmlns:a16="http://schemas.microsoft.com/office/drawing/2014/main" id="{EDFE8EA1-2880-52CA-13FF-591CDB2BD05A}"/>
              </a:ext>
            </a:extLst>
          </p:cNvPr>
          <p:cNvSpPr txBox="1"/>
          <p:nvPr/>
        </p:nvSpPr>
        <p:spPr>
          <a:xfrm>
            <a:off x="6508144" y="3633176"/>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Q2.10</a:t>
            </a:r>
          </a:p>
        </p:txBody>
      </p:sp>
      <p:sp>
        <p:nvSpPr>
          <p:cNvPr id="106" name="TextBox 105">
            <a:extLst>
              <a:ext uri="{FF2B5EF4-FFF2-40B4-BE49-F238E27FC236}">
                <a16:creationId xmlns:a16="http://schemas.microsoft.com/office/drawing/2014/main" id="{D3BCB52E-A906-EA8D-3AC2-CF928C640CD5}"/>
              </a:ext>
            </a:extLst>
          </p:cNvPr>
          <p:cNvSpPr txBox="1"/>
          <p:nvPr/>
        </p:nvSpPr>
        <p:spPr>
          <a:xfrm>
            <a:off x="7499748" y="3756732"/>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Q3.9</a:t>
            </a:r>
          </a:p>
        </p:txBody>
      </p:sp>
      <p:sp>
        <p:nvSpPr>
          <p:cNvPr id="107" name="TextBox 106">
            <a:extLst>
              <a:ext uri="{FF2B5EF4-FFF2-40B4-BE49-F238E27FC236}">
                <a16:creationId xmlns:a16="http://schemas.microsoft.com/office/drawing/2014/main" id="{CFD79B60-5E56-74AF-562C-326272AFB6A7}"/>
              </a:ext>
            </a:extLst>
          </p:cNvPr>
          <p:cNvSpPr txBox="1"/>
          <p:nvPr/>
        </p:nvSpPr>
        <p:spPr>
          <a:xfrm>
            <a:off x="9120784" y="2704300"/>
            <a:ext cx="764262" cy="251025"/>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Q3.9</a:t>
            </a:r>
          </a:p>
        </p:txBody>
      </p:sp>
      <p:sp>
        <p:nvSpPr>
          <p:cNvPr id="7" name="TextBox 6">
            <a:extLst>
              <a:ext uri="{FF2B5EF4-FFF2-40B4-BE49-F238E27FC236}">
                <a16:creationId xmlns:a16="http://schemas.microsoft.com/office/drawing/2014/main" id="{223956BE-3E8C-67AE-9BFB-8FFD1A82A49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68E464F7-F321-4FF6-BA4D-52676EA631E2}"/>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F1A1C5FC-23F0-D6FE-7FA9-6BDC9DA82232}"/>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B9711B14-F35A-7477-6C0A-9D8E62E9AFD2}"/>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4791A427-76E1-AC3D-AA5F-9C4901016D1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F6DE2FF7-68C5-A1D4-A662-AB5FD00921A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6B9D8CE0-1744-C088-353C-997BF9E9D26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90576003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fade">
                                      <p:cBhvr>
                                        <p:cTn id="15" dur="500"/>
                                        <p:tgtEl>
                                          <p:spTgt spid="80"/>
                                        </p:tgtEl>
                                      </p:cBhvr>
                                    </p:animEffect>
                                  </p:childTnLst>
                                </p:cTn>
                              </p:par>
                              <p:par>
                                <p:cTn id="16" presetID="10" presetClass="entr" presetSubtype="0" fill="hold" nodeType="withEffect">
                                  <p:stCondLst>
                                    <p:cond delay="0"/>
                                  </p:stCondLst>
                                  <p:childTnLst>
                                    <p:set>
                                      <p:cBhvr>
                                        <p:cTn id="17" dur="1" fill="hold">
                                          <p:stCondLst>
                                            <p:cond delay="0"/>
                                          </p:stCondLst>
                                        </p:cTn>
                                        <p:tgtEl>
                                          <p:spTgt spid="81">
                                            <p:txEl>
                                              <p:pRg st="0" end="0"/>
                                            </p:txEl>
                                          </p:spTgt>
                                        </p:tgtEl>
                                        <p:attrNameLst>
                                          <p:attrName>style.visibility</p:attrName>
                                        </p:attrNameLst>
                                      </p:cBhvr>
                                      <p:to>
                                        <p:strVal val="visible"/>
                                      </p:to>
                                    </p:set>
                                    <p:animEffect transition="in" filter="fade">
                                      <p:cBhvr>
                                        <p:cTn id="18" dur="500"/>
                                        <p:tgtEl>
                                          <p:spTgt spid="81">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fade">
                                      <p:cBhvr>
                                        <p:cTn id="21" dur="500"/>
                                        <p:tgtEl>
                                          <p:spTgt spid="72"/>
                                        </p:tgtEl>
                                      </p:cBhvr>
                                    </p:animEffect>
                                  </p:childTnLst>
                                </p:cTn>
                              </p:par>
                              <p:par>
                                <p:cTn id="22" presetID="10" presetClass="entr" presetSubtype="0" fill="hold" nodeType="withEffect">
                                  <p:stCondLst>
                                    <p:cond delay="0"/>
                                  </p:stCondLst>
                                  <p:childTnLst>
                                    <p:set>
                                      <p:cBhvr>
                                        <p:cTn id="23" dur="1" fill="hold">
                                          <p:stCondLst>
                                            <p:cond delay="0"/>
                                          </p:stCondLst>
                                        </p:cTn>
                                        <p:tgtEl>
                                          <p:spTgt spid="71"/>
                                        </p:tgtEl>
                                        <p:attrNameLst>
                                          <p:attrName>style.visibility</p:attrName>
                                        </p:attrNameLst>
                                      </p:cBhvr>
                                      <p:to>
                                        <p:strVal val="visible"/>
                                      </p:to>
                                    </p:set>
                                    <p:animEffect transition="in" filter="fade">
                                      <p:cBhvr>
                                        <p:cTn id="24" dur="500"/>
                                        <p:tgtEl>
                                          <p:spTgt spid="7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animEffect transition="in" filter="fade">
                                      <p:cBhvr>
                                        <p:cTn id="27" dur="500"/>
                                        <p:tgtEl>
                                          <p:spTgt spid="7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5"/>
                                        </p:tgtEl>
                                        <p:attrNameLst>
                                          <p:attrName>style.visibility</p:attrName>
                                        </p:attrNameLst>
                                      </p:cBhvr>
                                      <p:to>
                                        <p:strVal val="visible"/>
                                      </p:to>
                                    </p:set>
                                    <p:animEffect transition="in" filter="fade">
                                      <p:cBhvr>
                                        <p:cTn id="32" dur="500"/>
                                        <p:tgtEl>
                                          <p:spTgt spid="8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6"/>
                                        </p:tgtEl>
                                        <p:attrNameLst>
                                          <p:attrName>style.visibility</p:attrName>
                                        </p:attrNameLst>
                                      </p:cBhvr>
                                      <p:to>
                                        <p:strVal val="visible"/>
                                      </p:to>
                                    </p:set>
                                    <p:animEffect transition="in" filter="fade">
                                      <p:cBhvr>
                                        <p:cTn id="37" dur="500"/>
                                        <p:tgtEl>
                                          <p:spTgt spid="10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2"/>
                                        </p:tgtEl>
                                        <p:attrNameLst>
                                          <p:attrName>style.visibility</p:attrName>
                                        </p:attrNameLst>
                                      </p:cBhvr>
                                      <p:to>
                                        <p:strVal val="visible"/>
                                      </p:to>
                                    </p:set>
                                    <p:animEffect transition="in" filter="fade">
                                      <p:cBhvr>
                                        <p:cTn id="40" dur="500"/>
                                        <p:tgtEl>
                                          <p:spTgt spid="8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7"/>
                                        </p:tgtEl>
                                        <p:attrNameLst>
                                          <p:attrName>style.visibility</p:attrName>
                                        </p:attrNameLst>
                                      </p:cBhvr>
                                      <p:to>
                                        <p:strVal val="visible"/>
                                      </p:to>
                                    </p:set>
                                    <p:animEffect transition="in" filter="fade">
                                      <p:cBhvr>
                                        <p:cTn id="45"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80" grpId="0" animBg="1"/>
      <p:bldP spid="82" grpId="0"/>
      <p:bldP spid="85" grpId="0"/>
      <p:bldP spid="106" grpId="0"/>
      <p:bldP spid="10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A1109-281E-B908-91C8-FF3B6E3CC25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F3CDB0-61B3-FCD8-D9CB-B9FA234B7DBF}"/>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B1DE39F9-7F3E-EF10-0A22-413505819DF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642306C-5DAB-431E-FE43-77ABEBAC9723}"/>
              </a:ext>
            </a:extLst>
          </p:cNvPr>
          <p:cNvSpPr>
            <a:spLocks noGrp="1"/>
          </p:cNvSpPr>
          <p:nvPr>
            <p:ph type="sldNum" sz="quarter" idx="4"/>
          </p:nvPr>
        </p:nvSpPr>
        <p:spPr/>
        <p:txBody>
          <a:bodyPr/>
          <a:lstStyle/>
          <a:p>
            <a:pPr>
              <a:defRPr/>
            </a:pPr>
            <a:fld id="{A9CE67A1-BA7F-A74E-B5D7-615746DEEC2B}" type="slidenum">
              <a:rPr lang="en-US" smtClean="0"/>
              <a:pPr>
                <a:defRPr/>
              </a:pPr>
              <a:t>80</a:t>
            </a:fld>
            <a:endParaRPr lang="en-US" baseline="-11000" dirty="0"/>
          </a:p>
        </p:txBody>
      </p:sp>
      <p:sp>
        <p:nvSpPr>
          <p:cNvPr id="6" name="Date Placeholder 5">
            <a:extLst>
              <a:ext uri="{FF2B5EF4-FFF2-40B4-BE49-F238E27FC236}">
                <a16:creationId xmlns:a16="http://schemas.microsoft.com/office/drawing/2014/main" id="{54B69ABD-A6BC-19C4-6600-E64E740AE12A}"/>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FE14A9C9-AEBE-4161-CC3C-EC903D95038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BD4B4B6E-D6FB-72CE-C4A7-619513F325F8}"/>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4EDC51CB-5922-335B-25F1-F99E47EC794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0173E502-3D35-17BC-F944-741576955F3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411EE02-8C81-0C46-91C6-1BAB6665E8D4}"/>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087DE21-5178-81FD-C441-E370CC0CB3E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A03837E3-828A-518A-3EB6-0ACA7CD9A34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110" name="TextBox 109">
            <a:extLst>
              <a:ext uri="{FF2B5EF4-FFF2-40B4-BE49-F238E27FC236}">
                <a16:creationId xmlns:a16="http://schemas.microsoft.com/office/drawing/2014/main" id="{0E70BCDD-0AD1-1EF3-D8D0-E955532B6B6C}"/>
              </a:ext>
            </a:extLst>
          </p:cNvPr>
          <p:cNvSpPr txBox="1"/>
          <p:nvPr/>
        </p:nvSpPr>
        <p:spPr>
          <a:xfrm>
            <a:off x="143342" y="807187"/>
            <a:ext cx="8391066" cy="805349"/>
          </a:xfrm>
          <a:prstGeom prst="rect">
            <a:avLst/>
          </a:prstGeom>
          <a:noFill/>
        </p:spPr>
        <p:txBody>
          <a:bodyPr wrap="square">
            <a:spAutoFit/>
          </a:bodyPr>
          <a:lstStyle/>
          <a:p>
            <a:pPr defTabSz="457200">
              <a:spcBef>
                <a:spcPts val="1000"/>
              </a:spcBef>
              <a:buClr>
                <a:srgbClr val="1E4056"/>
              </a:buClr>
              <a:buSzPct val="75000"/>
            </a:pPr>
            <a:r>
              <a:rPr lang="en-US" sz="2000" b="1" dirty="0"/>
              <a:t>Bit reversal : </a:t>
            </a:r>
          </a:p>
          <a:p>
            <a:pPr defTabSz="457200">
              <a:spcBef>
                <a:spcPts val="1000"/>
              </a:spcBef>
              <a:buClr>
                <a:srgbClr val="1E4056"/>
              </a:buClr>
              <a:buSzPct val="75000"/>
            </a:pPr>
            <a:r>
              <a:rPr lang="en-US" dirty="0"/>
              <a:t>Recall : </a:t>
            </a:r>
          </a:p>
        </p:txBody>
      </p:sp>
      <p:sp>
        <p:nvSpPr>
          <p:cNvPr id="57" name="Rectangle 56">
            <a:extLst>
              <a:ext uri="{FF2B5EF4-FFF2-40B4-BE49-F238E27FC236}">
                <a16:creationId xmlns:a16="http://schemas.microsoft.com/office/drawing/2014/main" id="{CCA66511-39C5-F455-47E5-0043E7853E6C}"/>
              </a:ext>
            </a:extLst>
          </p:cNvPr>
          <p:cNvSpPr/>
          <p:nvPr/>
        </p:nvSpPr>
        <p:spPr>
          <a:xfrm>
            <a:off x="1656150" y="1749447"/>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58" name="Straight Arrow Connector 57">
            <a:extLst>
              <a:ext uri="{FF2B5EF4-FFF2-40B4-BE49-F238E27FC236}">
                <a16:creationId xmlns:a16="http://schemas.microsoft.com/office/drawing/2014/main" id="{DAE1C7EF-D788-903A-E2D7-307B2B78EC1C}"/>
              </a:ext>
            </a:extLst>
          </p:cNvPr>
          <p:cNvCxnSpPr/>
          <p:nvPr/>
        </p:nvCxnSpPr>
        <p:spPr>
          <a:xfrm>
            <a:off x="741749" y="194117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232D6F8E-43C5-06FD-632D-05859BFEDDD4}"/>
              </a:ext>
            </a:extLst>
          </p:cNvPr>
          <p:cNvSpPr txBox="1"/>
          <p:nvPr/>
        </p:nvSpPr>
        <p:spPr>
          <a:xfrm>
            <a:off x="279633" y="174944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66" name="Straight Arrow Connector 65">
            <a:extLst>
              <a:ext uri="{FF2B5EF4-FFF2-40B4-BE49-F238E27FC236}">
                <a16:creationId xmlns:a16="http://schemas.microsoft.com/office/drawing/2014/main" id="{FD42B1E1-DB2E-96BE-C5AF-8E04BE763B2E}"/>
              </a:ext>
            </a:extLst>
          </p:cNvPr>
          <p:cNvCxnSpPr/>
          <p:nvPr/>
        </p:nvCxnSpPr>
        <p:spPr>
          <a:xfrm>
            <a:off x="741749" y="232463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0183582-785C-729E-9D95-D5BB0AD26912}"/>
              </a:ext>
            </a:extLst>
          </p:cNvPr>
          <p:cNvSpPr txBox="1"/>
          <p:nvPr/>
        </p:nvSpPr>
        <p:spPr>
          <a:xfrm>
            <a:off x="279633" y="213290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74" name="Straight Arrow Connector 73">
            <a:extLst>
              <a:ext uri="{FF2B5EF4-FFF2-40B4-BE49-F238E27FC236}">
                <a16:creationId xmlns:a16="http://schemas.microsoft.com/office/drawing/2014/main" id="{B5B52282-58EA-2966-77BE-7EB334EB77C2}"/>
              </a:ext>
            </a:extLst>
          </p:cNvPr>
          <p:cNvCxnSpPr/>
          <p:nvPr/>
        </p:nvCxnSpPr>
        <p:spPr>
          <a:xfrm>
            <a:off x="741749" y="27080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2D837D90-BD74-C24D-722F-7F5E927DBFCF}"/>
              </a:ext>
            </a:extLst>
          </p:cNvPr>
          <p:cNvSpPr txBox="1"/>
          <p:nvPr/>
        </p:nvSpPr>
        <p:spPr>
          <a:xfrm>
            <a:off x="279633" y="25163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76" name="Straight Arrow Connector 75">
            <a:extLst>
              <a:ext uri="{FF2B5EF4-FFF2-40B4-BE49-F238E27FC236}">
                <a16:creationId xmlns:a16="http://schemas.microsoft.com/office/drawing/2014/main" id="{5A691E8B-3F99-3141-FED7-25708312A34D}"/>
              </a:ext>
            </a:extLst>
          </p:cNvPr>
          <p:cNvCxnSpPr/>
          <p:nvPr/>
        </p:nvCxnSpPr>
        <p:spPr>
          <a:xfrm>
            <a:off x="741749" y="315828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E9C2D35B-0D59-BD6F-8125-6C8F7B4D7F06}"/>
              </a:ext>
            </a:extLst>
          </p:cNvPr>
          <p:cNvSpPr txBox="1"/>
          <p:nvPr/>
        </p:nvSpPr>
        <p:spPr>
          <a:xfrm>
            <a:off x="279633" y="296655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78" name="Straight Arrow Connector 77">
            <a:extLst>
              <a:ext uri="{FF2B5EF4-FFF2-40B4-BE49-F238E27FC236}">
                <a16:creationId xmlns:a16="http://schemas.microsoft.com/office/drawing/2014/main" id="{EE4C4D77-EF46-9088-F6FA-3F659E97D721}"/>
              </a:ext>
            </a:extLst>
          </p:cNvPr>
          <p:cNvCxnSpPr/>
          <p:nvPr/>
        </p:nvCxnSpPr>
        <p:spPr>
          <a:xfrm>
            <a:off x="741749" y="357542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A67188FE-E7C0-A6AF-3D6B-F4AE758ECC9F}"/>
              </a:ext>
            </a:extLst>
          </p:cNvPr>
          <p:cNvSpPr txBox="1"/>
          <p:nvPr/>
        </p:nvSpPr>
        <p:spPr>
          <a:xfrm>
            <a:off x="279633" y="338369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83" name="Straight Arrow Connector 82">
            <a:extLst>
              <a:ext uri="{FF2B5EF4-FFF2-40B4-BE49-F238E27FC236}">
                <a16:creationId xmlns:a16="http://schemas.microsoft.com/office/drawing/2014/main" id="{5E9594D7-EDAA-6AD6-8537-D1B95EAC44AA}"/>
              </a:ext>
            </a:extLst>
          </p:cNvPr>
          <p:cNvCxnSpPr/>
          <p:nvPr/>
        </p:nvCxnSpPr>
        <p:spPr>
          <a:xfrm>
            <a:off x="741749" y="400435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1C70C5A9-41B6-6A77-E069-F2B24D3F61FA}"/>
              </a:ext>
            </a:extLst>
          </p:cNvPr>
          <p:cNvSpPr txBox="1"/>
          <p:nvPr/>
        </p:nvSpPr>
        <p:spPr>
          <a:xfrm>
            <a:off x="279633" y="381262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86" name="Straight Arrow Connector 85">
            <a:extLst>
              <a:ext uri="{FF2B5EF4-FFF2-40B4-BE49-F238E27FC236}">
                <a16:creationId xmlns:a16="http://schemas.microsoft.com/office/drawing/2014/main" id="{870873E6-0613-D8B9-1F77-211D63546522}"/>
              </a:ext>
            </a:extLst>
          </p:cNvPr>
          <p:cNvCxnSpPr/>
          <p:nvPr/>
        </p:nvCxnSpPr>
        <p:spPr>
          <a:xfrm>
            <a:off x="741749" y="44047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7" name="TextBox 86">
            <a:extLst>
              <a:ext uri="{FF2B5EF4-FFF2-40B4-BE49-F238E27FC236}">
                <a16:creationId xmlns:a16="http://schemas.microsoft.com/office/drawing/2014/main" id="{FC9101E5-E71F-7088-4AA2-F17366A2F5DE}"/>
              </a:ext>
            </a:extLst>
          </p:cNvPr>
          <p:cNvSpPr txBox="1"/>
          <p:nvPr/>
        </p:nvSpPr>
        <p:spPr>
          <a:xfrm>
            <a:off x="279633" y="42130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88" name="Straight Arrow Connector 87">
            <a:extLst>
              <a:ext uri="{FF2B5EF4-FFF2-40B4-BE49-F238E27FC236}">
                <a16:creationId xmlns:a16="http://schemas.microsoft.com/office/drawing/2014/main" id="{3F09775D-6FCD-54CC-8913-DF9DF65837B5}"/>
              </a:ext>
            </a:extLst>
          </p:cNvPr>
          <p:cNvCxnSpPr/>
          <p:nvPr/>
        </p:nvCxnSpPr>
        <p:spPr>
          <a:xfrm>
            <a:off x="741749" y="479535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8304E814-DDA8-5A7D-821B-C600EF086924}"/>
              </a:ext>
            </a:extLst>
          </p:cNvPr>
          <p:cNvSpPr txBox="1"/>
          <p:nvPr/>
        </p:nvSpPr>
        <p:spPr>
          <a:xfrm>
            <a:off x="279633" y="460362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90" name="Straight Arrow Connector 89">
            <a:extLst>
              <a:ext uri="{FF2B5EF4-FFF2-40B4-BE49-F238E27FC236}">
                <a16:creationId xmlns:a16="http://schemas.microsoft.com/office/drawing/2014/main" id="{6753986F-CB7A-2CFC-FEFC-85F6AA9ECF00}"/>
              </a:ext>
            </a:extLst>
          </p:cNvPr>
          <p:cNvCxnSpPr/>
          <p:nvPr/>
        </p:nvCxnSpPr>
        <p:spPr>
          <a:xfrm>
            <a:off x="3327634" y="194117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2EB1493F-055B-31BF-909A-DAB289ACE6FE}"/>
              </a:ext>
            </a:extLst>
          </p:cNvPr>
          <p:cNvSpPr txBox="1"/>
          <p:nvPr/>
        </p:nvSpPr>
        <p:spPr>
          <a:xfrm>
            <a:off x="4305943" y="175712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92" name="Straight Arrow Connector 91">
            <a:extLst>
              <a:ext uri="{FF2B5EF4-FFF2-40B4-BE49-F238E27FC236}">
                <a16:creationId xmlns:a16="http://schemas.microsoft.com/office/drawing/2014/main" id="{5820917B-D01E-E754-1FF1-8385027A6A18}"/>
              </a:ext>
            </a:extLst>
          </p:cNvPr>
          <p:cNvCxnSpPr/>
          <p:nvPr/>
        </p:nvCxnSpPr>
        <p:spPr>
          <a:xfrm>
            <a:off x="3327634" y="232463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732839B9-77F2-C2F1-64B4-07F080C33840}"/>
              </a:ext>
            </a:extLst>
          </p:cNvPr>
          <p:cNvSpPr txBox="1"/>
          <p:nvPr/>
        </p:nvSpPr>
        <p:spPr>
          <a:xfrm>
            <a:off x="4305943" y="212578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94" name="Straight Arrow Connector 93">
            <a:extLst>
              <a:ext uri="{FF2B5EF4-FFF2-40B4-BE49-F238E27FC236}">
                <a16:creationId xmlns:a16="http://schemas.microsoft.com/office/drawing/2014/main" id="{E2B113B9-7152-6639-9278-587ABB9D818E}"/>
              </a:ext>
            </a:extLst>
          </p:cNvPr>
          <p:cNvCxnSpPr/>
          <p:nvPr/>
        </p:nvCxnSpPr>
        <p:spPr>
          <a:xfrm>
            <a:off x="3327634" y="27080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5B6F38BF-C572-D8C8-7016-224730540113}"/>
              </a:ext>
            </a:extLst>
          </p:cNvPr>
          <p:cNvSpPr txBox="1"/>
          <p:nvPr/>
        </p:nvSpPr>
        <p:spPr>
          <a:xfrm>
            <a:off x="4305943" y="25092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96" name="Straight Arrow Connector 95">
            <a:extLst>
              <a:ext uri="{FF2B5EF4-FFF2-40B4-BE49-F238E27FC236}">
                <a16:creationId xmlns:a16="http://schemas.microsoft.com/office/drawing/2014/main" id="{47385ED3-E4B3-6613-211E-E57A4CD048B8}"/>
              </a:ext>
            </a:extLst>
          </p:cNvPr>
          <p:cNvCxnSpPr/>
          <p:nvPr/>
        </p:nvCxnSpPr>
        <p:spPr>
          <a:xfrm>
            <a:off x="3327634" y="315828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ABD81E75-DC82-DB4F-0605-F81C0D912148}"/>
              </a:ext>
            </a:extLst>
          </p:cNvPr>
          <p:cNvSpPr txBox="1"/>
          <p:nvPr/>
        </p:nvSpPr>
        <p:spPr>
          <a:xfrm>
            <a:off x="4305943" y="295942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98" name="Straight Arrow Connector 97">
            <a:extLst>
              <a:ext uri="{FF2B5EF4-FFF2-40B4-BE49-F238E27FC236}">
                <a16:creationId xmlns:a16="http://schemas.microsoft.com/office/drawing/2014/main" id="{B2413B1D-7AEB-61DF-64BA-E32E4C5D3B66}"/>
              </a:ext>
            </a:extLst>
          </p:cNvPr>
          <p:cNvCxnSpPr/>
          <p:nvPr/>
        </p:nvCxnSpPr>
        <p:spPr>
          <a:xfrm>
            <a:off x="3327634" y="357542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9" name="TextBox 98">
            <a:extLst>
              <a:ext uri="{FF2B5EF4-FFF2-40B4-BE49-F238E27FC236}">
                <a16:creationId xmlns:a16="http://schemas.microsoft.com/office/drawing/2014/main" id="{2E6C7A05-6A0F-2AEC-A703-4DAC80699014}"/>
              </a:ext>
            </a:extLst>
          </p:cNvPr>
          <p:cNvSpPr txBox="1"/>
          <p:nvPr/>
        </p:nvSpPr>
        <p:spPr>
          <a:xfrm>
            <a:off x="4305943" y="337657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100" name="Straight Arrow Connector 99">
            <a:extLst>
              <a:ext uri="{FF2B5EF4-FFF2-40B4-BE49-F238E27FC236}">
                <a16:creationId xmlns:a16="http://schemas.microsoft.com/office/drawing/2014/main" id="{389CA386-123A-DDFC-8DE8-46B65D245942}"/>
              </a:ext>
            </a:extLst>
          </p:cNvPr>
          <p:cNvCxnSpPr/>
          <p:nvPr/>
        </p:nvCxnSpPr>
        <p:spPr>
          <a:xfrm>
            <a:off x="3327634" y="400435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215202BD-AD5E-69EE-016A-A87CA5D7FF2C}"/>
              </a:ext>
            </a:extLst>
          </p:cNvPr>
          <p:cNvSpPr txBox="1"/>
          <p:nvPr/>
        </p:nvSpPr>
        <p:spPr>
          <a:xfrm>
            <a:off x="4305943" y="380550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102" name="Straight Arrow Connector 101">
            <a:extLst>
              <a:ext uri="{FF2B5EF4-FFF2-40B4-BE49-F238E27FC236}">
                <a16:creationId xmlns:a16="http://schemas.microsoft.com/office/drawing/2014/main" id="{00320CE6-2CC2-A312-FC23-A3FAA9883737}"/>
              </a:ext>
            </a:extLst>
          </p:cNvPr>
          <p:cNvCxnSpPr/>
          <p:nvPr/>
        </p:nvCxnSpPr>
        <p:spPr>
          <a:xfrm>
            <a:off x="3327634" y="44047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3" name="TextBox 102">
            <a:extLst>
              <a:ext uri="{FF2B5EF4-FFF2-40B4-BE49-F238E27FC236}">
                <a16:creationId xmlns:a16="http://schemas.microsoft.com/office/drawing/2014/main" id="{9DAC645D-8FBA-2833-C78B-B4AAC2213A7D}"/>
              </a:ext>
            </a:extLst>
          </p:cNvPr>
          <p:cNvSpPr txBox="1"/>
          <p:nvPr/>
        </p:nvSpPr>
        <p:spPr>
          <a:xfrm>
            <a:off x="4305943" y="42059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104" name="Straight Arrow Connector 103">
            <a:extLst>
              <a:ext uri="{FF2B5EF4-FFF2-40B4-BE49-F238E27FC236}">
                <a16:creationId xmlns:a16="http://schemas.microsoft.com/office/drawing/2014/main" id="{4FCF3475-EA98-6DFB-6B62-8EF81F6DB38F}"/>
              </a:ext>
            </a:extLst>
          </p:cNvPr>
          <p:cNvCxnSpPr/>
          <p:nvPr/>
        </p:nvCxnSpPr>
        <p:spPr>
          <a:xfrm>
            <a:off x="3327634" y="479535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5" name="TextBox 104">
            <a:extLst>
              <a:ext uri="{FF2B5EF4-FFF2-40B4-BE49-F238E27FC236}">
                <a16:creationId xmlns:a16="http://schemas.microsoft.com/office/drawing/2014/main" id="{AD5F22BC-0852-4FF7-170E-CB1A8F184E42}"/>
              </a:ext>
            </a:extLst>
          </p:cNvPr>
          <p:cNvSpPr txBox="1"/>
          <p:nvPr/>
        </p:nvSpPr>
        <p:spPr>
          <a:xfrm>
            <a:off x="4305943" y="459649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108" name="TextBox 107">
            <a:extLst>
              <a:ext uri="{FF2B5EF4-FFF2-40B4-BE49-F238E27FC236}">
                <a16:creationId xmlns:a16="http://schemas.microsoft.com/office/drawing/2014/main" id="{3818F22A-0707-642E-6F54-D50CF238E48D}"/>
              </a:ext>
            </a:extLst>
          </p:cNvPr>
          <p:cNvSpPr txBox="1"/>
          <p:nvPr/>
        </p:nvSpPr>
        <p:spPr>
          <a:xfrm>
            <a:off x="1656150" y="5220145"/>
            <a:ext cx="2175070" cy="369332"/>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111" name="Straight Arrow Connector 110">
            <a:extLst>
              <a:ext uri="{FF2B5EF4-FFF2-40B4-BE49-F238E27FC236}">
                <a16:creationId xmlns:a16="http://schemas.microsoft.com/office/drawing/2014/main" id="{DAA3682F-45FA-F5D7-D479-3FB5078D0538}"/>
              </a:ext>
            </a:extLst>
          </p:cNvPr>
          <p:cNvCxnSpPr/>
          <p:nvPr/>
        </p:nvCxnSpPr>
        <p:spPr>
          <a:xfrm>
            <a:off x="5588309" y="3383697"/>
            <a:ext cx="671331"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2" name="Rectangle 111">
            <a:extLst>
              <a:ext uri="{FF2B5EF4-FFF2-40B4-BE49-F238E27FC236}">
                <a16:creationId xmlns:a16="http://schemas.microsoft.com/office/drawing/2014/main" id="{7BC6E02D-AE8C-7983-CF52-8860DC58E166}"/>
              </a:ext>
            </a:extLst>
          </p:cNvPr>
          <p:cNvSpPr/>
          <p:nvPr/>
        </p:nvSpPr>
        <p:spPr>
          <a:xfrm>
            <a:off x="7803604" y="1752337"/>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113" name="Straight Arrow Connector 112">
            <a:extLst>
              <a:ext uri="{FF2B5EF4-FFF2-40B4-BE49-F238E27FC236}">
                <a16:creationId xmlns:a16="http://schemas.microsoft.com/office/drawing/2014/main" id="{BBF87C3A-B620-BB0D-5756-339C842C60C4}"/>
              </a:ext>
            </a:extLst>
          </p:cNvPr>
          <p:cNvCxnSpPr/>
          <p:nvPr/>
        </p:nvCxnSpPr>
        <p:spPr>
          <a:xfrm>
            <a:off x="6889203" y="19440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4" name="TextBox 113">
            <a:extLst>
              <a:ext uri="{FF2B5EF4-FFF2-40B4-BE49-F238E27FC236}">
                <a16:creationId xmlns:a16="http://schemas.microsoft.com/office/drawing/2014/main" id="{C4DD1554-6696-57CB-1944-C8DF3BB868EC}"/>
              </a:ext>
            </a:extLst>
          </p:cNvPr>
          <p:cNvSpPr txBox="1"/>
          <p:nvPr/>
        </p:nvSpPr>
        <p:spPr>
          <a:xfrm>
            <a:off x="6427087" y="175233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5" name="Straight Arrow Connector 114">
            <a:extLst>
              <a:ext uri="{FF2B5EF4-FFF2-40B4-BE49-F238E27FC236}">
                <a16:creationId xmlns:a16="http://schemas.microsoft.com/office/drawing/2014/main" id="{75C3BCA0-5CEB-6EAA-3671-0961B3305BF0}"/>
              </a:ext>
            </a:extLst>
          </p:cNvPr>
          <p:cNvCxnSpPr/>
          <p:nvPr/>
        </p:nvCxnSpPr>
        <p:spPr>
          <a:xfrm>
            <a:off x="6889203" y="23275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6" name="TextBox 115">
            <a:extLst>
              <a:ext uri="{FF2B5EF4-FFF2-40B4-BE49-F238E27FC236}">
                <a16:creationId xmlns:a16="http://schemas.microsoft.com/office/drawing/2014/main" id="{9F61D1BB-E122-B109-A457-F981A42CC755}"/>
              </a:ext>
            </a:extLst>
          </p:cNvPr>
          <p:cNvSpPr txBox="1"/>
          <p:nvPr/>
        </p:nvSpPr>
        <p:spPr>
          <a:xfrm>
            <a:off x="6427087" y="213579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7" name="Straight Arrow Connector 116">
            <a:extLst>
              <a:ext uri="{FF2B5EF4-FFF2-40B4-BE49-F238E27FC236}">
                <a16:creationId xmlns:a16="http://schemas.microsoft.com/office/drawing/2014/main" id="{D8B2BEFA-9014-CDD9-F675-BCCEE6C61D2E}"/>
              </a:ext>
            </a:extLst>
          </p:cNvPr>
          <p:cNvCxnSpPr/>
          <p:nvPr/>
        </p:nvCxnSpPr>
        <p:spPr>
          <a:xfrm>
            <a:off x="6889203" y="27109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DB135C5E-A085-E0AF-6D5A-CCEB46DDB302}"/>
              </a:ext>
            </a:extLst>
          </p:cNvPr>
          <p:cNvSpPr txBox="1"/>
          <p:nvPr/>
        </p:nvSpPr>
        <p:spPr>
          <a:xfrm>
            <a:off x="6427087" y="251925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9" name="Straight Arrow Connector 118">
            <a:extLst>
              <a:ext uri="{FF2B5EF4-FFF2-40B4-BE49-F238E27FC236}">
                <a16:creationId xmlns:a16="http://schemas.microsoft.com/office/drawing/2014/main" id="{A7ECA4AC-3E61-05C0-4FED-DFC7B563637D}"/>
              </a:ext>
            </a:extLst>
          </p:cNvPr>
          <p:cNvCxnSpPr/>
          <p:nvPr/>
        </p:nvCxnSpPr>
        <p:spPr>
          <a:xfrm>
            <a:off x="6889203" y="31611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0" name="TextBox 119">
            <a:extLst>
              <a:ext uri="{FF2B5EF4-FFF2-40B4-BE49-F238E27FC236}">
                <a16:creationId xmlns:a16="http://schemas.microsoft.com/office/drawing/2014/main" id="{2D9C21D9-85F4-5918-1D75-CDC182C109DB}"/>
              </a:ext>
            </a:extLst>
          </p:cNvPr>
          <p:cNvSpPr txBox="1"/>
          <p:nvPr/>
        </p:nvSpPr>
        <p:spPr>
          <a:xfrm>
            <a:off x="6427087" y="29694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21" name="Straight Arrow Connector 120">
            <a:extLst>
              <a:ext uri="{FF2B5EF4-FFF2-40B4-BE49-F238E27FC236}">
                <a16:creationId xmlns:a16="http://schemas.microsoft.com/office/drawing/2014/main" id="{2E1DF526-68BB-C1AE-E514-ADE046322F45}"/>
              </a:ext>
            </a:extLst>
          </p:cNvPr>
          <p:cNvCxnSpPr/>
          <p:nvPr/>
        </p:nvCxnSpPr>
        <p:spPr>
          <a:xfrm>
            <a:off x="6889203" y="35783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2" name="TextBox 121">
            <a:extLst>
              <a:ext uri="{FF2B5EF4-FFF2-40B4-BE49-F238E27FC236}">
                <a16:creationId xmlns:a16="http://schemas.microsoft.com/office/drawing/2014/main" id="{EF2E47ED-C6D1-F7AE-CE38-F87F484ED902}"/>
              </a:ext>
            </a:extLst>
          </p:cNvPr>
          <p:cNvSpPr txBox="1"/>
          <p:nvPr/>
        </p:nvSpPr>
        <p:spPr>
          <a:xfrm>
            <a:off x="6427087" y="33865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23" name="Straight Arrow Connector 122">
            <a:extLst>
              <a:ext uri="{FF2B5EF4-FFF2-40B4-BE49-F238E27FC236}">
                <a16:creationId xmlns:a16="http://schemas.microsoft.com/office/drawing/2014/main" id="{2B25030C-63C3-5A04-5256-06EEF302DFE8}"/>
              </a:ext>
            </a:extLst>
          </p:cNvPr>
          <p:cNvCxnSpPr/>
          <p:nvPr/>
        </p:nvCxnSpPr>
        <p:spPr>
          <a:xfrm>
            <a:off x="6889203" y="40072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4" name="TextBox 123">
            <a:extLst>
              <a:ext uri="{FF2B5EF4-FFF2-40B4-BE49-F238E27FC236}">
                <a16:creationId xmlns:a16="http://schemas.microsoft.com/office/drawing/2014/main" id="{88EB283E-81BA-93D3-1491-F802B3606C9A}"/>
              </a:ext>
            </a:extLst>
          </p:cNvPr>
          <p:cNvSpPr txBox="1"/>
          <p:nvPr/>
        </p:nvSpPr>
        <p:spPr>
          <a:xfrm>
            <a:off x="6427087" y="381551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25" name="Straight Arrow Connector 124">
            <a:extLst>
              <a:ext uri="{FF2B5EF4-FFF2-40B4-BE49-F238E27FC236}">
                <a16:creationId xmlns:a16="http://schemas.microsoft.com/office/drawing/2014/main" id="{A8863FFF-2613-18C0-BDBE-ED63471FEDC3}"/>
              </a:ext>
            </a:extLst>
          </p:cNvPr>
          <p:cNvCxnSpPr/>
          <p:nvPr/>
        </p:nvCxnSpPr>
        <p:spPr>
          <a:xfrm>
            <a:off x="6889203" y="44076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6" name="TextBox 125">
            <a:extLst>
              <a:ext uri="{FF2B5EF4-FFF2-40B4-BE49-F238E27FC236}">
                <a16:creationId xmlns:a16="http://schemas.microsoft.com/office/drawing/2014/main" id="{7F44668E-1A15-0757-2C46-C3CC92B6FB73}"/>
              </a:ext>
            </a:extLst>
          </p:cNvPr>
          <p:cNvSpPr txBox="1"/>
          <p:nvPr/>
        </p:nvSpPr>
        <p:spPr>
          <a:xfrm>
            <a:off x="6427087" y="421593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7" name="Straight Arrow Connector 126">
            <a:extLst>
              <a:ext uri="{FF2B5EF4-FFF2-40B4-BE49-F238E27FC236}">
                <a16:creationId xmlns:a16="http://schemas.microsoft.com/office/drawing/2014/main" id="{FCD94807-18BC-F54C-31A8-B78FD0DBC8C8}"/>
              </a:ext>
            </a:extLst>
          </p:cNvPr>
          <p:cNvCxnSpPr/>
          <p:nvPr/>
        </p:nvCxnSpPr>
        <p:spPr>
          <a:xfrm>
            <a:off x="6889203" y="47982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8" name="TextBox 127">
            <a:extLst>
              <a:ext uri="{FF2B5EF4-FFF2-40B4-BE49-F238E27FC236}">
                <a16:creationId xmlns:a16="http://schemas.microsoft.com/office/drawing/2014/main" id="{92BFEACA-4A57-5B4A-46B8-7F9928E00E08}"/>
              </a:ext>
            </a:extLst>
          </p:cNvPr>
          <p:cNvSpPr txBox="1"/>
          <p:nvPr/>
        </p:nvSpPr>
        <p:spPr>
          <a:xfrm>
            <a:off x="6427087" y="460651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129" name="Straight Arrow Connector 128">
            <a:extLst>
              <a:ext uri="{FF2B5EF4-FFF2-40B4-BE49-F238E27FC236}">
                <a16:creationId xmlns:a16="http://schemas.microsoft.com/office/drawing/2014/main" id="{E0F6F0D2-525C-B8D7-A7F3-B123054F9EBA}"/>
              </a:ext>
            </a:extLst>
          </p:cNvPr>
          <p:cNvCxnSpPr/>
          <p:nvPr/>
        </p:nvCxnSpPr>
        <p:spPr>
          <a:xfrm>
            <a:off x="9475088" y="19440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0" name="TextBox 129">
            <a:extLst>
              <a:ext uri="{FF2B5EF4-FFF2-40B4-BE49-F238E27FC236}">
                <a16:creationId xmlns:a16="http://schemas.microsoft.com/office/drawing/2014/main" id="{59260632-1EA2-542F-7659-62F9F6230A85}"/>
              </a:ext>
            </a:extLst>
          </p:cNvPr>
          <p:cNvSpPr txBox="1"/>
          <p:nvPr/>
        </p:nvSpPr>
        <p:spPr>
          <a:xfrm>
            <a:off x="10453397" y="17600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131" name="Straight Arrow Connector 130">
            <a:extLst>
              <a:ext uri="{FF2B5EF4-FFF2-40B4-BE49-F238E27FC236}">
                <a16:creationId xmlns:a16="http://schemas.microsoft.com/office/drawing/2014/main" id="{5B053273-9E10-088D-D2BB-0DF6D7818259}"/>
              </a:ext>
            </a:extLst>
          </p:cNvPr>
          <p:cNvCxnSpPr/>
          <p:nvPr/>
        </p:nvCxnSpPr>
        <p:spPr>
          <a:xfrm>
            <a:off x="9475088" y="23275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2" name="TextBox 131">
            <a:extLst>
              <a:ext uri="{FF2B5EF4-FFF2-40B4-BE49-F238E27FC236}">
                <a16:creationId xmlns:a16="http://schemas.microsoft.com/office/drawing/2014/main" id="{63E883C3-6284-C9C3-AFD1-22315B6C085E}"/>
              </a:ext>
            </a:extLst>
          </p:cNvPr>
          <p:cNvSpPr txBox="1"/>
          <p:nvPr/>
        </p:nvSpPr>
        <p:spPr>
          <a:xfrm>
            <a:off x="10453397" y="21286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133" name="Straight Arrow Connector 132">
            <a:extLst>
              <a:ext uri="{FF2B5EF4-FFF2-40B4-BE49-F238E27FC236}">
                <a16:creationId xmlns:a16="http://schemas.microsoft.com/office/drawing/2014/main" id="{767D76E6-A5A2-451E-F4BB-0354D0DE130F}"/>
              </a:ext>
            </a:extLst>
          </p:cNvPr>
          <p:cNvCxnSpPr/>
          <p:nvPr/>
        </p:nvCxnSpPr>
        <p:spPr>
          <a:xfrm>
            <a:off x="9475088" y="27109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4" name="TextBox 133">
            <a:extLst>
              <a:ext uri="{FF2B5EF4-FFF2-40B4-BE49-F238E27FC236}">
                <a16:creationId xmlns:a16="http://schemas.microsoft.com/office/drawing/2014/main" id="{362229E2-8E63-A939-7E4C-F5EC0D31D46F}"/>
              </a:ext>
            </a:extLst>
          </p:cNvPr>
          <p:cNvSpPr txBox="1"/>
          <p:nvPr/>
        </p:nvSpPr>
        <p:spPr>
          <a:xfrm>
            <a:off x="10453397" y="25121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135" name="Straight Arrow Connector 134">
            <a:extLst>
              <a:ext uri="{FF2B5EF4-FFF2-40B4-BE49-F238E27FC236}">
                <a16:creationId xmlns:a16="http://schemas.microsoft.com/office/drawing/2014/main" id="{C33A2763-8FA8-6F3E-E592-EBD7FE32C7DD}"/>
              </a:ext>
            </a:extLst>
          </p:cNvPr>
          <p:cNvCxnSpPr/>
          <p:nvPr/>
        </p:nvCxnSpPr>
        <p:spPr>
          <a:xfrm>
            <a:off x="9475088" y="31611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6" name="TextBox 135">
            <a:extLst>
              <a:ext uri="{FF2B5EF4-FFF2-40B4-BE49-F238E27FC236}">
                <a16:creationId xmlns:a16="http://schemas.microsoft.com/office/drawing/2014/main" id="{5388B5F5-A256-7DE1-D8C7-A480C18F367F}"/>
              </a:ext>
            </a:extLst>
          </p:cNvPr>
          <p:cNvSpPr txBox="1"/>
          <p:nvPr/>
        </p:nvSpPr>
        <p:spPr>
          <a:xfrm>
            <a:off x="10453397" y="29623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137" name="Straight Arrow Connector 136">
            <a:extLst>
              <a:ext uri="{FF2B5EF4-FFF2-40B4-BE49-F238E27FC236}">
                <a16:creationId xmlns:a16="http://schemas.microsoft.com/office/drawing/2014/main" id="{A7DBBB8A-935A-6C28-D262-504D5BA3338E}"/>
              </a:ext>
            </a:extLst>
          </p:cNvPr>
          <p:cNvCxnSpPr/>
          <p:nvPr/>
        </p:nvCxnSpPr>
        <p:spPr>
          <a:xfrm>
            <a:off x="9475088" y="35783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8" name="TextBox 137">
            <a:extLst>
              <a:ext uri="{FF2B5EF4-FFF2-40B4-BE49-F238E27FC236}">
                <a16:creationId xmlns:a16="http://schemas.microsoft.com/office/drawing/2014/main" id="{BE37CB17-CFA7-7F59-CEE1-50B55DE615D0}"/>
              </a:ext>
            </a:extLst>
          </p:cNvPr>
          <p:cNvSpPr txBox="1"/>
          <p:nvPr/>
        </p:nvSpPr>
        <p:spPr>
          <a:xfrm>
            <a:off x="10453397" y="33794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139" name="Straight Arrow Connector 138">
            <a:extLst>
              <a:ext uri="{FF2B5EF4-FFF2-40B4-BE49-F238E27FC236}">
                <a16:creationId xmlns:a16="http://schemas.microsoft.com/office/drawing/2014/main" id="{9AA3D5B4-3B42-4C7D-8E32-BC0F70695B05}"/>
              </a:ext>
            </a:extLst>
          </p:cNvPr>
          <p:cNvCxnSpPr/>
          <p:nvPr/>
        </p:nvCxnSpPr>
        <p:spPr>
          <a:xfrm>
            <a:off x="9475088" y="40072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7FFE563A-D285-8AFD-9C33-8A742934F09F}"/>
              </a:ext>
            </a:extLst>
          </p:cNvPr>
          <p:cNvSpPr txBox="1"/>
          <p:nvPr/>
        </p:nvSpPr>
        <p:spPr>
          <a:xfrm>
            <a:off x="10453397" y="38083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141" name="Straight Arrow Connector 140">
            <a:extLst>
              <a:ext uri="{FF2B5EF4-FFF2-40B4-BE49-F238E27FC236}">
                <a16:creationId xmlns:a16="http://schemas.microsoft.com/office/drawing/2014/main" id="{D6AFC094-5D17-F3A8-4631-1B5982A61201}"/>
              </a:ext>
            </a:extLst>
          </p:cNvPr>
          <p:cNvCxnSpPr/>
          <p:nvPr/>
        </p:nvCxnSpPr>
        <p:spPr>
          <a:xfrm>
            <a:off x="9475088" y="44076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2" name="TextBox 141">
            <a:extLst>
              <a:ext uri="{FF2B5EF4-FFF2-40B4-BE49-F238E27FC236}">
                <a16:creationId xmlns:a16="http://schemas.microsoft.com/office/drawing/2014/main" id="{EC7E3E5F-39F5-4727-3887-30BCC29761FB}"/>
              </a:ext>
            </a:extLst>
          </p:cNvPr>
          <p:cNvSpPr txBox="1"/>
          <p:nvPr/>
        </p:nvSpPr>
        <p:spPr>
          <a:xfrm>
            <a:off x="10453397" y="42088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143" name="Straight Arrow Connector 142">
            <a:extLst>
              <a:ext uri="{FF2B5EF4-FFF2-40B4-BE49-F238E27FC236}">
                <a16:creationId xmlns:a16="http://schemas.microsoft.com/office/drawing/2014/main" id="{ACD8B581-49F3-7083-2BC0-97A74363F090}"/>
              </a:ext>
            </a:extLst>
          </p:cNvPr>
          <p:cNvCxnSpPr/>
          <p:nvPr/>
        </p:nvCxnSpPr>
        <p:spPr>
          <a:xfrm>
            <a:off x="9475088" y="47982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4" name="TextBox 143">
            <a:extLst>
              <a:ext uri="{FF2B5EF4-FFF2-40B4-BE49-F238E27FC236}">
                <a16:creationId xmlns:a16="http://schemas.microsoft.com/office/drawing/2014/main" id="{AF3FB1F5-B8C9-C7FC-AC94-D44D1ADB9A4A}"/>
              </a:ext>
            </a:extLst>
          </p:cNvPr>
          <p:cNvSpPr txBox="1"/>
          <p:nvPr/>
        </p:nvSpPr>
        <p:spPr>
          <a:xfrm>
            <a:off x="10453397" y="45993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145" name="TextBox 144">
            <a:extLst>
              <a:ext uri="{FF2B5EF4-FFF2-40B4-BE49-F238E27FC236}">
                <a16:creationId xmlns:a16="http://schemas.microsoft.com/office/drawing/2014/main" id="{EA048261-93B2-9465-0A48-78F79275542C}"/>
              </a:ext>
            </a:extLst>
          </p:cNvPr>
          <p:cNvSpPr txBox="1"/>
          <p:nvPr/>
        </p:nvSpPr>
        <p:spPr>
          <a:xfrm>
            <a:off x="7803604" y="5220145"/>
            <a:ext cx="2175070" cy="369332"/>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146" name="Rectangle 145">
            <a:extLst>
              <a:ext uri="{FF2B5EF4-FFF2-40B4-BE49-F238E27FC236}">
                <a16:creationId xmlns:a16="http://schemas.microsoft.com/office/drawing/2014/main" id="{A29FFFEB-824F-2B3F-6565-42E7EFF36C4A}"/>
              </a:ext>
            </a:extLst>
          </p:cNvPr>
          <p:cNvSpPr/>
          <p:nvPr/>
        </p:nvSpPr>
        <p:spPr>
          <a:xfrm>
            <a:off x="3485475" y="1581758"/>
            <a:ext cx="1966201" cy="356378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D4669D34-F93E-7215-2526-1C2B7412022F}"/>
              </a:ext>
            </a:extLst>
          </p:cNvPr>
          <p:cNvSpPr/>
          <p:nvPr/>
        </p:nvSpPr>
        <p:spPr>
          <a:xfrm>
            <a:off x="9646799" y="1568118"/>
            <a:ext cx="1966201" cy="356378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0948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par>
                                <p:cTn id="8" presetID="10" presetClass="entr" presetSubtype="0"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nodeType="with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fade">
                                      <p:cBhvr>
                                        <p:cTn id="16" dur="500"/>
                                        <p:tgtEl>
                                          <p:spTgt spid="6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fade">
                                      <p:cBhvr>
                                        <p:cTn id="19" dur="500"/>
                                        <p:tgtEl>
                                          <p:spTgt spid="73"/>
                                        </p:tgtEl>
                                      </p:cBhvr>
                                    </p:animEffect>
                                  </p:childTnLst>
                                </p:cTn>
                              </p:par>
                              <p:par>
                                <p:cTn id="20" presetID="10" presetClass="entr" presetSubtype="0" fill="hold" nodeType="with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fade">
                                      <p:cBhvr>
                                        <p:cTn id="22" dur="500"/>
                                        <p:tgtEl>
                                          <p:spTgt spid="7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500"/>
                                        <p:tgtEl>
                                          <p:spTgt spid="75"/>
                                        </p:tgtEl>
                                      </p:cBhvr>
                                    </p:animEffect>
                                  </p:childTnLst>
                                </p:cTn>
                              </p:par>
                              <p:par>
                                <p:cTn id="26" presetID="10" presetClass="entr" presetSubtype="0" fill="hold" nodeType="withEffect">
                                  <p:stCondLst>
                                    <p:cond delay="0"/>
                                  </p:stCondLst>
                                  <p:childTnLst>
                                    <p:set>
                                      <p:cBhvr>
                                        <p:cTn id="27" dur="1" fill="hold">
                                          <p:stCondLst>
                                            <p:cond delay="0"/>
                                          </p:stCondLst>
                                        </p:cTn>
                                        <p:tgtEl>
                                          <p:spTgt spid="76"/>
                                        </p:tgtEl>
                                        <p:attrNameLst>
                                          <p:attrName>style.visibility</p:attrName>
                                        </p:attrNameLst>
                                      </p:cBhvr>
                                      <p:to>
                                        <p:strVal val="visible"/>
                                      </p:to>
                                    </p:set>
                                    <p:animEffect transition="in" filter="fade">
                                      <p:cBhvr>
                                        <p:cTn id="28" dur="500"/>
                                        <p:tgtEl>
                                          <p:spTgt spid="7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animEffect transition="in" filter="fade">
                                      <p:cBhvr>
                                        <p:cTn id="31" dur="500"/>
                                        <p:tgtEl>
                                          <p:spTgt spid="77"/>
                                        </p:tgtEl>
                                      </p:cBhvr>
                                    </p:animEffect>
                                  </p:childTnLst>
                                </p:cTn>
                              </p:par>
                              <p:par>
                                <p:cTn id="32" presetID="10" presetClass="entr" presetSubtype="0" fill="hold" nodeType="withEffect">
                                  <p:stCondLst>
                                    <p:cond delay="0"/>
                                  </p:stCondLst>
                                  <p:childTnLst>
                                    <p:set>
                                      <p:cBhvr>
                                        <p:cTn id="33" dur="1" fill="hold">
                                          <p:stCondLst>
                                            <p:cond delay="0"/>
                                          </p:stCondLst>
                                        </p:cTn>
                                        <p:tgtEl>
                                          <p:spTgt spid="78"/>
                                        </p:tgtEl>
                                        <p:attrNameLst>
                                          <p:attrName>style.visibility</p:attrName>
                                        </p:attrNameLst>
                                      </p:cBhvr>
                                      <p:to>
                                        <p:strVal val="visible"/>
                                      </p:to>
                                    </p:set>
                                    <p:animEffect transition="in" filter="fade">
                                      <p:cBhvr>
                                        <p:cTn id="34" dur="500"/>
                                        <p:tgtEl>
                                          <p:spTgt spid="7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9"/>
                                        </p:tgtEl>
                                        <p:attrNameLst>
                                          <p:attrName>style.visibility</p:attrName>
                                        </p:attrNameLst>
                                      </p:cBhvr>
                                      <p:to>
                                        <p:strVal val="visible"/>
                                      </p:to>
                                    </p:set>
                                    <p:animEffect transition="in" filter="fade">
                                      <p:cBhvr>
                                        <p:cTn id="37" dur="500"/>
                                        <p:tgtEl>
                                          <p:spTgt spid="79"/>
                                        </p:tgtEl>
                                      </p:cBhvr>
                                    </p:animEffect>
                                  </p:childTnLst>
                                </p:cTn>
                              </p:par>
                              <p:par>
                                <p:cTn id="38" presetID="10" presetClass="entr" presetSubtype="0" fill="hold" nodeType="withEffect">
                                  <p:stCondLst>
                                    <p:cond delay="0"/>
                                  </p:stCondLst>
                                  <p:childTnLst>
                                    <p:set>
                                      <p:cBhvr>
                                        <p:cTn id="39" dur="1" fill="hold">
                                          <p:stCondLst>
                                            <p:cond delay="0"/>
                                          </p:stCondLst>
                                        </p:cTn>
                                        <p:tgtEl>
                                          <p:spTgt spid="83"/>
                                        </p:tgtEl>
                                        <p:attrNameLst>
                                          <p:attrName>style.visibility</p:attrName>
                                        </p:attrNameLst>
                                      </p:cBhvr>
                                      <p:to>
                                        <p:strVal val="visible"/>
                                      </p:to>
                                    </p:set>
                                    <p:animEffect transition="in" filter="fade">
                                      <p:cBhvr>
                                        <p:cTn id="40" dur="500"/>
                                        <p:tgtEl>
                                          <p:spTgt spid="8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4"/>
                                        </p:tgtEl>
                                        <p:attrNameLst>
                                          <p:attrName>style.visibility</p:attrName>
                                        </p:attrNameLst>
                                      </p:cBhvr>
                                      <p:to>
                                        <p:strVal val="visible"/>
                                      </p:to>
                                    </p:set>
                                    <p:animEffect transition="in" filter="fade">
                                      <p:cBhvr>
                                        <p:cTn id="43" dur="500"/>
                                        <p:tgtEl>
                                          <p:spTgt spid="84"/>
                                        </p:tgtEl>
                                      </p:cBhvr>
                                    </p:animEffect>
                                  </p:childTnLst>
                                </p:cTn>
                              </p:par>
                              <p:par>
                                <p:cTn id="44" presetID="10" presetClass="entr" presetSubtype="0" fill="hold" nodeType="withEffect">
                                  <p:stCondLst>
                                    <p:cond delay="0"/>
                                  </p:stCondLst>
                                  <p:childTnLst>
                                    <p:set>
                                      <p:cBhvr>
                                        <p:cTn id="45" dur="1" fill="hold">
                                          <p:stCondLst>
                                            <p:cond delay="0"/>
                                          </p:stCondLst>
                                        </p:cTn>
                                        <p:tgtEl>
                                          <p:spTgt spid="86"/>
                                        </p:tgtEl>
                                        <p:attrNameLst>
                                          <p:attrName>style.visibility</p:attrName>
                                        </p:attrNameLst>
                                      </p:cBhvr>
                                      <p:to>
                                        <p:strVal val="visible"/>
                                      </p:to>
                                    </p:set>
                                    <p:animEffect transition="in" filter="fade">
                                      <p:cBhvr>
                                        <p:cTn id="46" dur="500"/>
                                        <p:tgtEl>
                                          <p:spTgt spid="8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7"/>
                                        </p:tgtEl>
                                        <p:attrNameLst>
                                          <p:attrName>style.visibility</p:attrName>
                                        </p:attrNameLst>
                                      </p:cBhvr>
                                      <p:to>
                                        <p:strVal val="visible"/>
                                      </p:to>
                                    </p:set>
                                    <p:animEffect transition="in" filter="fade">
                                      <p:cBhvr>
                                        <p:cTn id="49" dur="500"/>
                                        <p:tgtEl>
                                          <p:spTgt spid="87"/>
                                        </p:tgtEl>
                                      </p:cBhvr>
                                    </p:animEffect>
                                  </p:childTnLst>
                                </p:cTn>
                              </p:par>
                              <p:par>
                                <p:cTn id="50" presetID="10" presetClass="entr" presetSubtype="0" fill="hold" nodeType="withEffect">
                                  <p:stCondLst>
                                    <p:cond delay="0"/>
                                  </p:stCondLst>
                                  <p:childTnLst>
                                    <p:set>
                                      <p:cBhvr>
                                        <p:cTn id="51" dur="1" fill="hold">
                                          <p:stCondLst>
                                            <p:cond delay="0"/>
                                          </p:stCondLst>
                                        </p:cTn>
                                        <p:tgtEl>
                                          <p:spTgt spid="88"/>
                                        </p:tgtEl>
                                        <p:attrNameLst>
                                          <p:attrName>style.visibility</p:attrName>
                                        </p:attrNameLst>
                                      </p:cBhvr>
                                      <p:to>
                                        <p:strVal val="visible"/>
                                      </p:to>
                                    </p:set>
                                    <p:animEffect transition="in" filter="fade">
                                      <p:cBhvr>
                                        <p:cTn id="52" dur="500"/>
                                        <p:tgtEl>
                                          <p:spTgt spid="8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89"/>
                                        </p:tgtEl>
                                        <p:attrNameLst>
                                          <p:attrName>style.visibility</p:attrName>
                                        </p:attrNameLst>
                                      </p:cBhvr>
                                      <p:to>
                                        <p:strVal val="visible"/>
                                      </p:to>
                                    </p:set>
                                    <p:animEffect transition="in" filter="fade">
                                      <p:cBhvr>
                                        <p:cTn id="55" dur="500"/>
                                        <p:tgtEl>
                                          <p:spTgt spid="89"/>
                                        </p:tgtEl>
                                      </p:cBhvr>
                                    </p:animEffect>
                                  </p:childTnLst>
                                </p:cTn>
                              </p:par>
                              <p:par>
                                <p:cTn id="56" presetID="10" presetClass="entr" presetSubtype="0" fill="hold" nodeType="withEffect">
                                  <p:stCondLst>
                                    <p:cond delay="0"/>
                                  </p:stCondLst>
                                  <p:childTnLst>
                                    <p:set>
                                      <p:cBhvr>
                                        <p:cTn id="57" dur="1" fill="hold">
                                          <p:stCondLst>
                                            <p:cond delay="0"/>
                                          </p:stCondLst>
                                        </p:cTn>
                                        <p:tgtEl>
                                          <p:spTgt spid="90"/>
                                        </p:tgtEl>
                                        <p:attrNameLst>
                                          <p:attrName>style.visibility</p:attrName>
                                        </p:attrNameLst>
                                      </p:cBhvr>
                                      <p:to>
                                        <p:strVal val="visible"/>
                                      </p:to>
                                    </p:set>
                                    <p:animEffect transition="in" filter="fade">
                                      <p:cBhvr>
                                        <p:cTn id="58" dur="500"/>
                                        <p:tgtEl>
                                          <p:spTgt spid="9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91"/>
                                        </p:tgtEl>
                                        <p:attrNameLst>
                                          <p:attrName>style.visibility</p:attrName>
                                        </p:attrNameLst>
                                      </p:cBhvr>
                                      <p:to>
                                        <p:strVal val="visible"/>
                                      </p:to>
                                    </p:set>
                                    <p:animEffect transition="in" filter="fade">
                                      <p:cBhvr>
                                        <p:cTn id="61" dur="500"/>
                                        <p:tgtEl>
                                          <p:spTgt spid="91"/>
                                        </p:tgtEl>
                                      </p:cBhvr>
                                    </p:animEffect>
                                  </p:childTnLst>
                                </p:cTn>
                              </p:par>
                              <p:par>
                                <p:cTn id="62" presetID="10" presetClass="entr" presetSubtype="0" fill="hold" nodeType="withEffect">
                                  <p:stCondLst>
                                    <p:cond delay="0"/>
                                  </p:stCondLst>
                                  <p:childTnLst>
                                    <p:set>
                                      <p:cBhvr>
                                        <p:cTn id="63" dur="1" fill="hold">
                                          <p:stCondLst>
                                            <p:cond delay="0"/>
                                          </p:stCondLst>
                                        </p:cTn>
                                        <p:tgtEl>
                                          <p:spTgt spid="92"/>
                                        </p:tgtEl>
                                        <p:attrNameLst>
                                          <p:attrName>style.visibility</p:attrName>
                                        </p:attrNameLst>
                                      </p:cBhvr>
                                      <p:to>
                                        <p:strVal val="visible"/>
                                      </p:to>
                                    </p:set>
                                    <p:animEffect transition="in" filter="fade">
                                      <p:cBhvr>
                                        <p:cTn id="64" dur="500"/>
                                        <p:tgtEl>
                                          <p:spTgt spid="9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93"/>
                                        </p:tgtEl>
                                        <p:attrNameLst>
                                          <p:attrName>style.visibility</p:attrName>
                                        </p:attrNameLst>
                                      </p:cBhvr>
                                      <p:to>
                                        <p:strVal val="visible"/>
                                      </p:to>
                                    </p:set>
                                    <p:animEffect transition="in" filter="fade">
                                      <p:cBhvr>
                                        <p:cTn id="67" dur="500"/>
                                        <p:tgtEl>
                                          <p:spTgt spid="93"/>
                                        </p:tgtEl>
                                      </p:cBhvr>
                                    </p:animEffect>
                                  </p:childTnLst>
                                </p:cTn>
                              </p:par>
                              <p:par>
                                <p:cTn id="68" presetID="10" presetClass="entr" presetSubtype="0" fill="hold" nodeType="withEffect">
                                  <p:stCondLst>
                                    <p:cond delay="0"/>
                                  </p:stCondLst>
                                  <p:childTnLst>
                                    <p:set>
                                      <p:cBhvr>
                                        <p:cTn id="69" dur="1" fill="hold">
                                          <p:stCondLst>
                                            <p:cond delay="0"/>
                                          </p:stCondLst>
                                        </p:cTn>
                                        <p:tgtEl>
                                          <p:spTgt spid="94"/>
                                        </p:tgtEl>
                                        <p:attrNameLst>
                                          <p:attrName>style.visibility</p:attrName>
                                        </p:attrNameLst>
                                      </p:cBhvr>
                                      <p:to>
                                        <p:strVal val="visible"/>
                                      </p:to>
                                    </p:set>
                                    <p:animEffect transition="in" filter="fade">
                                      <p:cBhvr>
                                        <p:cTn id="70" dur="500"/>
                                        <p:tgtEl>
                                          <p:spTgt spid="9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95"/>
                                        </p:tgtEl>
                                        <p:attrNameLst>
                                          <p:attrName>style.visibility</p:attrName>
                                        </p:attrNameLst>
                                      </p:cBhvr>
                                      <p:to>
                                        <p:strVal val="visible"/>
                                      </p:to>
                                    </p:set>
                                    <p:animEffect transition="in" filter="fade">
                                      <p:cBhvr>
                                        <p:cTn id="73" dur="500"/>
                                        <p:tgtEl>
                                          <p:spTgt spid="95"/>
                                        </p:tgtEl>
                                      </p:cBhvr>
                                    </p:animEffect>
                                  </p:childTnLst>
                                </p:cTn>
                              </p:par>
                              <p:par>
                                <p:cTn id="74" presetID="10" presetClass="entr" presetSubtype="0" fill="hold" nodeType="withEffect">
                                  <p:stCondLst>
                                    <p:cond delay="0"/>
                                  </p:stCondLst>
                                  <p:childTnLst>
                                    <p:set>
                                      <p:cBhvr>
                                        <p:cTn id="75" dur="1" fill="hold">
                                          <p:stCondLst>
                                            <p:cond delay="0"/>
                                          </p:stCondLst>
                                        </p:cTn>
                                        <p:tgtEl>
                                          <p:spTgt spid="96"/>
                                        </p:tgtEl>
                                        <p:attrNameLst>
                                          <p:attrName>style.visibility</p:attrName>
                                        </p:attrNameLst>
                                      </p:cBhvr>
                                      <p:to>
                                        <p:strVal val="visible"/>
                                      </p:to>
                                    </p:set>
                                    <p:animEffect transition="in" filter="fade">
                                      <p:cBhvr>
                                        <p:cTn id="76" dur="500"/>
                                        <p:tgtEl>
                                          <p:spTgt spid="9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97"/>
                                        </p:tgtEl>
                                        <p:attrNameLst>
                                          <p:attrName>style.visibility</p:attrName>
                                        </p:attrNameLst>
                                      </p:cBhvr>
                                      <p:to>
                                        <p:strVal val="visible"/>
                                      </p:to>
                                    </p:set>
                                    <p:animEffect transition="in" filter="fade">
                                      <p:cBhvr>
                                        <p:cTn id="79" dur="500"/>
                                        <p:tgtEl>
                                          <p:spTgt spid="97"/>
                                        </p:tgtEl>
                                      </p:cBhvr>
                                    </p:animEffect>
                                  </p:childTnLst>
                                </p:cTn>
                              </p:par>
                              <p:par>
                                <p:cTn id="80" presetID="10" presetClass="entr" presetSubtype="0" fill="hold" nodeType="withEffect">
                                  <p:stCondLst>
                                    <p:cond delay="0"/>
                                  </p:stCondLst>
                                  <p:childTnLst>
                                    <p:set>
                                      <p:cBhvr>
                                        <p:cTn id="81" dur="1" fill="hold">
                                          <p:stCondLst>
                                            <p:cond delay="0"/>
                                          </p:stCondLst>
                                        </p:cTn>
                                        <p:tgtEl>
                                          <p:spTgt spid="98"/>
                                        </p:tgtEl>
                                        <p:attrNameLst>
                                          <p:attrName>style.visibility</p:attrName>
                                        </p:attrNameLst>
                                      </p:cBhvr>
                                      <p:to>
                                        <p:strVal val="visible"/>
                                      </p:to>
                                    </p:set>
                                    <p:animEffect transition="in" filter="fade">
                                      <p:cBhvr>
                                        <p:cTn id="82" dur="500"/>
                                        <p:tgtEl>
                                          <p:spTgt spid="9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99"/>
                                        </p:tgtEl>
                                        <p:attrNameLst>
                                          <p:attrName>style.visibility</p:attrName>
                                        </p:attrNameLst>
                                      </p:cBhvr>
                                      <p:to>
                                        <p:strVal val="visible"/>
                                      </p:to>
                                    </p:set>
                                    <p:animEffect transition="in" filter="fade">
                                      <p:cBhvr>
                                        <p:cTn id="85" dur="500"/>
                                        <p:tgtEl>
                                          <p:spTgt spid="99"/>
                                        </p:tgtEl>
                                      </p:cBhvr>
                                    </p:animEffect>
                                  </p:childTnLst>
                                </p:cTn>
                              </p:par>
                              <p:par>
                                <p:cTn id="86" presetID="10" presetClass="entr" presetSubtype="0" fill="hold" nodeType="withEffect">
                                  <p:stCondLst>
                                    <p:cond delay="0"/>
                                  </p:stCondLst>
                                  <p:childTnLst>
                                    <p:set>
                                      <p:cBhvr>
                                        <p:cTn id="87" dur="1" fill="hold">
                                          <p:stCondLst>
                                            <p:cond delay="0"/>
                                          </p:stCondLst>
                                        </p:cTn>
                                        <p:tgtEl>
                                          <p:spTgt spid="100"/>
                                        </p:tgtEl>
                                        <p:attrNameLst>
                                          <p:attrName>style.visibility</p:attrName>
                                        </p:attrNameLst>
                                      </p:cBhvr>
                                      <p:to>
                                        <p:strVal val="visible"/>
                                      </p:to>
                                    </p:set>
                                    <p:animEffect transition="in" filter="fade">
                                      <p:cBhvr>
                                        <p:cTn id="88" dur="500"/>
                                        <p:tgtEl>
                                          <p:spTgt spid="10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01"/>
                                        </p:tgtEl>
                                        <p:attrNameLst>
                                          <p:attrName>style.visibility</p:attrName>
                                        </p:attrNameLst>
                                      </p:cBhvr>
                                      <p:to>
                                        <p:strVal val="visible"/>
                                      </p:to>
                                    </p:set>
                                    <p:animEffect transition="in" filter="fade">
                                      <p:cBhvr>
                                        <p:cTn id="91" dur="500"/>
                                        <p:tgtEl>
                                          <p:spTgt spid="101"/>
                                        </p:tgtEl>
                                      </p:cBhvr>
                                    </p:animEffect>
                                  </p:childTnLst>
                                </p:cTn>
                              </p:par>
                              <p:par>
                                <p:cTn id="92" presetID="10" presetClass="entr" presetSubtype="0" fill="hold" nodeType="withEffect">
                                  <p:stCondLst>
                                    <p:cond delay="0"/>
                                  </p:stCondLst>
                                  <p:childTnLst>
                                    <p:set>
                                      <p:cBhvr>
                                        <p:cTn id="93" dur="1" fill="hold">
                                          <p:stCondLst>
                                            <p:cond delay="0"/>
                                          </p:stCondLst>
                                        </p:cTn>
                                        <p:tgtEl>
                                          <p:spTgt spid="102"/>
                                        </p:tgtEl>
                                        <p:attrNameLst>
                                          <p:attrName>style.visibility</p:attrName>
                                        </p:attrNameLst>
                                      </p:cBhvr>
                                      <p:to>
                                        <p:strVal val="visible"/>
                                      </p:to>
                                    </p:set>
                                    <p:animEffect transition="in" filter="fade">
                                      <p:cBhvr>
                                        <p:cTn id="94" dur="500"/>
                                        <p:tgtEl>
                                          <p:spTgt spid="10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3"/>
                                        </p:tgtEl>
                                        <p:attrNameLst>
                                          <p:attrName>style.visibility</p:attrName>
                                        </p:attrNameLst>
                                      </p:cBhvr>
                                      <p:to>
                                        <p:strVal val="visible"/>
                                      </p:to>
                                    </p:set>
                                    <p:animEffect transition="in" filter="fade">
                                      <p:cBhvr>
                                        <p:cTn id="97" dur="500"/>
                                        <p:tgtEl>
                                          <p:spTgt spid="103"/>
                                        </p:tgtEl>
                                      </p:cBhvr>
                                    </p:animEffect>
                                  </p:childTnLst>
                                </p:cTn>
                              </p:par>
                              <p:par>
                                <p:cTn id="98" presetID="10" presetClass="entr" presetSubtype="0" fill="hold" nodeType="withEffect">
                                  <p:stCondLst>
                                    <p:cond delay="0"/>
                                  </p:stCondLst>
                                  <p:childTnLst>
                                    <p:set>
                                      <p:cBhvr>
                                        <p:cTn id="99" dur="1" fill="hold">
                                          <p:stCondLst>
                                            <p:cond delay="0"/>
                                          </p:stCondLst>
                                        </p:cTn>
                                        <p:tgtEl>
                                          <p:spTgt spid="104"/>
                                        </p:tgtEl>
                                        <p:attrNameLst>
                                          <p:attrName>style.visibility</p:attrName>
                                        </p:attrNameLst>
                                      </p:cBhvr>
                                      <p:to>
                                        <p:strVal val="visible"/>
                                      </p:to>
                                    </p:set>
                                    <p:animEffect transition="in" filter="fade">
                                      <p:cBhvr>
                                        <p:cTn id="100" dur="500"/>
                                        <p:tgtEl>
                                          <p:spTgt spid="10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05"/>
                                        </p:tgtEl>
                                        <p:attrNameLst>
                                          <p:attrName>style.visibility</p:attrName>
                                        </p:attrNameLst>
                                      </p:cBhvr>
                                      <p:to>
                                        <p:strVal val="visible"/>
                                      </p:to>
                                    </p:set>
                                    <p:animEffect transition="in" filter="fade">
                                      <p:cBhvr>
                                        <p:cTn id="103" dur="500"/>
                                        <p:tgtEl>
                                          <p:spTgt spid="10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08"/>
                                        </p:tgtEl>
                                        <p:attrNameLst>
                                          <p:attrName>style.visibility</p:attrName>
                                        </p:attrNameLst>
                                      </p:cBhvr>
                                      <p:to>
                                        <p:strVal val="visible"/>
                                      </p:to>
                                    </p:set>
                                    <p:animEffect transition="in" filter="fade">
                                      <p:cBhvr>
                                        <p:cTn id="106" dur="500"/>
                                        <p:tgtEl>
                                          <p:spTgt spid="108"/>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11"/>
                                        </p:tgtEl>
                                        <p:attrNameLst>
                                          <p:attrName>style.visibility</p:attrName>
                                        </p:attrNameLst>
                                      </p:cBhvr>
                                      <p:to>
                                        <p:strVal val="visible"/>
                                      </p:to>
                                    </p:set>
                                    <p:animEffect transition="in" filter="fade">
                                      <p:cBhvr>
                                        <p:cTn id="111" dur="500"/>
                                        <p:tgtEl>
                                          <p:spTgt spid="111"/>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112"/>
                                        </p:tgtEl>
                                        <p:attrNameLst>
                                          <p:attrName>style.visibility</p:attrName>
                                        </p:attrNameLst>
                                      </p:cBhvr>
                                      <p:to>
                                        <p:strVal val="visible"/>
                                      </p:to>
                                    </p:set>
                                    <p:animEffect transition="in" filter="fade">
                                      <p:cBhvr>
                                        <p:cTn id="116" dur="500"/>
                                        <p:tgtEl>
                                          <p:spTgt spid="112"/>
                                        </p:tgtEl>
                                      </p:cBhvr>
                                    </p:animEffect>
                                  </p:childTnLst>
                                </p:cTn>
                              </p:par>
                              <p:par>
                                <p:cTn id="117" presetID="10" presetClass="entr" presetSubtype="0" fill="hold" nodeType="withEffect">
                                  <p:stCondLst>
                                    <p:cond delay="0"/>
                                  </p:stCondLst>
                                  <p:childTnLst>
                                    <p:set>
                                      <p:cBhvr>
                                        <p:cTn id="118" dur="1" fill="hold">
                                          <p:stCondLst>
                                            <p:cond delay="0"/>
                                          </p:stCondLst>
                                        </p:cTn>
                                        <p:tgtEl>
                                          <p:spTgt spid="113"/>
                                        </p:tgtEl>
                                        <p:attrNameLst>
                                          <p:attrName>style.visibility</p:attrName>
                                        </p:attrNameLst>
                                      </p:cBhvr>
                                      <p:to>
                                        <p:strVal val="visible"/>
                                      </p:to>
                                    </p:set>
                                    <p:animEffect transition="in" filter="fade">
                                      <p:cBhvr>
                                        <p:cTn id="119" dur="500"/>
                                        <p:tgtEl>
                                          <p:spTgt spid="11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114"/>
                                        </p:tgtEl>
                                        <p:attrNameLst>
                                          <p:attrName>style.visibility</p:attrName>
                                        </p:attrNameLst>
                                      </p:cBhvr>
                                      <p:to>
                                        <p:strVal val="visible"/>
                                      </p:to>
                                    </p:set>
                                    <p:animEffect transition="in" filter="fade">
                                      <p:cBhvr>
                                        <p:cTn id="122" dur="500"/>
                                        <p:tgtEl>
                                          <p:spTgt spid="114"/>
                                        </p:tgtEl>
                                      </p:cBhvr>
                                    </p:animEffect>
                                  </p:childTnLst>
                                </p:cTn>
                              </p:par>
                              <p:par>
                                <p:cTn id="123" presetID="10" presetClass="entr" presetSubtype="0" fill="hold" nodeType="withEffect">
                                  <p:stCondLst>
                                    <p:cond delay="0"/>
                                  </p:stCondLst>
                                  <p:childTnLst>
                                    <p:set>
                                      <p:cBhvr>
                                        <p:cTn id="124" dur="1" fill="hold">
                                          <p:stCondLst>
                                            <p:cond delay="0"/>
                                          </p:stCondLst>
                                        </p:cTn>
                                        <p:tgtEl>
                                          <p:spTgt spid="115"/>
                                        </p:tgtEl>
                                        <p:attrNameLst>
                                          <p:attrName>style.visibility</p:attrName>
                                        </p:attrNameLst>
                                      </p:cBhvr>
                                      <p:to>
                                        <p:strVal val="visible"/>
                                      </p:to>
                                    </p:set>
                                    <p:animEffect transition="in" filter="fade">
                                      <p:cBhvr>
                                        <p:cTn id="125" dur="500"/>
                                        <p:tgtEl>
                                          <p:spTgt spid="11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116"/>
                                        </p:tgtEl>
                                        <p:attrNameLst>
                                          <p:attrName>style.visibility</p:attrName>
                                        </p:attrNameLst>
                                      </p:cBhvr>
                                      <p:to>
                                        <p:strVal val="visible"/>
                                      </p:to>
                                    </p:set>
                                    <p:animEffect transition="in" filter="fade">
                                      <p:cBhvr>
                                        <p:cTn id="128" dur="500"/>
                                        <p:tgtEl>
                                          <p:spTgt spid="116"/>
                                        </p:tgtEl>
                                      </p:cBhvr>
                                    </p:animEffect>
                                  </p:childTnLst>
                                </p:cTn>
                              </p:par>
                              <p:par>
                                <p:cTn id="129" presetID="10" presetClass="entr" presetSubtype="0" fill="hold" nodeType="withEffect">
                                  <p:stCondLst>
                                    <p:cond delay="0"/>
                                  </p:stCondLst>
                                  <p:childTnLst>
                                    <p:set>
                                      <p:cBhvr>
                                        <p:cTn id="130" dur="1" fill="hold">
                                          <p:stCondLst>
                                            <p:cond delay="0"/>
                                          </p:stCondLst>
                                        </p:cTn>
                                        <p:tgtEl>
                                          <p:spTgt spid="117"/>
                                        </p:tgtEl>
                                        <p:attrNameLst>
                                          <p:attrName>style.visibility</p:attrName>
                                        </p:attrNameLst>
                                      </p:cBhvr>
                                      <p:to>
                                        <p:strVal val="visible"/>
                                      </p:to>
                                    </p:set>
                                    <p:animEffect transition="in" filter="fade">
                                      <p:cBhvr>
                                        <p:cTn id="131" dur="500"/>
                                        <p:tgtEl>
                                          <p:spTgt spid="11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118"/>
                                        </p:tgtEl>
                                        <p:attrNameLst>
                                          <p:attrName>style.visibility</p:attrName>
                                        </p:attrNameLst>
                                      </p:cBhvr>
                                      <p:to>
                                        <p:strVal val="visible"/>
                                      </p:to>
                                    </p:set>
                                    <p:animEffect transition="in" filter="fade">
                                      <p:cBhvr>
                                        <p:cTn id="134" dur="500"/>
                                        <p:tgtEl>
                                          <p:spTgt spid="118"/>
                                        </p:tgtEl>
                                      </p:cBhvr>
                                    </p:animEffect>
                                  </p:childTnLst>
                                </p:cTn>
                              </p:par>
                              <p:par>
                                <p:cTn id="135" presetID="10" presetClass="entr" presetSubtype="0" fill="hold" nodeType="withEffect">
                                  <p:stCondLst>
                                    <p:cond delay="0"/>
                                  </p:stCondLst>
                                  <p:childTnLst>
                                    <p:set>
                                      <p:cBhvr>
                                        <p:cTn id="136" dur="1" fill="hold">
                                          <p:stCondLst>
                                            <p:cond delay="0"/>
                                          </p:stCondLst>
                                        </p:cTn>
                                        <p:tgtEl>
                                          <p:spTgt spid="119"/>
                                        </p:tgtEl>
                                        <p:attrNameLst>
                                          <p:attrName>style.visibility</p:attrName>
                                        </p:attrNameLst>
                                      </p:cBhvr>
                                      <p:to>
                                        <p:strVal val="visible"/>
                                      </p:to>
                                    </p:set>
                                    <p:animEffect transition="in" filter="fade">
                                      <p:cBhvr>
                                        <p:cTn id="137" dur="500"/>
                                        <p:tgtEl>
                                          <p:spTgt spid="11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120"/>
                                        </p:tgtEl>
                                        <p:attrNameLst>
                                          <p:attrName>style.visibility</p:attrName>
                                        </p:attrNameLst>
                                      </p:cBhvr>
                                      <p:to>
                                        <p:strVal val="visible"/>
                                      </p:to>
                                    </p:set>
                                    <p:animEffect transition="in" filter="fade">
                                      <p:cBhvr>
                                        <p:cTn id="140" dur="500"/>
                                        <p:tgtEl>
                                          <p:spTgt spid="120"/>
                                        </p:tgtEl>
                                      </p:cBhvr>
                                    </p:animEffect>
                                  </p:childTnLst>
                                </p:cTn>
                              </p:par>
                              <p:par>
                                <p:cTn id="141" presetID="10" presetClass="entr" presetSubtype="0" fill="hold" nodeType="withEffect">
                                  <p:stCondLst>
                                    <p:cond delay="0"/>
                                  </p:stCondLst>
                                  <p:childTnLst>
                                    <p:set>
                                      <p:cBhvr>
                                        <p:cTn id="142" dur="1" fill="hold">
                                          <p:stCondLst>
                                            <p:cond delay="0"/>
                                          </p:stCondLst>
                                        </p:cTn>
                                        <p:tgtEl>
                                          <p:spTgt spid="121"/>
                                        </p:tgtEl>
                                        <p:attrNameLst>
                                          <p:attrName>style.visibility</p:attrName>
                                        </p:attrNameLst>
                                      </p:cBhvr>
                                      <p:to>
                                        <p:strVal val="visible"/>
                                      </p:to>
                                    </p:set>
                                    <p:animEffect transition="in" filter="fade">
                                      <p:cBhvr>
                                        <p:cTn id="143" dur="500"/>
                                        <p:tgtEl>
                                          <p:spTgt spid="12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122"/>
                                        </p:tgtEl>
                                        <p:attrNameLst>
                                          <p:attrName>style.visibility</p:attrName>
                                        </p:attrNameLst>
                                      </p:cBhvr>
                                      <p:to>
                                        <p:strVal val="visible"/>
                                      </p:to>
                                    </p:set>
                                    <p:animEffect transition="in" filter="fade">
                                      <p:cBhvr>
                                        <p:cTn id="146" dur="500"/>
                                        <p:tgtEl>
                                          <p:spTgt spid="122"/>
                                        </p:tgtEl>
                                      </p:cBhvr>
                                    </p:animEffect>
                                  </p:childTnLst>
                                </p:cTn>
                              </p:par>
                              <p:par>
                                <p:cTn id="147" presetID="10" presetClass="entr" presetSubtype="0" fill="hold" nodeType="withEffect">
                                  <p:stCondLst>
                                    <p:cond delay="0"/>
                                  </p:stCondLst>
                                  <p:childTnLst>
                                    <p:set>
                                      <p:cBhvr>
                                        <p:cTn id="148" dur="1" fill="hold">
                                          <p:stCondLst>
                                            <p:cond delay="0"/>
                                          </p:stCondLst>
                                        </p:cTn>
                                        <p:tgtEl>
                                          <p:spTgt spid="123"/>
                                        </p:tgtEl>
                                        <p:attrNameLst>
                                          <p:attrName>style.visibility</p:attrName>
                                        </p:attrNameLst>
                                      </p:cBhvr>
                                      <p:to>
                                        <p:strVal val="visible"/>
                                      </p:to>
                                    </p:set>
                                    <p:animEffect transition="in" filter="fade">
                                      <p:cBhvr>
                                        <p:cTn id="149" dur="500"/>
                                        <p:tgtEl>
                                          <p:spTgt spid="12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124"/>
                                        </p:tgtEl>
                                        <p:attrNameLst>
                                          <p:attrName>style.visibility</p:attrName>
                                        </p:attrNameLst>
                                      </p:cBhvr>
                                      <p:to>
                                        <p:strVal val="visible"/>
                                      </p:to>
                                    </p:set>
                                    <p:animEffect transition="in" filter="fade">
                                      <p:cBhvr>
                                        <p:cTn id="152" dur="500"/>
                                        <p:tgtEl>
                                          <p:spTgt spid="124"/>
                                        </p:tgtEl>
                                      </p:cBhvr>
                                    </p:animEffect>
                                  </p:childTnLst>
                                </p:cTn>
                              </p:par>
                              <p:par>
                                <p:cTn id="153" presetID="10" presetClass="entr" presetSubtype="0" fill="hold" nodeType="withEffect">
                                  <p:stCondLst>
                                    <p:cond delay="0"/>
                                  </p:stCondLst>
                                  <p:childTnLst>
                                    <p:set>
                                      <p:cBhvr>
                                        <p:cTn id="154" dur="1" fill="hold">
                                          <p:stCondLst>
                                            <p:cond delay="0"/>
                                          </p:stCondLst>
                                        </p:cTn>
                                        <p:tgtEl>
                                          <p:spTgt spid="125"/>
                                        </p:tgtEl>
                                        <p:attrNameLst>
                                          <p:attrName>style.visibility</p:attrName>
                                        </p:attrNameLst>
                                      </p:cBhvr>
                                      <p:to>
                                        <p:strVal val="visible"/>
                                      </p:to>
                                    </p:set>
                                    <p:animEffect transition="in" filter="fade">
                                      <p:cBhvr>
                                        <p:cTn id="155" dur="500"/>
                                        <p:tgtEl>
                                          <p:spTgt spid="125"/>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126"/>
                                        </p:tgtEl>
                                        <p:attrNameLst>
                                          <p:attrName>style.visibility</p:attrName>
                                        </p:attrNameLst>
                                      </p:cBhvr>
                                      <p:to>
                                        <p:strVal val="visible"/>
                                      </p:to>
                                    </p:set>
                                    <p:animEffect transition="in" filter="fade">
                                      <p:cBhvr>
                                        <p:cTn id="158" dur="500"/>
                                        <p:tgtEl>
                                          <p:spTgt spid="126"/>
                                        </p:tgtEl>
                                      </p:cBhvr>
                                    </p:animEffect>
                                  </p:childTnLst>
                                </p:cTn>
                              </p:par>
                              <p:par>
                                <p:cTn id="159" presetID="10" presetClass="entr" presetSubtype="0" fill="hold" nodeType="withEffect">
                                  <p:stCondLst>
                                    <p:cond delay="0"/>
                                  </p:stCondLst>
                                  <p:childTnLst>
                                    <p:set>
                                      <p:cBhvr>
                                        <p:cTn id="160" dur="1" fill="hold">
                                          <p:stCondLst>
                                            <p:cond delay="0"/>
                                          </p:stCondLst>
                                        </p:cTn>
                                        <p:tgtEl>
                                          <p:spTgt spid="127"/>
                                        </p:tgtEl>
                                        <p:attrNameLst>
                                          <p:attrName>style.visibility</p:attrName>
                                        </p:attrNameLst>
                                      </p:cBhvr>
                                      <p:to>
                                        <p:strVal val="visible"/>
                                      </p:to>
                                    </p:set>
                                    <p:animEffect transition="in" filter="fade">
                                      <p:cBhvr>
                                        <p:cTn id="161" dur="500"/>
                                        <p:tgtEl>
                                          <p:spTgt spid="127"/>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128"/>
                                        </p:tgtEl>
                                        <p:attrNameLst>
                                          <p:attrName>style.visibility</p:attrName>
                                        </p:attrNameLst>
                                      </p:cBhvr>
                                      <p:to>
                                        <p:strVal val="visible"/>
                                      </p:to>
                                    </p:set>
                                    <p:animEffect transition="in" filter="fade">
                                      <p:cBhvr>
                                        <p:cTn id="164" dur="500"/>
                                        <p:tgtEl>
                                          <p:spTgt spid="128"/>
                                        </p:tgtEl>
                                      </p:cBhvr>
                                    </p:animEffect>
                                  </p:childTnLst>
                                </p:cTn>
                              </p:par>
                              <p:par>
                                <p:cTn id="165" presetID="10" presetClass="entr" presetSubtype="0" fill="hold" nodeType="withEffect">
                                  <p:stCondLst>
                                    <p:cond delay="0"/>
                                  </p:stCondLst>
                                  <p:childTnLst>
                                    <p:set>
                                      <p:cBhvr>
                                        <p:cTn id="166" dur="1" fill="hold">
                                          <p:stCondLst>
                                            <p:cond delay="0"/>
                                          </p:stCondLst>
                                        </p:cTn>
                                        <p:tgtEl>
                                          <p:spTgt spid="129"/>
                                        </p:tgtEl>
                                        <p:attrNameLst>
                                          <p:attrName>style.visibility</p:attrName>
                                        </p:attrNameLst>
                                      </p:cBhvr>
                                      <p:to>
                                        <p:strVal val="visible"/>
                                      </p:to>
                                    </p:set>
                                    <p:animEffect transition="in" filter="fade">
                                      <p:cBhvr>
                                        <p:cTn id="167" dur="500"/>
                                        <p:tgtEl>
                                          <p:spTgt spid="129"/>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130"/>
                                        </p:tgtEl>
                                        <p:attrNameLst>
                                          <p:attrName>style.visibility</p:attrName>
                                        </p:attrNameLst>
                                      </p:cBhvr>
                                      <p:to>
                                        <p:strVal val="visible"/>
                                      </p:to>
                                    </p:set>
                                    <p:animEffect transition="in" filter="fade">
                                      <p:cBhvr>
                                        <p:cTn id="170" dur="500"/>
                                        <p:tgtEl>
                                          <p:spTgt spid="130"/>
                                        </p:tgtEl>
                                      </p:cBhvr>
                                    </p:animEffect>
                                  </p:childTnLst>
                                </p:cTn>
                              </p:par>
                              <p:par>
                                <p:cTn id="171" presetID="10" presetClass="entr" presetSubtype="0" fill="hold" nodeType="withEffect">
                                  <p:stCondLst>
                                    <p:cond delay="0"/>
                                  </p:stCondLst>
                                  <p:childTnLst>
                                    <p:set>
                                      <p:cBhvr>
                                        <p:cTn id="172" dur="1" fill="hold">
                                          <p:stCondLst>
                                            <p:cond delay="0"/>
                                          </p:stCondLst>
                                        </p:cTn>
                                        <p:tgtEl>
                                          <p:spTgt spid="131"/>
                                        </p:tgtEl>
                                        <p:attrNameLst>
                                          <p:attrName>style.visibility</p:attrName>
                                        </p:attrNameLst>
                                      </p:cBhvr>
                                      <p:to>
                                        <p:strVal val="visible"/>
                                      </p:to>
                                    </p:set>
                                    <p:animEffect transition="in" filter="fade">
                                      <p:cBhvr>
                                        <p:cTn id="173" dur="500"/>
                                        <p:tgtEl>
                                          <p:spTgt spid="131"/>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132"/>
                                        </p:tgtEl>
                                        <p:attrNameLst>
                                          <p:attrName>style.visibility</p:attrName>
                                        </p:attrNameLst>
                                      </p:cBhvr>
                                      <p:to>
                                        <p:strVal val="visible"/>
                                      </p:to>
                                    </p:set>
                                    <p:animEffect transition="in" filter="fade">
                                      <p:cBhvr>
                                        <p:cTn id="176" dur="500"/>
                                        <p:tgtEl>
                                          <p:spTgt spid="132"/>
                                        </p:tgtEl>
                                      </p:cBhvr>
                                    </p:animEffect>
                                  </p:childTnLst>
                                </p:cTn>
                              </p:par>
                              <p:par>
                                <p:cTn id="177" presetID="10" presetClass="entr" presetSubtype="0" fill="hold" nodeType="withEffect">
                                  <p:stCondLst>
                                    <p:cond delay="0"/>
                                  </p:stCondLst>
                                  <p:childTnLst>
                                    <p:set>
                                      <p:cBhvr>
                                        <p:cTn id="178" dur="1" fill="hold">
                                          <p:stCondLst>
                                            <p:cond delay="0"/>
                                          </p:stCondLst>
                                        </p:cTn>
                                        <p:tgtEl>
                                          <p:spTgt spid="133"/>
                                        </p:tgtEl>
                                        <p:attrNameLst>
                                          <p:attrName>style.visibility</p:attrName>
                                        </p:attrNameLst>
                                      </p:cBhvr>
                                      <p:to>
                                        <p:strVal val="visible"/>
                                      </p:to>
                                    </p:set>
                                    <p:animEffect transition="in" filter="fade">
                                      <p:cBhvr>
                                        <p:cTn id="179" dur="500"/>
                                        <p:tgtEl>
                                          <p:spTgt spid="133"/>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134"/>
                                        </p:tgtEl>
                                        <p:attrNameLst>
                                          <p:attrName>style.visibility</p:attrName>
                                        </p:attrNameLst>
                                      </p:cBhvr>
                                      <p:to>
                                        <p:strVal val="visible"/>
                                      </p:to>
                                    </p:set>
                                    <p:animEffect transition="in" filter="fade">
                                      <p:cBhvr>
                                        <p:cTn id="182" dur="500"/>
                                        <p:tgtEl>
                                          <p:spTgt spid="134"/>
                                        </p:tgtEl>
                                      </p:cBhvr>
                                    </p:animEffect>
                                  </p:childTnLst>
                                </p:cTn>
                              </p:par>
                              <p:par>
                                <p:cTn id="183" presetID="10" presetClass="entr" presetSubtype="0" fill="hold" nodeType="withEffect">
                                  <p:stCondLst>
                                    <p:cond delay="0"/>
                                  </p:stCondLst>
                                  <p:childTnLst>
                                    <p:set>
                                      <p:cBhvr>
                                        <p:cTn id="184" dur="1" fill="hold">
                                          <p:stCondLst>
                                            <p:cond delay="0"/>
                                          </p:stCondLst>
                                        </p:cTn>
                                        <p:tgtEl>
                                          <p:spTgt spid="135"/>
                                        </p:tgtEl>
                                        <p:attrNameLst>
                                          <p:attrName>style.visibility</p:attrName>
                                        </p:attrNameLst>
                                      </p:cBhvr>
                                      <p:to>
                                        <p:strVal val="visible"/>
                                      </p:to>
                                    </p:set>
                                    <p:animEffect transition="in" filter="fade">
                                      <p:cBhvr>
                                        <p:cTn id="185" dur="500"/>
                                        <p:tgtEl>
                                          <p:spTgt spid="135"/>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136"/>
                                        </p:tgtEl>
                                        <p:attrNameLst>
                                          <p:attrName>style.visibility</p:attrName>
                                        </p:attrNameLst>
                                      </p:cBhvr>
                                      <p:to>
                                        <p:strVal val="visible"/>
                                      </p:to>
                                    </p:set>
                                    <p:animEffect transition="in" filter="fade">
                                      <p:cBhvr>
                                        <p:cTn id="188" dur="500"/>
                                        <p:tgtEl>
                                          <p:spTgt spid="136"/>
                                        </p:tgtEl>
                                      </p:cBhvr>
                                    </p:animEffect>
                                  </p:childTnLst>
                                </p:cTn>
                              </p:par>
                              <p:par>
                                <p:cTn id="189" presetID="10" presetClass="entr" presetSubtype="0" fill="hold" nodeType="withEffect">
                                  <p:stCondLst>
                                    <p:cond delay="0"/>
                                  </p:stCondLst>
                                  <p:childTnLst>
                                    <p:set>
                                      <p:cBhvr>
                                        <p:cTn id="190" dur="1" fill="hold">
                                          <p:stCondLst>
                                            <p:cond delay="0"/>
                                          </p:stCondLst>
                                        </p:cTn>
                                        <p:tgtEl>
                                          <p:spTgt spid="137"/>
                                        </p:tgtEl>
                                        <p:attrNameLst>
                                          <p:attrName>style.visibility</p:attrName>
                                        </p:attrNameLst>
                                      </p:cBhvr>
                                      <p:to>
                                        <p:strVal val="visible"/>
                                      </p:to>
                                    </p:set>
                                    <p:animEffect transition="in" filter="fade">
                                      <p:cBhvr>
                                        <p:cTn id="191" dur="500"/>
                                        <p:tgtEl>
                                          <p:spTgt spid="137"/>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138"/>
                                        </p:tgtEl>
                                        <p:attrNameLst>
                                          <p:attrName>style.visibility</p:attrName>
                                        </p:attrNameLst>
                                      </p:cBhvr>
                                      <p:to>
                                        <p:strVal val="visible"/>
                                      </p:to>
                                    </p:set>
                                    <p:animEffect transition="in" filter="fade">
                                      <p:cBhvr>
                                        <p:cTn id="194" dur="500"/>
                                        <p:tgtEl>
                                          <p:spTgt spid="138"/>
                                        </p:tgtEl>
                                      </p:cBhvr>
                                    </p:animEffect>
                                  </p:childTnLst>
                                </p:cTn>
                              </p:par>
                              <p:par>
                                <p:cTn id="195" presetID="10" presetClass="entr" presetSubtype="0" fill="hold" nodeType="withEffect">
                                  <p:stCondLst>
                                    <p:cond delay="0"/>
                                  </p:stCondLst>
                                  <p:childTnLst>
                                    <p:set>
                                      <p:cBhvr>
                                        <p:cTn id="196" dur="1" fill="hold">
                                          <p:stCondLst>
                                            <p:cond delay="0"/>
                                          </p:stCondLst>
                                        </p:cTn>
                                        <p:tgtEl>
                                          <p:spTgt spid="139"/>
                                        </p:tgtEl>
                                        <p:attrNameLst>
                                          <p:attrName>style.visibility</p:attrName>
                                        </p:attrNameLst>
                                      </p:cBhvr>
                                      <p:to>
                                        <p:strVal val="visible"/>
                                      </p:to>
                                    </p:set>
                                    <p:animEffect transition="in" filter="fade">
                                      <p:cBhvr>
                                        <p:cTn id="197" dur="500"/>
                                        <p:tgtEl>
                                          <p:spTgt spid="139"/>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140"/>
                                        </p:tgtEl>
                                        <p:attrNameLst>
                                          <p:attrName>style.visibility</p:attrName>
                                        </p:attrNameLst>
                                      </p:cBhvr>
                                      <p:to>
                                        <p:strVal val="visible"/>
                                      </p:to>
                                    </p:set>
                                    <p:animEffect transition="in" filter="fade">
                                      <p:cBhvr>
                                        <p:cTn id="200" dur="500"/>
                                        <p:tgtEl>
                                          <p:spTgt spid="140"/>
                                        </p:tgtEl>
                                      </p:cBhvr>
                                    </p:animEffect>
                                  </p:childTnLst>
                                </p:cTn>
                              </p:par>
                              <p:par>
                                <p:cTn id="201" presetID="10" presetClass="entr" presetSubtype="0" fill="hold" nodeType="withEffect">
                                  <p:stCondLst>
                                    <p:cond delay="0"/>
                                  </p:stCondLst>
                                  <p:childTnLst>
                                    <p:set>
                                      <p:cBhvr>
                                        <p:cTn id="202" dur="1" fill="hold">
                                          <p:stCondLst>
                                            <p:cond delay="0"/>
                                          </p:stCondLst>
                                        </p:cTn>
                                        <p:tgtEl>
                                          <p:spTgt spid="141"/>
                                        </p:tgtEl>
                                        <p:attrNameLst>
                                          <p:attrName>style.visibility</p:attrName>
                                        </p:attrNameLst>
                                      </p:cBhvr>
                                      <p:to>
                                        <p:strVal val="visible"/>
                                      </p:to>
                                    </p:set>
                                    <p:animEffect transition="in" filter="fade">
                                      <p:cBhvr>
                                        <p:cTn id="203" dur="500"/>
                                        <p:tgtEl>
                                          <p:spTgt spid="141"/>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142"/>
                                        </p:tgtEl>
                                        <p:attrNameLst>
                                          <p:attrName>style.visibility</p:attrName>
                                        </p:attrNameLst>
                                      </p:cBhvr>
                                      <p:to>
                                        <p:strVal val="visible"/>
                                      </p:to>
                                    </p:set>
                                    <p:animEffect transition="in" filter="fade">
                                      <p:cBhvr>
                                        <p:cTn id="206" dur="500"/>
                                        <p:tgtEl>
                                          <p:spTgt spid="142"/>
                                        </p:tgtEl>
                                      </p:cBhvr>
                                    </p:animEffect>
                                  </p:childTnLst>
                                </p:cTn>
                              </p:par>
                              <p:par>
                                <p:cTn id="207" presetID="10" presetClass="entr" presetSubtype="0" fill="hold" nodeType="withEffect">
                                  <p:stCondLst>
                                    <p:cond delay="0"/>
                                  </p:stCondLst>
                                  <p:childTnLst>
                                    <p:set>
                                      <p:cBhvr>
                                        <p:cTn id="208" dur="1" fill="hold">
                                          <p:stCondLst>
                                            <p:cond delay="0"/>
                                          </p:stCondLst>
                                        </p:cTn>
                                        <p:tgtEl>
                                          <p:spTgt spid="143"/>
                                        </p:tgtEl>
                                        <p:attrNameLst>
                                          <p:attrName>style.visibility</p:attrName>
                                        </p:attrNameLst>
                                      </p:cBhvr>
                                      <p:to>
                                        <p:strVal val="visible"/>
                                      </p:to>
                                    </p:set>
                                    <p:animEffect transition="in" filter="fade">
                                      <p:cBhvr>
                                        <p:cTn id="209" dur="500"/>
                                        <p:tgtEl>
                                          <p:spTgt spid="143"/>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144"/>
                                        </p:tgtEl>
                                        <p:attrNameLst>
                                          <p:attrName>style.visibility</p:attrName>
                                        </p:attrNameLst>
                                      </p:cBhvr>
                                      <p:to>
                                        <p:strVal val="visible"/>
                                      </p:to>
                                    </p:set>
                                    <p:animEffect transition="in" filter="fade">
                                      <p:cBhvr>
                                        <p:cTn id="212" dur="500"/>
                                        <p:tgtEl>
                                          <p:spTgt spid="144"/>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145"/>
                                        </p:tgtEl>
                                        <p:attrNameLst>
                                          <p:attrName>style.visibility</p:attrName>
                                        </p:attrNameLst>
                                      </p:cBhvr>
                                      <p:to>
                                        <p:strVal val="visible"/>
                                      </p:to>
                                    </p:set>
                                    <p:animEffect transition="in" filter="fade">
                                      <p:cBhvr>
                                        <p:cTn id="215" dur="500"/>
                                        <p:tgtEl>
                                          <p:spTgt spid="145"/>
                                        </p:tgtEl>
                                      </p:cBhvr>
                                    </p:animEffect>
                                  </p:childTnLst>
                                </p:cTn>
                              </p:par>
                            </p:childTnLst>
                          </p:cTn>
                        </p:par>
                      </p:childTnLst>
                    </p:cTn>
                  </p:par>
                  <p:par>
                    <p:cTn id="216" fill="hold">
                      <p:stCondLst>
                        <p:cond delay="indefinite"/>
                      </p:stCondLst>
                      <p:childTnLst>
                        <p:par>
                          <p:cTn id="217" fill="hold">
                            <p:stCondLst>
                              <p:cond delay="0"/>
                            </p:stCondLst>
                            <p:childTnLst>
                              <p:par>
                                <p:cTn id="218" presetID="10" presetClass="entr" presetSubtype="0" fill="hold" grpId="0" nodeType="clickEffect">
                                  <p:stCondLst>
                                    <p:cond delay="0"/>
                                  </p:stCondLst>
                                  <p:childTnLst>
                                    <p:set>
                                      <p:cBhvr>
                                        <p:cTn id="219" dur="1" fill="hold">
                                          <p:stCondLst>
                                            <p:cond delay="0"/>
                                          </p:stCondLst>
                                        </p:cTn>
                                        <p:tgtEl>
                                          <p:spTgt spid="147"/>
                                        </p:tgtEl>
                                        <p:attrNameLst>
                                          <p:attrName>style.visibility</p:attrName>
                                        </p:attrNameLst>
                                      </p:cBhvr>
                                      <p:to>
                                        <p:strVal val="visible"/>
                                      </p:to>
                                    </p:set>
                                    <p:animEffect transition="in" filter="fade">
                                      <p:cBhvr>
                                        <p:cTn id="220" dur="500"/>
                                        <p:tgtEl>
                                          <p:spTgt spid="147"/>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146"/>
                                        </p:tgtEl>
                                        <p:attrNameLst>
                                          <p:attrName>style.visibility</p:attrName>
                                        </p:attrNameLst>
                                      </p:cBhvr>
                                      <p:to>
                                        <p:strVal val="visible"/>
                                      </p:to>
                                    </p:set>
                                    <p:animEffect transition="in" filter="fade">
                                      <p:cBhvr>
                                        <p:cTn id="223" dur="5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9" grpId="0"/>
      <p:bldP spid="73" grpId="0"/>
      <p:bldP spid="75" grpId="0"/>
      <p:bldP spid="77" grpId="0"/>
      <p:bldP spid="79" grpId="0"/>
      <p:bldP spid="84" grpId="0"/>
      <p:bldP spid="87" grpId="0"/>
      <p:bldP spid="89" grpId="0"/>
      <p:bldP spid="91" grpId="0"/>
      <p:bldP spid="93" grpId="0"/>
      <p:bldP spid="95" grpId="0"/>
      <p:bldP spid="97" grpId="0"/>
      <p:bldP spid="99" grpId="0"/>
      <p:bldP spid="101" grpId="0"/>
      <p:bldP spid="103" grpId="0"/>
      <p:bldP spid="105" grpId="0"/>
      <p:bldP spid="108" grpId="0"/>
      <p:bldP spid="112" grpId="0" animBg="1"/>
      <p:bldP spid="114" grpId="0"/>
      <p:bldP spid="116" grpId="0"/>
      <p:bldP spid="118" grpId="0"/>
      <p:bldP spid="120" grpId="0"/>
      <p:bldP spid="122" grpId="0"/>
      <p:bldP spid="124" grpId="0"/>
      <p:bldP spid="126" grpId="0"/>
      <p:bldP spid="128" grpId="0"/>
      <p:bldP spid="130" grpId="0"/>
      <p:bldP spid="132" grpId="0"/>
      <p:bldP spid="134" grpId="0"/>
      <p:bldP spid="136" grpId="0"/>
      <p:bldP spid="138" grpId="0"/>
      <p:bldP spid="140" grpId="0"/>
      <p:bldP spid="142" grpId="0"/>
      <p:bldP spid="144" grpId="0"/>
      <p:bldP spid="145" grpId="0"/>
      <p:bldP spid="146" grpId="0" animBg="1"/>
      <p:bldP spid="14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97CFE-6A1D-09E1-11D8-8C0532C4E9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15DA21-13A1-D3DA-A65F-7D6DFFF18EE4}"/>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862DA3DE-0506-17A6-264B-A57AF3940CC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B73D73C-AABD-1A14-0375-0C10B99FD758}"/>
              </a:ext>
            </a:extLst>
          </p:cNvPr>
          <p:cNvSpPr>
            <a:spLocks noGrp="1"/>
          </p:cNvSpPr>
          <p:nvPr>
            <p:ph type="sldNum" sz="quarter" idx="4"/>
          </p:nvPr>
        </p:nvSpPr>
        <p:spPr/>
        <p:txBody>
          <a:bodyPr/>
          <a:lstStyle/>
          <a:p>
            <a:pPr>
              <a:defRPr/>
            </a:pPr>
            <a:fld id="{A9CE67A1-BA7F-A74E-B5D7-615746DEEC2B}" type="slidenum">
              <a:rPr lang="en-US" smtClean="0"/>
              <a:pPr>
                <a:defRPr/>
              </a:pPr>
              <a:t>81</a:t>
            </a:fld>
            <a:endParaRPr lang="en-US" baseline="-11000" dirty="0"/>
          </a:p>
        </p:txBody>
      </p:sp>
      <p:sp>
        <p:nvSpPr>
          <p:cNvPr id="6" name="!!Date Placeholder 5">
            <a:extLst>
              <a:ext uri="{FF2B5EF4-FFF2-40B4-BE49-F238E27FC236}">
                <a16:creationId xmlns:a16="http://schemas.microsoft.com/office/drawing/2014/main" id="{ACEF10BC-5EA7-7C02-F9DB-D92D9D9DD86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2DB7105E-1233-E9CB-60FD-C214235DA58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7F9558EE-41A1-75EE-5524-0519FC03DF5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04A052F-904E-B137-1972-89A0ADE1BCCA}"/>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11BFC2EC-D665-B914-BAF3-8E6D855AFA9B}"/>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8AEB4F3-2F3B-8124-12B8-C68EBDF43FDA}"/>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658426BE-A363-D965-F2D9-E875231E229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5A4C3680-321E-6A0A-32AD-51B41E2BC0D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110" name="!!TextBox 109">
            <a:extLst>
              <a:ext uri="{FF2B5EF4-FFF2-40B4-BE49-F238E27FC236}">
                <a16:creationId xmlns:a16="http://schemas.microsoft.com/office/drawing/2014/main" id="{4BD76859-9912-5A41-9E83-71B1DA1AF233}"/>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p:txBody>
      </p:sp>
      <p:sp>
        <p:nvSpPr>
          <p:cNvPr id="57" name="!!Rectangle 56">
            <a:extLst>
              <a:ext uri="{FF2B5EF4-FFF2-40B4-BE49-F238E27FC236}">
                <a16:creationId xmlns:a16="http://schemas.microsoft.com/office/drawing/2014/main" id="{365E8268-B61F-B610-F4F0-4D9636C4BEC5}"/>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42AC8331-D487-6D71-C7EB-70A0AE4E6720}"/>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722FAAD4-4ECA-D729-D6F4-215BD4C566F9}"/>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227B8848-37DF-5BBD-9518-1BA214A9871F}"/>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A728E832-F40A-CC76-7E14-44DC419C7810}"/>
              </a:ext>
            </a:extLst>
          </p:cNvPr>
          <p:cNvSpPr txBox="1"/>
          <p:nvPr/>
        </p:nvSpPr>
        <p:spPr>
          <a:xfrm>
            <a:off x="3351960" y="4242129"/>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461ADA18-7BF2-23C8-CFDC-76D80E4947B0}"/>
              </a:ext>
            </a:extLst>
          </p:cNvPr>
          <p:cNvCxnSpPr>
            <a:cxnSpLocks/>
          </p:cNvCxnSpPr>
          <p:nvPr/>
        </p:nvCxnSpPr>
        <p:spPr>
          <a:xfrm>
            <a:off x="3176256" y="4606513"/>
            <a:ext cx="116261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200F0CD0-673B-4642-6735-6744F92203EE}"/>
              </a:ext>
            </a:extLst>
          </p:cNvPr>
          <p:cNvGraphicFramePr>
            <a:graphicFrameLocks noGrp="1"/>
          </p:cNvGraphicFramePr>
          <p:nvPr>
            <p:extLst>
              <p:ext uri="{D42A27DB-BD31-4B8C-83A1-F6EECF244321}">
                <p14:modId xmlns:p14="http://schemas.microsoft.com/office/powerpoint/2010/main" val="1663005071"/>
              </p:ext>
            </p:extLst>
          </p:nvPr>
        </p:nvGraphicFramePr>
        <p:xfrm>
          <a:off x="5132298"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2295D547-240D-3A15-3B3E-D979A114AEA5}"/>
              </a:ext>
            </a:extLst>
          </p:cNvPr>
          <p:cNvSpPr txBox="1"/>
          <p:nvPr/>
        </p:nvSpPr>
        <p:spPr>
          <a:xfrm>
            <a:off x="5063991"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cxnSp>
        <p:nvCxnSpPr>
          <p:cNvPr id="31" name="!!Straight Arrow Connector 30">
            <a:extLst>
              <a:ext uri="{FF2B5EF4-FFF2-40B4-BE49-F238E27FC236}">
                <a16:creationId xmlns:a16="http://schemas.microsoft.com/office/drawing/2014/main" id="{68C6CD80-30F1-9080-4A41-EA513D28AEAF}"/>
              </a:ext>
            </a:extLst>
          </p:cNvPr>
          <p:cNvCxnSpPr>
            <a:cxnSpLocks/>
          </p:cNvCxnSpPr>
          <p:nvPr/>
        </p:nvCxnSpPr>
        <p:spPr>
          <a:xfrm flipV="1">
            <a:off x="4323782" y="3326004"/>
            <a:ext cx="808516" cy="1280509"/>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DDFA7CCA-EE89-44A1-46DA-72A508E770B1}"/>
              </a:ext>
            </a:extLst>
          </p:cNvPr>
          <p:cNvSpPr txBox="1"/>
          <p:nvPr/>
        </p:nvSpPr>
        <p:spPr>
          <a:xfrm>
            <a:off x="3351959" y="425878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7251B582-E9DD-85B2-D81E-68302EF96CF2}"/>
              </a:ext>
            </a:extLst>
          </p:cNvPr>
          <p:cNvCxnSpPr/>
          <p:nvPr/>
        </p:nvCxnSpPr>
        <p:spPr>
          <a:xfrm>
            <a:off x="4323782" y="4624836"/>
            <a:ext cx="808516" cy="20913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94786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par>
                                <p:cTn id="8" presetID="10" presetClass="entr" presetSubtype="0"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8"/>
                                        </p:tgtEl>
                                        <p:attrNameLst>
                                          <p:attrName>style.visibility</p:attrName>
                                        </p:attrNameLst>
                                      </p:cBhvr>
                                      <p:to>
                                        <p:strVal val="visible"/>
                                      </p:to>
                                    </p:set>
                                    <p:animEffect transition="in" filter="fade">
                                      <p:cBhvr>
                                        <p:cTn id="16" dur="500"/>
                                        <p:tgtEl>
                                          <p:spTgt spid="108"/>
                                        </p:tgtEl>
                                      </p:cBhvr>
                                    </p:animEffect>
                                  </p:childTnLst>
                                </p:cTn>
                              </p:par>
                              <p:par>
                                <p:cTn id="17" presetID="10"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1" nodeType="clickEffect">
                                  <p:stCondLst>
                                    <p:cond delay="0"/>
                                  </p:stCondLst>
                                  <p:childTnLst>
                                    <p:set>
                                      <p:cBhvr>
                                        <p:cTn id="23" dur="1" fill="hold">
                                          <p:stCondLst>
                                            <p:cond delay="0"/>
                                          </p:stCondLst>
                                        </p:cTn>
                                        <p:tgtEl>
                                          <p:spTgt spid="130"/>
                                        </p:tgtEl>
                                        <p:attrNameLst>
                                          <p:attrName>style.visibility</p:attrName>
                                        </p:attrNameLst>
                                      </p:cBhvr>
                                      <p:to>
                                        <p:strVal val="visible"/>
                                      </p:to>
                                    </p:set>
                                    <p:animEffect transition="in" filter="fade">
                                      <p:cBhvr>
                                        <p:cTn id="24" dur="500"/>
                                        <p:tgtEl>
                                          <p:spTgt spid="13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0">
                                            <p:txEl>
                                              <p:pRg st="1" end="1"/>
                                            </p:txEl>
                                          </p:spTgt>
                                        </p:tgtEl>
                                        <p:attrNameLst>
                                          <p:attrName>style.visibility</p:attrName>
                                        </p:attrNameLst>
                                      </p:cBhvr>
                                      <p:to>
                                        <p:strVal val="visible"/>
                                      </p:to>
                                    </p:set>
                                    <p:animEffect transition="in" filter="fade">
                                      <p:cBhvr>
                                        <p:cTn id="29" dur="500"/>
                                        <p:tgtEl>
                                          <p:spTgt spid="110">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grpId="0" nodeType="clickEffect">
                                  <p:stCondLst>
                                    <p:cond delay="0"/>
                                  </p:stCondLst>
                                  <p:childTnLst>
                                    <p:animMotion origin="layout" path="M -2.08333E-7 -4.44444E-6 L -2.08333E-7 0.00024 C 0.00352 0.00093 0.00716 0.00162 0.01068 0.00301 C 0.01211 0.00348 0.01341 0.0051 0.01471 0.00602 C 0.02044 0.0088 0.01784 0.00533 0.02383 0.01042 C 0.03255 0.01737 0.02383 0.01297 0.03125 0.01621 C 0.03242 0.01713 0.03333 0.01922 0.03451 0.01899 C 0.04401 0.01829 0.04883 0.02014 0.05352 0.0088 C 0.0543 0.00718 0.05469 0.00487 0.05521 0.00301 C 0.05716 -0.01134 0.05469 0.00649 0.0569 -0.01018 C 0.05703 -0.01226 0.05729 -0.01412 0.05768 -0.01597 C 0.05833 -0.01944 0.05925 -0.02291 0.06016 -0.02638 C 0.06432 -0.04097 0.05911 -0.01851 0.06341 -0.03657 C 0.0638 -0.03796 0.06393 -0.03958 0.06419 -0.04097 C 0.0651 -0.04467 0.06745 -0.05625 0.06914 -0.06157 C 0.07018 -0.06458 0.07135 -0.06736 0.07253 -0.07037 C 0.07331 -0.07222 0.07435 -0.07407 0.075 -0.07615 C 0.07721 -0.08333 0.07604 -0.08518 0.07904 -0.09213 C 0.07969 -0.09375 0.08073 -0.09421 0.08151 -0.09513 C 0.08333 -0.10763 0.08164 -0.09953 0.09063 -0.11574 C 0.09141 -0.11713 0.09245 -0.11828 0.0931 -0.12013 C 0.09427 -0.12268 0.09635 -0.12824 0.09805 -0.13032 C 0.10039 -0.1331 0.10286 -0.13564 0.10547 -0.13773 C 0.10898 -0.1405 0.11289 -0.14143 0.11615 -0.1449 C 0.12513 -0.15439 0.11615 -0.14583 0.12357 -0.15092 C 0.12474 -0.15162 0.12578 -0.153 0.12695 -0.1537 C 0.12852 -0.15486 0.13021 -0.15555 0.1319 -0.15671 C 0.13333 -0.15763 0.13464 -0.15856 0.13607 -0.15949 L 0.15495 -0.15671 C 0.15716 -0.15625 0.15938 -0.15532 0.16159 -0.15532 C 0.16458 -0.15486 0.16758 -0.15532 0.1707 -0.15532 L 0.1707 -0.15509 " pathEditMode="relative" rAng="0" ptsTypes="AAAAAAAAAAAAAAAAAAAAAAAAAAAAAAAA">
                                      <p:cBhvr>
                                        <p:cTn id="46" dur="500" fill="hold"/>
                                        <p:tgtEl>
                                          <p:spTgt spid="130"/>
                                        </p:tgtEl>
                                        <p:attrNameLst>
                                          <p:attrName>ppt_x</p:attrName>
                                          <p:attrName>ppt_y</p:attrName>
                                        </p:attrNameLst>
                                      </p:cBhvr>
                                      <p:rCtr x="8529" y="-7037"/>
                                    </p:animMotion>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500"/>
                                        <p:tgtEl>
                                          <p:spTgt spid="31"/>
                                        </p:tgtEl>
                                      </p:cBhvr>
                                    </p:animEffect>
                                    <p:set>
                                      <p:cBhvr>
                                        <p:cTn id="51" dur="1" fill="hold">
                                          <p:stCondLst>
                                            <p:cond delay="499"/>
                                          </p:stCondLst>
                                        </p:cTn>
                                        <p:tgtEl>
                                          <p:spTgt spid="31"/>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500"/>
                                        <p:tgtEl>
                                          <p:spTgt spid="37"/>
                                        </p:tgtEl>
                                      </p:cBhvr>
                                    </p:animEffect>
                                  </p:childTnLst>
                                </p:cTn>
                              </p:par>
                            </p:childTnLst>
                          </p:cTn>
                        </p:par>
                      </p:childTnLst>
                    </p:cTn>
                  </p:par>
                  <p:par>
                    <p:cTn id="62" fill="hold">
                      <p:stCondLst>
                        <p:cond delay="indefinite"/>
                      </p:stCondLst>
                      <p:childTnLst>
                        <p:par>
                          <p:cTn id="63" fill="hold">
                            <p:stCondLst>
                              <p:cond delay="0"/>
                            </p:stCondLst>
                            <p:childTnLst>
                              <p:par>
                                <p:cTn id="64" presetID="0" presetClass="path" presetSubtype="0" accel="50000" decel="50000" fill="hold" grpId="1" nodeType="clickEffect">
                                  <p:stCondLst>
                                    <p:cond delay="0"/>
                                  </p:stCondLst>
                                  <p:childTnLst>
                                    <p:animMotion origin="layout" path="M 0.00925 0.00116 L 0.00925 0.00116 C 0.01068 0.00116 0.0237 0.00209 0.02734 0.00324 C 0.02865 0.00371 0.02982 0.00463 0.03112 0.00556 C 0.03438 0.00764 0.03776 0.00949 0.04102 0.01227 C 0.04245 0.0132 0.04349 0.01551 0.04479 0.01667 C 0.04688 0.01829 0.05 0.01898 0.05234 0.01991 C 0.05313 0.02037 0.05404 0.0206 0.05482 0.02107 C 0.05625 0.02199 0.05768 0.02338 0.05925 0.02431 C 0.06003 0.025 0.06094 0.025 0.06172 0.02547 C 0.0625 0.02616 0.06328 0.02709 0.06419 0.02778 C 0.06497 0.02824 0.06589 0.02847 0.06667 0.02894 C 0.06875 0.02963 0.07096 0.02986 0.07292 0.03102 C 0.07656 0.03334 0.07305 0.03125 0.07852 0.03334 C 0.08594 0.03588 0.07435 0.03264 0.08542 0.03565 C 0.09518 0.04167 0.09115 0.04005 0.09727 0.04213 C 0.09792 0.04306 0.09857 0.04398 0.09922 0.04445 C 0.103 0.04746 0.10599 0.04746 0.11042 0.04885 C 0.11133 0.04908 0.11211 0.04977 0.11289 0.05 C 0.11458 0.05047 0.11628 0.05047 0.11797 0.05116 C 0.13385 0.05648 0.11875 0.05255 0.13294 0.05672 C 0.13581 0.05741 0.1388 0.05903 0.14167 0.0588 L 0.16927 0.05787 " pathEditMode="relative" ptsTypes="AAAAAAAAAAAAAAAAAAAAAAA">
                                      <p:cBhvr>
                                        <p:cTn id="65" dur="500" fill="hold"/>
                                        <p:tgtEl>
                                          <p:spTgt spid="35"/>
                                        </p:tgtEl>
                                        <p:attrNameLst>
                                          <p:attrName>ppt_x</p:attrName>
                                          <p:attrName>ppt_y</p:attrName>
                                        </p:attrNameLst>
                                      </p:cBhvr>
                                    </p:animMotion>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nodeType="clickEffect">
                                  <p:stCondLst>
                                    <p:cond delay="0"/>
                                  </p:stCondLst>
                                  <p:childTnLst>
                                    <p:animEffect transition="out" filter="fade">
                                      <p:cBhvr>
                                        <p:cTn id="69" dur="500"/>
                                        <p:tgtEl>
                                          <p:spTgt spid="37"/>
                                        </p:tgtEl>
                                      </p:cBhvr>
                                    </p:animEffect>
                                    <p:set>
                                      <p:cBhvr>
                                        <p:cTn id="70" dur="1" fill="hold">
                                          <p:stCondLst>
                                            <p:cond delay="49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9" grpId="0"/>
      <p:bldP spid="108" grpId="0"/>
      <p:bldP spid="130" grpId="0"/>
      <p:bldP spid="130" grpId="1"/>
      <p:bldP spid="30" grpId="0"/>
      <p:bldP spid="35" grpId="0"/>
      <p:bldP spid="35" grpId="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1742C-0887-D18F-E4F1-311EDCC0D1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8221C4-FA9E-0C8F-1DFC-640A41D271D7}"/>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17472C48-F0DF-4C33-DC50-C2BAC01DAAD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C40E382-C989-E521-9AD7-AF5C2A042D6E}"/>
              </a:ext>
            </a:extLst>
          </p:cNvPr>
          <p:cNvSpPr>
            <a:spLocks noGrp="1"/>
          </p:cNvSpPr>
          <p:nvPr>
            <p:ph type="sldNum" sz="quarter" idx="4"/>
          </p:nvPr>
        </p:nvSpPr>
        <p:spPr/>
        <p:txBody>
          <a:bodyPr/>
          <a:lstStyle/>
          <a:p>
            <a:pPr>
              <a:defRPr/>
            </a:pPr>
            <a:fld id="{A9CE67A1-BA7F-A74E-B5D7-615746DEEC2B}" type="slidenum">
              <a:rPr lang="en-US" smtClean="0"/>
              <a:pPr>
                <a:defRPr/>
              </a:pPr>
              <a:t>82</a:t>
            </a:fld>
            <a:endParaRPr lang="en-US" baseline="-11000" dirty="0"/>
          </a:p>
        </p:txBody>
      </p:sp>
      <p:sp>
        <p:nvSpPr>
          <p:cNvPr id="6" name="!!Date Placeholder 5">
            <a:extLst>
              <a:ext uri="{FF2B5EF4-FFF2-40B4-BE49-F238E27FC236}">
                <a16:creationId xmlns:a16="http://schemas.microsoft.com/office/drawing/2014/main" id="{51AA428B-3703-D61A-8F87-CEE7DB8B653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7279BD12-2078-CC5A-C858-3DB861C92243}"/>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BB5144AB-5C26-B9ED-EF12-11C86692206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43A71ED3-42F0-2187-0A23-CA1D5C3EF874}"/>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200D1AA2-6E7C-4A0F-E5CE-3976D8339112}"/>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FE414A3F-8AA5-577A-920D-7B3DA1E248E1}"/>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2343DF6F-864B-9442-316B-CF054C42994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A718F39C-2D52-C557-B37A-8EDA73478FF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ECA21E50-9D9D-3DA8-FE19-F388EF581934}"/>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F955936E-5A79-CDE2-858E-61A689F97469}"/>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C2519719-D946-4399-999A-9568FA9C5A4A}"/>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6094FF5B-E98E-DB87-D009-5902158160D2}"/>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39BC3EDE-6E5A-2B91-95C0-B86D09A19C03}"/>
              </a:ext>
            </a:extLst>
          </p:cNvPr>
          <p:cNvSpPr txBox="1"/>
          <p:nvPr/>
        </p:nvSpPr>
        <p:spPr>
          <a:xfrm>
            <a:off x="5417135" y="313555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98337866-B95A-32D6-87F0-644143648881}"/>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7A45C0A9-63EF-B9D0-26F2-C41AC0B349AE}"/>
              </a:ext>
            </a:extLst>
          </p:cNvPr>
          <p:cNvGraphicFramePr>
            <a:graphicFrameLocks noGrp="1"/>
          </p:cNvGraphicFramePr>
          <p:nvPr>
            <p:extLst>
              <p:ext uri="{D42A27DB-BD31-4B8C-83A1-F6EECF244321}">
                <p14:modId xmlns:p14="http://schemas.microsoft.com/office/powerpoint/2010/main" val="2520198145"/>
              </p:ext>
            </p:extLst>
          </p:nvPr>
        </p:nvGraphicFramePr>
        <p:xfrm>
          <a:off x="5132298"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BC4043A2-B90E-66EE-1081-622B5B5B6422}"/>
              </a:ext>
            </a:extLst>
          </p:cNvPr>
          <p:cNvSpPr txBox="1"/>
          <p:nvPr/>
        </p:nvSpPr>
        <p:spPr>
          <a:xfrm>
            <a:off x="5063991"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9" name="!!TextBox 8">
            <a:extLst>
              <a:ext uri="{FF2B5EF4-FFF2-40B4-BE49-F238E27FC236}">
                <a16:creationId xmlns:a16="http://schemas.microsoft.com/office/drawing/2014/main" id="{5E98E9D2-A28B-ECFA-989C-8D974E3C8602}"/>
              </a:ext>
            </a:extLst>
          </p:cNvPr>
          <p:cNvSpPr txBox="1"/>
          <p:nvPr/>
        </p:nvSpPr>
        <p:spPr>
          <a:xfrm>
            <a:off x="5425133" y="351938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11" name="!!TextBox 10">
            <a:extLst>
              <a:ext uri="{FF2B5EF4-FFF2-40B4-BE49-F238E27FC236}">
                <a16:creationId xmlns:a16="http://schemas.microsoft.com/office/drawing/2014/main" id="{34543ECA-B307-329E-C0A1-76C05B7D945E}"/>
              </a:ext>
            </a:extLst>
          </p:cNvPr>
          <p:cNvSpPr txBox="1"/>
          <p:nvPr/>
        </p:nvSpPr>
        <p:spPr>
          <a:xfrm>
            <a:off x="5425133" y="390410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12" name="!!TextBox 11">
            <a:extLst>
              <a:ext uri="{FF2B5EF4-FFF2-40B4-BE49-F238E27FC236}">
                <a16:creationId xmlns:a16="http://schemas.microsoft.com/office/drawing/2014/main" id="{3EC9A04E-F45C-43FA-D08C-D608383C4D0E}"/>
              </a:ext>
            </a:extLst>
          </p:cNvPr>
          <p:cNvSpPr txBox="1"/>
          <p:nvPr/>
        </p:nvSpPr>
        <p:spPr>
          <a:xfrm>
            <a:off x="5425133" y="428882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14" name="!!TextBox 34">
            <a:extLst>
              <a:ext uri="{FF2B5EF4-FFF2-40B4-BE49-F238E27FC236}">
                <a16:creationId xmlns:a16="http://schemas.microsoft.com/office/drawing/2014/main" id="{74DA43C6-5EFE-2E5F-DFE5-254C0146512B}"/>
              </a:ext>
            </a:extLst>
          </p:cNvPr>
          <p:cNvSpPr txBox="1"/>
          <p:nvPr/>
        </p:nvSpPr>
        <p:spPr>
          <a:xfrm>
            <a:off x="5425133"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16" name="!!TextBox 15">
            <a:extLst>
              <a:ext uri="{FF2B5EF4-FFF2-40B4-BE49-F238E27FC236}">
                <a16:creationId xmlns:a16="http://schemas.microsoft.com/office/drawing/2014/main" id="{30E38C29-A1A7-B120-C9EA-C7C8295E9D38}"/>
              </a:ext>
            </a:extLst>
          </p:cNvPr>
          <p:cNvSpPr txBox="1"/>
          <p:nvPr/>
        </p:nvSpPr>
        <p:spPr>
          <a:xfrm>
            <a:off x="5425133" y="505438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17" name="!!TextBox 16">
            <a:extLst>
              <a:ext uri="{FF2B5EF4-FFF2-40B4-BE49-F238E27FC236}">
                <a16:creationId xmlns:a16="http://schemas.microsoft.com/office/drawing/2014/main" id="{878B0405-9F34-A9D5-3AFB-2FBB59252D53}"/>
              </a:ext>
            </a:extLst>
          </p:cNvPr>
          <p:cNvSpPr txBox="1"/>
          <p:nvPr/>
        </p:nvSpPr>
        <p:spPr>
          <a:xfrm>
            <a:off x="5425133" y="539543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18" name="!!TextBox 17">
            <a:extLst>
              <a:ext uri="{FF2B5EF4-FFF2-40B4-BE49-F238E27FC236}">
                <a16:creationId xmlns:a16="http://schemas.microsoft.com/office/drawing/2014/main" id="{5865765E-2C43-84E7-1361-381241C44890}"/>
              </a:ext>
            </a:extLst>
          </p:cNvPr>
          <p:cNvSpPr txBox="1"/>
          <p:nvPr/>
        </p:nvSpPr>
        <p:spPr>
          <a:xfrm>
            <a:off x="5425133" y="575324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20" name="!!TextBox 109">
            <a:extLst>
              <a:ext uri="{FF2B5EF4-FFF2-40B4-BE49-F238E27FC236}">
                <a16:creationId xmlns:a16="http://schemas.microsoft.com/office/drawing/2014/main" id="{35AB82DC-4CD5-4B85-248C-BC827343A23F}"/>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p:txBody>
      </p:sp>
      <p:cxnSp>
        <p:nvCxnSpPr>
          <p:cNvPr id="22" name="Straight Arrow Connector 21">
            <a:extLst>
              <a:ext uri="{FF2B5EF4-FFF2-40B4-BE49-F238E27FC236}">
                <a16:creationId xmlns:a16="http://schemas.microsoft.com/office/drawing/2014/main" id="{8806FE9B-E07D-7710-173E-5FBCB7FDE415}"/>
              </a:ext>
            </a:extLst>
          </p:cNvPr>
          <p:cNvCxnSpPr/>
          <p:nvPr/>
        </p:nvCxnSpPr>
        <p:spPr>
          <a:xfrm>
            <a:off x="6307159"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A6FDEF15-1C18-2843-891E-9D147716A2C0}"/>
              </a:ext>
            </a:extLst>
          </p:cNvPr>
          <p:cNvSpPr txBox="1"/>
          <p:nvPr/>
        </p:nvSpPr>
        <p:spPr>
          <a:xfrm>
            <a:off x="6492693"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26" name="TextBox 25">
            <a:extLst>
              <a:ext uri="{FF2B5EF4-FFF2-40B4-BE49-F238E27FC236}">
                <a16:creationId xmlns:a16="http://schemas.microsoft.com/office/drawing/2014/main" id="{B2E701BE-2FF1-67C4-BBB9-7EACAD6E7704}"/>
              </a:ext>
            </a:extLst>
          </p:cNvPr>
          <p:cNvSpPr txBox="1"/>
          <p:nvPr/>
        </p:nvSpPr>
        <p:spPr>
          <a:xfrm>
            <a:off x="3460814" y="4268667"/>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sp>
        <p:nvSpPr>
          <p:cNvPr id="27" name="TextBox 26">
            <a:extLst>
              <a:ext uri="{FF2B5EF4-FFF2-40B4-BE49-F238E27FC236}">
                <a16:creationId xmlns:a16="http://schemas.microsoft.com/office/drawing/2014/main" id="{2AD2D09C-A5EA-5888-D86E-0225BABF690E}"/>
              </a:ext>
            </a:extLst>
          </p:cNvPr>
          <p:cNvSpPr txBox="1"/>
          <p:nvPr/>
        </p:nvSpPr>
        <p:spPr>
          <a:xfrm>
            <a:off x="3469091" y="428494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Tree>
    <p:extLst>
      <p:ext uri="{BB962C8B-B14F-4D97-AF65-F5344CB8AC3E}">
        <p14:creationId xmlns:p14="http://schemas.microsoft.com/office/powerpoint/2010/main" val="16045767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grpId="0" nodeType="clickEffect">
                                  <p:stCondLst>
                                    <p:cond delay="0"/>
                                  </p:stCondLst>
                                  <p:childTnLst>
                                    <p:animMotion origin="layout" path="M 0.02865 0.00116 L 0.02865 0.00116 C 0.03763 -0.00231 0.03685 -0.00301 0.04987 0.00116 C 0.05052 0.00139 0.05065 0.00347 0.05104 0.00463 C 0.05235 0.00787 0.05547 0.01412 0.05547 0.01783 L 0.05547 0.0257 L 0.0586 0.18704 L 0.22357 0.18588 " pathEditMode="relative" ptsTypes="AAAAAAAA">
                                      <p:cBhvr>
                                        <p:cTn id="11" dur="500" fill="hold"/>
                                        <p:tgtEl>
                                          <p:spTgt spid="130"/>
                                        </p:tgtEl>
                                        <p:attrNameLst>
                                          <p:attrName>ppt_x</p:attrName>
                                          <p:attrName>ppt_y</p:attrName>
                                        </p:attrNameLst>
                                      </p:cBhvr>
                                    </p:animMotion>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grpId="1" nodeType="clickEffect">
                                  <p:stCondLst>
                                    <p:cond delay="0"/>
                                  </p:stCondLst>
                                  <p:childTnLst>
                                    <p:animMotion origin="layout" path="M 0.01928 -0.00301 L 0.01928 -0.00301 C 0.03659 0.01088 0.02032 -3.7037E-7 0.05586 0.0044 C 0.05782 0.00463 0.05977 0.00671 0.06172 0.00741 C 0.06329 0.0081 0.06498 0.00833 0.06667 0.00903 C 0.08568 0.00741 0.09571 0.01875 0.10665 0.00162 C 0.10808 -0.00069 0.10938 -0.00347 0.11081 -0.00579 C 0.11133 -0.01088 0.11211 -0.01574 0.1125 -0.0206 C 0.11368 -0.03958 0.1129 -0.02963 0.11498 -0.05023 C 0.11472 -0.06713 0.11485 -0.08403 0.1142 -0.10069 C 0.11394 -0.1044 0.11277 -0.10741 0.1125 -0.11111 C 0.11185 -0.12037 0.11198 -0.12986 0.11159 -0.13912 C 0.1155 -0.16968 0.1099 -0.16366 0.11915 -0.16736 C 0.12032 -0.16782 0.12136 -0.16829 0.12253 -0.16875 L 0.1349 -0.16736 C 0.1375 -0.1669 0.13998 -0.16597 0.14245 -0.16597 C 0.14766 -0.16551 0.153 -0.16597 0.15834 -0.16597 " pathEditMode="relative" ptsTypes="AAAAAAAAAAAAAAAAA">
                                      <p:cBhvr>
                                        <p:cTn id="20" dur="500" fill="hold"/>
                                        <p:tgtEl>
                                          <p:spTgt spid="26"/>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500"/>
                                        <p:tgtEl>
                                          <p:spTgt spid="130"/>
                                        </p:tgtEl>
                                      </p:cBhvr>
                                    </p:animEffect>
                                    <p:set>
                                      <p:cBhvr>
                                        <p:cTn id="25" dur="1" fill="hold">
                                          <p:stCondLst>
                                            <p:cond delay="499"/>
                                          </p:stCondLst>
                                        </p:cTn>
                                        <p:tgtEl>
                                          <p:spTgt spid="130"/>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0" presetClass="path" presetSubtype="0" accel="50000" decel="50000" fill="hold" grpId="0" nodeType="clickEffect">
                                  <p:stCondLst>
                                    <p:cond delay="0"/>
                                  </p:stCondLst>
                                  <p:childTnLst>
                                    <p:animMotion origin="layout" path="M 0.00729 -0.00463 L 0.05391 -0.00324 L 0.05313 0.13472 L 0.20729 0.1331 " pathEditMode="relative" ptsTypes="AAAA">
                                      <p:cBhvr>
                                        <p:cTn id="29" dur="500" fill="hold"/>
                                        <p:tgtEl>
                                          <p:spTgt spid="9"/>
                                        </p:tgtEl>
                                        <p:attrNameLst>
                                          <p:attrName>ppt_x</p:attrName>
                                          <p:attrName>ppt_y</p:attrName>
                                        </p:attrNameLst>
                                      </p:cBhvr>
                                    </p:animMotion>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grpId="1" nodeType="clickEffect">
                                  <p:stCondLst>
                                    <p:cond delay="0"/>
                                  </p:stCondLst>
                                  <p:childTnLst>
                                    <p:animMotion origin="layout" path="M 0.02942 -0.0007 L 0.09934 -0.00348 L 0.09596 0.06319 L 0.1069 0.05717 " pathEditMode="relative" ptsTypes="AAAA">
                                      <p:cBhvr>
                                        <p:cTn id="38" dur="500" fill="hold"/>
                                        <p:tgtEl>
                                          <p:spTgt spid="2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0" grpId="1"/>
      <p:bldP spid="9" grpId="0"/>
      <p:bldP spid="24" grpId="0"/>
      <p:bldP spid="26" grpId="0"/>
      <p:bldP spid="26" grpId="1"/>
      <p:bldP spid="27" grpId="0"/>
      <p:bldP spid="27" grpId="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D29DB-7186-C841-5716-CF182B282D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3BFD00-3A52-2D9E-B887-74D9F227FEBC}"/>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D759413B-6C2D-201E-2FCB-28AEB58FD75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1740F12-7BD4-91B6-7181-AFC0D2DD3CA7}"/>
              </a:ext>
            </a:extLst>
          </p:cNvPr>
          <p:cNvSpPr>
            <a:spLocks noGrp="1"/>
          </p:cNvSpPr>
          <p:nvPr>
            <p:ph type="sldNum" sz="quarter" idx="4"/>
          </p:nvPr>
        </p:nvSpPr>
        <p:spPr/>
        <p:txBody>
          <a:bodyPr/>
          <a:lstStyle/>
          <a:p>
            <a:pPr>
              <a:defRPr/>
            </a:pPr>
            <a:fld id="{A9CE67A1-BA7F-A74E-B5D7-615746DEEC2B}" type="slidenum">
              <a:rPr lang="en-US" smtClean="0"/>
              <a:pPr>
                <a:defRPr/>
              </a:pPr>
              <a:t>83</a:t>
            </a:fld>
            <a:endParaRPr lang="en-US" baseline="-11000" dirty="0"/>
          </a:p>
        </p:txBody>
      </p:sp>
      <p:sp>
        <p:nvSpPr>
          <p:cNvPr id="6" name="!!Date Placeholder 5">
            <a:extLst>
              <a:ext uri="{FF2B5EF4-FFF2-40B4-BE49-F238E27FC236}">
                <a16:creationId xmlns:a16="http://schemas.microsoft.com/office/drawing/2014/main" id="{A6358BFE-B321-7EE8-D8BB-26C579D6F49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4BE6C92E-0FD1-2852-3A0E-C1CDCF1D4EB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2BC90C0A-F727-B6E3-784E-3B5F511FAF27}"/>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C2A437DB-30BE-A542-C5A8-FFB520266B6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B4385C4F-379D-C58E-2D35-AAABCD1E4AF0}"/>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66E11BDF-7782-FD41-C718-5D5749AC53B3}"/>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23E1686-F844-3D5F-0930-2F7C88675F29}"/>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C28EA214-4BDC-26D1-5B20-39571EC4F1C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EC9ED888-964E-A6E6-07CD-952ECECA09E1}"/>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A1461B31-6E50-960E-29D9-1AD4BF184291}"/>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5A0379A8-D2FE-EA7A-E78E-1FA95A19F761}"/>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50C1DD2D-F772-BB53-2528-D850E53A8712}"/>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4CE78255-2C31-4435-5A8D-4FDF6EECD99B}"/>
              </a:ext>
            </a:extLst>
          </p:cNvPr>
          <p:cNvSpPr txBox="1"/>
          <p:nvPr/>
        </p:nvSpPr>
        <p:spPr>
          <a:xfrm>
            <a:off x="7813132" y="313555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8F714E1D-80A1-09AF-9BE8-5BEBF680F266}"/>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C7E772A1-F073-B2D0-DBB4-7CF554F14C6F}"/>
              </a:ext>
            </a:extLst>
          </p:cNvPr>
          <p:cNvGraphicFramePr>
            <a:graphicFrameLocks noGrp="1"/>
          </p:cNvGraphicFramePr>
          <p:nvPr/>
        </p:nvGraphicFramePr>
        <p:xfrm>
          <a:off x="7528295"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2E53053A-B2E2-B54E-BE8B-C8B12B4767D3}"/>
              </a:ext>
            </a:extLst>
          </p:cNvPr>
          <p:cNvSpPr txBox="1"/>
          <p:nvPr/>
        </p:nvSpPr>
        <p:spPr>
          <a:xfrm>
            <a:off x="745998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9" name="!!TextBox 8">
            <a:extLst>
              <a:ext uri="{FF2B5EF4-FFF2-40B4-BE49-F238E27FC236}">
                <a16:creationId xmlns:a16="http://schemas.microsoft.com/office/drawing/2014/main" id="{E3969ED7-510E-9F55-8895-9A815965527C}"/>
              </a:ext>
            </a:extLst>
          </p:cNvPr>
          <p:cNvSpPr txBox="1"/>
          <p:nvPr/>
        </p:nvSpPr>
        <p:spPr>
          <a:xfrm>
            <a:off x="7821130" y="351938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11" name="!!TextBox 10">
            <a:extLst>
              <a:ext uri="{FF2B5EF4-FFF2-40B4-BE49-F238E27FC236}">
                <a16:creationId xmlns:a16="http://schemas.microsoft.com/office/drawing/2014/main" id="{BF5075B6-0D55-5381-F633-4F3046CE1713}"/>
              </a:ext>
            </a:extLst>
          </p:cNvPr>
          <p:cNvSpPr txBox="1"/>
          <p:nvPr/>
        </p:nvSpPr>
        <p:spPr>
          <a:xfrm>
            <a:off x="7821130" y="390410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12" name="!!TextBox 11">
            <a:extLst>
              <a:ext uri="{FF2B5EF4-FFF2-40B4-BE49-F238E27FC236}">
                <a16:creationId xmlns:a16="http://schemas.microsoft.com/office/drawing/2014/main" id="{56D1DF9E-FBDA-236E-0DE2-6C297AD918F1}"/>
              </a:ext>
            </a:extLst>
          </p:cNvPr>
          <p:cNvSpPr txBox="1"/>
          <p:nvPr/>
        </p:nvSpPr>
        <p:spPr>
          <a:xfrm>
            <a:off x="7821130" y="428882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14" name="!!TextBox 34">
            <a:extLst>
              <a:ext uri="{FF2B5EF4-FFF2-40B4-BE49-F238E27FC236}">
                <a16:creationId xmlns:a16="http://schemas.microsoft.com/office/drawing/2014/main" id="{CEED0F4B-9DB0-F2A7-5780-5E61DBD8A9A4}"/>
              </a:ext>
            </a:extLst>
          </p:cNvPr>
          <p:cNvSpPr txBox="1"/>
          <p:nvPr/>
        </p:nvSpPr>
        <p:spPr>
          <a:xfrm>
            <a:off x="7821130"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16" name="!!TextBox 15">
            <a:extLst>
              <a:ext uri="{FF2B5EF4-FFF2-40B4-BE49-F238E27FC236}">
                <a16:creationId xmlns:a16="http://schemas.microsoft.com/office/drawing/2014/main" id="{CF3C1B73-AA0D-5A9E-7416-A7F8AC6BF95A}"/>
              </a:ext>
            </a:extLst>
          </p:cNvPr>
          <p:cNvSpPr txBox="1"/>
          <p:nvPr/>
        </p:nvSpPr>
        <p:spPr>
          <a:xfrm>
            <a:off x="7821130" y="505438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17" name="!!TextBox 16">
            <a:extLst>
              <a:ext uri="{FF2B5EF4-FFF2-40B4-BE49-F238E27FC236}">
                <a16:creationId xmlns:a16="http://schemas.microsoft.com/office/drawing/2014/main" id="{078AE4CD-7A7C-81CA-2E4C-FFE50E4AF2F6}"/>
              </a:ext>
            </a:extLst>
          </p:cNvPr>
          <p:cNvSpPr txBox="1"/>
          <p:nvPr/>
        </p:nvSpPr>
        <p:spPr>
          <a:xfrm>
            <a:off x="7821130" y="539543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18" name="!!TextBox 17">
            <a:extLst>
              <a:ext uri="{FF2B5EF4-FFF2-40B4-BE49-F238E27FC236}">
                <a16:creationId xmlns:a16="http://schemas.microsoft.com/office/drawing/2014/main" id="{14CC6DC0-9A06-8B46-12CC-DC8976D74170}"/>
              </a:ext>
            </a:extLst>
          </p:cNvPr>
          <p:cNvSpPr txBox="1"/>
          <p:nvPr/>
        </p:nvSpPr>
        <p:spPr>
          <a:xfrm>
            <a:off x="7821130" y="575324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20" name="!!TextBox 109">
            <a:extLst>
              <a:ext uri="{FF2B5EF4-FFF2-40B4-BE49-F238E27FC236}">
                <a16:creationId xmlns:a16="http://schemas.microsoft.com/office/drawing/2014/main" id="{F0AB8A76-BB1A-04E0-2334-1F8028A37D40}"/>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 </a:t>
            </a:r>
          </a:p>
        </p:txBody>
      </p:sp>
      <p:cxnSp>
        <p:nvCxnSpPr>
          <p:cNvPr id="22" name="Straight Arrow Connector 21">
            <a:extLst>
              <a:ext uri="{FF2B5EF4-FFF2-40B4-BE49-F238E27FC236}">
                <a16:creationId xmlns:a16="http://schemas.microsoft.com/office/drawing/2014/main" id="{A2A03DC9-A792-BA68-58FD-D1D96D8D453F}"/>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973FAFC4-B88F-0CEC-A588-950064705F73}"/>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8" name="TextBox 7">
            <a:extLst>
              <a:ext uri="{FF2B5EF4-FFF2-40B4-BE49-F238E27FC236}">
                <a16:creationId xmlns:a16="http://schemas.microsoft.com/office/drawing/2014/main" id="{FED545C8-41B8-4360-70F5-DFCD47A6A784}"/>
              </a:ext>
            </a:extLst>
          </p:cNvPr>
          <p:cNvSpPr txBox="1"/>
          <p:nvPr/>
        </p:nvSpPr>
        <p:spPr>
          <a:xfrm>
            <a:off x="3307976" y="419976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graphicFrame>
        <p:nvGraphicFramePr>
          <p:cNvPr id="21" name="Table 20">
            <a:extLst>
              <a:ext uri="{FF2B5EF4-FFF2-40B4-BE49-F238E27FC236}">
                <a16:creationId xmlns:a16="http://schemas.microsoft.com/office/drawing/2014/main" id="{6125B474-C236-17C0-E082-2DC8FDC895CA}"/>
              </a:ext>
            </a:extLst>
          </p:cNvPr>
          <p:cNvGraphicFramePr>
            <a:graphicFrameLocks noGrp="1"/>
          </p:cNvGraphicFramePr>
          <p:nvPr/>
        </p:nvGraphicFramePr>
        <p:xfrm>
          <a:off x="5070551" y="3158879"/>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3EE8A6D6-44BF-BFD4-F708-A75D3EE1A8C8}"/>
              </a:ext>
            </a:extLst>
          </p:cNvPr>
          <p:cNvSpPr txBox="1"/>
          <p:nvPr/>
        </p:nvSpPr>
        <p:spPr>
          <a:xfrm>
            <a:off x="5063991"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29" name="TextBox 28">
            <a:extLst>
              <a:ext uri="{FF2B5EF4-FFF2-40B4-BE49-F238E27FC236}">
                <a16:creationId xmlns:a16="http://schemas.microsoft.com/office/drawing/2014/main" id="{E2C57E6F-D48E-FA5A-D6FC-7DAEFADF12AB}"/>
              </a:ext>
            </a:extLst>
          </p:cNvPr>
          <p:cNvSpPr txBox="1"/>
          <p:nvPr/>
        </p:nvSpPr>
        <p:spPr>
          <a:xfrm>
            <a:off x="3301416" y="42200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Tree>
    <p:extLst>
      <p:ext uri="{BB962C8B-B14F-4D97-AF65-F5344CB8AC3E}">
        <p14:creationId xmlns:p14="http://schemas.microsoft.com/office/powerpoint/2010/main" val="398951725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2721 -0.00185 L 0.05299 -0.00185 L 0.05468 0.18635 L 0.20468 0.18334 " pathEditMode="relative" ptsTypes="AAAA">
                                      <p:cBhvr>
                                        <p:cTn id="6" dur="500" fill="hold"/>
                                        <p:tgtEl>
                                          <p:spTgt spid="13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xEl>
                                              <p:pRg st="3" end="3"/>
                                            </p:txEl>
                                          </p:spTgt>
                                        </p:tgtEl>
                                        <p:attrNameLst>
                                          <p:attrName>style.visibility</p:attrName>
                                        </p:attrNameLst>
                                      </p:cBhvr>
                                      <p:to>
                                        <p:strVal val="visible"/>
                                      </p:to>
                                    </p:set>
                                    <p:animEffect transition="in" filter="fade">
                                      <p:cBhvr>
                                        <p:cTn id="17" dur="500"/>
                                        <p:tgtEl>
                                          <p:spTgt spid="20">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xEl>
                                              <p:pRg st="4" end="4"/>
                                            </p:txEl>
                                          </p:spTgt>
                                        </p:tgtEl>
                                        <p:attrNameLst>
                                          <p:attrName>style.visibility</p:attrName>
                                        </p:attrNameLst>
                                      </p:cBhvr>
                                      <p:to>
                                        <p:strVal val="visible"/>
                                      </p:to>
                                    </p:set>
                                    <p:animEffect transition="in" filter="fade">
                                      <p:cBhvr>
                                        <p:cTn id="20" dur="500"/>
                                        <p:tgtEl>
                                          <p:spTgt spid="20">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0.01316 3.33333E-6 L 0.08724 0.00301 L 0.08724 -0.14676 L 0.16224 -0.15116 " pathEditMode="relative" rAng="0" ptsTypes="AAAA">
                                      <p:cBhvr>
                                        <p:cTn id="24" dur="500" fill="hold"/>
                                        <p:tgtEl>
                                          <p:spTgt spid="8"/>
                                        </p:tgtEl>
                                        <p:attrNameLst>
                                          <p:attrName>ppt_x</p:attrName>
                                          <p:attrName>ppt_y</p:attrName>
                                        </p:attrNameLst>
                                      </p:cBhvr>
                                      <p:rCtr x="7448" y="-7407"/>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130"/>
                                        </p:tgtEl>
                                      </p:cBhvr>
                                    </p:animEffect>
                                    <p:set>
                                      <p:cBhvr>
                                        <p:cTn id="34" dur="1" fill="hold">
                                          <p:stCondLst>
                                            <p:cond delay="499"/>
                                          </p:stCondLst>
                                        </p:cTn>
                                        <p:tgtEl>
                                          <p:spTgt spid="130"/>
                                        </p:tgtEl>
                                        <p:attrNameLst>
                                          <p:attrName>style.visibility</p:attrName>
                                        </p:attrNameLst>
                                      </p:cBhvr>
                                      <p:to>
                                        <p:strVal val="hidden"/>
                                      </p:to>
                                    </p:set>
                                  </p:childTnLst>
                                </p:cTn>
                              </p:par>
                              <p:par>
                                <p:cTn id="35" presetID="0" presetClass="path" presetSubtype="0" accel="50000" decel="50000" fill="hold" grpId="0" nodeType="withEffect">
                                  <p:stCondLst>
                                    <p:cond delay="0"/>
                                  </p:stCondLst>
                                  <p:childTnLst>
                                    <p:animMotion origin="layout" path="M 0.02565 0.00278 L 0.0539 0.00718 L 0.05221 0.13611 L 0.20898 0.13449 " pathEditMode="relative" ptsTypes="AAAA">
                                      <p:cBhvr>
                                        <p:cTn id="36" dur="500" fill="hold"/>
                                        <p:tgtEl>
                                          <p:spTgt spid="9"/>
                                        </p:tgtEl>
                                        <p:attrNameLst>
                                          <p:attrName>ppt_x</p:attrName>
                                          <p:attrName>ppt_y</p:attrName>
                                        </p:attrNameLst>
                                      </p:cBhvr>
                                    </p:animMotion>
                                  </p:childTnLst>
                                </p:cTn>
                              </p:par>
                              <p:par>
                                <p:cTn id="37" presetID="0" presetClass="path" presetSubtype="0" accel="50000" decel="50000" fill="hold" grpId="1" nodeType="withEffect">
                                  <p:stCondLst>
                                    <p:cond delay="0"/>
                                  </p:stCondLst>
                                  <p:childTnLst>
                                    <p:animMotion origin="layout" path="M 0.02891 0.0044 L 0.09883 0.00579 L 0.10052 0.06366 L 0.16472 0.06204 " pathEditMode="relative" ptsTypes="AAAA">
                                      <p:cBhvr>
                                        <p:cTn id="38" dur="500" fill="hold"/>
                                        <p:tgtEl>
                                          <p:spTgt spid="2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0" grpId="1"/>
      <p:bldP spid="9" grpId="0"/>
      <p:bldP spid="8" grpId="0"/>
      <p:bldP spid="25" grpId="0"/>
      <p:bldP spid="29" grpId="0"/>
      <p:bldP spid="29" grpId="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140BE-305D-9C94-93A9-D1090CEBD1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C202F4-465B-B5B6-0FFC-90DC7A0DD7D0}"/>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E4190EA9-F4D7-DC1B-A380-76ED32D6F44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0045CA3-140C-3B63-325C-895E585469B0}"/>
              </a:ext>
            </a:extLst>
          </p:cNvPr>
          <p:cNvSpPr>
            <a:spLocks noGrp="1"/>
          </p:cNvSpPr>
          <p:nvPr>
            <p:ph type="sldNum" sz="quarter" idx="4"/>
          </p:nvPr>
        </p:nvSpPr>
        <p:spPr/>
        <p:txBody>
          <a:bodyPr/>
          <a:lstStyle/>
          <a:p>
            <a:pPr>
              <a:defRPr/>
            </a:pPr>
            <a:fld id="{A9CE67A1-BA7F-A74E-B5D7-615746DEEC2B}" type="slidenum">
              <a:rPr lang="en-US" smtClean="0"/>
              <a:pPr>
                <a:defRPr/>
              </a:pPr>
              <a:t>84</a:t>
            </a:fld>
            <a:endParaRPr lang="en-US" baseline="-11000" dirty="0"/>
          </a:p>
        </p:txBody>
      </p:sp>
      <p:sp>
        <p:nvSpPr>
          <p:cNvPr id="6" name="!!Date Placeholder 5">
            <a:extLst>
              <a:ext uri="{FF2B5EF4-FFF2-40B4-BE49-F238E27FC236}">
                <a16:creationId xmlns:a16="http://schemas.microsoft.com/office/drawing/2014/main" id="{36FC3558-A702-D402-6777-B2D7A5888B80}"/>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0440190A-314B-6F4B-93F6-7D5F646D33C2}"/>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A47D63C0-E9B8-6E7E-F51A-8E19A637A0C5}"/>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DCF0782-7AEC-CA32-2611-E6B537C1446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9B8752CE-A3B3-F285-A483-75D0F96C415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ABC443F-4CA2-EDC2-4BF0-CD52D49C98CD}"/>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59488B84-498D-8644-11E7-BE8ABE5652F0}"/>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E0CDC1F8-CC3F-F99D-7EA4-3BF8A8B5D0B0}"/>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0EC9FC52-4104-7C51-11CE-E739E20FB947}"/>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F1401FF3-EB5E-9C1F-42C7-640B7892FF04}"/>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6811CE1D-4C21-FE96-8040-ECEE27FCDC57}"/>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F443AB97-3303-8CA4-0AFE-6FC7E4B13C8E}"/>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2" name="!!Straight Arrow Connector 1">
            <a:extLst>
              <a:ext uri="{FF2B5EF4-FFF2-40B4-BE49-F238E27FC236}">
                <a16:creationId xmlns:a16="http://schemas.microsoft.com/office/drawing/2014/main" id="{8D95CE1E-6711-DD2C-050D-73FFE86D7D9C}"/>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7718501F-302C-09DA-AFA1-527695FD13C2}"/>
              </a:ext>
            </a:extLst>
          </p:cNvPr>
          <p:cNvGraphicFramePr>
            <a:graphicFrameLocks noGrp="1"/>
          </p:cNvGraphicFramePr>
          <p:nvPr>
            <p:extLst>
              <p:ext uri="{D42A27DB-BD31-4B8C-83A1-F6EECF244321}">
                <p14:modId xmlns:p14="http://schemas.microsoft.com/office/powerpoint/2010/main" val="3834685683"/>
              </p:ext>
            </p:extLst>
          </p:nvPr>
        </p:nvGraphicFramePr>
        <p:xfrm>
          <a:off x="7528295"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0A9EAD3B-F16C-A3AC-3973-2B5B79FBDFBD}"/>
              </a:ext>
            </a:extLst>
          </p:cNvPr>
          <p:cNvSpPr txBox="1"/>
          <p:nvPr/>
        </p:nvSpPr>
        <p:spPr>
          <a:xfrm>
            <a:off x="745998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20" name="!!TextBox 109">
            <a:extLst>
              <a:ext uri="{FF2B5EF4-FFF2-40B4-BE49-F238E27FC236}">
                <a16:creationId xmlns:a16="http://schemas.microsoft.com/office/drawing/2014/main" id="{375D4A1C-DAB5-1CBF-C528-5A7E33C62B9D}"/>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4-Switch the roles: Now Memory A receives the data while Memory B outputs it</a:t>
            </a:r>
          </a:p>
        </p:txBody>
      </p:sp>
      <p:cxnSp>
        <p:nvCxnSpPr>
          <p:cNvPr id="22" name="Straight Arrow Connector 21">
            <a:extLst>
              <a:ext uri="{FF2B5EF4-FFF2-40B4-BE49-F238E27FC236}">
                <a16:creationId xmlns:a16="http://schemas.microsoft.com/office/drawing/2014/main" id="{1884DCA7-5072-B8C1-6AFA-313F23EE36F2}"/>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CA66B1DB-2CC6-0739-0C95-F724D223F48D}"/>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graphicFrame>
        <p:nvGraphicFramePr>
          <p:cNvPr id="21" name="Table 20">
            <a:extLst>
              <a:ext uri="{FF2B5EF4-FFF2-40B4-BE49-F238E27FC236}">
                <a16:creationId xmlns:a16="http://schemas.microsoft.com/office/drawing/2014/main" id="{611D32F8-4B42-9EFF-B79C-388E44483322}"/>
              </a:ext>
            </a:extLst>
          </p:cNvPr>
          <p:cNvGraphicFramePr>
            <a:graphicFrameLocks noGrp="1"/>
          </p:cNvGraphicFramePr>
          <p:nvPr>
            <p:extLst>
              <p:ext uri="{D42A27DB-BD31-4B8C-83A1-F6EECF244321}">
                <p14:modId xmlns:p14="http://schemas.microsoft.com/office/powerpoint/2010/main" val="426978791"/>
              </p:ext>
            </p:extLst>
          </p:nvPr>
        </p:nvGraphicFramePr>
        <p:xfrm>
          <a:off x="5070551" y="3158879"/>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65734936-1412-3A24-BF2D-6229B3CE59E1}"/>
              </a:ext>
            </a:extLst>
          </p:cNvPr>
          <p:cNvSpPr txBox="1"/>
          <p:nvPr/>
        </p:nvSpPr>
        <p:spPr>
          <a:xfrm>
            <a:off x="5063991"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31" name="TextBox 30">
            <a:extLst>
              <a:ext uri="{FF2B5EF4-FFF2-40B4-BE49-F238E27FC236}">
                <a16:creationId xmlns:a16="http://schemas.microsoft.com/office/drawing/2014/main" id="{65B41B1F-6E5A-3509-CA70-8F7571D628C8}"/>
              </a:ext>
            </a:extLst>
          </p:cNvPr>
          <p:cNvSpPr txBox="1"/>
          <p:nvPr/>
        </p:nvSpPr>
        <p:spPr>
          <a:xfrm>
            <a:off x="5309824"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32" name="TextBox 31">
            <a:extLst>
              <a:ext uri="{FF2B5EF4-FFF2-40B4-BE49-F238E27FC236}">
                <a16:creationId xmlns:a16="http://schemas.microsoft.com/office/drawing/2014/main" id="{DA76DFB7-1035-0E2F-6455-66F1D818CE29}"/>
              </a:ext>
            </a:extLst>
          </p:cNvPr>
          <p:cNvSpPr txBox="1"/>
          <p:nvPr/>
        </p:nvSpPr>
        <p:spPr>
          <a:xfrm>
            <a:off x="5309824" y="353744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34" name="TextBox 33">
            <a:extLst>
              <a:ext uri="{FF2B5EF4-FFF2-40B4-BE49-F238E27FC236}">
                <a16:creationId xmlns:a16="http://schemas.microsoft.com/office/drawing/2014/main" id="{41FE4619-DEF6-DEB6-3D98-188704AFE44B}"/>
              </a:ext>
            </a:extLst>
          </p:cNvPr>
          <p:cNvSpPr txBox="1"/>
          <p:nvPr/>
        </p:nvSpPr>
        <p:spPr>
          <a:xfrm>
            <a:off x="5309824" y="391295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35" name="TextBox 34">
            <a:extLst>
              <a:ext uri="{FF2B5EF4-FFF2-40B4-BE49-F238E27FC236}">
                <a16:creationId xmlns:a16="http://schemas.microsoft.com/office/drawing/2014/main" id="{4BE59C1C-DEA6-FBFD-0667-1A12FC375315}"/>
              </a:ext>
            </a:extLst>
          </p:cNvPr>
          <p:cNvSpPr txBox="1"/>
          <p:nvPr/>
        </p:nvSpPr>
        <p:spPr>
          <a:xfrm>
            <a:off x="5309824" y="427482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36" name="TextBox 35">
            <a:extLst>
              <a:ext uri="{FF2B5EF4-FFF2-40B4-BE49-F238E27FC236}">
                <a16:creationId xmlns:a16="http://schemas.microsoft.com/office/drawing/2014/main" id="{255023B6-7CED-4723-B8AB-A0B823DBFB3B}"/>
              </a:ext>
            </a:extLst>
          </p:cNvPr>
          <p:cNvSpPr txBox="1"/>
          <p:nvPr/>
        </p:nvSpPr>
        <p:spPr>
          <a:xfrm>
            <a:off x="5309824" y="50826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37" name="TextBox 36">
            <a:extLst>
              <a:ext uri="{FF2B5EF4-FFF2-40B4-BE49-F238E27FC236}">
                <a16:creationId xmlns:a16="http://schemas.microsoft.com/office/drawing/2014/main" id="{F4459CC1-E201-AFE9-CEFE-2B3DAE6EFFAB}"/>
              </a:ext>
            </a:extLst>
          </p:cNvPr>
          <p:cNvSpPr txBox="1"/>
          <p:nvPr/>
        </p:nvSpPr>
        <p:spPr>
          <a:xfrm>
            <a:off x="5309824" y="5439396"/>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8" name="TextBox 37">
            <a:extLst>
              <a:ext uri="{FF2B5EF4-FFF2-40B4-BE49-F238E27FC236}">
                <a16:creationId xmlns:a16="http://schemas.microsoft.com/office/drawing/2014/main" id="{A48F8A9E-8659-7CB5-3152-1B44056F6996}"/>
              </a:ext>
            </a:extLst>
          </p:cNvPr>
          <p:cNvSpPr txBox="1"/>
          <p:nvPr/>
        </p:nvSpPr>
        <p:spPr>
          <a:xfrm>
            <a:off x="5309824" y="581388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9" name="TextBox 38">
            <a:extLst>
              <a:ext uri="{FF2B5EF4-FFF2-40B4-BE49-F238E27FC236}">
                <a16:creationId xmlns:a16="http://schemas.microsoft.com/office/drawing/2014/main" id="{1B356EC1-9162-1A0B-2695-9BB9CAD8E10C}"/>
              </a:ext>
            </a:extLst>
          </p:cNvPr>
          <p:cNvSpPr txBox="1"/>
          <p:nvPr/>
        </p:nvSpPr>
        <p:spPr>
          <a:xfrm>
            <a:off x="5309824" y="316881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spTree>
    <p:extLst>
      <p:ext uri="{BB962C8B-B14F-4D97-AF65-F5344CB8AC3E}">
        <p14:creationId xmlns:p14="http://schemas.microsoft.com/office/powerpoint/2010/main" val="114319635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D6FF1-0F3A-3397-63E2-1E49D893B4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9561689-2B3E-34F6-BB2B-9586D759EE16}"/>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1435FDC5-F14B-C5BF-6452-7CFDCA503E1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22172ED-F3B6-7047-69F4-6D99EF0DE29B}"/>
              </a:ext>
            </a:extLst>
          </p:cNvPr>
          <p:cNvSpPr>
            <a:spLocks noGrp="1"/>
          </p:cNvSpPr>
          <p:nvPr>
            <p:ph type="sldNum" sz="quarter" idx="4"/>
          </p:nvPr>
        </p:nvSpPr>
        <p:spPr/>
        <p:txBody>
          <a:bodyPr/>
          <a:lstStyle/>
          <a:p>
            <a:pPr>
              <a:defRPr/>
            </a:pPr>
            <a:fld id="{A9CE67A1-BA7F-A74E-B5D7-615746DEEC2B}" type="slidenum">
              <a:rPr lang="en-US" smtClean="0"/>
              <a:pPr>
                <a:defRPr/>
              </a:pPr>
              <a:t>85</a:t>
            </a:fld>
            <a:endParaRPr lang="en-US" baseline="-11000" dirty="0"/>
          </a:p>
        </p:txBody>
      </p:sp>
      <p:sp>
        <p:nvSpPr>
          <p:cNvPr id="6" name="!!Date Placeholder 5">
            <a:extLst>
              <a:ext uri="{FF2B5EF4-FFF2-40B4-BE49-F238E27FC236}">
                <a16:creationId xmlns:a16="http://schemas.microsoft.com/office/drawing/2014/main" id="{CF2F00C1-4014-DFB4-DD27-779B5084AA7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BA4E1277-4656-4BB1-9CAD-C061EFD69F90}"/>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5AA5A1F0-2D2C-492C-CD85-BA67E7ED741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98891E09-864F-1F2B-6D09-9AC6D295FD2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8A02960-648B-BEEB-337E-0E354D4AB87D}"/>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0FCB5B31-F857-1996-FBB2-8B4E880B5FE4}"/>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0C7F100B-9DB6-4A06-27E5-98BACAAD466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05C738FB-BE89-42CB-2325-DD986393DC05}"/>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F3BCD062-3A72-A56B-7616-E10B47FEC28F}"/>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0B710658-0AE8-6CB1-02F1-6F8B003C7A37}"/>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69033CE2-F169-86E2-5BE1-1332E16A4807}"/>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36B5E8E9-FB96-410C-3641-600B7CF704AC}"/>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2" name="!!Straight Arrow Connector 1">
            <a:extLst>
              <a:ext uri="{FF2B5EF4-FFF2-40B4-BE49-F238E27FC236}">
                <a16:creationId xmlns:a16="http://schemas.microsoft.com/office/drawing/2014/main" id="{2A4D1A3F-9B90-6063-2160-EF01A20B5055}"/>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D5D64E9A-9F53-460F-EE90-63E288E2C6B8}"/>
              </a:ext>
            </a:extLst>
          </p:cNvPr>
          <p:cNvGraphicFramePr>
            <a:graphicFrameLocks noGrp="1"/>
          </p:cNvGraphicFramePr>
          <p:nvPr>
            <p:extLst>
              <p:ext uri="{D42A27DB-BD31-4B8C-83A1-F6EECF244321}">
                <p14:modId xmlns:p14="http://schemas.microsoft.com/office/powerpoint/2010/main" val="956458025"/>
              </p:ext>
            </p:extLst>
          </p:nvPr>
        </p:nvGraphicFramePr>
        <p:xfrm>
          <a:off x="5228315" y="3157631"/>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DAFAE7C4-F0C5-2F88-04AF-075CB3176237}"/>
              </a:ext>
            </a:extLst>
          </p:cNvPr>
          <p:cNvSpPr txBox="1"/>
          <p:nvPr/>
        </p:nvSpPr>
        <p:spPr>
          <a:xfrm>
            <a:off x="516000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20" name="!!TextBox 109">
            <a:extLst>
              <a:ext uri="{FF2B5EF4-FFF2-40B4-BE49-F238E27FC236}">
                <a16:creationId xmlns:a16="http://schemas.microsoft.com/office/drawing/2014/main" id="{0460585E-A978-1924-1280-FEB33EA7B0F3}"/>
              </a:ext>
            </a:extLst>
          </p:cNvPr>
          <p:cNvSpPr txBox="1"/>
          <p:nvPr/>
        </p:nvSpPr>
        <p:spPr>
          <a:xfrm>
            <a:off x="143342" y="807187"/>
            <a:ext cx="8872404"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4-Switch the roles: Now Memory A receives the data while Memory B outputs it</a:t>
            </a:r>
          </a:p>
        </p:txBody>
      </p:sp>
      <p:sp>
        <p:nvSpPr>
          <p:cNvPr id="8" name="TextBox 7">
            <a:extLst>
              <a:ext uri="{FF2B5EF4-FFF2-40B4-BE49-F238E27FC236}">
                <a16:creationId xmlns:a16="http://schemas.microsoft.com/office/drawing/2014/main" id="{B9B7ACCD-6670-00D0-3072-BD4550FABE41}"/>
              </a:ext>
            </a:extLst>
          </p:cNvPr>
          <p:cNvSpPr txBox="1"/>
          <p:nvPr/>
        </p:nvSpPr>
        <p:spPr>
          <a:xfrm>
            <a:off x="7789585" y="3190058"/>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graphicFrame>
        <p:nvGraphicFramePr>
          <p:cNvPr id="21" name="Table 20">
            <a:extLst>
              <a:ext uri="{FF2B5EF4-FFF2-40B4-BE49-F238E27FC236}">
                <a16:creationId xmlns:a16="http://schemas.microsoft.com/office/drawing/2014/main" id="{3C9E3627-E945-79D2-1DB3-A1FF345B576A}"/>
              </a:ext>
            </a:extLst>
          </p:cNvPr>
          <p:cNvGraphicFramePr>
            <a:graphicFrameLocks noGrp="1"/>
          </p:cNvGraphicFramePr>
          <p:nvPr>
            <p:extLst>
              <p:ext uri="{D42A27DB-BD31-4B8C-83A1-F6EECF244321}">
                <p14:modId xmlns:p14="http://schemas.microsoft.com/office/powerpoint/2010/main" val="709412661"/>
              </p:ext>
            </p:extLst>
          </p:nvPr>
        </p:nvGraphicFramePr>
        <p:xfrm>
          <a:off x="7503747" y="3141476"/>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r>
                        <a:rPr lang="en-US" dirty="0"/>
                        <a:t>     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CB077CA6-09F6-A8B0-E6D2-EC72ABF88D2B}"/>
              </a:ext>
            </a:extLst>
          </p:cNvPr>
          <p:cNvSpPr txBox="1"/>
          <p:nvPr/>
        </p:nvSpPr>
        <p:spPr>
          <a:xfrm>
            <a:off x="7503747"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29" name="TextBox 28">
            <a:extLst>
              <a:ext uri="{FF2B5EF4-FFF2-40B4-BE49-F238E27FC236}">
                <a16:creationId xmlns:a16="http://schemas.microsoft.com/office/drawing/2014/main" id="{2289F44D-F2E5-120E-FCE6-830454166E88}"/>
              </a:ext>
            </a:extLst>
          </p:cNvPr>
          <p:cNvSpPr txBox="1"/>
          <p:nvPr/>
        </p:nvSpPr>
        <p:spPr>
          <a:xfrm>
            <a:off x="7789585"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26" name="TextBox 25">
            <a:extLst>
              <a:ext uri="{FF2B5EF4-FFF2-40B4-BE49-F238E27FC236}">
                <a16:creationId xmlns:a16="http://schemas.microsoft.com/office/drawing/2014/main" id="{761CDAB7-D750-F125-77EA-87E4244FAB83}"/>
              </a:ext>
            </a:extLst>
          </p:cNvPr>
          <p:cNvSpPr txBox="1"/>
          <p:nvPr/>
        </p:nvSpPr>
        <p:spPr>
          <a:xfrm>
            <a:off x="7789585" y="353744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27" name="TextBox 26">
            <a:extLst>
              <a:ext uri="{FF2B5EF4-FFF2-40B4-BE49-F238E27FC236}">
                <a16:creationId xmlns:a16="http://schemas.microsoft.com/office/drawing/2014/main" id="{DE308F37-D57F-DE07-C419-0F6A489D442B}"/>
              </a:ext>
            </a:extLst>
          </p:cNvPr>
          <p:cNvSpPr txBox="1"/>
          <p:nvPr/>
        </p:nvSpPr>
        <p:spPr>
          <a:xfrm>
            <a:off x="7789585" y="391295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31" name="TextBox 30">
            <a:extLst>
              <a:ext uri="{FF2B5EF4-FFF2-40B4-BE49-F238E27FC236}">
                <a16:creationId xmlns:a16="http://schemas.microsoft.com/office/drawing/2014/main" id="{145DAD96-2968-FBB0-CCFD-A958E778F41E}"/>
              </a:ext>
            </a:extLst>
          </p:cNvPr>
          <p:cNvSpPr txBox="1"/>
          <p:nvPr/>
        </p:nvSpPr>
        <p:spPr>
          <a:xfrm>
            <a:off x="7789585" y="427482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32" name="TextBox 31">
            <a:extLst>
              <a:ext uri="{FF2B5EF4-FFF2-40B4-BE49-F238E27FC236}">
                <a16:creationId xmlns:a16="http://schemas.microsoft.com/office/drawing/2014/main" id="{A5B47189-529B-1244-6499-661E4CAA8068}"/>
              </a:ext>
            </a:extLst>
          </p:cNvPr>
          <p:cNvSpPr txBox="1"/>
          <p:nvPr/>
        </p:nvSpPr>
        <p:spPr>
          <a:xfrm>
            <a:off x="7789585" y="50826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34" name="TextBox 33">
            <a:extLst>
              <a:ext uri="{FF2B5EF4-FFF2-40B4-BE49-F238E27FC236}">
                <a16:creationId xmlns:a16="http://schemas.microsoft.com/office/drawing/2014/main" id="{CDD002D9-0200-EA2D-F66E-9608BB4E8A3A}"/>
              </a:ext>
            </a:extLst>
          </p:cNvPr>
          <p:cNvSpPr txBox="1"/>
          <p:nvPr/>
        </p:nvSpPr>
        <p:spPr>
          <a:xfrm>
            <a:off x="7789585" y="5439396"/>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5" name="TextBox 34">
            <a:extLst>
              <a:ext uri="{FF2B5EF4-FFF2-40B4-BE49-F238E27FC236}">
                <a16:creationId xmlns:a16="http://schemas.microsoft.com/office/drawing/2014/main" id="{0C3FB031-E583-8F71-9A44-1782662C72A9}"/>
              </a:ext>
            </a:extLst>
          </p:cNvPr>
          <p:cNvSpPr txBox="1"/>
          <p:nvPr/>
        </p:nvSpPr>
        <p:spPr>
          <a:xfrm>
            <a:off x="7789585" y="581388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36" name="Straight Arrow Connector 35">
            <a:extLst>
              <a:ext uri="{FF2B5EF4-FFF2-40B4-BE49-F238E27FC236}">
                <a16:creationId xmlns:a16="http://schemas.microsoft.com/office/drawing/2014/main" id="{A4E64907-0B2B-BD17-3483-C19838C4F31D}"/>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7" name="!!TextBox 107">
            <a:extLst>
              <a:ext uri="{FF2B5EF4-FFF2-40B4-BE49-F238E27FC236}">
                <a16:creationId xmlns:a16="http://schemas.microsoft.com/office/drawing/2014/main" id="{51C00B13-937E-1612-358E-8B62C2BAC884}"/>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Tree>
    <p:extLst>
      <p:ext uri="{BB962C8B-B14F-4D97-AF65-F5344CB8AC3E}">
        <p14:creationId xmlns:p14="http://schemas.microsoft.com/office/powerpoint/2010/main" val="578279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D6A10-CA5D-DAF4-1608-4081B1FAA5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F9A487D-9E91-7ED4-CBA9-4A5A3CE3EFBB}"/>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378BDE9D-172F-ED2B-62D4-F4D5B46D214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3FB1805-5564-00C8-3833-433D27E1936E}"/>
              </a:ext>
            </a:extLst>
          </p:cNvPr>
          <p:cNvSpPr>
            <a:spLocks noGrp="1"/>
          </p:cNvSpPr>
          <p:nvPr>
            <p:ph type="sldNum" sz="quarter" idx="4"/>
          </p:nvPr>
        </p:nvSpPr>
        <p:spPr/>
        <p:txBody>
          <a:bodyPr/>
          <a:lstStyle/>
          <a:p>
            <a:pPr>
              <a:defRPr/>
            </a:pPr>
            <a:fld id="{A9CE67A1-BA7F-A74E-B5D7-615746DEEC2B}" type="slidenum">
              <a:rPr lang="en-US" smtClean="0"/>
              <a:pPr>
                <a:defRPr/>
              </a:pPr>
              <a:t>86</a:t>
            </a:fld>
            <a:endParaRPr lang="en-US" baseline="-11000" dirty="0"/>
          </a:p>
        </p:txBody>
      </p:sp>
      <p:sp>
        <p:nvSpPr>
          <p:cNvPr id="6" name="!!Date Placeholder 5">
            <a:extLst>
              <a:ext uri="{FF2B5EF4-FFF2-40B4-BE49-F238E27FC236}">
                <a16:creationId xmlns:a16="http://schemas.microsoft.com/office/drawing/2014/main" id="{43276E20-671C-0412-83D7-63385F54A48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02A6B66D-5151-66FA-E2C8-4481F0738C8C}"/>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86394D89-1CB9-D80D-2EC1-9FE216CDEB2D}"/>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8DEBE73-A73F-DA8E-4E3E-794DE08C887E}"/>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1F49ECF5-4412-DF51-ECCB-06BC23B025FA}"/>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2AD43D03-487E-9A84-EC5F-AC0EF79D3B7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50D9BF89-E3EC-AC11-A18F-0C96A3953C9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8DB88FFE-384E-E3A6-F169-073FF33F321B}"/>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20" name="!!TextBox 109">
            <a:extLst>
              <a:ext uri="{FF2B5EF4-FFF2-40B4-BE49-F238E27FC236}">
                <a16:creationId xmlns:a16="http://schemas.microsoft.com/office/drawing/2014/main" id="{B42B5317-2E87-405B-053F-074267567AB3}"/>
              </a:ext>
            </a:extLst>
          </p:cNvPr>
          <p:cNvSpPr txBox="1"/>
          <p:nvPr/>
        </p:nvSpPr>
        <p:spPr>
          <a:xfrm>
            <a:off x="143342" y="807187"/>
            <a:ext cx="8872404" cy="3016210"/>
          </a:xfrm>
          <a:prstGeom prst="rect">
            <a:avLst/>
          </a:prstGeom>
          <a:noFill/>
        </p:spPr>
        <p:txBody>
          <a:bodyPr wrap="square">
            <a:spAutoFit/>
          </a:bodyPr>
          <a:lstStyle/>
          <a:p>
            <a:pPr defTabSz="457200">
              <a:spcBef>
                <a:spcPts val="1000"/>
              </a:spcBef>
              <a:buClr>
                <a:srgbClr val="1E4056"/>
              </a:buClr>
              <a:buSzPct val="75000"/>
            </a:pPr>
            <a:r>
              <a:rPr lang="en-US" sz="2000" b="1" dirty="0"/>
              <a:t>Bit reversal :</a:t>
            </a:r>
          </a:p>
          <a:p>
            <a:pPr defTabSz="457200">
              <a:spcBef>
                <a:spcPts val="1000"/>
              </a:spcBef>
              <a:buClr>
                <a:srgbClr val="1E4056"/>
              </a:buClr>
              <a:buSzPct val="75000"/>
            </a:pPr>
            <a:r>
              <a:rPr lang="en-US" sz="2000" b="1" dirty="0"/>
              <a:t> Problems : </a:t>
            </a:r>
          </a:p>
          <a:p>
            <a:pPr marL="342900" indent="-342900" defTabSz="457200">
              <a:spcBef>
                <a:spcPts val="1000"/>
              </a:spcBef>
              <a:buClr>
                <a:srgbClr val="1E4056"/>
              </a:buClr>
              <a:buSzPct val="75000"/>
              <a:buFont typeface="Arial" panose="020B0604020202020204" pitchFamily="34" charset="0"/>
              <a:buChar char="•"/>
            </a:pPr>
            <a:r>
              <a:rPr lang="en-US" sz="2000" dirty="0"/>
              <a:t>Increasing the area  (12.5 KB RAM )</a:t>
            </a:r>
          </a:p>
          <a:p>
            <a:pPr marL="342900" indent="-342900" defTabSz="457200">
              <a:spcBef>
                <a:spcPts val="1000"/>
              </a:spcBef>
              <a:buClr>
                <a:srgbClr val="1E4056"/>
              </a:buClr>
              <a:buSzPct val="75000"/>
              <a:buFont typeface="Arial" panose="020B0604020202020204" pitchFamily="34" charset="0"/>
              <a:buChar char="•"/>
            </a:pPr>
            <a:r>
              <a:rPr lang="en-US" sz="2000" dirty="0"/>
              <a:t>Reducing the max frequency and increasing the power consumption </a:t>
            </a:r>
          </a:p>
          <a:p>
            <a:pPr marL="342900" indent="-342900" defTabSz="457200">
              <a:spcBef>
                <a:spcPts val="1000"/>
              </a:spcBef>
              <a:buClr>
                <a:srgbClr val="1E4056"/>
              </a:buClr>
              <a:buSzPct val="75000"/>
              <a:buFont typeface="Arial" panose="020B0604020202020204" pitchFamily="34" charset="0"/>
              <a:buChar char="•"/>
            </a:pPr>
            <a:r>
              <a:rPr lang="en-US" sz="2000" dirty="0"/>
              <a:t>Increasing the latency form (N-1 ) to (2N-1) </a:t>
            </a:r>
          </a:p>
          <a:p>
            <a:pPr defTabSz="457200">
              <a:spcBef>
                <a:spcPts val="1000"/>
              </a:spcBef>
              <a:buClr>
                <a:srgbClr val="1E4056"/>
              </a:buClr>
              <a:buSzPct val="75000"/>
            </a:pPr>
            <a:r>
              <a:rPr lang="en-US" sz="2000" b="1" dirty="0"/>
              <a:t>Could we optimize the DIF scrambled output on the system level ?</a:t>
            </a:r>
          </a:p>
          <a:p>
            <a:pPr marL="342900" indent="-342900" defTabSz="457200">
              <a:spcBef>
                <a:spcPts val="1000"/>
              </a:spcBef>
              <a:buClr>
                <a:srgbClr val="1E4056"/>
              </a:buClr>
              <a:buSzPct val="75000"/>
              <a:buFont typeface="Arial" panose="020B0604020202020204" pitchFamily="34" charset="0"/>
              <a:buChar char="•"/>
            </a:pPr>
            <a:endParaRPr lang="en-US" sz="2000" dirty="0"/>
          </a:p>
        </p:txBody>
      </p:sp>
      <p:sp>
        <p:nvSpPr>
          <p:cNvPr id="9" name="!!TextBox 1">
            <a:extLst>
              <a:ext uri="{FF2B5EF4-FFF2-40B4-BE49-F238E27FC236}">
                <a16:creationId xmlns:a16="http://schemas.microsoft.com/office/drawing/2014/main" id="{474565E5-F439-42C8-BFC6-D370D7FEDF55}"/>
              </a:ext>
            </a:extLst>
          </p:cNvPr>
          <p:cNvSpPr txBox="1"/>
          <p:nvPr/>
        </p:nvSpPr>
        <p:spPr>
          <a:xfrm>
            <a:off x="245192" y="3504213"/>
            <a:ext cx="11701615" cy="4204639"/>
          </a:xfrm>
          <a:prstGeom prst="rect">
            <a:avLst/>
          </a:prstGeom>
          <a:noFill/>
        </p:spPr>
        <p:txBody>
          <a:bodyPr wrap="square" lIns="0" tIns="0" rIns="0" bIns="0" rtlCol="0">
            <a:noAutofit/>
          </a:bodyPr>
          <a:lstStyle/>
          <a:p>
            <a:endParaRPr lang="en-US" sz="2000" b="1" dirty="0"/>
          </a:p>
          <a:p>
            <a:pPr lvl="0"/>
            <a:endParaRPr lang="en-US" sz="2000" dirty="0"/>
          </a:p>
        </p:txBody>
      </p:sp>
      <p:grpSp>
        <p:nvGrpSpPr>
          <p:cNvPr id="11" name="Group 10">
            <a:extLst>
              <a:ext uri="{FF2B5EF4-FFF2-40B4-BE49-F238E27FC236}">
                <a16:creationId xmlns:a16="http://schemas.microsoft.com/office/drawing/2014/main" id="{27B466EE-5844-48D6-0676-31BC8D4023C5}"/>
              </a:ext>
            </a:extLst>
          </p:cNvPr>
          <p:cNvGrpSpPr/>
          <p:nvPr/>
        </p:nvGrpSpPr>
        <p:grpSpPr>
          <a:xfrm>
            <a:off x="5524387" y="3769046"/>
            <a:ext cx="3932662" cy="434162"/>
            <a:chOff x="6184446" y="3025790"/>
            <a:chExt cx="4735013" cy="635389"/>
          </a:xfrm>
        </p:grpSpPr>
        <p:grpSp>
          <p:nvGrpSpPr>
            <p:cNvPr id="12" name="Group 11">
              <a:extLst>
                <a:ext uri="{FF2B5EF4-FFF2-40B4-BE49-F238E27FC236}">
                  <a16:creationId xmlns:a16="http://schemas.microsoft.com/office/drawing/2014/main" id="{C479F19A-C483-5A55-0557-CD24D2099977}"/>
                </a:ext>
              </a:extLst>
            </p:cNvPr>
            <p:cNvGrpSpPr/>
            <p:nvPr/>
          </p:nvGrpSpPr>
          <p:grpSpPr>
            <a:xfrm>
              <a:off x="6589931" y="3025790"/>
              <a:ext cx="4102533" cy="635389"/>
              <a:chOff x="1190705" y="2109573"/>
              <a:chExt cx="8690338" cy="3222800"/>
            </a:xfrm>
          </p:grpSpPr>
          <p:graphicFrame>
            <p:nvGraphicFramePr>
              <p:cNvPr id="22" name="Diagram 21">
                <a:extLst>
                  <a:ext uri="{FF2B5EF4-FFF2-40B4-BE49-F238E27FC236}">
                    <a16:creationId xmlns:a16="http://schemas.microsoft.com/office/drawing/2014/main" id="{66C0814C-46EC-FCC0-FE56-9103366A4376}"/>
                  </a:ext>
                </a:extLst>
              </p:cNvPr>
              <p:cNvGraphicFramePr/>
              <p:nvPr>
                <p:extLst>
                  <p:ext uri="{D42A27DB-BD31-4B8C-83A1-F6EECF244321}">
                    <p14:modId xmlns:p14="http://schemas.microsoft.com/office/powerpoint/2010/main" val="4117433970"/>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4" name="Straight Connector 4">
                <a:extLst>
                  <a:ext uri="{FF2B5EF4-FFF2-40B4-BE49-F238E27FC236}">
                    <a16:creationId xmlns:a16="http://schemas.microsoft.com/office/drawing/2014/main" id="{0E7ED05C-DC08-9EA9-87A1-D50B84C04102}"/>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38" name="Straight Connector 4">
                <a:extLst>
                  <a:ext uri="{FF2B5EF4-FFF2-40B4-BE49-F238E27FC236}">
                    <a16:creationId xmlns:a16="http://schemas.microsoft.com/office/drawing/2014/main" id="{5CA3789F-AFD4-7C64-483B-897DA0EE5DE4}"/>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14" name="Straight Connector 4">
              <a:extLst>
                <a:ext uri="{FF2B5EF4-FFF2-40B4-BE49-F238E27FC236}">
                  <a16:creationId xmlns:a16="http://schemas.microsoft.com/office/drawing/2014/main" id="{FA1E14BC-DE84-4106-3E2D-6F4E6EAA7ADB}"/>
                </a:ext>
              </a:extLst>
            </p:cNvPr>
            <p:cNvSpPr txBox="1"/>
            <p:nvPr/>
          </p:nvSpPr>
          <p:spPr>
            <a:xfrm>
              <a:off x="10897886" y="3345270"/>
              <a:ext cx="21573" cy="901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nvGrpSpPr>
            <p:cNvPr id="16" name="Group 15">
              <a:extLst>
                <a:ext uri="{FF2B5EF4-FFF2-40B4-BE49-F238E27FC236}">
                  <a16:creationId xmlns:a16="http://schemas.microsoft.com/office/drawing/2014/main" id="{477B5047-58B5-DE86-7ECF-4B7D39A0B33F}"/>
                </a:ext>
              </a:extLst>
            </p:cNvPr>
            <p:cNvGrpSpPr/>
            <p:nvPr/>
          </p:nvGrpSpPr>
          <p:grpSpPr>
            <a:xfrm>
              <a:off x="6184446" y="3338051"/>
              <a:ext cx="431464" cy="12580"/>
              <a:chOff x="5543161" y="1574783"/>
              <a:chExt cx="913965" cy="63808"/>
            </a:xfrm>
          </p:grpSpPr>
          <p:sp>
            <p:nvSpPr>
              <p:cNvPr id="17" name="Straight Connector 3">
                <a:extLst>
                  <a:ext uri="{FF2B5EF4-FFF2-40B4-BE49-F238E27FC236}">
                    <a16:creationId xmlns:a16="http://schemas.microsoft.com/office/drawing/2014/main" id="{1E4A0120-4A27-C5A2-B4D1-6AF3870E8D60}"/>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8" name="Straight Connector 4">
                <a:extLst>
                  <a:ext uri="{FF2B5EF4-FFF2-40B4-BE49-F238E27FC236}">
                    <a16:creationId xmlns:a16="http://schemas.microsoft.com/office/drawing/2014/main" id="{E1E0A7AD-99EF-B536-0D14-C40292BD2975}"/>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pic>
        <p:nvPicPr>
          <p:cNvPr id="39" name="Picture 38">
            <a:extLst>
              <a:ext uri="{FF2B5EF4-FFF2-40B4-BE49-F238E27FC236}">
                <a16:creationId xmlns:a16="http://schemas.microsoft.com/office/drawing/2014/main" id="{B27CDEF6-AC7C-6182-7A82-4C30E413922E}"/>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9365790" y="3374704"/>
            <a:ext cx="723506" cy="464146"/>
          </a:xfrm>
          <a:prstGeom prst="rect">
            <a:avLst/>
          </a:prstGeom>
        </p:spPr>
      </p:pic>
      <p:cxnSp>
        <p:nvCxnSpPr>
          <p:cNvPr id="40" name="Connector: Elbow 39">
            <a:extLst>
              <a:ext uri="{FF2B5EF4-FFF2-40B4-BE49-F238E27FC236}">
                <a16:creationId xmlns:a16="http://schemas.microsoft.com/office/drawing/2014/main" id="{F95196F8-4B5A-A67C-95AE-04FD4ED128D0}"/>
              </a:ext>
            </a:extLst>
          </p:cNvPr>
          <p:cNvCxnSpPr>
            <a:cxnSpLocks/>
            <a:stCxn id="39" idx="2"/>
          </p:cNvCxnSpPr>
          <p:nvPr/>
        </p:nvCxnSpPr>
        <p:spPr>
          <a:xfrm rot="5400000">
            <a:off x="9088816" y="3347399"/>
            <a:ext cx="147277" cy="1130179"/>
          </a:xfrm>
          <a:prstGeom prst="bentConnector2">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41" name="Group 40">
            <a:extLst>
              <a:ext uri="{FF2B5EF4-FFF2-40B4-BE49-F238E27FC236}">
                <a16:creationId xmlns:a16="http://schemas.microsoft.com/office/drawing/2014/main" id="{88DD9B0C-BF03-62C9-987A-6B3ABECCA72B}"/>
              </a:ext>
            </a:extLst>
          </p:cNvPr>
          <p:cNvGrpSpPr/>
          <p:nvPr/>
        </p:nvGrpSpPr>
        <p:grpSpPr>
          <a:xfrm>
            <a:off x="5528531" y="5714890"/>
            <a:ext cx="3932662" cy="434162"/>
            <a:chOff x="6188590" y="4971634"/>
            <a:chExt cx="4735013" cy="635389"/>
          </a:xfrm>
        </p:grpSpPr>
        <p:grpSp>
          <p:nvGrpSpPr>
            <p:cNvPr id="42" name="Group 41">
              <a:extLst>
                <a:ext uri="{FF2B5EF4-FFF2-40B4-BE49-F238E27FC236}">
                  <a16:creationId xmlns:a16="http://schemas.microsoft.com/office/drawing/2014/main" id="{A52D3002-AC99-8B68-B0A2-4F98A66152FE}"/>
                </a:ext>
              </a:extLst>
            </p:cNvPr>
            <p:cNvGrpSpPr/>
            <p:nvPr/>
          </p:nvGrpSpPr>
          <p:grpSpPr>
            <a:xfrm>
              <a:off x="6594075" y="4971634"/>
              <a:ext cx="4102533" cy="635389"/>
              <a:chOff x="1190705" y="2109573"/>
              <a:chExt cx="8690338" cy="3222800"/>
            </a:xfrm>
          </p:grpSpPr>
          <p:graphicFrame>
            <p:nvGraphicFramePr>
              <p:cNvPr id="47" name="Diagram 46">
                <a:extLst>
                  <a:ext uri="{FF2B5EF4-FFF2-40B4-BE49-F238E27FC236}">
                    <a16:creationId xmlns:a16="http://schemas.microsoft.com/office/drawing/2014/main" id="{6E5A973A-8187-3778-6427-3A8560D111B3}"/>
                  </a:ext>
                </a:extLst>
              </p:cNvPr>
              <p:cNvGraphicFramePr/>
              <p:nvPr>
                <p:extLst>
                  <p:ext uri="{D42A27DB-BD31-4B8C-83A1-F6EECF244321}">
                    <p14:modId xmlns:p14="http://schemas.microsoft.com/office/powerpoint/2010/main" val="523433801"/>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8" name="Straight Connector 4">
                <a:extLst>
                  <a:ext uri="{FF2B5EF4-FFF2-40B4-BE49-F238E27FC236}">
                    <a16:creationId xmlns:a16="http://schemas.microsoft.com/office/drawing/2014/main" id="{71B73D45-7D21-0D0A-C380-6066F88DC1EE}"/>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9" name="Straight Connector 4">
                <a:extLst>
                  <a:ext uri="{FF2B5EF4-FFF2-40B4-BE49-F238E27FC236}">
                    <a16:creationId xmlns:a16="http://schemas.microsoft.com/office/drawing/2014/main" id="{6369C04E-F313-85AC-BA85-BDD15CDE98D4}"/>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43" name="Straight Connector 4">
              <a:extLst>
                <a:ext uri="{FF2B5EF4-FFF2-40B4-BE49-F238E27FC236}">
                  <a16:creationId xmlns:a16="http://schemas.microsoft.com/office/drawing/2014/main" id="{7047666F-6F7E-5879-E9E5-79E61482E6E1}"/>
                </a:ext>
              </a:extLst>
            </p:cNvPr>
            <p:cNvSpPr txBox="1"/>
            <p:nvPr/>
          </p:nvSpPr>
          <p:spPr>
            <a:xfrm>
              <a:off x="10902030" y="5291114"/>
              <a:ext cx="21573" cy="901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nvGrpSpPr>
            <p:cNvPr id="44" name="Group 43">
              <a:extLst>
                <a:ext uri="{FF2B5EF4-FFF2-40B4-BE49-F238E27FC236}">
                  <a16:creationId xmlns:a16="http://schemas.microsoft.com/office/drawing/2014/main" id="{A3EE6F06-4627-86A7-2468-E21630A20885}"/>
                </a:ext>
              </a:extLst>
            </p:cNvPr>
            <p:cNvGrpSpPr/>
            <p:nvPr/>
          </p:nvGrpSpPr>
          <p:grpSpPr>
            <a:xfrm>
              <a:off x="6188590" y="5283895"/>
              <a:ext cx="431464" cy="12580"/>
              <a:chOff x="5543161" y="1574783"/>
              <a:chExt cx="913965" cy="63808"/>
            </a:xfrm>
          </p:grpSpPr>
          <p:sp>
            <p:nvSpPr>
              <p:cNvPr id="45" name="Straight Connector 3">
                <a:extLst>
                  <a:ext uri="{FF2B5EF4-FFF2-40B4-BE49-F238E27FC236}">
                    <a16:creationId xmlns:a16="http://schemas.microsoft.com/office/drawing/2014/main" id="{D1879091-F3AD-E68E-DE6C-89134B19B2E4}"/>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46" name="Straight Connector 4">
                <a:extLst>
                  <a:ext uri="{FF2B5EF4-FFF2-40B4-BE49-F238E27FC236}">
                    <a16:creationId xmlns:a16="http://schemas.microsoft.com/office/drawing/2014/main" id="{0E5366A9-B0C0-3FAA-88C6-287ACFACC8A2}"/>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pic>
        <p:nvPicPr>
          <p:cNvPr id="50" name="Picture 49">
            <a:extLst>
              <a:ext uri="{FF2B5EF4-FFF2-40B4-BE49-F238E27FC236}">
                <a16:creationId xmlns:a16="http://schemas.microsoft.com/office/drawing/2014/main" id="{81396E75-FABC-391F-8112-B439E4F08744}"/>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9369934" y="5320548"/>
            <a:ext cx="723506" cy="464146"/>
          </a:xfrm>
          <a:prstGeom prst="rect">
            <a:avLst/>
          </a:prstGeom>
        </p:spPr>
      </p:pic>
      <p:cxnSp>
        <p:nvCxnSpPr>
          <p:cNvPr id="51" name="Connector: Elbow 50">
            <a:extLst>
              <a:ext uri="{FF2B5EF4-FFF2-40B4-BE49-F238E27FC236}">
                <a16:creationId xmlns:a16="http://schemas.microsoft.com/office/drawing/2014/main" id="{5B6A621F-60C1-FFB2-F96D-433477CE2073}"/>
              </a:ext>
            </a:extLst>
          </p:cNvPr>
          <p:cNvCxnSpPr>
            <a:cxnSpLocks/>
            <a:stCxn id="50" idx="2"/>
          </p:cNvCxnSpPr>
          <p:nvPr/>
        </p:nvCxnSpPr>
        <p:spPr>
          <a:xfrm rot="5400000">
            <a:off x="9092960" y="5293243"/>
            <a:ext cx="147277" cy="1130179"/>
          </a:xfrm>
          <a:prstGeom prst="bentConnector2">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2" name="Oval 51">
            <a:extLst>
              <a:ext uri="{FF2B5EF4-FFF2-40B4-BE49-F238E27FC236}">
                <a16:creationId xmlns:a16="http://schemas.microsoft.com/office/drawing/2014/main" id="{417DAC7D-4696-BC96-CA9F-87C519F7B090}"/>
              </a:ext>
            </a:extLst>
          </p:cNvPr>
          <p:cNvSpPr/>
          <p:nvPr/>
        </p:nvSpPr>
        <p:spPr>
          <a:xfrm>
            <a:off x="8125702" y="4371051"/>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A7593CE7-7ACC-B714-A326-27C1A43E7FC6}"/>
              </a:ext>
            </a:extLst>
          </p:cNvPr>
          <p:cNvSpPr/>
          <p:nvPr/>
        </p:nvSpPr>
        <p:spPr>
          <a:xfrm>
            <a:off x="8125702" y="4614687"/>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3B5E36B-5413-D110-896F-98C1928DA3A8}"/>
              </a:ext>
            </a:extLst>
          </p:cNvPr>
          <p:cNvSpPr/>
          <p:nvPr/>
        </p:nvSpPr>
        <p:spPr>
          <a:xfrm>
            <a:off x="8125702" y="488002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199EAEF3-CE52-80D7-B2B1-C8BCA16215E8}"/>
              </a:ext>
            </a:extLst>
          </p:cNvPr>
          <p:cNvSpPr/>
          <p:nvPr/>
        </p:nvSpPr>
        <p:spPr>
          <a:xfrm>
            <a:off x="8125702" y="5145353"/>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E420C41C-89F2-1ED7-3DC2-828C1FDC10B6}"/>
              </a:ext>
            </a:extLst>
          </p:cNvPr>
          <p:cNvSpPr/>
          <p:nvPr/>
        </p:nvSpPr>
        <p:spPr>
          <a:xfrm>
            <a:off x="4546955" y="3532738"/>
            <a:ext cx="877348" cy="2646127"/>
          </a:xfrm>
          <a:prstGeom prst="rect">
            <a:avLst/>
          </a:prstGeom>
          <a:solidFill>
            <a:srgbClr val="0067B9">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horz" wrap="square" lIns="8890" tIns="8890" rIns="8890" bIns="8890" numCol="1" spcCol="1270" anchor="ctr" anchorCtr="0">
            <a:noAutofit/>
          </a:bodyPr>
          <a:lstStyle/>
          <a:p>
            <a:pPr algn="ctr"/>
            <a:r>
              <a:rPr lang="en-US" sz="1400" b="1" dirty="0">
                <a:solidFill>
                  <a:schemeClr val="bg1"/>
                </a:solidFill>
              </a:rPr>
              <a:t>Equalizer</a:t>
            </a:r>
          </a:p>
        </p:txBody>
      </p:sp>
      <p:grpSp>
        <p:nvGrpSpPr>
          <p:cNvPr id="60" name="Group 59">
            <a:extLst>
              <a:ext uri="{FF2B5EF4-FFF2-40B4-BE49-F238E27FC236}">
                <a16:creationId xmlns:a16="http://schemas.microsoft.com/office/drawing/2014/main" id="{72B3E1AE-3E3C-81C2-7040-2FC8DD4AD3F7}"/>
              </a:ext>
            </a:extLst>
          </p:cNvPr>
          <p:cNvGrpSpPr/>
          <p:nvPr/>
        </p:nvGrpSpPr>
        <p:grpSpPr>
          <a:xfrm>
            <a:off x="1846533" y="3793750"/>
            <a:ext cx="4281242" cy="442639"/>
            <a:chOff x="1541971" y="2940186"/>
            <a:chExt cx="5154711" cy="647795"/>
          </a:xfrm>
        </p:grpSpPr>
        <p:grpSp>
          <p:nvGrpSpPr>
            <p:cNvPr id="61" name="Group 60">
              <a:extLst>
                <a:ext uri="{FF2B5EF4-FFF2-40B4-BE49-F238E27FC236}">
                  <a16:creationId xmlns:a16="http://schemas.microsoft.com/office/drawing/2014/main" id="{47CA5794-0C11-0980-3028-3C53FF176286}"/>
                </a:ext>
              </a:extLst>
            </p:cNvPr>
            <p:cNvGrpSpPr/>
            <p:nvPr/>
          </p:nvGrpSpPr>
          <p:grpSpPr>
            <a:xfrm>
              <a:off x="1541971" y="2940186"/>
              <a:ext cx="4403598" cy="647795"/>
              <a:chOff x="-557271" y="2147706"/>
              <a:chExt cx="9328081" cy="3461061"/>
            </a:xfrm>
          </p:grpSpPr>
          <p:graphicFrame>
            <p:nvGraphicFramePr>
              <p:cNvPr id="64" name="Diagram 63">
                <a:extLst>
                  <a:ext uri="{FF2B5EF4-FFF2-40B4-BE49-F238E27FC236}">
                    <a16:creationId xmlns:a16="http://schemas.microsoft.com/office/drawing/2014/main" id="{CC30BAE3-2C25-5005-8234-53F7D7BB4B30}"/>
                  </a:ext>
                </a:extLst>
              </p:cNvPr>
              <p:cNvGraphicFramePr/>
              <p:nvPr>
                <p:extLst>
                  <p:ext uri="{D42A27DB-BD31-4B8C-83A1-F6EECF244321}">
                    <p14:modId xmlns:p14="http://schemas.microsoft.com/office/powerpoint/2010/main" val="2699495763"/>
                  </p:ext>
                </p:extLst>
              </p:nvPr>
            </p:nvGraphicFramePr>
            <p:xfrm>
              <a:off x="-557271" y="2385963"/>
              <a:ext cx="8690338" cy="3222804"/>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65" name="Straight Connector 4">
                <a:extLst>
                  <a:ext uri="{FF2B5EF4-FFF2-40B4-BE49-F238E27FC236}">
                    <a16:creationId xmlns:a16="http://schemas.microsoft.com/office/drawing/2014/main" id="{11866F04-8599-095B-B9CC-A8F855A96F1C}"/>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hueOff val="0"/>
                      <a:satOff val="0"/>
                      <a:lumOff val="0"/>
                    </a:schemeClr>
                  </a:solidFill>
                </a:endParaRPr>
              </a:p>
            </p:txBody>
          </p:sp>
          <p:sp>
            <p:nvSpPr>
              <p:cNvPr id="66" name="Straight Connector 4">
                <a:extLst>
                  <a:ext uri="{FF2B5EF4-FFF2-40B4-BE49-F238E27FC236}">
                    <a16:creationId xmlns:a16="http://schemas.microsoft.com/office/drawing/2014/main" id="{B2536187-0CA3-3CC3-9309-C992E35F7611}"/>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hueOff val="0"/>
                      <a:satOff val="0"/>
                      <a:lumOff val="0"/>
                    </a:schemeClr>
                  </a:solidFill>
                </a:endParaRPr>
              </a:p>
            </p:txBody>
          </p:sp>
        </p:grpSp>
        <p:sp>
          <p:nvSpPr>
            <p:cNvPr id="62" name="Straight Connector 4">
              <a:extLst>
                <a:ext uri="{FF2B5EF4-FFF2-40B4-BE49-F238E27FC236}">
                  <a16:creationId xmlns:a16="http://schemas.microsoft.com/office/drawing/2014/main" id="{3F38E1B9-51F6-C2A7-669B-457B533F8F2D}"/>
                </a:ext>
              </a:extLst>
            </p:cNvPr>
            <p:cNvSpPr txBox="1"/>
            <p:nvPr/>
          </p:nvSpPr>
          <p:spPr>
            <a:xfrm>
              <a:off x="6675109" y="3236344"/>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hueOff val="0"/>
                    <a:satOff val="0"/>
                    <a:lumOff val="0"/>
                  </a:schemeClr>
                </a:solidFill>
              </a:endParaRPr>
            </a:p>
          </p:txBody>
        </p:sp>
        <p:sp>
          <p:nvSpPr>
            <p:cNvPr id="63" name="Straight Connector 4">
              <a:extLst>
                <a:ext uri="{FF2B5EF4-FFF2-40B4-BE49-F238E27FC236}">
                  <a16:creationId xmlns:a16="http://schemas.microsoft.com/office/drawing/2014/main" id="{428CF77E-1B19-E2CA-CB73-9C615224352C}"/>
                </a:ext>
              </a:extLst>
            </p:cNvPr>
            <p:cNvSpPr txBox="1"/>
            <p:nvPr/>
          </p:nvSpPr>
          <p:spPr>
            <a:xfrm>
              <a:off x="2140398" y="3232067"/>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hueOff val="0"/>
                    <a:satOff val="0"/>
                    <a:lumOff val="0"/>
                  </a:schemeClr>
                </a:solidFill>
              </a:endParaRPr>
            </a:p>
          </p:txBody>
        </p:sp>
      </p:grpSp>
      <p:grpSp>
        <p:nvGrpSpPr>
          <p:cNvPr id="67" name="Group 66">
            <a:extLst>
              <a:ext uri="{FF2B5EF4-FFF2-40B4-BE49-F238E27FC236}">
                <a16:creationId xmlns:a16="http://schemas.microsoft.com/office/drawing/2014/main" id="{C118F850-3B37-5440-B1BF-780F04F4789D}"/>
              </a:ext>
            </a:extLst>
          </p:cNvPr>
          <p:cNvGrpSpPr/>
          <p:nvPr/>
        </p:nvGrpSpPr>
        <p:grpSpPr>
          <a:xfrm>
            <a:off x="1857385" y="5535518"/>
            <a:ext cx="4046184" cy="613630"/>
            <a:chOff x="1846337" y="4818562"/>
            <a:chExt cx="4871696" cy="898038"/>
          </a:xfrm>
        </p:grpSpPr>
        <p:grpSp>
          <p:nvGrpSpPr>
            <p:cNvPr id="68" name="Group 67">
              <a:extLst>
                <a:ext uri="{FF2B5EF4-FFF2-40B4-BE49-F238E27FC236}">
                  <a16:creationId xmlns:a16="http://schemas.microsoft.com/office/drawing/2014/main" id="{C424DB15-D7D3-3CCB-03DB-789AB44C481A}"/>
                </a:ext>
              </a:extLst>
            </p:cNvPr>
            <p:cNvGrpSpPr/>
            <p:nvPr/>
          </p:nvGrpSpPr>
          <p:grpSpPr>
            <a:xfrm>
              <a:off x="1846337" y="4818562"/>
              <a:ext cx="4120583" cy="898038"/>
              <a:chOff x="42237" y="2147706"/>
              <a:chExt cx="8728573" cy="4798061"/>
            </a:xfrm>
          </p:grpSpPr>
          <p:graphicFrame>
            <p:nvGraphicFramePr>
              <p:cNvPr id="71" name="Diagram 70">
                <a:extLst>
                  <a:ext uri="{FF2B5EF4-FFF2-40B4-BE49-F238E27FC236}">
                    <a16:creationId xmlns:a16="http://schemas.microsoft.com/office/drawing/2014/main" id="{967A9C10-76C3-B453-A212-A1C5AA3BF88C}"/>
                  </a:ext>
                </a:extLst>
              </p:cNvPr>
              <p:cNvGraphicFramePr/>
              <p:nvPr>
                <p:extLst>
                  <p:ext uri="{D42A27DB-BD31-4B8C-83A1-F6EECF244321}">
                    <p14:modId xmlns:p14="http://schemas.microsoft.com/office/powerpoint/2010/main" val="1558078805"/>
                  </p:ext>
                </p:extLst>
              </p:nvPr>
            </p:nvGraphicFramePr>
            <p:xfrm>
              <a:off x="42237" y="3722966"/>
              <a:ext cx="8690337" cy="322280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72" name="Straight Connector 4">
                <a:extLst>
                  <a:ext uri="{FF2B5EF4-FFF2-40B4-BE49-F238E27FC236}">
                    <a16:creationId xmlns:a16="http://schemas.microsoft.com/office/drawing/2014/main" id="{496E4F8E-97B4-2B4C-404C-9FAA24F9C9BC}"/>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73" name="Straight Connector 4">
                <a:extLst>
                  <a:ext uri="{FF2B5EF4-FFF2-40B4-BE49-F238E27FC236}">
                    <a16:creationId xmlns:a16="http://schemas.microsoft.com/office/drawing/2014/main" id="{B049BEE6-B2A9-F58B-E6D9-393E54E49475}"/>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69" name="Straight Connector 4">
              <a:extLst>
                <a:ext uri="{FF2B5EF4-FFF2-40B4-BE49-F238E27FC236}">
                  <a16:creationId xmlns:a16="http://schemas.microsoft.com/office/drawing/2014/main" id="{27B68359-115B-F8C8-1576-5BD07CDC4EBA}"/>
                </a:ext>
              </a:extLst>
            </p:cNvPr>
            <p:cNvSpPr txBox="1"/>
            <p:nvPr/>
          </p:nvSpPr>
          <p:spPr>
            <a:xfrm>
              <a:off x="6696460" y="5114720"/>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70" name="Straight Connector 4">
              <a:extLst>
                <a:ext uri="{FF2B5EF4-FFF2-40B4-BE49-F238E27FC236}">
                  <a16:creationId xmlns:a16="http://schemas.microsoft.com/office/drawing/2014/main" id="{386FCCDC-8D5C-3E0E-15A2-C99B30CBBF1C}"/>
                </a:ext>
              </a:extLst>
            </p:cNvPr>
            <p:cNvSpPr txBox="1"/>
            <p:nvPr/>
          </p:nvSpPr>
          <p:spPr>
            <a:xfrm>
              <a:off x="2161749" y="5110444"/>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74" name="Rectangle 73">
            <a:extLst>
              <a:ext uri="{FF2B5EF4-FFF2-40B4-BE49-F238E27FC236}">
                <a16:creationId xmlns:a16="http://schemas.microsoft.com/office/drawing/2014/main" id="{62FF7AC7-F698-B7DE-AF16-8344DB6BE73E}"/>
              </a:ext>
            </a:extLst>
          </p:cNvPr>
          <p:cNvSpPr/>
          <p:nvPr/>
        </p:nvSpPr>
        <p:spPr>
          <a:xfrm>
            <a:off x="2139995" y="3661737"/>
            <a:ext cx="496940" cy="2625404"/>
          </a:xfrm>
          <a:prstGeom prst="rect">
            <a:avLst/>
          </a:prstGeom>
          <a:solidFill>
            <a:srgbClr val="0067B9">
              <a:hueOff val="0"/>
              <a:satOff val="0"/>
              <a:lumOff val="0"/>
              <a:alpha val="20000"/>
            </a:srgbClr>
          </a:solidFill>
          <a:ln w="25400" cap="flat" cmpd="sng" algn="ctr">
            <a:solidFill>
              <a:srgbClr val="FFFFFF">
                <a:hueOff val="0"/>
                <a:satOff val="0"/>
                <a:lumOff val="0"/>
                <a:alphaOff val="0"/>
              </a:srgbClr>
            </a:solidFill>
            <a:prstDash val="solid"/>
          </a:ln>
          <a:effectLst/>
        </p:spPr>
        <p:txBody>
          <a:bodyPr spcFirstLastPara="0" vert="vert270" wrap="square" lIns="8890" tIns="8890" rIns="8890" bIns="8890" numCol="1" spcCol="1270" anchor="ctr" anchorCtr="0">
            <a:noAutofit/>
          </a:bodyPr>
          <a:lstStyle/>
          <a:p>
            <a:pPr algn="ctr"/>
            <a:r>
              <a:rPr lang="en-US" sz="1600" b="1" dirty="0">
                <a:solidFill>
                  <a:schemeClr val="bg1"/>
                </a:solidFill>
              </a:rPr>
              <a:t>Multiplexer</a:t>
            </a:r>
          </a:p>
        </p:txBody>
      </p:sp>
      <p:grpSp>
        <p:nvGrpSpPr>
          <p:cNvPr id="75" name="Group 74">
            <a:extLst>
              <a:ext uri="{FF2B5EF4-FFF2-40B4-BE49-F238E27FC236}">
                <a16:creationId xmlns:a16="http://schemas.microsoft.com/office/drawing/2014/main" id="{A6B84B65-F0EB-3DA2-999F-FA2AFDC90462}"/>
              </a:ext>
            </a:extLst>
          </p:cNvPr>
          <p:cNvGrpSpPr/>
          <p:nvPr/>
        </p:nvGrpSpPr>
        <p:grpSpPr>
          <a:xfrm>
            <a:off x="4017859" y="3960126"/>
            <a:ext cx="422177" cy="122994"/>
            <a:chOff x="4490551" y="3296170"/>
            <a:chExt cx="508311" cy="180000"/>
          </a:xfrm>
        </p:grpSpPr>
        <p:sp>
          <p:nvSpPr>
            <p:cNvPr id="76" name="Straight Connector 3">
              <a:extLst>
                <a:ext uri="{FF2B5EF4-FFF2-40B4-BE49-F238E27FC236}">
                  <a16:creationId xmlns:a16="http://schemas.microsoft.com/office/drawing/2014/main" id="{771D50A5-1F45-AADA-4F6B-722214DE41F0}"/>
                </a:ext>
              </a:extLst>
            </p:cNvPr>
            <p:cNvSpPr/>
            <p:nvPr/>
          </p:nvSpPr>
          <p:spPr>
            <a:xfrm>
              <a:off x="4490551" y="32961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77" name="Straight Connector 4">
              <a:extLst>
                <a:ext uri="{FF2B5EF4-FFF2-40B4-BE49-F238E27FC236}">
                  <a16:creationId xmlns:a16="http://schemas.microsoft.com/office/drawing/2014/main" id="{7A17B31A-E34B-256B-049D-0D44EB71568E}"/>
                </a:ext>
              </a:extLst>
            </p:cNvPr>
            <p:cNvSpPr txBox="1"/>
            <p:nvPr/>
          </p:nvSpPr>
          <p:spPr>
            <a:xfrm>
              <a:off x="4731999" y="3373462"/>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78" name="Group 77">
            <a:extLst>
              <a:ext uri="{FF2B5EF4-FFF2-40B4-BE49-F238E27FC236}">
                <a16:creationId xmlns:a16="http://schemas.microsoft.com/office/drawing/2014/main" id="{66DAAEA6-2CA9-BA77-19F4-6964BF2F159F}"/>
              </a:ext>
            </a:extLst>
          </p:cNvPr>
          <p:cNvGrpSpPr/>
          <p:nvPr/>
        </p:nvGrpSpPr>
        <p:grpSpPr>
          <a:xfrm>
            <a:off x="4029929" y="5854079"/>
            <a:ext cx="961265" cy="206348"/>
            <a:chOff x="4490551" y="5190123"/>
            <a:chExt cx="508311" cy="180000"/>
          </a:xfrm>
        </p:grpSpPr>
        <p:sp>
          <p:nvSpPr>
            <p:cNvPr id="79" name="Straight Connector 3">
              <a:extLst>
                <a:ext uri="{FF2B5EF4-FFF2-40B4-BE49-F238E27FC236}">
                  <a16:creationId xmlns:a16="http://schemas.microsoft.com/office/drawing/2014/main" id="{27798FA2-B633-3072-F30D-744B6BDDFEC3}"/>
                </a:ext>
              </a:extLst>
            </p:cNvPr>
            <p:cNvSpPr/>
            <p:nvPr/>
          </p:nvSpPr>
          <p:spPr>
            <a:xfrm>
              <a:off x="4490551" y="5190123"/>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0" name="Straight Connector 4">
              <a:extLst>
                <a:ext uri="{FF2B5EF4-FFF2-40B4-BE49-F238E27FC236}">
                  <a16:creationId xmlns:a16="http://schemas.microsoft.com/office/drawing/2014/main" id="{C7AE3ACF-569F-2ABE-0CE1-B9C3BDD13A09}"/>
                </a:ext>
              </a:extLst>
            </p:cNvPr>
            <p:cNvSpPr txBox="1"/>
            <p:nvPr/>
          </p:nvSpPr>
          <p:spPr>
            <a:xfrm>
              <a:off x="4731999" y="5267415"/>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1" name="Group 80">
            <a:extLst>
              <a:ext uri="{FF2B5EF4-FFF2-40B4-BE49-F238E27FC236}">
                <a16:creationId xmlns:a16="http://schemas.microsoft.com/office/drawing/2014/main" id="{1A9BA5C8-5B02-F9C8-9B6F-A08C198D2A14}"/>
              </a:ext>
            </a:extLst>
          </p:cNvPr>
          <p:cNvGrpSpPr/>
          <p:nvPr/>
        </p:nvGrpSpPr>
        <p:grpSpPr>
          <a:xfrm>
            <a:off x="2620484" y="3951443"/>
            <a:ext cx="422177" cy="122994"/>
            <a:chOff x="2804643" y="3296170"/>
            <a:chExt cx="508311" cy="180000"/>
          </a:xfrm>
        </p:grpSpPr>
        <p:sp>
          <p:nvSpPr>
            <p:cNvPr id="82" name="Straight Connector 3">
              <a:extLst>
                <a:ext uri="{FF2B5EF4-FFF2-40B4-BE49-F238E27FC236}">
                  <a16:creationId xmlns:a16="http://schemas.microsoft.com/office/drawing/2014/main" id="{0B107163-D5D5-211B-F4FC-F14AEAB04E8D}"/>
                </a:ext>
              </a:extLst>
            </p:cNvPr>
            <p:cNvSpPr/>
            <p:nvPr/>
          </p:nvSpPr>
          <p:spPr>
            <a:xfrm>
              <a:off x="2804643" y="32961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3" name="Straight Connector 4">
              <a:extLst>
                <a:ext uri="{FF2B5EF4-FFF2-40B4-BE49-F238E27FC236}">
                  <a16:creationId xmlns:a16="http://schemas.microsoft.com/office/drawing/2014/main" id="{FF90E4FE-5E13-1BC2-EE1C-A570CD1EA555}"/>
                </a:ext>
              </a:extLst>
            </p:cNvPr>
            <p:cNvSpPr txBox="1"/>
            <p:nvPr/>
          </p:nvSpPr>
          <p:spPr>
            <a:xfrm>
              <a:off x="2881761" y="3373462"/>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4" name="Group 83">
            <a:extLst>
              <a:ext uri="{FF2B5EF4-FFF2-40B4-BE49-F238E27FC236}">
                <a16:creationId xmlns:a16="http://schemas.microsoft.com/office/drawing/2014/main" id="{AC3132C4-60F9-D6EE-B424-D507DE37E82A}"/>
              </a:ext>
            </a:extLst>
          </p:cNvPr>
          <p:cNvGrpSpPr/>
          <p:nvPr/>
        </p:nvGrpSpPr>
        <p:grpSpPr>
          <a:xfrm>
            <a:off x="2392957" y="5879729"/>
            <a:ext cx="666877" cy="122994"/>
            <a:chOff x="2881761" y="5177970"/>
            <a:chExt cx="802936" cy="180000"/>
          </a:xfrm>
        </p:grpSpPr>
        <p:sp>
          <p:nvSpPr>
            <p:cNvPr id="85" name="Straight Connector 3">
              <a:extLst>
                <a:ext uri="{FF2B5EF4-FFF2-40B4-BE49-F238E27FC236}">
                  <a16:creationId xmlns:a16="http://schemas.microsoft.com/office/drawing/2014/main" id="{8DE83884-5B4E-AC29-D78A-EF1F591EA18F}"/>
                </a:ext>
              </a:extLst>
            </p:cNvPr>
            <p:cNvSpPr/>
            <p:nvPr/>
          </p:nvSpPr>
          <p:spPr>
            <a:xfrm>
              <a:off x="3176386" y="51779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6" name="Straight Connector 4">
              <a:extLst>
                <a:ext uri="{FF2B5EF4-FFF2-40B4-BE49-F238E27FC236}">
                  <a16:creationId xmlns:a16="http://schemas.microsoft.com/office/drawing/2014/main" id="{4458F076-5A9F-7D1C-29CC-A05D5FB2DFD9}"/>
                </a:ext>
              </a:extLst>
            </p:cNvPr>
            <p:cNvSpPr txBox="1"/>
            <p:nvPr/>
          </p:nvSpPr>
          <p:spPr>
            <a:xfrm>
              <a:off x="2881761" y="5267415"/>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7" name="Group 86">
            <a:extLst>
              <a:ext uri="{FF2B5EF4-FFF2-40B4-BE49-F238E27FC236}">
                <a16:creationId xmlns:a16="http://schemas.microsoft.com/office/drawing/2014/main" id="{84F52D2F-C5C7-F03E-9AFE-2CEB40DEB893}"/>
              </a:ext>
            </a:extLst>
          </p:cNvPr>
          <p:cNvGrpSpPr/>
          <p:nvPr/>
        </p:nvGrpSpPr>
        <p:grpSpPr>
          <a:xfrm>
            <a:off x="1635444" y="5009039"/>
            <a:ext cx="422177" cy="122994"/>
            <a:chOff x="1535053" y="3625816"/>
            <a:chExt cx="508311" cy="180000"/>
          </a:xfrm>
        </p:grpSpPr>
        <p:sp>
          <p:nvSpPr>
            <p:cNvPr id="88" name="Straight Connector 3">
              <a:extLst>
                <a:ext uri="{FF2B5EF4-FFF2-40B4-BE49-F238E27FC236}">
                  <a16:creationId xmlns:a16="http://schemas.microsoft.com/office/drawing/2014/main" id="{8DE71E3B-2477-8929-56F4-D1BFD7D45AA7}"/>
                </a:ext>
              </a:extLst>
            </p:cNvPr>
            <p:cNvSpPr/>
            <p:nvPr/>
          </p:nvSpPr>
          <p:spPr>
            <a:xfrm>
              <a:off x="1535053" y="3625816"/>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9" name="Straight Connector 4">
              <a:extLst>
                <a:ext uri="{FF2B5EF4-FFF2-40B4-BE49-F238E27FC236}">
                  <a16:creationId xmlns:a16="http://schemas.microsoft.com/office/drawing/2014/main" id="{DDC45655-952E-F3AE-386B-45C289142565}"/>
                </a:ext>
              </a:extLst>
            </p:cNvPr>
            <p:cNvSpPr txBox="1"/>
            <p:nvPr/>
          </p:nvSpPr>
          <p:spPr>
            <a:xfrm>
              <a:off x="1776501" y="3703108"/>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90" name="TextBox 89">
            <a:extLst>
              <a:ext uri="{FF2B5EF4-FFF2-40B4-BE49-F238E27FC236}">
                <a16:creationId xmlns:a16="http://schemas.microsoft.com/office/drawing/2014/main" id="{88325216-54A7-A902-9CD1-ECD7A9DB76D0}"/>
              </a:ext>
            </a:extLst>
          </p:cNvPr>
          <p:cNvSpPr txBox="1"/>
          <p:nvPr/>
        </p:nvSpPr>
        <p:spPr>
          <a:xfrm>
            <a:off x="8734775" y="4107958"/>
            <a:ext cx="1174045" cy="23138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from the channel</a:t>
            </a:r>
          </a:p>
        </p:txBody>
      </p:sp>
      <p:sp>
        <p:nvSpPr>
          <p:cNvPr id="91" name="TextBox 90">
            <a:extLst>
              <a:ext uri="{FF2B5EF4-FFF2-40B4-BE49-F238E27FC236}">
                <a16:creationId xmlns:a16="http://schemas.microsoft.com/office/drawing/2014/main" id="{E522F8B0-F58C-A80F-7807-249CAB8F8A9E}"/>
              </a:ext>
            </a:extLst>
          </p:cNvPr>
          <p:cNvSpPr txBox="1"/>
          <p:nvPr/>
        </p:nvSpPr>
        <p:spPr>
          <a:xfrm>
            <a:off x="8726374" y="5995006"/>
            <a:ext cx="1174045" cy="18647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from the channel</a:t>
            </a:r>
          </a:p>
        </p:txBody>
      </p:sp>
      <p:sp>
        <p:nvSpPr>
          <p:cNvPr id="92" name="TextBox 91">
            <a:extLst>
              <a:ext uri="{FF2B5EF4-FFF2-40B4-BE49-F238E27FC236}">
                <a16:creationId xmlns:a16="http://schemas.microsoft.com/office/drawing/2014/main" id="{8C0AF40D-4082-1528-7546-5C8C9467554F}"/>
              </a:ext>
            </a:extLst>
          </p:cNvPr>
          <p:cNvSpPr txBox="1"/>
          <p:nvPr/>
        </p:nvSpPr>
        <p:spPr>
          <a:xfrm>
            <a:off x="846323" y="4992202"/>
            <a:ext cx="829644" cy="21807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Output data</a:t>
            </a:r>
          </a:p>
        </p:txBody>
      </p:sp>
      <p:sp>
        <p:nvSpPr>
          <p:cNvPr id="94" name="Oval 93">
            <a:extLst>
              <a:ext uri="{FF2B5EF4-FFF2-40B4-BE49-F238E27FC236}">
                <a16:creationId xmlns:a16="http://schemas.microsoft.com/office/drawing/2014/main" id="{B8217784-4433-6ABC-0EB8-43B8FBD13C9D}"/>
              </a:ext>
            </a:extLst>
          </p:cNvPr>
          <p:cNvSpPr/>
          <p:nvPr/>
        </p:nvSpPr>
        <p:spPr>
          <a:xfrm>
            <a:off x="6940132" y="4614687"/>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D38A6034-915C-7698-EF0A-78B7FEFD3AB3}"/>
              </a:ext>
            </a:extLst>
          </p:cNvPr>
          <p:cNvSpPr/>
          <p:nvPr/>
        </p:nvSpPr>
        <p:spPr>
          <a:xfrm>
            <a:off x="6940132" y="488002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DCDB0164-1CAB-1156-BC6B-29935E84E52E}"/>
              </a:ext>
            </a:extLst>
          </p:cNvPr>
          <p:cNvSpPr/>
          <p:nvPr/>
        </p:nvSpPr>
        <p:spPr>
          <a:xfrm>
            <a:off x="6940132" y="5145353"/>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DD0BFF9C-1925-D449-A8BD-ADCE2A19D13F}"/>
              </a:ext>
            </a:extLst>
          </p:cNvPr>
          <p:cNvSpPr/>
          <p:nvPr/>
        </p:nvSpPr>
        <p:spPr>
          <a:xfrm>
            <a:off x="3525405" y="4518907"/>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1A6088A6-AF31-51A5-10C4-240EED464BE5}"/>
              </a:ext>
            </a:extLst>
          </p:cNvPr>
          <p:cNvSpPr/>
          <p:nvPr/>
        </p:nvSpPr>
        <p:spPr>
          <a:xfrm>
            <a:off x="3525405" y="477339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83255B66-0EDB-B08F-755F-7CBF00984DB1}"/>
              </a:ext>
            </a:extLst>
          </p:cNvPr>
          <p:cNvSpPr/>
          <p:nvPr/>
        </p:nvSpPr>
        <p:spPr>
          <a:xfrm>
            <a:off x="3525405" y="502787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2455990B-F0AD-F5BE-1454-54A3CE7920E3}"/>
              </a:ext>
            </a:extLst>
          </p:cNvPr>
          <p:cNvSpPr/>
          <p:nvPr/>
        </p:nvSpPr>
        <p:spPr>
          <a:xfrm>
            <a:off x="3525405" y="525351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1" name="Straight Arrow Connector 100">
            <a:extLst>
              <a:ext uri="{FF2B5EF4-FFF2-40B4-BE49-F238E27FC236}">
                <a16:creationId xmlns:a16="http://schemas.microsoft.com/office/drawing/2014/main" id="{CABEA48B-EE05-C204-D532-C025E24AF7A1}"/>
              </a:ext>
            </a:extLst>
          </p:cNvPr>
          <p:cNvCxnSpPr>
            <a:cxnSpLocks/>
          </p:cNvCxnSpPr>
          <p:nvPr/>
        </p:nvCxnSpPr>
        <p:spPr>
          <a:xfrm flipH="1">
            <a:off x="2686240" y="6509532"/>
            <a:ext cx="759255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3D3F57FC-028E-41E3-957A-4FCD9EB4C1F9}"/>
              </a:ext>
            </a:extLst>
          </p:cNvPr>
          <p:cNvSpPr txBox="1"/>
          <p:nvPr/>
        </p:nvSpPr>
        <p:spPr>
          <a:xfrm>
            <a:off x="4601690" y="6163400"/>
            <a:ext cx="2039467" cy="477563"/>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Rx (Base Station)</a:t>
            </a:r>
          </a:p>
        </p:txBody>
      </p:sp>
    </p:spTree>
    <p:extLst>
      <p:ext uri="{BB962C8B-B14F-4D97-AF65-F5344CB8AC3E}">
        <p14:creationId xmlns:p14="http://schemas.microsoft.com/office/powerpoint/2010/main" val="19700602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2" end="2"/>
                                            </p:txEl>
                                          </p:spTgt>
                                        </p:tgtEl>
                                        <p:attrNameLst>
                                          <p:attrName>style.visibility</p:attrName>
                                        </p:attrNameLst>
                                      </p:cBhvr>
                                      <p:to>
                                        <p:strVal val="visible"/>
                                      </p:to>
                                    </p:set>
                                    <p:animEffect transition="in" filter="fade">
                                      <p:cBhvr>
                                        <p:cTn id="7" dur="500"/>
                                        <p:tgtEl>
                                          <p:spTgt spid="20">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
                                            <p:txEl>
                                              <p:pRg st="3" end="3"/>
                                            </p:txEl>
                                          </p:spTgt>
                                        </p:tgtEl>
                                        <p:attrNameLst>
                                          <p:attrName>style.visibility</p:attrName>
                                        </p:attrNameLst>
                                      </p:cBhvr>
                                      <p:to>
                                        <p:strVal val="visible"/>
                                      </p:to>
                                    </p:set>
                                    <p:animEffect transition="in" filter="fade">
                                      <p:cBhvr>
                                        <p:cTn id="10" dur="500"/>
                                        <p:tgtEl>
                                          <p:spTgt spid="20">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xEl>
                                              <p:pRg st="4" end="4"/>
                                            </p:txEl>
                                          </p:spTgt>
                                        </p:tgtEl>
                                        <p:attrNameLst>
                                          <p:attrName>style.visibility</p:attrName>
                                        </p:attrNameLst>
                                      </p:cBhvr>
                                      <p:to>
                                        <p:strVal val="visible"/>
                                      </p:to>
                                    </p:set>
                                    <p:animEffect transition="in" filter="fade">
                                      <p:cBhvr>
                                        <p:cTn id="13" dur="500"/>
                                        <p:tgtEl>
                                          <p:spTgt spid="20">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fade">
                                      <p:cBhvr>
                                        <p:cTn id="21" dur="500"/>
                                        <p:tgtEl>
                                          <p:spTgt spid="39"/>
                                        </p:tgtEl>
                                      </p:cBhvr>
                                    </p:animEffect>
                                  </p:childTnLst>
                                </p:cTn>
                              </p:par>
                              <p:par>
                                <p:cTn id="22" presetID="10" presetClass="entr" presetSubtype="0" fill="hold"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500"/>
                                        <p:tgtEl>
                                          <p:spTgt spid="40"/>
                                        </p:tgtEl>
                                      </p:cBhvr>
                                    </p:animEffect>
                                  </p:childTnLst>
                                </p:cTn>
                              </p:par>
                              <p:par>
                                <p:cTn id="25" presetID="10"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par>
                                <p:cTn id="28" presetID="10" presetClass="entr" presetSubtype="0" fill="hold" nodeType="with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par>
                                <p:cTn id="31" presetID="10"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fade">
                                      <p:cBhvr>
                                        <p:cTn id="33" dur="500"/>
                                        <p:tgtEl>
                                          <p:spTgt spid="5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fade">
                                      <p:cBhvr>
                                        <p:cTn id="36" dur="500"/>
                                        <p:tgtEl>
                                          <p:spTgt spid="5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animEffect transition="in" filter="fade">
                                      <p:cBhvr>
                                        <p:cTn id="39" dur="500"/>
                                        <p:tgtEl>
                                          <p:spTgt spid="5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fade">
                                      <p:cBhvr>
                                        <p:cTn id="42" dur="500"/>
                                        <p:tgtEl>
                                          <p:spTgt spid="5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55"/>
                                        </p:tgtEl>
                                        <p:attrNameLst>
                                          <p:attrName>style.visibility</p:attrName>
                                        </p:attrNameLst>
                                      </p:cBhvr>
                                      <p:to>
                                        <p:strVal val="visible"/>
                                      </p:to>
                                    </p:set>
                                    <p:animEffect transition="in" filter="fade">
                                      <p:cBhvr>
                                        <p:cTn id="45" dur="500"/>
                                        <p:tgtEl>
                                          <p:spTgt spid="5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6"/>
                                        </p:tgtEl>
                                        <p:attrNameLst>
                                          <p:attrName>style.visibility</p:attrName>
                                        </p:attrNameLst>
                                      </p:cBhvr>
                                      <p:to>
                                        <p:strVal val="visible"/>
                                      </p:to>
                                    </p:set>
                                    <p:animEffect transition="in" filter="fade">
                                      <p:cBhvr>
                                        <p:cTn id="48" dur="500"/>
                                        <p:tgtEl>
                                          <p:spTgt spid="56"/>
                                        </p:tgtEl>
                                      </p:cBhvr>
                                    </p:animEffect>
                                  </p:childTnLst>
                                </p:cTn>
                              </p:par>
                              <p:par>
                                <p:cTn id="49" presetID="10" presetClass="entr" presetSubtype="0" fill="hold" nodeType="withEffect">
                                  <p:stCondLst>
                                    <p:cond delay="0"/>
                                  </p:stCondLst>
                                  <p:childTnLst>
                                    <p:set>
                                      <p:cBhvr>
                                        <p:cTn id="50" dur="1" fill="hold">
                                          <p:stCondLst>
                                            <p:cond delay="0"/>
                                          </p:stCondLst>
                                        </p:cTn>
                                        <p:tgtEl>
                                          <p:spTgt spid="60"/>
                                        </p:tgtEl>
                                        <p:attrNameLst>
                                          <p:attrName>style.visibility</p:attrName>
                                        </p:attrNameLst>
                                      </p:cBhvr>
                                      <p:to>
                                        <p:strVal val="visible"/>
                                      </p:to>
                                    </p:set>
                                    <p:animEffect transition="in" filter="fade">
                                      <p:cBhvr>
                                        <p:cTn id="51" dur="500"/>
                                        <p:tgtEl>
                                          <p:spTgt spid="60"/>
                                        </p:tgtEl>
                                      </p:cBhvr>
                                    </p:animEffect>
                                  </p:childTnLst>
                                </p:cTn>
                              </p:par>
                              <p:par>
                                <p:cTn id="52" presetID="10" presetClass="entr" presetSubtype="0" fill="hold" nodeType="withEffect">
                                  <p:stCondLst>
                                    <p:cond delay="0"/>
                                  </p:stCondLst>
                                  <p:childTnLst>
                                    <p:set>
                                      <p:cBhvr>
                                        <p:cTn id="53" dur="1" fill="hold">
                                          <p:stCondLst>
                                            <p:cond delay="0"/>
                                          </p:stCondLst>
                                        </p:cTn>
                                        <p:tgtEl>
                                          <p:spTgt spid="67"/>
                                        </p:tgtEl>
                                        <p:attrNameLst>
                                          <p:attrName>style.visibility</p:attrName>
                                        </p:attrNameLst>
                                      </p:cBhvr>
                                      <p:to>
                                        <p:strVal val="visible"/>
                                      </p:to>
                                    </p:set>
                                    <p:animEffect transition="in" filter="fade">
                                      <p:cBhvr>
                                        <p:cTn id="54" dur="500"/>
                                        <p:tgtEl>
                                          <p:spTgt spid="6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74"/>
                                        </p:tgtEl>
                                        <p:attrNameLst>
                                          <p:attrName>style.visibility</p:attrName>
                                        </p:attrNameLst>
                                      </p:cBhvr>
                                      <p:to>
                                        <p:strVal val="visible"/>
                                      </p:to>
                                    </p:set>
                                    <p:animEffect transition="in" filter="fade">
                                      <p:cBhvr>
                                        <p:cTn id="57" dur="500"/>
                                        <p:tgtEl>
                                          <p:spTgt spid="74"/>
                                        </p:tgtEl>
                                      </p:cBhvr>
                                    </p:animEffect>
                                  </p:childTnLst>
                                </p:cTn>
                              </p:par>
                              <p:par>
                                <p:cTn id="58" presetID="10" presetClass="entr" presetSubtype="0" fill="hold" nodeType="withEffect">
                                  <p:stCondLst>
                                    <p:cond delay="0"/>
                                  </p:stCondLst>
                                  <p:childTnLst>
                                    <p:set>
                                      <p:cBhvr>
                                        <p:cTn id="59" dur="1" fill="hold">
                                          <p:stCondLst>
                                            <p:cond delay="0"/>
                                          </p:stCondLst>
                                        </p:cTn>
                                        <p:tgtEl>
                                          <p:spTgt spid="75"/>
                                        </p:tgtEl>
                                        <p:attrNameLst>
                                          <p:attrName>style.visibility</p:attrName>
                                        </p:attrNameLst>
                                      </p:cBhvr>
                                      <p:to>
                                        <p:strVal val="visible"/>
                                      </p:to>
                                    </p:set>
                                    <p:animEffect transition="in" filter="fade">
                                      <p:cBhvr>
                                        <p:cTn id="60" dur="500"/>
                                        <p:tgtEl>
                                          <p:spTgt spid="75"/>
                                        </p:tgtEl>
                                      </p:cBhvr>
                                    </p:animEffect>
                                  </p:childTnLst>
                                </p:cTn>
                              </p:par>
                              <p:par>
                                <p:cTn id="61" presetID="10" presetClass="entr" presetSubtype="0" fill="hold" nodeType="withEffect">
                                  <p:stCondLst>
                                    <p:cond delay="0"/>
                                  </p:stCondLst>
                                  <p:childTnLst>
                                    <p:set>
                                      <p:cBhvr>
                                        <p:cTn id="62" dur="1" fill="hold">
                                          <p:stCondLst>
                                            <p:cond delay="0"/>
                                          </p:stCondLst>
                                        </p:cTn>
                                        <p:tgtEl>
                                          <p:spTgt spid="78"/>
                                        </p:tgtEl>
                                        <p:attrNameLst>
                                          <p:attrName>style.visibility</p:attrName>
                                        </p:attrNameLst>
                                      </p:cBhvr>
                                      <p:to>
                                        <p:strVal val="visible"/>
                                      </p:to>
                                    </p:set>
                                    <p:animEffect transition="in" filter="fade">
                                      <p:cBhvr>
                                        <p:cTn id="63" dur="500"/>
                                        <p:tgtEl>
                                          <p:spTgt spid="78"/>
                                        </p:tgtEl>
                                      </p:cBhvr>
                                    </p:animEffect>
                                  </p:childTnLst>
                                </p:cTn>
                              </p:par>
                              <p:par>
                                <p:cTn id="64" presetID="10" presetClass="entr" presetSubtype="0" fill="hold" nodeType="withEffect">
                                  <p:stCondLst>
                                    <p:cond delay="0"/>
                                  </p:stCondLst>
                                  <p:childTnLst>
                                    <p:set>
                                      <p:cBhvr>
                                        <p:cTn id="65" dur="1" fill="hold">
                                          <p:stCondLst>
                                            <p:cond delay="0"/>
                                          </p:stCondLst>
                                        </p:cTn>
                                        <p:tgtEl>
                                          <p:spTgt spid="81"/>
                                        </p:tgtEl>
                                        <p:attrNameLst>
                                          <p:attrName>style.visibility</p:attrName>
                                        </p:attrNameLst>
                                      </p:cBhvr>
                                      <p:to>
                                        <p:strVal val="visible"/>
                                      </p:to>
                                    </p:set>
                                    <p:animEffect transition="in" filter="fade">
                                      <p:cBhvr>
                                        <p:cTn id="66" dur="500"/>
                                        <p:tgtEl>
                                          <p:spTgt spid="81"/>
                                        </p:tgtEl>
                                      </p:cBhvr>
                                    </p:animEffect>
                                  </p:childTnLst>
                                </p:cTn>
                              </p:par>
                              <p:par>
                                <p:cTn id="67" presetID="10" presetClass="entr" presetSubtype="0" fill="hold" nodeType="withEffect">
                                  <p:stCondLst>
                                    <p:cond delay="0"/>
                                  </p:stCondLst>
                                  <p:childTnLst>
                                    <p:set>
                                      <p:cBhvr>
                                        <p:cTn id="68" dur="1" fill="hold">
                                          <p:stCondLst>
                                            <p:cond delay="0"/>
                                          </p:stCondLst>
                                        </p:cTn>
                                        <p:tgtEl>
                                          <p:spTgt spid="84"/>
                                        </p:tgtEl>
                                        <p:attrNameLst>
                                          <p:attrName>style.visibility</p:attrName>
                                        </p:attrNameLst>
                                      </p:cBhvr>
                                      <p:to>
                                        <p:strVal val="visible"/>
                                      </p:to>
                                    </p:set>
                                    <p:animEffect transition="in" filter="fade">
                                      <p:cBhvr>
                                        <p:cTn id="69" dur="500"/>
                                        <p:tgtEl>
                                          <p:spTgt spid="84"/>
                                        </p:tgtEl>
                                      </p:cBhvr>
                                    </p:animEffect>
                                  </p:childTnLst>
                                </p:cTn>
                              </p:par>
                              <p:par>
                                <p:cTn id="70" presetID="10" presetClass="entr" presetSubtype="0" fill="hold" nodeType="withEffect">
                                  <p:stCondLst>
                                    <p:cond delay="0"/>
                                  </p:stCondLst>
                                  <p:childTnLst>
                                    <p:set>
                                      <p:cBhvr>
                                        <p:cTn id="71" dur="1" fill="hold">
                                          <p:stCondLst>
                                            <p:cond delay="0"/>
                                          </p:stCondLst>
                                        </p:cTn>
                                        <p:tgtEl>
                                          <p:spTgt spid="87"/>
                                        </p:tgtEl>
                                        <p:attrNameLst>
                                          <p:attrName>style.visibility</p:attrName>
                                        </p:attrNameLst>
                                      </p:cBhvr>
                                      <p:to>
                                        <p:strVal val="visible"/>
                                      </p:to>
                                    </p:set>
                                    <p:animEffect transition="in" filter="fade">
                                      <p:cBhvr>
                                        <p:cTn id="72" dur="500"/>
                                        <p:tgtEl>
                                          <p:spTgt spid="8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90"/>
                                        </p:tgtEl>
                                        <p:attrNameLst>
                                          <p:attrName>style.visibility</p:attrName>
                                        </p:attrNameLst>
                                      </p:cBhvr>
                                      <p:to>
                                        <p:strVal val="visible"/>
                                      </p:to>
                                    </p:set>
                                    <p:animEffect transition="in" filter="fade">
                                      <p:cBhvr>
                                        <p:cTn id="75" dur="500"/>
                                        <p:tgtEl>
                                          <p:spTgt spid="9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91"/>
                                        </p:tgtEl>
                                        <p:attrNameLst>
                                          <p:attrName>style.visibility</p:attrName>
                                        </p:attrNameLst>
                                      </p:cBhvr>
                                      <p:to>
                                        <p:strVal val="visible"/>
                                      </p:to>
                                    </p:set>
                                    <p:animEffect transition="in" filter="fade">
                                      <p:cBhvr>
                                        <p:cTn id="78" dur="500"/>
                                        <p:tgtEl>
                                          <p:spTgt spid="9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92"/>
                                        </p:tgtEl>
                                        <p:attrNameLst>
                                          <p:attrName>style.visibility</p:attrName>
                                        </p:attrNameLst>
                                      </p:cBhvr>
                                      <p:to>
                                        <p:strVal val="visible"/>
                                      </p:to>
                                    </p:set>
                                    <p:animEffect transition="in" filter="fade">
                                      <p:cBhvr>
                                        <p:cTn id="81" dur="500"/>
                                        <p:tgtEl>
                                          <p:spTgt spid="9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94"/>
                                        </p:tgtEl>
                                        <p:attrNameLst>
                                          <p:attrName>style.visibility</p:attrName>
                                        </p:attrNameLst>
                                      </p:cBhvr>
                                      <p:to>
                                        <p:strVal val="visible"/>
                                      </p:to>
                                    </p:set>
                                    <p:animEffect transition="in" filter="fade">
                                      <p:cBhvr>
                                        <p:cTn id="84" dur="500"/>
                                        <p:tgtEl>
                                          <p:spTgt spid="9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95"/>
                                        </p:tgtEl>
                                        <p:attrNameLst>
                                          <p:attrName>style.visibility</p:attrName>
                                        </p:attrNameLst>
                                      </p:cBhvr>
                                      <p:to>
                                        <p:strVal val="visible"/>
                                      </p:to>
                                    </p:set>
                                    <p:animEffect transition="in" filter="fade">
                                      <p:cBhvr>
                                        <p:cTn id="87" dur="500"/>
                                        <p:tgtEl>
                                          <p:spTgt spid="9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96"/>
                                        </p:tgtEl>
                                        <p:attrNameLst>
                                          <p:attrName>style.visibility</p:attrName>
                                        </p:attrNameLst>
                                      </p:cBhvr>
                                      <p:to>
                                        <p:strVal val="visible"/>
                                      </p:to>
                                    </p:set>
                                    <p:animEffect transition="in" filter="fade">
                                      <p:cBhvr>
                                        <p:cTn id="90" dur="500"/>
                                        <p:tgtEl>
                                          <p:spTgt spid="9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97"/>
                                        </p:tgtEl>
                                        <p:attrNameLst>
                                          <p:attrName>style.visibility</p:attrName>
                                        </p:attrNameLst>
                                      </p:cBhvr>
                                      <p:to>
                                        <p:strVal val="visible"/>
                                      </p:to>
                                    </p:set>
                                    <p:animEffect transition="in" filter="fade">
                                      <p:cBhvr>
                                        <p:cTn id="93" dur="500"/>
                                        <p:tgtEl>
                                          <p:spTgt spid="9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98"/>
                                        </p:tgtEl>
                                        <p:attrNameLst>
                                          <p:attrName>style.visibility</p:attrName>
                                        </p:attrNameLst>
                                      </p:cBhvr>
                                      <p:to>
                                        <p:strVal val="visible"/>
                                      </p:to>
                                    </p:set>
                                    <p:animEffect transition="in" filter="fade">
                                      <p:cBhvr>
                                        <p:cTn id="96" dur="500"/>
                                        <p:tgtEl>
                                          <p:spTgt spid="9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99"/>
                                        </p:tgtEl>
                                        <p:attrNameLst>
                                          <p:attrName>style.visibility</p:attrName>
                                        </p:attrNameLst>
                                      </p:cBhvr>
                                      <p:to>
                                        <p:strVal val="visible"/>
                                      </p:to>
                                    </p:set>
                                    <p:animEffect transition="in" filter="fade">
                                      <p:cBhvr>
                                        <p:cTn id="99" dur="500"/>
                                        <p:tgtEl>
                                          <p:spTgt spid="9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100"/>
                                        </p:tgtEl>
                                        <p:attrNameLst>
                                          <p:attrName>style.visibility</p:attrName>
                                        </p:attrNameLst>
                                      </p:cBhvr>
                                      <p:to>
                                        <p:strVal val="visible"/>
                                      </p:to>
                                    </p:set>
                                    <p:animEffect transition="in" filter="fade">
                                      <p:cBhvr>
                                        <p:cTn id="102" dur="500"/>
                                        <p:tgtEl>
                                          <p:spTgt spid="100"/>
                                        </p:tgtEl>
                                      </p:cBhvr>
                                    </p:animEffect>
                                  </p:childTnLst>
                                </p:cTn>
                              </p:par>
                              <p:par>
                                <p:cTn id="103" presetID="10" presetClass="entr" presetSubtype="0" fill="hold" nodeType="withEffect">
                                  <p:stCondLst>
                                    <p:cond delay="0"/>
                                  </p:stCondLst>
                                  <p:childTnLst>
                                    <p:set>
                                      <p:cBhvr>
                                        <p:cTn id="104" dur="1" fill="hold">
                                          <p:stCondLst>
                                            <p:cond delay="0"/>
                                          </p:stCondLst>
                                        </p:cTn>
                                        <p:tgtEl>
                                          <p:spTgt spid="101"/>
                                        </p:tgtEl>
                                        <p:attrNameLst>
                                          <p:attrName>style.visibility</p:attrName>
                                        </p:attrNameLst>
                                      </p:cBhvr>
                                      <p:to>
                                        <p:strVal val="visible"/>
                                      </p:to>
                                    </p:set>
                                    <p:animEffect transition="in" filter="fade">
                                      <p:cBhvr>
                                        <p:cTn id="105" dur="500"/>
                                        <p:tgtEl>
                                          <p:spTgt spid="101"/>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102"/>
                                        </p:tgtEl>
                                        <p:attrNameLst>
                                          <p:attrName>style.visibility</p:attrName>
                                        </p:attrNameLst>
                                      </p:cBhvr>
                                      <p:to>
                                        <p:strVal val="visible"/>
                                      </p:to>
                                    </p:set>
                                    <p:animEffect transition="in" filter="fade">
                                      <p:cBhvr>
                                        <p:cTn id="108" dur="500"/>
                                        <p:tgtEl>
                                          <p:spTgt spid="102"/>
                                        </p:tgtEl>
                                      </p:cBhvr>
                                    </p:animEffect>
                                  </p:childTnLst>
                                </p:cTn>
                              </p:par>
                              <p:par>
                                <p:cTn id="109" presetID="10" presetClass="entr" presetSubtype="0" fill="hold" nodeType="withEffect">
                                  <p:stCondLst>
                                    <p:cond delay="0"/>
                                  </p:stCondLst>
                                  <p:childTnLst>
                                    <p:set>
                                      <p:cBhvr>
                                        <p:cTn id="110" dur="1" fill="hold">
                                          <p:stCondLst>
                                            <p:cond delay="0"/>
                                          </p:stCondLst>
                                        </p:cTn>
                                        <p:tgtEl>
                                          <p:spTgt spid="20">
                                            <p:txEl>
                                              <p:pRg st="5" end="5"/>
                                            </p:txEl>
                                          </p:spTgt>
                                        </p:tgtEl>
                                        <p:attrNameLst>
                                          <p:attrName>style.visibility</p:attrName>
                                        </p:attrNameLst>
                                      </p:cBhvr>
                                      <p:to>
                                        <p:strVal val="visible"/>
                                      </p:to>
                                    </p:set>
                                    <p:animEffect transition="in" filter="fade">
                                      <p:cBhvr>
                                        <p:cTn id="111" dur="500"/>
                                        <p:tgtEl>
                                          <p:spTgt spid="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4" grpId="0" animBg="1"/>
      <p:bldP spid="55" grpId="0" animBg="1"/>
      <p:bldP spid="56" grpId="0" animBg="1"/>
      <p:bldP spid="74" grpId="0" animBg="1"/>
      <p:bldP spid="90" grpId="0"/>
      <p:bldP spid="91" grpId="0"/>
      <p:bldP spid="92" grpId="0"/>
      <p:bldP spid="94" grpId="0" animBg="1"/>
      <p:bldP spid="95" grpId="0" animBg="1"/>
      <p:bldP spid="96" grpId="0" animBg="1"/>
      <p:bldP spid="97" grpId="0" animBg="1"/>
      <p:bldP spid="98" grpId="0" animBg="1"/>
      <p:bldP spid="99" grpId="0" animBg="1"/>
      <p:bldP spid="100" grpId="0" animBg="1"/>
      <p:bldP spid="102"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EC1F-C602-6B83-7629-4310575F66F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9E92CC-AFDD-E249-9B60-1CA02489D940}"/>
              </a:ext>
            </a:extLst>
          </p:cNvPr>
          <p:cNvSpPr>
            <a:spLocks noGrp="1"/>
          </p:cNvSpPr>
          <p:nvPr>
            <p:ph type="title"/>
          </p:nvPr>
        </p:nvSpPr>
        <p:spPr>
          <a:xfrm>
            <a:off x="342901" y="219456"/>
            <a:ext cx="10287001" cy="470898"/>
          </a:xfrm>
        </p:spPr>
        <p:txBody>
          <a:bodyPr/>
          <a:lstStyle/>
          <a:p>
            <a:r>
              <a:rPr lang="en-US" dirty="0"/>
              <a:t>RTL: Final Architecture</a:t>
            </a:r>
          </a:p>
        </p:txBody>
      </p:sp>
      <p:sp>
        <p:nvSpPr>
          <p:cNvPr id="4" name="Footer Placeholder 3">
            <a:extLst>
              <a:ext uri="{FF2B5EF4-FFF2-40B4-BE49-F238E27FC236}">
                <a16:creationId xmlns:a16="http://schemas.microsoft.com/office/drawing/2014/main" id="{2FC163C7-DE4E-6A3F-8AC5-A83BE5AF549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6022F23-4FEE-F663-F490-52202F710DB6}"/>
              </a:ext>
            </a:extLst>
          </p:cNvPr>
          <p:cNvSpPr>
            <a:spLocks noGrp="1"/>
          </p:cNvSpPr>
          <p:nvPr>
            <p:ph type="sldNum" sz="quarter" idx="4"/>
          </p:nvPr>
        </p:nvSpPr>
        <p:spPr/>
        <p:txBody>
          <a:bodyPr/>
          <a:lstStyle/>
          <a:p>
            <a:pPr>
              <a:defRPr/>
            </a:pPr>
            <a:fld id="{A9CE67A1-BA7F-A74E-B5D7-615746DEEC2B}" type="slidenum">
              <a:rPr lang="en-US" smtClean="0"/>
              <a:pPr>
                <a:defRPr/>
              </a:pPr>
              <a:t>87</a:t>
            </a:fld>
            <a:endParaRPr lang="en-US" baseline="-11000" dirty="0"/>
          </a:p>
        </p:txBody>
      </p:sp>
      <p:sp>
        <p:nvSpPr>
          <p:cNvPr id="6" name="Date Placeholder 5">
            <a:extLst>
              <a:ext uri="{FF2B5EF4-FFF2-40B4-BE49-F238E27FC236}">
                <a16:creationId xmlns:a16="http://schemas.microsoft.com/office/drawing/2014/main" id="{7D3CE8DE-6B02-62E2-A361-C934B324F809}"/>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85C971DE-13B1-33B0-180A-B8BFFCBDD3A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8DAA9CF3-82E2-6BB0-2579-D9D8E486C7E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E5C96162-12A6-14B0-3A45-54B5789F970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16E7E2F-9C53-2F63-E570-2FB734E676A5}"/>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19B1059B-6D1C-706E-8AD4-BEE20DD7928F}"/>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F9EE4A7-1B36-2BC0-B0B5-7488401AEBE0}"/>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8CDFB13C-BEE1-4FA5-EBB3-688E2AA3519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solidFill>
              </a:rPr>
              <a:t>Final Architecture</a:t>
            </a:r>
          </a:p>
        </p:txBody>
      </p:sp>
      <p:sp>
        <p:nvSpPr>
          <p:cNvPr id="57" name="Rectangle 56">
            <a:extLst>
              <a:ext uri="{FF2B5EF4-FFF2-40B4-BE49-F238E27FC236}">
                <a16:creationId xmlns:a16="http://schemas.microsoft.com/office/drawing/2014/main" id="{0F78D4C4-24D3-BABC-3DCA-71DC1A7A83FA}"/>
              </a:ext>
            </a:extLst>
          </p:cNvPr>
          <p:cNvSpPr/>
          <p:nvPr/>
        </p:nvSpPr>
        <p:spPr>
          <a:xfrm>
            <a:off x="3888632" y="1177367"/>
            <a:ext cx="3618316" cy="1575993"/>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fft4096_dif</a:t>
            </a:r>
          </a:p>
        </p:txBody>
      </p:sp>
      <p:cxnSp>
        <p:nvCxnSpPr>
          <p:cNvPr id="58" name="Straight Arrow Connector 57">
            <a:extLst>
              <a:ext uri="{FF2B5EF4-FFF2-40B4-BE49-F238E27FC236}">
                <a16:creationId xmlns:a16="http://schemas.microsoft.com/office/drawing/2014/main" id="{716CBF6C-0552-17C8-47F6-470B82B5DDA9}"/>
              </a:ext>
            </a:extLst>
          </p:cNvPr>
          <p:cNvCxnSpPr/>
          <p:nvPr/>
        </p:nvCxnSpPr>
        <p:spPr>
          <a:xfrm>
            <a:off x="2974231" y="133907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2E83A58B-D114-C585-5034-9FA8341B48B5}"/>
              </a:ext>
            </a:extLst>
          </p:cNvPr>
          <p:cNvSpPr txBox="1"/>
          <p:nvPr/>
        </p:nvSpPr>
        <p:spPr>
          <a:xfrm>
            <a:off x="2264778" y="1147343"/>
            <a:ext cx="511174"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in_r</a:t>
            </a:r>
            <a:endParaRPr lang="en-US" sz="2000" dirty="0">
              <a:solidFill>
                <a:srgbClr val="000000"/>
              </a:solidFill>
            </a:endParaRPr>
          </a:p>
        </p:txBody>
      </p:sp>
      <p:cxnSp>
        <p:nvCxnSpPr>
          <p:cNvPr id="2" name="Straight Arrow Connector 1">
            <a:extLst>
              <a:ext uri="{FF2B5EF4-FFF2-40B4-BE49-F238E27FC236}">
                <a16:creationId xmlns:a16="http://schemas.microsoft.com/office/drawing/2014/main" id="{FF0EE216-4F0C-7607-9B1A-792E31DAD8FA}"/>
              </a:ext>
            </a:extLst>
          </p:cNvPr>
          <p:cNvCxnSpPr>
            <a:cxnSpLocks/>
          </p:cNvCxnSpPr>
          <p:nvPr/>
        </p:nvCxnSpPr>
        <p:spPr>
          <a:xfrm>
            <a:off x="7506948" y="22060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608A826-EF0C-10B8-01D3-B732966BCE80}"/>
              </a:ext>
            </a:extLst>
          </p:cNvPr>
          <p:cNvCxnSpPr/>
          <p:nvPr/>
        </p:nvCxnSpPr>
        <p:spPr>
          <a:xfrm>
            <a:off x="2974231" y="154907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1AC2983-381B-1C56-54F1-3D48CBE2EC6F}"/>
              </a:ext>
            </a:extLst>
          </p:cNvPr>
          <p:cNvSpPr txBox="1"/>
          <p:nvPr/>
        </p:nvSpPr>
        <p:spPr>
          <a:xfrm>
            <a:off x="2264778" y="1387824"/>
            <a:ext cx="511174"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in_i</a:t>
            </a:r>
            <a:endParaRPr lang="en-US" sz="2000" dirty="0">
              <a:solidFill>
                <a:srgbClr val="000000"/>
              </a:solidFill>
            </a:endParaRPr>
          </a:p>
        </p:txBody>
      </p:sp>
      <p:cxnSp>
        <p:nvCxnSpPr>
          <p:cNvPr id="25" name="Straight Arrow Connector 24">
            <a:extLst>
              <a:ext uri="{FF2B5EF4-FFF2-40B4-BE49-F238E27FC236}">
                <a16:creationId xmlns:a16="http://schemas.microsoft.com/office/drawing/2014/main" id="{E95ED896-1E19-180B-B0E3-7D3873784DE1}"/>
              </a:ext>
            </a:extLst>
          </p:cNvPr>
          <p:cNvCxnSpPr/>
          <p:nvPr/>
        </p:nvCxnSpPr>
        <p:spPr>
          <a:xfrm>
            <a:off x="7488141" y="133907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A73154A-6B7C-6EF3-9416-00251C7260E6}"/>
              </a:ext>
            </a:extLst>
          </p:cNvPr>
          <p:cNvCxnSpPr/>
          <p:nvPr/>
        </p:nvCxnSpPr>
        <p:spPr>
          <a:xfrm>
            <a:off x="7488141" y="154907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87C72460-28D5-EA9F-B48B-06B497D4C276}"/>
              </a:ext>
            </a:extLst>
          </p:cNvPr>
          <p:cNvSpPr txBox="1"/>
          <p:nvPr/>
        </p:nvSpPr>
        <p:spPr>
          <a:xfrm>
            <a:off x="8544983" y="1122294"/>
            <a:ext cx="67278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out_r</a:t>
            </a:r>
            <a:endParaRPr lang="en-US" sz="2000" dirty="0">
              <a:solidFill>
                <a:srgbClr val="000000"/>
              </a:solidFill>
            </a:endParaRPr>
          </a:p>
        </p:txBody>
      </p:sp>
      <p:sp>
        <p:nvSpPr>
          <p:cNvPr id="28" name="TextBox 27">
            <a:extLst>
              <a:ext uri="{FF2B5EF4-FFF2-40B4-BE49-F238E27FC236}">
                <a16:creationId xmlns:a16="http://schemas.microsoft.com/office/drawing/2014/main" id="{D34136AD-1239-305C-82C0-33E13F9F1318}"/>
              </a:ext>
            </a:extLst>
          </p:cNvPr>
          <p:cNvSpPr txBox="1"/>
          <p:nvPr/>
        </p:nvSpPr>
        <p:spPr>
          <a:xfrm>
            <a:off x="8544983" y="1362775"/>
            <a:ext cx="81522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out_i</a:t>
            </a:r>
            <a:endParaRPr lang="en-US" sz="2000" dirty="0">
              <a:solidFill>
                <a:srgbClr val="000000"/>
              </a:solidFill>
            </a:endParaRPr>
          </a:p>
        </p:txBody>
      </p:sp>
      <p:cxnSp>
        <p:nvCxnSpPr>
          <p:cNvPr id="29" name="Straight Arrow Connector 28">
            <a:extLst>
              <a:ext uri="{FF2B5EF4-FFF2-40B4-BE49-F238E27FC236}">
                <a16:creationId xmlns:a16="http://schemas.microsoft.com/office/drawing/2014/main" id="{C6B2CC14-7378-E82F-FACB-1619066016DF}"/>
              </a:ext>
            </a:extLst>
          </p:cNvPr>
          <p:cNvCxnSpPr/>
          <p:nvPr/>
        </p:nvCxnSpPr>
        <p:spPr>
          <a:xfrm>
            <a:off x="7506948" y="201643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2D44DC54-19D2-397F-86E4-D427C4A1E377}"/>
              </a:ext>
            </a:extLst>
          </p:cNvPr>
          <p:cNvSpPr txBox="1"/>
          <p:nvPr/>
        </p:nvSpPr>
        <p:spPr>
          <a:xfrm>
            <a:off x="8544983" y="1782514"/>
            <a:ext cx="125941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valid_out</a:t>
            </a:r>
            <a:endParaRPr lang="en-US" sz="2000" dirty="0">
              <a:solidFill>
                <a:srgbClr val="000000"/>
              </a:solidFill>
            </a:endParaRPr>
          </a:p>
        </p:txBody>
      </p:sp>
      <p:sp>
        <p:nvSpPr>
          <p:cNvPr id="34" name="TextBox 33">
            <a:extLst>
              <a:ext uri="{FF2B5EF4-FFF2-40B4-BE49-F238E27FC236}">
                <a16:creationId xmlns:a16="http://schemas.microsoft.com/office/drawing/2014/main" id="{1A9B0E78-A025-7950-B955-7740B18D7308}"/>
              </a:ext>
            </a:extLst>
          </p:cNvPr>
          <p:cNvSpPr txBox="1"/>
          <p:nvPr/>
        </p:nvSpPr>
        <p:spPr>
          <a:xfrm>
            <a:off x="8544983" y="2022995"/>
            <a:ext cx="147277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Frame_done</a:t>
            </a:r>
            <a:endParaRPr lang="en-US" sz="2000" dirty="0">
              <a:solidFill>
                <a:srgbClr val="000000"/>
              </a:solidFill>
            </a:endParaRPr>
          </a:p>
        </p:txBody>
      </p:sp>
      <p:cxnSp>
        <p:nvCxnSpPr>
          <p:cNvPr id="35" name="Straight Arrow Connector 34">
            <a:extLst>
              <a:ext uri="{FF2B5EF4-FFF2-40B4-BE49-F238E27FC236}">
                <a16:creationId xmlns:a16="http://schemas.microsoft.com/office/drawing/2014/main" id="{7B9589B7-9D9F-3A48-50D5-D5D904A35797}"/>
              </a:ext>
            </a:extLst>
          </p:cNvPr>
          <p:cNvCxnSpPr>
            <a:cxnSpLocks/>
          </p:cNvCxnSpPr>
          <p:nvPr/>
        </p:nvCxnSpPr>
        <p:spPr>
          <a:xfrm>
            <a:off x="7506948" y="260228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A2F0FAE9-77D8-55E1-1B7C-B7650050349D}"/>
              </a:ext>
            </a:extLst>
          </p:cNvPr>
          <p:cNvSpPr txBox="1"/>
          <p:nvPr/>
        </p:nvSpPr>
        <p:spPr>
          <a:xfrm>
            <a:off x="8544983" y="2410787"/>
            <a:ext cx="147277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out_index</a:t>
            </a:r>
            <a:endParaRPr lang="en-US" sz="2000" dirty="0">
              <a:solidFill>
                <a:srgbClr val="000000"/>
              </a:solidFill>
            </a:endParaRPr>
          </a:p>
        </p:txBody>
      </p:sp>
      <p:cxnSp>
        <p:nvCxnSpPr>
          <p:cNvPr id="37" name="Straight Arrow Connector 36">
            <a:extLst>
              <a:ext uri="{FF2B5EF4-FFF2-40B4-BE49-F238E27FC236}">
                <a16:creationId xmlns:a16="http://schemas.microsoft.com/office/drawing/2014/main" id="{2D8BE8F6-306D-0C92-0799-A29DE7FFE2D2}"/>
              </a:ext>
            </a:extLst>
          </p:cNvPr>
          <p:cNvCxnSpPr/>
          <p:nvPr/>
        </p:nvCxnSpPr>
        <p:spPr>
          <a:xfrm>
            <a:off x="2974230" y="201643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47BCD078-13A4-B244-2BCD-2B1F12EF72E2}"/>
              </a:ext>
            </a:extLst>
          </p:cNvPr>
          <p:cNvSpPr txBox="1"/>
          <p:nvPr/>
        </p:nvSpPr>
        <p:spPr>
          <a:xfrm>
            <a:off x="2002751" y="1805599"/>
            <a:ext cx="1035228"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valid_in</a:t>
            </a:r>
            <a:endParaRPr lang="en-US" sz="2000" dirty="0">
              <a:solidFill>
                <a:srgbClr val="000000"/>
              </a:solidFill>
            </a:endParaRPr>
          </a:p>
        </p:txBody>
      </p:sp>
      <p:cxnSp>
        <p:nvCxnSpPr>
          <p:cNvPr id="39" name="Straight Arrow Connector 38">
            <a:extLst>
              <a:ext uri="{FF2B5EF4-FFF2-40B4-BE49-F238E27FC236}">
                <a16:creationId xmlns:a16="http://schemas.microsoft.com/office/drawing/2014/main" id="{C4BC83D3-1B3E-D68E-485D-25B5BD774CC8}"/>
              </a:ext>
            </a:extLst>
          </p:cNvPr>
          <p:cNvCxnSpPr/>
          <p:nvPr/>
        </p:nvCxnSpPr>
        <p:spPr>
          <a:xfrm>
            <a:off x="2974230" y="23224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4F4AD9FF-684E-D686-21C3-95DA0C45C1B9}"/>
              </a:ext>
            </a:extLst>
          </p:cNvPr>
          <p:cNvCxnSpPr/>
          <p:nvPr/>
        </p:nvCxnSpPr>
        <p:spPr>
          <a:xfrm>
            <a:off x="2974230" y="260228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1" name="Isosceles Triangle 40">
            <a:extLst>
              <a:ext uri="{FF2B5EF4-FFF2-40B4-BE49-F238E27FC236}">
                <a16:creationId xmlns:a16="http://schemas.microsoft.com/office/drawing/2014/main" id="{881B2823-BBA3-B411-EA42-552FA92FE085}"/>
              </a:ext>
            </a:extLst>
          </p:cNvPr>
          <p:cNvSpPr/>
          <p:nvPr/>
        </p:nvSpPr>
        <p:spPr>
          <a:xfrm rot="16200000" flipV="1">
            <a:off x="3866692" y="2457184"/>
            <a:ext cx="318115" cy="274237"/>
          </a:xfrm>
          <a:prstGeom prst="triangl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TextBox 41">
            <a:extLst>
              <a:ext uri="{FF2B5EF4-FFF2-40B4-BE49-F238E27FC236}">
                <a16:creationId xmlns:a16="http://schemas.microsoft.com/office/drawing/2014/main" id="{4CB2FC18-A1E6-1D01-81E4-F9D3365A9B3B}"/>
              </a:ext>
            </a:extLst>
          </p:cNvPr>
          <p:cNvSpPr txBox="1"/>
          <p:nvPr/>
        </p:nvSpPr>
        <p:spPr>
          <a:xfrm>
            <a:off x="2142228" y="2134420"/>
            <a:ext cx="75627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rst_n</a:t>
            </a:r>
            <a:endParaRPr lang="en-US" sz="2000" dirty="0">
              <a:solidFill>
                <a:srgbClr val="000000"/>
              </a:solidFill>
            </a:endParaRPr>
          </a:p>
        </p:txBody>
      </p:sp>
      <p:sp>
        <p:nvSpPr>
          <p:cNvPr id="43" name="TextBox 42">
            <a:extLst>
              <a:ext uri="{FF2B5EF4-FFF2-40B4-BE49-F238E27FC236}">
                <a16:creationId xmlns:a16="http://schemas.microsoft.com/office/drawing/2014/main" id="{4B0FE432-BACD-B8C4-845A-CEDB2043724F}"/>
              </a:ext>
            </a:extLst>
          </p:cNvPr>
          <p:cNvSpPr txBox="1"/>
          <p:nvPr/>
        </p:nvSpPr>
        <p:spPr>
          <a:xfrm>
            <a:off x="2235201" y="2419875"/>
            <a:ext cx="75627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clk</a:t>
            </a:r>
            <a:endParaRPr lang="en-US" sz="2000" dirty="0">
              <a:solidFill>
                <a:srgbClr val="000000"/>
              </a:solidFill>
            </a:endParaRPr>
          </a:p>
        </p:txBody>
      </p:sp>
      <p:graphicFrame>
        <p:nvGraphicFramePr>
          <p:cNvPr id="44" name="Table 43">
            <a:extLst>
              <a:ext uri="{FF2B5EF4-FFF2-40B4-BE49-F238E27FC236}">
                <a16:creationId xmlns:a16="http://schemas.microsoft.com/office/drawing/2014/main" id="{EA54173D-D2CF-464E-95B0-FDE2708AA584}"/>
              </a:ext>
            </a:extLst>
          </p:cNvPr>
          <p:cNvGraphicFramePr>
            <a:graphicFrameLocks noGrp="1"/>
          </p:cNvGraphicFramePr>
          <p:nvPr>
            <p:extLst>
              <p:ext uri="{D42A27DB-BD31-4B8C-83A1-F6EECF244321}">
                <p14:modId xmlns:p14="http://schemas.microsoft.com/office/powerpoint/2010/main" val="3858945931"/>
              </p:ext>
            </p:extLst>
          </p:nvPr>
        </p:nvGraphicFramePr>
        <p:xfrm>
          <a:off x="1096733" y="2993841"/>
          <a:ext cx="10580260" cy="3337560"/>
        </p:xfrm>
        <a:graphic>
          <a:graphicData uri="http://schemas.openxmlformats.org/drawingml/2006/table">
            <a:tbl>
              <a:tblPr firstRow="1" bandRow="1">
                <a:tableStyleId>{72833802-FEF1-4C79-8D5D-14CF1EAF98D9}</a:tableStyleId>
              </a:tblPr>
              <a:tblGrid>
                <a:gridCol w="3731224">
                  <a:extLst>
                    <a:ext uri="{9D8B030D-6E8A-4147-A177-3AD203B41FA5}">
                      <a16:colId xmlns:a16="http://schemas.microsoft.com/office/drawing/2014/main" val="2864736022"/>
                    </a:ext>
                  </a:extLst>
                </a:gridCol>
                <a:gridCol w="6849036">
                  <a:extLst>
                    <a:ext uri="{9D8B030D-6E8A-4147-A177-3AD203B41FA5}">
                      <a16:colId xmlns:a16="http://schemas.microsoft.com/office/drawing/2014/main" val="1737341764"/>
                    </a:ext>
                  </a:extLst>
                </a:gridCol>
              </a:tblGrid>
              <a:tr h="370840">
                <a:tc>
                  <a:txBody>
                    <a:bodyPr/>
                    <a:lstStyle/>
                    <a:p>
                      <a:pPr algn="ctr"/>
                      <a:r>
                        <a:rPr lang="en-US" dirty="0"/>
                        <a:t>Singal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Function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err="1"/>
                        <a:t>in_r</a:t>
                      </a:r>
                      <a:r>
                        <a:rPr lang="en-US" b="1" dirty="0"/>
                        <a:t> (input ) , </a:t>
                      </a:r>
                      <a:r>
                        <a:rPr lang="en-US" b="1" dirty="0" err="1"/>
                        <a:t>in_r</a:t>
                      </a:r>
                      <a:r>
                        <a:rPr lang="en-US" b="1" dirty="0"/>
                        <a:t> (input)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Input real and input imaginary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err="1"/>
                        <a:t>valid_in</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Asserted when there is a valid input and Enable the FFT block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err="1"/>
                        <a:t>valid_out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Asserted when there is a valid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err="1"/>
                        <a:t>out_r</a:t>
                      </a:r>
                      <a:r>
                        <a:rPr lang="en-US" b="1" dirty="0"/>
                        <a:t> , </a:t>
                      </a:r>
                      <a:r>
                        <a:rPr lang="en-US" b="1" dirty="0" err="1"/>
                        <a:t>out_i</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output real and output imaginary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0840">
                <a:tc>
                  <a:txBody>
                    <a:bodyPr/>
                    <a:lstStyle/>
                    <a:p>
                      <a:pPr algn="ctr"/>
                      <a:r>
                        <a:rPr lang="en-US" b="1" dirty="0"/>
                        <a:t>Frame done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t>Asserted when a frame ends ( for one pulse only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043004"/>
                  </a:ext>
                </a:extLst>
              </a:tr>
              <a:tr h="370840">
                <a:tc>
                  <a:txBody>
                    <a:bodyPr/>
                    <a:lstStyle/>
                    <a:p>
                      <a:pPr algn="ctr"/>
                      <a:r>
                        <a:rPr lang="en-US" b="1" dirty="0" err="1"/>
                        <a:t>out_index</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The index of the current output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0013715"/>
                  </a:ext>
                </a:extLst>
              </a:tr>
              <a:tr h="370840">
                <a:tc>
                  <a:txBody>
                    <a:bodyPr/>
                    <a:lstStyle/>
                    <a:p>
                      <a:pPr algn="ctr"/>
                      <a:r>
                        <a:rPr lang="en-US" b="1" dirty="0"/>
                        <a:t>parameter (DATA_WIDTH)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The width of data input and output ports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859865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t>parameter (ORDERED_OUTPUT)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 Ordered output , (0) Scrambled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243505"/>
                  </a:ext>
                </a:extLst>
              </a:tr>
            </a:tbl>
          </a:graphicData>
        </a:graphic>
      </p:graphicFrame>
    </p:spTree>
    <p:extLst>
      <p:ext uri="{BB962C8B-B14F-4D97-AF65-F5344CB8AC3E}">
        <p14:creationId xmlns:p14="http://schemas.microsoft.com/office/powerpoint/2010/main" val="521996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51AF5-3D28-FC29-6783-A528703AB3B7}"/>
            </a:ext>
          </a:extLst>
        </p:cNvPr>
        <p:cNvGrpSpPr/>
        <p:nvPr/>
      </p:nvGrpSpPr>
      <p:grpSpPr>
        <a:xfrm>
          <a:off x="0" y="0"/>
          <a:ext cx="0" cy="0"/>
          <a:chOff x="0" y="0"/>
          <a:chExt cx="0" cy="0"/>
        </a:xfrm>
      </p:grpSpPr>
      <p:pic>
        <p:nvPicPr>
          <p:cNvPr id="98" name="Picture 97">
            <a:extLst>
              <a:ext uri="{FF2B5EF4-FFF2-40B4-BE49-F238E27FC236}">
                <a16:creationId xmlns:a16="http://schemas.microsoft.com/office/drawing/2014/main" id="{35A6A29C-FFAE-6E5A-81C6-F82192838E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1425" y="4842115"/>
            <a:ext cx="640080" cy="640080"/>
          </a:xfrm>
          <a:prstGeom prst="rect">
            <a:avLst/>
          </a:prstGeom>
        </p:spPr>
      </p:pic>
      <p:sp>
        <p:nvSpPr>
          <p:cNvPr id="3" name="Title 2">
            <a:extLst>
              <a:ext uri="{FF2B5EF4-FFF2-40B4-BE49-F238E27FC236}">
                <a16:creationId xmlns:a16="http://schemas.microsoft.com/office/drawing/2014/main" id="{7813A6DC-FB6D-E098-32EB-4D89FA1F8859}"/>
              </a:ext>
            </a:extLst>
          </p:cNvPr>
          <p:cNvSpPr>
            <a:spLocks noGrp="1"/>
          </p:cNvSpPr>
          <p:nvPr>
            <p:ph type="title"/>
          </p:nvPr>
        </p:nvSpPr>
        <p:spPr>
          <a:xfrm>
            <a:off x="342901" y="219456"/>
            <a:ext cx="10287001" cy="470898"/>
          </a:xfrm>
        </p:spPr>
        <p:txBody>
          <a:bodyPr/>
          <a:lstStyle/>
          <a:p>
            <a:r>
              <a:rPr lang="en-US" dirty="0"/>
              <a:t>RTL: Final Architecture</a:t>
            </a:r>
          </a:p>
        </p:txBody>
      </p:sp>
      <p:sp>
        <p:nvSpPr>
          <p:cNvPr id="4" name="Footer Placeholder 3">
            <a:extLst>
              <a:ext uri="{FF2B5EF4-FFF2-40B4-BE49-F238E27FC236}">
                <a16:creationId xmlns:a16="http://schemas.microsoft.com/office/drawing/2014/main" id="{2A869B0C-B6CA-9F81-6773-A1EAFB2C944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EB679ED-9E3C-762E-8FDB-0F9A55713629}"/>
              </a:ext>
            </a:extLst>
          </p:cNvPr>
          <p:cNvSpPr>
            <a:spLocks noGrp="1"/>
          </p:cNvSpPr>
          <p:nvPr>
            <p:ph type="sldNum" sz="quarter" idx="4"/>
          </p:nvPr>
        </p:nvSpPr>
        <p:spPr/>
        <p:txBody>
          <a:bodyPr/>
          <a:lstStyle/>
          <a:p>
            <a:pPr>
              <a:defRPr/>
            </a:pPr>
            <a:fld id="{A9CE67A1-BA7F-A74E-B5D7-615746DEEC2B}" type="slidenum">
              <a:rPr lang="en-US" smtClean="0"/>
              <a:pPr>
                <a:defRPr/>
              </a:pPr>
              <a:t>88</a:t>
            </a:fld>
            <a:endParaRPr lang="en-US" baseline="-11000" dirty="0"/>
          </a:p>
        </p:txBody>
      </p:sp>
      <p:sp>
        <p:nvSpPr>
          <p:cNvPr id="6" name="Date Placeholder 5">
            <a:extLst>
              <a:ext uri="{FF2B5EF4-FFF2-40B4-BE49-F238E27FC236}">
                <a16:creationId xmlns:a16="http://schemas.microsoft.com/office/drawing/2014/main" id="{EE239B56-73F5-C440-3F9D-499F783239CF}"/>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64D86DBC-1A78-49D2-7103-2E30AE43575B}"/>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EAA291A8-2763-4D75-C455-EA53816E5994}"/>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A9C4661B-6755-C2E1-90D1-782E6FB21AD4}"/>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16535F3E-3406-C5BF-8EDE-01C63E53D16E}"/>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61DF8D68-B7DB-38D1-4210-69E3624A27BB}"/>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4AE7C9FD-28D6-C30B-0389-8969C8F8A408}"/>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DD7305D6-E04A-B7DC-7B28-C9DA608F15FD}"/>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solidFill>
              </a:rPr>
              <a:t>Final Architecture</a:t>
            </a:r>
          </a:p>
        </p:txBody>
      </p:sp>
      <p:cxnSp>
        <p:nvCxnSpPr>
          <p:cNvPr id="58" name="Straight Arrow Connector 57">
            <a:extLst>
              <a:ext uri="{FF2B5EF4-FFF2-40B4-BE49-F238E27FC236}">
                <a16:creationId xmlns:a16="http://schemas.microsoft.com/office/drawing/2014/main" id="{7AD164CC-2034-BB17-628C-1B053DB7AEBE}"/>
              </a:ext>
            </a:extLst>
          </p:cNvPr>
          <p:cNvCxnSpPr/>
          <p:nvPr/>
        </p:nvCxnSpPr>
        <p:spPr>
          <a:xfrm>
            <a:off x="3248286" y="154907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7263B2E-F4A1-2DFA-C061-15562442A728}"/>
              </a:ext>
            </a:extLst>
          </p:cNvPr>
          <p:cNvCxnSpPr/>
          <p:nvPr/>
        </p:nvCxnSpPr>
        <p:spPr>
          <a:xfrm>
            <a:off x="3248286" y="175907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96D1BA10-448E-8F2F-0514-393D633CC0AF}"/>
              </a:ext>
            </a:extLst>
          </p:cNvPr>
          <p:cNvSpPr/>
          <p:nvPr/>
        </p:nvSpPr>
        <p:spPr>
          <a:xfrm>
            <a:off x="4162687" y="1454507"/>
            <a:ext cx="2679476" cy="267947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7" name="Oval 96">
            <a:extLst>
              <a:ext uri="{FF2B5EF4-FFF2-40B4-BE49-F238E27FC236}">
                <a16:creationId xmlns:a16="http://schemas.microsoft.com/office/drawing/2014/main" id="{DD0BFF9C-1925-D449-A8BD-ADCE2A19D13F}"/>
              </a:ext>
            </a:extLst>
          </p:cNvPr>
          <p:cNvSpPr/>
          <p:nvPr/>
        </p:nvSpPr>
        <p:spPr>
          <a:xfrm>
            <a:off x="3669692" y="1938414"/>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9E5BBE4-B043-3158-345E-33DE41D1A949}"/>
              </a:ext>
            </a:extLst>
          </p:cNvPr>
          <p:cNvSpPr/>
          <p:nvPr/>
        </p:nvSpPr>
        <p:spPr>
          <a:xfrm>
            <a:off x="3669692" y="216432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D9D43DB-861C-ACBC-C0EF-1D426DBF0C11}"/>
              </a:ext>
            </a:extLst>
          </p:cNvPr>
          <p:cNvSpPr/>
          <p:nvPr/>
        </p:nvSpPr>
        <p:spPr>
          <a:xfrm>
            <a:off x="3669692" y="2422374"/>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8AB59DD-17B0-70CC-248D-64F71F4E1CF8}"/>
              </a:ext>
            </a:extLst>
          </p:cNvPr>
          <p:cNvSpPr/>
          <p:nvPr/>
        </p:nvSpPr>
        <p:spPr>
          <a:xfrm>
            <a:off x="3669692" y="264828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6991641-8BEF-9EB3-79ED-F979F0A3E3D2}"/>
              </a:ext>
            </a:extLst>
          </p:cNvPr>
          <p:cNvSpPr/>
          <p:nvPr/>
        </p:nvSpPr>
        <p:spPr>
          <a:xfrm>
            <a:off x="3669692" y="288245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33745E-4F3F-4F03-9EB3-F396006E0F47}"/>
              </a:ext>
            </a:extLst>
          </p:cNvPr>
          <p:cNvSpPr/>
          <p:nvPr/>
        </p:nvSpPr>
        <p:spPr>
          <a:xfrm>
            <a:off x="3669692" y="3108358"/>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CED1C33-ED25-AC77-BD81-11AA59F2AE29}"/>
              </a:ext>
            </a:extLst>
          </p:cNvPr>
          <p:cNvSpPr/>
          <p:nvPr/>
        </p:nvSpPr>
        <p:spPr>
          <a:xfrm>
            <a:off x="3669692" y="3314289"/>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4C74369-3C95-0866-0CB5-1256CF0B675B}"/>
              </a:ext>
            </a:extLst>
          </p:cNvPr>
          <p:cNvSpPr/>
          <p:nvPr/>
        </p:nvSpPr>
        <p:spPr>
          <a:xfrm>
            <a:off x="3669692" y="3540197"/>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35E99B51-A672-B070-CAFC-7DD80C113BA3}"/>
              </a:ext>
            </a:extLst>
          </p:cNvPr>
          <p:cNvCxnSpPr/>
          <p:nvPr/>
        </p:nvCxnSpPr>
        <p:spPr>
          <a:xfrm>
            <a:off x="3248286" y="384015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1511F396-086B-AA3F-9A8D-98B29AA8B708}"/>
              </a:ext>
            </a:extLst>
          </p:cNvPr>
          <p:cNvCxnSpPr/>
          <p:nvPr/>
        </p:nvCxnSpPr>
        <p:spPr>
          <a:xfrm>
            <a:off x="3248286" y="405351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D6925321-0796-C7C9-7584-780D56DFC852}"/>
              </a:ext>
            </a:extLst>
          </p:cNvPr>
          <p:cNvCxnSpPr/>
          <p:nvPr/>
        </p:nvCxnSpPr>
        <p:spPr>
          <a:xfrm>
            <a:off x="6839249" y="152654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BD5AD170-BA48-6EB5-B038-838292B1999F}"/>
              </a:ext>
            </a:extLst>
          </p:cNvPr>
          <p:cNvCxnSpPr/>
          <p:nvPr/>
        </p:nvCxnSpPr>
        <p:spPr>
          <a:xfrm>
            <a:off x="6839249" y="173654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F553270F-51A8-D86F-5D72-500904E0BD81}"/>
              </a:ext>
            </a:extLst>
          </p:cNvPr>
          <p:cNvSpPr/>
          <p:nvPr/>
        </p:nvSpPr>
        <p:spPr>
          <a:xfrm>
            <a:off x="7260655" y="191588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FF13FB45-8CD4-AD43-2BA6-00E85AC11553}"/>
              </a:ext>
            </a:extLst>
          </p:cNvPr>
          <p:cNvSpPr/>
          <p:nvPr/>
        </p:nvSpPr>
        <p:spPr>
          <a:xfrm>
            <a:off x="7260655" y="2141794"/>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CA02947D-07FE-EB8B-C411-C13636FAD19C}"/>
              </a:ext>
            </a:extLst>
          </p:cNvPr>
          <p:cNvSpPr/>
          <p:nvPr/>
        </p:nvSpPr>
        <p:spPr>
          <a:xfrm>
            <a:off x="7260655" y="239984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5A91B2F8-C546-2BD9-CC15-B4E4B15D49AB}"/>
              </a:ext>
            </a:extLst>
          </p:cNvPr>
          <p:cNvSpPr/>
          <p:nvPr/>
        </p:nvSpPr>
        <p:spPr>
          <a:xfrm>
            <a:off x="7260655" y="2625754"/>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5AE9576-2661-DA8B-616C-E55F6FE93767}"/>
              </a:ext>
            </a:extLst>
          </p:cNvPr>
          <p:cNvSpPr/>
          <p:nvPr/>
        </p:nvSpPr>
        <p:spPr>
          <a:xfrm>
            <a:off x="7260655" y="285992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82AC9048-99A3-D59D-E07F-1A8E16351F1E}"/>
              </a:ext>
            </a:extLst>
          </p:cNvPr>
          <p:cNvSpPr/>
          <p:nvPr/>
        </p:nvSpPr>
        <p:spPr>
          <a:xfrm>
            <a:off x="7260655" y="308583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06E22CE-4ED6-00EE-6CAF-F0D9BFF1AAD2}"/>
              </a:ext>
            </a:extLst>
          </p:cNvPr>
          <p:cNvSpPr/>
          <p:nvPr/>
        </p:nvSpPr>
        <p:spPr>
          <a:xfrm>
            <a:off x="7260655" y="3291761"/>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66A14BAF-21A0-034F-10A8-E4261EDE3533}"/>
              </a:ext>
            </a:extLst>
          </p:cNvPr>
          <p:cNvSpPr/>
          <p:nvPr/>
        </p:nvSpPr>
        <p:spPr>
          <a:xfrm>
            <a:off x="7260655" y="3517669"/>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AEDD46AB-5157-F215-48C6-822C97DECF9B}"/>
              </a:ext>
            </a:extLst>
          </p:cNvPr>
          <p:cNvCxnSpPr/>
          <p:nvPr/>
        </p:nvCxnSpPr>
        <p:spPr>
          <a:xfrm>
            <a:off x="6839249" y="381762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4FDDCFE6-BBB0-B101-CBA3-E8A28D538F86}"/>
              </a:ext>
            </a:extLst>
          </p:cNvPr>
          <p:cNvCxnSpPr/>
          <p:nvPr/>
        </p:nvCxnSpPr>
        <p:spPr>
          <a:xfrm>
            <a:off x="6839249" y="40309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3AEBCDFB-619F-4A6C-73F9-A60353F11E05}"/>
              </a:ext>
            </a:extLst>
          </p:cNvPr>
          <p:cNvSpPr txBox="1"/>
          <p:nvPr/>
        </p:nvSpPr>
        <p:spPr>
          <a:xfrm>
            <a:off x="4159774" y="2587419"/>
            <a:ext cx="2607886" cy="369332"/>
          </a:xfrm>
          <a:prstGeom prst="rect">
            <a:avLst/>
          </a:prstGeom>
          <a:noFill/>
        </p:spPr>
        <p:txBody>
          <a:bodyPr wrap="square">
            <a:spAutoFit/>
          </a:bodyPr>
          <a:lstStyle/>
          <a:p>
            <a:pPr algn="ctr"/>
            <a:r>
              <a:rPr lang="en-US" b="1" dirty="0">
                <a:solidFill>
                  <a:schemeClr val="tx1"/>
                </a:solidFill>
              </a:rPr>
              <a:t>fft4096_dif</a:t>
            </a:r>
          </a:p>
        </p:txBody>
      </p:sp>
      <p:sp>
        <p:nvSpPr>
          <p:cNvPr id="66" name="TextBox 65">
            <a:extLst>
              <a:ext uri="{FF2B5EF4-FFF2-40B4-BE49-F238E27FC236}">
                <a16:creationId xmlns:a16="http://schemas.microsoft.com/office/drawing/2014/main" id="{E375A541-4F05-112F-3D89-AF22A8C2E9C1}"/>
              </a:ext>
            </a:extLst>
          </p:cNvPr>
          <p:cNvSpPr txBox="1"/>
          <p:nvPr/>
        </p:nvSpPr>
        <p:spPr>
          <a:xfrm>
            <a:off x="151366" y="5194875"/>
            <a:ext cx="2619719"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t> ORDERED_OUTPUT</a:t>
            </a:r>
          </a:p>
        </p:txBody>
      </p:sp>
      <p:sp>
        <p:nvSpPr>
          <p:cNvPr id="72" name="TextBox 71">
            <a:extLst>
              <a:ext uri="{FF2B5EF4-FFF2-40B4-BE49-F238E27FC236}">
                <a16:creationId xmlns:a16="http://schemas.microsoft.com/office/drawing/2014/main" id="{31F75081-8370-AD83-809E-CD631F79FBC6}"/>
              </a:ext>
            </a:extLst>
          </p:cNvPr>
          <p:cNvSpPr txBox="1"/>
          <p:nvPr/>
        </p:nvSpPr>
        <p:spPr>
          <a:xfrm>
            <a:off x="2675778" y="5429695"/>
            <a:ext cx="2619719"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t>(1) Ordered output</a:t>
            </a:r>
          </a:p>
        </p:txBody>
      </p:sp>
      <p:sp>
        <p:nvSpPr>
          <p:cNvPr id="73" name="TextBox 72">
            <a:extLst>
              <a:ext uri="{FF2B5EF4-FFF2-40B4-BE49-F238E27FC236}">
                <a16:creationId xmlns:a16="http://schemas.microsoft.com/office/drawing/2014/main" id="{2E7E6454-AE5F-8508-A078-81EDF85CB1CA}"/>
              </a:ext>
            </a:extLst>
          </p:cNvPr>
          <p:cNvSpPr txBox="1"/>
          <p:nvPr/>
        </p:nvSpPr>
        <p:spPr>
          <a:xfrm>
            <a:off x="2698181" y="4939595"/>
            <a:ext cx="2619719"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t>(0) Scrambled output</a:t>
            </a:r>
          </a:p>
        </p:txBody>
      </p:sp>
      <p:pic>
        <p:nvPicPr>
          <p:cNvPr id="75" name="Picture 74">
            <a:extLst>
              <a:ext uri="{FF2B5EF4-FFF2-40B4-BE49-F238E27FC236}">
                <a16:creationId xmlns:a16="http://schemas.microsoft.com/office/drawing/2014/main" id="{9872593E-7D16-8481-FBC1-D9B2955039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4630" y="5358536"/>
            <a:ext cx="636876" cy="636876"/>
          </a:xfrm>
          <a:prstGeom prst="rect">
            <a:avLst/>
          </a:prstGeom>
        </p:spPr>
      </p:pic>
      <p:pic>
        <p:nvPicPr>
          <p:cNvPr id="77" name="Picture 76">
            <a:extLst>
              <a:ext uri="{FF2B5EF4-FFF2-40B4-BE49-F238E27FC236}">
                <a16:creationId xmlns:a16="http://schemas.microsoft.com/office/drawing/2014/main" id="{185C6A61-E3FE-4F52-DEB2-5EF5E41D81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4630" y="4837321"/>
            <a:ext cx="636875" cy="636875"/>
          </a:xfrm>
          <a:prstGeom prst="rect">
            <a:avLst/>
          </a:prstGeom>
        </p:spPr>
      </p:pic>
      <p:sp>
        <p:nvSpPr>
          <p:cNvPr id="79" name="Rectangle 78">
            <a:extLst>
              <a:ext uri="{FF2B5EF4-FFF2-40B4-BE49-F238E27FC236}">
                <a16:creationId xmlns:a16="http://schemas.microsoft.com/office/drawing/2014/main" id="{D85B18FB-31E7-073E-E7D8-041EFB651AFF}"/>
              </a:ext>
            </a:extLst>
          </p:cNvPr>
          <p:cNvSpPr/>
          <p:nvPr/>
        </p:nvSpPr>
        <p:spPr>
          <a:xfrm>
            <a:off x="7759445" y="1377741"/>
            <a:ext cx="2392012" cy="283300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6177E023-B25D-64C9-CC62-74AF887FC50A}"/>
              </a:ext>
            </a:extLst>
          </p:cNvPr>
          <p:cNvSpPr txBox="1"/>
          <p:nvPr/>
        </p:nvSpPr>
        <p:spPr>
          <a:xfrm>
            <a:off x="7759445" y="2364343"/>
            <a:ext cx="2392013" cy="774571"/>
          </a:xfrm>
          <a:prstGeom prst="rect">
            <a:avLst/>
          </a:prstGeom>
          <a:noFill/>
        </p:spPr>
        <p:txBody>
          <a:bodyPr wrap="square">
            <a:spAutoFit/>
          </a:bodyPr>
          <a:lstStyle/>
          <a:p>
            <a:pPr algn="ctr" defTabSz="457200">
              <a:spcBef>
                <a:spcPts val="1000"/>
              </a:spcBef>
              <a:buClr>
                <a:srgbClr val="1E4056"/>
              </a:buClr>
              <a:buSzPct val="75000"/>
            </a:pPr>
            <a:r>
              <a:rPr lang="en-US" sz="1800" b="1" dirty="0"/>
              <a:t>Ping-Pong</a:t>
            </a:r>
          </a:p>
          <a:p>
            <a:pPr algn="ctr" defTabSz="457200">
              <a:spcBef>
                <a:spcPts val="1000"/>
              </a:spcBef>
              <a:buClr>
                <a:srgbClr val="1E4056"/>
              </a:buClr>
              <a:buSzPct val="75000"/>
            </a:pPr>
            <a:r>
              <a:rPr lang="en-US" sz="1800" b="1" dirty="0"/>
              <a:t> memory architecture</a:t>
            </a:r>
          </a:p>
        </p:txBody>
      </p:sp>
      <p:cxnSp>
        <p:nvCxnSpPr>
          <p:cNvPr id="82" name="Straight Arrow Connector 81">
            <a:extLst>
              <a:ext uri="{FF2B5EF4-FFF2-40B4-BE49-F238E27FC236}">
                <a16:creationId xmlns:a16="http://schemas.microsoft.com/office/drawing/2014/main" id="{D09EBF92-6BBB-260B-89F0-600371F935EE}"/>
              </a:ext>
            </a:extLst>
          </p:cNvPr>
          <p:cNvCxnSpPr/>
          <p:nvPr/>
        </p:nvCxnSpPr>
        <p:spPr>
          <a:xfrm>
            <a:off x="10204129" y="154907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BE56BC85-B0C3-EBF8-EC2C-C855F5E8A3D8}"/>
              </a:ext>
            </a:extLst>
          </p:cNvPr>
          <p:cNvCxnSpPr/>
          <p:nvPr/>
        </p:nvCxnSpPr>
        <p:spPr>
          <a:xfrm>
            <a:off x="10204129" y="175907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4" name="Oval 83">
            <a:extLst>
              <a:ext uri="{FF2B5EF4-FFF2-40B4-BE49-F238E27FC236}">
                <a16:creationId xmlns:a16="http://schemas.microsoft.com/office/drawing/2014/main" id="{177A1F8E-6E0A-4300-14ED-411E674A9E7A}"/>
              </a:ext>
            </a:extLst>
          </p:cNvPr>
          <p:cNvSpPr/>
          <p:nvPr/>
        </p:nvSpPr>
        <p:spPr>
          <a:xfrm>
            <a:off x="10625535" y="1938414"/>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46C9F541-AE7D-333E-3AA3-9DE8DDAFE815}"/>
              </a:ext>
            </a:extLst>
          </p:cNvPr>
          <p:cNvSpPr/>
          <p:nvPr/>
        </p:nvSpPr>
        <p:spPr>
          <a:xfrm>
            <a:off x="10625535" y="216432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5B5528B4-1325-5438-1794-F7E98F3B0429}"/>
              </a:ext>
            </a:extLst>
          </p:cNvPr>
          <p:cNvSpPr/>
          <p:nvPr/>
        </p:nvSpPr>
        <p:spPr>
          <a:xfrm>
            <a:off x="10625535" y="2422374"/>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B546616F-4F30-4B0E-FF15-F28E739762A1}"/>
              </a:ext>
            </a:extLst>
          </p:cNvPr>
          <p:cNvSpPr/>
          <p:nvPr/>
        </p:nvSpPr>
        <p:spPr>
          <a:xfrm>
            <a:off x="10625535" y="264828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16E33CE8-2505-279B-E631-D0675CE45014}"/>
              </a:ext>
            </a:extLst>
          </p:cNvPr>
          <p:cNvSpPr/>
          <p:nvPr/>
        </p:nvSpPr>
        <p:spPr>
          <a:xfrm>
            <a:off x="10625535" y="288245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2CF395ED-1445-CA54-9281-B183295FFB88}"/>
              </a:ext>
            </a:extLst>
          </p:cNvPr>
          <p:cNvSpPr/>
          <p:nvPr/>
        </p:nvSpPr>
        <p:spPr>
          <a:xfrm>
            <a:off x="10625535" y="3108358"/>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D7DE40E5-80A6-9C3D-BF0F-56015F7264FC}"/>
              </a:ext>
            </a:extLst>
          </p:cNvPr>
          <p:cNvSpPr/>
          <p:nvPr/>
        </p:nvSpPr>
        <p:spPr>
          <a:xfrm>
            <a:off x="10625535" y="3314289"/>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4E6B0FDD-B77D-5688-12EB-4AB92AFFE9FF}"/>
              </a:ext>
            </a:extLst>
          </p:cNvPr>
          <p:cNvSpPr/>
          <p:nvPr/>
        </p:nvSpPr>
        <p:spPr>
          <a:xfrm>
            <a:off x="10625535" y="3540197"/>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2" name="Straight Arrow Connector 91">
            <a:extLst>
              <a:ext uri="{FF2B5EF4-FFF2-40B4-BE49-F238E27FC236}">
                <a16:creationId xmlns:a16="http://schemas.microsoft.com/office/drawing/2014/main" id="{ACBABF06-E97C-928C-185B-1AC411B0C2F7}"/>
              </a:ext>
            </a:extLst>
          </p:cNvPr>
          <p:cNvCxnSpPr/>
          <p:nvPr/>
        </p:nvCxnSpPr>
        <p:spPr>
          <a:xfrm>
            <a:off x="10204129" y="384015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B4943718-C903-EE24-D2AD-B015A54A99DA}"/>
              </a:ext>
            </a:extLst>
          </p:cNvPr>
          <p:cNvCxnSpPr/>
          <p:nvPr/>
        </p:nvCxnSpPr>
        <p:spPr>
          <a:xfrm>
            <a:off x="10204129" y="405351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95" name="Picture 94">
            <a:extLst>
              <a:ext uri="{FF2B5EF4-FFF2-40B4-BE49-F238E27FC236}">
                <a16:creationId xmlns:a16="http://schemas.microsoft.com/office/drawing/2014/main" id="{2FE14550-B69F-1DF1-5CE7-1FBB257186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1425" y="5363331"/>
            <a:ext cx="640080" cy="640080"/>
          </a:xfrm>
          <a:prstGeom prst="rect">
            <a:avLst/>
          </a:prstGeom>
        </p:spPr>
      </p:pic>
      <p:sp>
        <p:nvSpPr>
          <p:cNvPr id="99" name="TextBox 98">
            <a:extLst>
              <a:ext uri="{FF2B5EF4-FFF2-40B4-BE49-F238E27FC236}">
                <a16:creationId xmlns:a16="http://schemas.microsoft.com/office/drawing/2014/main" id="{3FA327B7-8F70-56BE-3B20-2587EA623C4D}"/>
              </a:ext>
            </a:extLst>
          </p:cNvPr>
          <p:cNvSpPr txBox="1"/>
          <p:nvPr/>
        </p:nvSpPr>
        <p:spPr>
          <a:xfrm>
            <a:off x="6361605" y="4335777"/>
            <a:ext cx="2175070" cy="369332"/>
          </a:xfrm>
          <a:prstGeom prst="rect">
            <a:avLst/>
          </a:prstGeom>
          <a:noFill/>
        </p:spPr>
        <p:txBody>
          <a:bodyPr wrap="square">
            <a:spAutoFit/>
          </a:bodyPr>
          <a:lstStyle/>
          <a:p>
            <a:pPr defTabSz="457200">
              <a:spcBef>
                <a:spcPts val="1000"/>
              </a:spcBef>
              <a:buClr>
                <a:srgbClr val="1E4056"/>
              </a:buClr>
              <a:buSzPct val="75000"/>
            </a:pPr>
            <a:r>
              <a:rPr lang="en-US" b="1" dirty="0"/>
              <a:t>Scrambled Output </a:t>
            </a:r>
          </a:p>
        </p:txBody>
      </p:sp>
      <p:sp>
        <p:nvSpPr>
          <p:cNvPr id="100" name="TextBox 99">
            <a:extLst>
              <a:ext uri="{FF2B5EF4-FFF2-40B4-BE49-F238E27FC236}">
                <a16:creationId xmlns:a16="http://schemas.microsoft.com/office/drawing/2014/main" id="{AAE13538-D2CD-4C98-33D3-4E228E6A7D64}"/>
              </a:ext>
            </a:extLst>
          </p:cNvPr>
          <p:cNvSpPr txBox="1"/>
          <p:nvPr/>
        </p:nvSpPr>
        <p:spPr>
          <a:xfrm>
            <a:off x="10030995" y="4335777"/>
            <a:ext cx="2175070" cy="369332"/>
          </a:xfrm>
          <a:prstGeom prst="rect">
            <a:avLst/>
          </a:prstGeom>
          <a:noFill/>
        </p:spPr>
        <p:txBody>
          <a:bodyPr wrap="square">
            <a:spAutoFit/>
          </a:bodyPr>
          <a:lstStyle/>
          <a:p>
            <a:pPr defTabSz="457200">
              <a:spcBef>
                <a:spcPts val="1000"/>
              </a:spcBef>
              <a:buClr>
                <a:srgbClr val="1E4056"/>
              </a:buClr>
              <a:buSzPct val="75000"/>
            </a:pPr>
            <a:r>
              <a:rPr lang="en-US" b="1" dirty="0"/>
              <a:t>Ordered Output </a:t>
            </a:r>
          </a:p>
        </p:txBody>
      </p:sp>
      <p:sp>
        <p:nvSpPr>
          <p:cNvPr id="102" name="Rectangle 101">
            <a:extLst>
              <a:ext uri="{FF2B5EF4-FFF2-40B4-BE49-F238E27FC236}">
                <a16:creationId xmlns:a16="http://schemas.microsoft.com/office/drawing/2014/main" id="{26E727D1-6C81-EB44-8F53-3A71818CCF01}"/>
              </a:ext>
            </a:extLst>
          </p:cNvPr>
          <p:cNvSpPr/>
          <p:nvPr/>
        </p:nvSpPr>
        <p:spPr>
          <a:xfrm>
            <a:off x="428263" y="5184103"/>
            <a:ext cx="2196393" cy="430258"/>
          </a:xfrm>
          <a:prstGeom prst="rect">
            <a:avLst/>
          </a:prstGeom>
          <a:solidFill>
            <a:schemeClr val="bg1">
              <a:alpha val="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13886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0"/>
                                        <p:tgtEl>
                                          <p:spTgt spid="7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9"/>
                                        </p:tgtEl>
                                        <p:attrNameLst>
                                          <p:attrName>style.visibility</p:attrName>
                                        </p:attrNameLst>
                                      </p:cBhvr>
                                      <p:to>
                                        <p:strVal val="visible"/>
                                      </p:to>
                                    </p:set>
                                    <p:animEffect transition="in" filter="fade">
                                      <p:cBhvr>
                                        <p:cTn id="10" dur="1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75"/>
                    </p:tgtEl>
                  </p:cond>
                </p:stCondLst>
                <p:endSync evt="end" delay="0">
                  <p:rtn val="all"/>
                </p:endSync>
                <p:childTnLst>
                  <p:par>
                    <p:cTn id="12" fill="hold">
                      <p:stCondLst>
                        <p:cond delay="0"/>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fade">
                                      <p:cBhvr>
                                        <p:cTn id="16" dur="500"/>
                                        <p:tgtEl>
                                          <p:spTgt spid="7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1"/>
                                        </p:tgtEl>
                                        <p:attrNameLst>
                                          <p:attrName>style.visibility</p:attrName>
                                        </p:attrNameLst>
                                      </p:cBhvr>
                                      <p:to>
                                        <p:strVal val="visible"/>
                                      </p:to>
                                    </p:set>
                                    <p:animEffect transition="in" filter="fade">
                                      <p:cBhvr>
                                        <p:cTn id="19" dur="500"/>
                                        <p:tgtEl>
                                          <p:spTgt spid="81"/>
                                        </p:tgtEl>
                                      </p:cBhvr>
                                    </p:animEffect>
                                  </p:childTnLst>
                                </p:cTn>
                              </p:par>
                              <p:par>
                                <p:cTn id="20" presetID="10" presetClass="entr" presetSubtype="0" fill="hold" nodeType="withEffect">
                                  <p:stCondLst>
                                    <p:cond delay="0"/>
                                  </p:stCondLst>
                                  <p:childTnLst>
                                    <p:set>
                                      <p:cBhvr>
                                        <p:cTn id="21" dur="1" fill="hold">
                                          <p:stCondLst>
                                            <p:cond delay="0"/>
                                          </p:stCondLst>
                                        </p:cTn>
                                        <p:tgtEl>
                                          <p:spTgt spid="82"/>
                                        </p:tgtEl>
                                        <p:attrNameLst>
                                          <p:attrName>style.visibility</p:attrName>
                                        </p:attrNameLst>
                                      </p:cBhvr>
                                      <p:to>
                                        <p:strVal val="visible"/>
                                      </p:to>
                                    </p:set>
                                    <p:animEffect transition="in" filter="fade">
                                      <p:cBhvr>
                                        <p:cTn id="22" dur="500"/>
                                        <p:tgtEl>
                                          <p:spTgt spid="82"/>
                                        </p:tgtEl>
                                      </p:cBhvr>
                                    </p:animEffect>
                                  </p:childTnLst>
                                </p:cTn>
                              </p:par>
                              <p:par>
                                <p:cTn id="23" presetID="10" presetClass="entr" presetSubtype="0" fill="hold" nodeType="withEffect">
                                  <p:stCondLst>
                                    <p:cond delay="0"/>
                                  </p:stCondLst>
                                  <p:childTnLst>
                                    <p:set>
                                      <p:cBhvr>
                                        <p:cTn id="24" dur="1" fill="hold">
                                          <p:stCondLst>
                                            <p:cond delay="0"/>
                                          </p:stCondLst>
                                        </p:cTn>
                                        <p:tgtEl>
                                          <p:spTgt spid="83"/>
                                        </p:tgtEl>
                                        <p:attrNameLst>
                                          <p:attrName>style.visibility</p:attrName>
                                        </p:attrNameLst>
                                      </p:cBhvr>
                                      <p:to>
                                        <p:strVal val="visible"/>
                                      </p:to>
                                    </p:set>
                                    <p:animEffect transition="in" filter="fade">
                                      <p:cBhvr>
                                        <p:cTn id="25" dur="500"/>
                                        <p:tgtEl>
                                          <p:spTgt spid="8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4"/>
                                        </p:tgtEl>
                                        <p:attrNameLst>
                                          <p:attrName>style.visibility</p:attrName>
                                        </p:attrNameLst>
                                      </p:cBhvr>
                                      <p:to>
                                        <p:strVal val="visible"/>
                                      </p:to>
                                    </p:set>
                                    <p:animEffect transition="in" filter="fade">
                                      <p:cBhvr>
                                        <p:cTn id="28" dur="500"/>
                                        <p:tgtEl>
                                          <p:spTgt spid="8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animEffect transition="in" filter="fade">
                                      <p:cBhvr>
                                        <p:cTn id="31" dur="500"/>
                                        <p:tgtEl>
                                          <p:spTgt spid="8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6"/>
                                        </p:tgtEl>
                                        <p:attrNameLst>
                                          <p:attrName>style.visibility</p:attrName>
                                        </p:attrNameLst>
                                      </p:cBhvr>
                                      <p:to>
                                        <p:strVal val="visible"/>
                                      </p:to>
                                    </p:set>
                                    <p:animEffect transition="in" filter="fade">
                                      <p:cBhvr>
                                        <p:cTn id="34" dur="500"/>
                                        <p:tgtEl>
                                          <p:spTgt spid="8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7"/>
                                        </p:tgtEl>
                                        <p:attrNameLst>
                                          <p:attrName>style.visibility</p:attrName>
                                        </p:attrNameLst>
                                      </p:cBhvr>
                                      <p:to>
                                        <p:strVal val="visible"/>
                                      </p:to>
                                    </p:set>
                                    <p:animEffect transition="in" filter="fade">
                                      <p:cBhvr>
                                        <p:cTn id="37" dur="500"/>
                                        <p:tgtEl>
                                          <p:spTgt spid="8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8"/>
                                        </p:tgtEl>
                                        <p:attrNameLst>
                                          <p:attrName>style.visibility</p:attrName>
                                        </p:attrNameLst>
                                      </p:cBhvr>
                                      <p:to>
                                        <p:strVal val="visible"/>
                                      </p:to>
                                    </p:set>
                                    <p:animEffect transition="in" filter="fade">
                                      <p:cBhvr>
                                        <p:cTn id="40" dur="500"/>
                                        <p:tgtEl>
                                          <p:spTgt spid="8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9"/>
                                        </p:tgtEl>
                                        <p:attrNameLst>
                                          <p:attrName>style.visibility</p:attrName>
                                        </p:attrNameLst>
                                      </p:cBhvr>
                                      <p:to>
                                        <p:strVal val="visible"/>
                                      </p:to>
                                    </p:set>
                                    <p:animEffect transition="in" filter="fade">
                                      <p:cBhvr>
                                        <p:cTn id="43" dur="500"/>
                                        <p:tgtEl>
                                          <p:spTgt spid="8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0"/>
                                        </p:tgtEl>
                                        <p:attrNameLst>
                                          <p:attrName>style.visibility</p:attrName>
                                        </p:attrNameLst>
                                      </p:cBhvr>
                                      <p:to>
                                        <p:strVal val="visible"/>
                                      </p:to>
                                    </p:set>
                                    <p:animEffect transition="in" filter="fade">
                                      <p:cBhvr>
                                        <p:cTn id="46" dur="500"/>
                                        <p:tgtEl>
                                          <p:spTgt spid="9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91"/>
                                        </p:tgtEl>
                                        <p:attrNameLst>
                                          <p:attrName>style.visibility</p:attrName>
                                        </p:attrNameLst>
                                      </p:cBhvr>
                                      <p:to>
                                        <p:strVal val="visible"/>
                                      </p:to>
                                    </p:set>
                                    <p:animEffect transition="in" filter="fade">
                                      <p:cBhvr>
                                        <p:cTn id="49" dur="500"/>
                                        <p:tgtEl>
                                          <p:spTgt spid="91"/>
                                        </p:tgtEl>
                                      </p:cBhvr>
                                    </p:animEffect>
                                  </p:childTnLst>
                                </p:cTn>
                              </p:par>
                              <p:par>
                                <p:cTn id="50" presetID="10" presetClass="entr" presetSubtype="0" fill="hold" nodeType="withEffect">
                                  <p:stCondLst>
                                    <p:cond delay="0"/>
                                  </p:stCondLst>
                                  <p:childTnLst>
                                    <p:set>
                                      <p:cBhvr>
                                        <p:cTn id="51" dur="1" fill="hold">
                                          <p:stCondLst>
                                            <p:cond delay="0"/>
                                          </p:stCondLst>
                                        </p:cTn>
                                        <p:tgtEl>
                                          <p:spTgt spid="92"/>
                                        </p:tgtEl>
                                        <p:attrNameLst>
                                          <p:attrName>style.visibility</p:attrName>
                                        </p:attrNameLst>
                                      </p:cBhvr>
                                      <p:to>
                                        <p:strVal val="visible"/>
                                      </p:to>
                                    </p:set>
                                    <p:animEffect transition="in" filter="fade">
                                      <p:cBhvr>
                                        <p:cTn id="52" dur="500"/>
                                        <p:tgtEl>
                                          <p:spTgt spid="92"/>
                                        </p:tgtEl>
                                      </p:cBhvr>
                                    </p:animEffect>
                                  </p:childTnLst>
                                </p:cTn>
                              </p:par>
                              <p:par>
                                <p:cTn id="53" presetID="10" presetClass="entr" presetSubtype="0" fill="hold" nodeType="withEffect">
                                  <p:stCondLst>
                                    <p:cond delay="0"/>
                                  </p:stCondLst>
                                  <p:childTnLst>
                                    <p:set>
                                      <p:cBhvr>
                                        <p:cTn id="54" dur="1" fill="hold">
                                          <p:stCondLst>
                                            <p:cond delay="0"/>
                                          </p:stCondLst>
                                        </p:cTn>
                                        <p:tgtEl>
                                          <p:spTgt spid="93"/>
                                        </p:tgtEl>
                                        <p:attrNameLst>
                                          <p:attrName>style.visibility</p:attrName>
                                        </p:attrNameLst>
                                      </p:cBhvr>
                                      <p:to>
                                        <p:strVal val="visible"/>
                                      </p:to>
                                    </p:set>
                                    <p:animEffect transition="in" filter="fade">
                                      <p:cBhvr>
                                        <p:cTn id="55" dur="500"/>
                                        <p:tgtEl>
                                          <p:spTgt spid="93"/>
                                        </p:tgtEl>
                                      </p:cBhvr>
                                    </p:animEffect>
                                  </p:childTnLst>
                                </p:cTn>
                              </p:par>
                              <p:par>
                                <p:cTn id="56" presetID="10" presetClass="entr" presetSubtype="0" fill="hold" nodeType="withEffect">
                                  <p:stCondLst>
                                    <p:cond delay="0"/>
                                  </p:stCondLst>
                                  <p:childTnLst>
                                    <p:set>
                                      <p:cBhvr>
                                        <p:cTn id="57" dur="1" fill="hold">
                                          <p:stCondLst>
                                            <p:cond delay="0"/>
                                          </p:stCondLst>
                                        </p:cTn>
                                        <p:tgtEl>
                                          <p:spTgt spid="95"/>
                                        </p:tgtEl>
                                        <p:attrNameLst>
                                          <p:attrName>style.visibility</p:attrName>
                                        </p:attrNameLst>
                                      </p:cBhvr>
                                      <p:to>
                                        <p:strVal val="visible"/>
                                      </p:to>
                                    </p:set>
                                    <p:animEffect transition="in" filter="fade">
                                      <p:cBhvr>
                                        <p:cTn id="58" dur="500"/>
                                        <p:tgtEl>
                                          <p:spTgt spid="95"/>
                                        </p:tgtEl>
                                      </p:cBhvr>
                                    </p:animEffect>
                                  </p:childTnLst>
                                </p:cTn>
                              </p:par>
                              <p:par>
                                <p:cTn id="59" presetID="10" presetClass="exit" presetSubtype="0" fill="hold" nodeType="withEffect">
                                  <p:stCondLst>
                                    <p:cond delay="0"/>
                                  </p:stCondLst>
                                  <p:childTnLst>
                                    <p:animEffect transition="out" filter="fade">
                                      <p:cBhvr>
                                        <p:cTn id="60" dur="500"/>
                                        <p:tgtEl>
                                          <p:spTgt spid="75"/>
                                        </p:tgtEl>
                                      </p:cBhvr>
                                    </p:animEffect>
                                    <p:set>
                                      <p:cBhvr>
                                        <p:cTn id="61" dur="1" fill="hold">
                                          <p:stCondLst>
                                            <p:cond delay="499"/>
                                          </p:stCondLst>
                                        </p:cTn>
                                        <p:tgtEl>
                                          <p:spTgt spid="75"/>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77"/>
                                        </p:tgtEl>
                                      </p:cBhvr>
                                    </p:animEffect>
                                    <p:set>
                                      <p:cBhvr>
                                        <p:cTn id="64" dur="1" fill="hold">
                                          <p:stCondLst>
                                            <p:cond delay="499"/>
                                          </p:stCondLst>
                                        </p:cTn>
                                        <p:tgtEl>
                                          <p:spTgt spid="77"/>
                                        </p:tgtEl>
                                        <p:attrNameLst>
                                          <p:attrName>style.visibility</p:attrName>
                                        </p:attrNameLst>
                                      </p:cBhvr>
                                      <p:to>
                                        <p:strVal val="hidden"/>
                                      </p:to>
                                    </p:set>
                                  </p:childTnLst>
                                </p:cTn>
                              </p:par>
                              <p:par>
                                <p:cTn id="65" presetID="10" presetClass="entr" presetSubtype="0" fill="hold" grpId="0" nodeType="withEffect">
                                  <p:stCondLst>
                                    <p:cond delay="0"/>
                                  </p:stCondLst>
                                  <p:childTnLst>
                                    <p:set>
                                      <p:cBhvr>
                                        <p:cTn id="66" dur="1" fill="hold">
                                          <p:stCondLst>
                                            <p:cond delay="0"/>
                                          </p:stCondLst>
                                        </p:cTn>
                                        <p:tgtEl>
                                          <p:spTgt spid="100"/>
                                        </p:tgtEl>
                                        <p:attrNameLst>
                                          <p:attrName>style.visibility</p:attrName>
                                        </p:attrNameLst>
                                      </p:cBhvr>
                                      <p:to>
                                        <p:strVal val="visible"/>
                                      </p:to>
                                    </p:set>
                                    <p:animEffect transition="in" filter="fade">
                                      <p:cBhvr>
                                        <p:cTn id="67" dur="500"/>
                                        <p:tgtEl>
                                          <p:spTgt spid="100"/>
                                        </p:tgtEl>
                                      </p:cBhvr>
                                    </p:animEffect>
                                  </p:childTnLst>
                                </p:cTn>
                              </p:par>
                              <p:par>
                                <p:cTn id="68" presetID="10" presetClass="exit" presetSubtype="0" fill="hold" grpId="1" nodeType="withEffect">
                                  <p:stCondLst>
                                    <p:cond delay="0"/>
                                  </p:stCondLst>
                                  <p:childTnLst>
                                    <p:animEffect transition="out" filter="fade">
                                      <p:cBhvr>
                                        <p:cTn id="69" dur="500"/>
                                        <p:tgtEl>
                                          <p:spTgt spid="99"/>
                                        </p:tgtEl>
                                      </p:cBhvr>
                                    </p:animEffect>
                                    <p:set>
                                      <p:cBhvr>
                                        <p:cTn id="70" dur="1" fill="hold">
                                          <p:stCondLst>
                                            <p:cond delay="499"/>
                                          </p:stCondLst>
                                        </p:cTn>
                                        <p:tgtEl>
                                          <p:spTgt spid="99"/>
                                        </p:tgtEl>
                                        <p:attrNameLst>
                                          <p:attrName>style.visibility</p:attrName>
                                        </p:attrNameLst>
                                      </p:cBhvr>
                                      <p:to>
                                        <p:strVal val="hidden"/>
                                      </p:to>
                                    </p:set>
                                  </p:childTnLst>
                                </p:cTn>
                              </p:par>
                            </p:childTnLst>
                          </p:cTn>
                        </p:par>
                      </p:childTnLst>
                    </p:cTn>
                  </p:par>
                </p:childTnLst>
              </p:cTn>
              <p:nextCondLst>
                <p:cond evt="onClick" delay="0">
                  <p:tgtEl>
                    <p:spTgt spid="75"/>
                  </p:tgtEl>
                </p:cond>
              </p:nextCondLst>
            </p:seq>
            <p:seq concurrent="1" nextAc="seek">
              <p:cTn id="71" restart="whenNotActive" fill="hold" evtFilter="cancelBubble" nodeType="interactiveSeq">
                <p:stCondLst>
                  <p:cond evt="onClick" delay="0">
                    <p:tgtEl>
                      <p:spTgt spid="98"/>
                    </p:tgtEl>
                  </p:cond>
                </p:stCondLst>
                <p:endSync evt="end" delay="0">
                  <p:rtn val="all"/>
                </p:endSync>
                <p:childTnLst>
                  <p:par>
                    <p:cTn id="72" fill="hold">
                      <p:stCondLst>
                        <p:cond delay="0"/>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77"/>
                                        </p:tgtEl>
                                        <p:attrNameLst>
                                          <p:attrName>style.visibility</p:attrName>
                                        </p:attrNameLst>
                                      </p:cBhvr>
                                      <p:to>
                                        <p:strVal val="visible"/>
                                      </p:to>
                                    </p:set>
                                    <p:animEffect transition="in" filter="fade">
                                      <p:cBhvr>
                                        <p:cTn id="76" dur="500"/>
                                        <p:tgtEl>
                                          <p:spTgt spid="77"/>
                                        </p:tgtEl>
                                      </p:cBhvr>
                                    </p:animEffect>
                                  </p:childTnLst>
                                </p:cTn>
                              </p:par>
                              <p:par>
                                <p:cTn id="77" presetID="10" presetClass="exit" presetSubtype="0" fill="hold" nodeType="withEffect">
                                  <p:stCondLst>
                                    <p:cond delay="0"/>
                                  </p:stCondLst>
                                  <p:childTnLst>
                                    <p:animEffect transition="out" filter="fade">
                                      <p:cBhvr>
                                        <p:cTn id="78" dur="500"/>
                                        <p:tgtEl>
                                          <p:spTgt spid="95"/>
                                        </p:tgtEl>
                                      </p:cBhvr>
                                    </p:animEffect>
                                    <p:set>
                                      <p:cBhvr>
                                        <p:cTn id="79" dur="1" fill="hold">
                                          <p:stCondLst>
                                            <p:cond delay="499"/>
                                          </p:stCondLst>
                                        </p:cTn>
                                        <p:tgtEl>
                                          <p:spTgt spid="95"/>
                                        </p:tgtEl>
                                        <p:attrNameLst>
                                          <p:attrName>style.visibility</p:attrName>
                                        </p:attrNameLst>
                                      </p:cBhvr>
                                      <p:to>
                                        <p:strVal val="hidden"/>
                                      </p:to>
                                    </p:set>
                                  </p:childTnLst>
                                </p:cTn>
                              </p:par>
                              <p:par>
                                <p:cTn id="80" presetID="10" presetClass="entr" presetSubtype="0" fill="hold" nodeType="withEffect">
                                  <p:stCondLst>
                                    <p:cond delay="0"/>
                                  </p:stCondLst>
                                  <p:childTnLst>
                                    <p:set>
                                      <p:cBhvr>
                                        <p:cTn id="81" dur="1" fill="hold">
                                          <p:stCondLst>
                                            <p:cond delay="0"/>
                                          </p:stCondLst>
                                        </p:cTn>
                                        <p:tgtEl>
                                          <p:spTgt spid="75"/>
                                        </p:tgtEl>
                                        <p:attrNameLst>
                                          <p:attrName>style.visibility</p:attrName>
                                        </p:attrNameLst>
                                      </p:cBhvr>
                                      <p:to>
                                        <p:strVal val="visible"/>
                                      </p:to>
                                    </p:set>
                                    <p:animEffect transition="in" filter="fade">
                                      <p:cBhvr>
                                        <p:cTn id="82" dur="500"/>
                                        <p:tgtEl>
                                          <p:spTgt spid="75"/>
                                        </p:tgtEl>
                                      </p:cBhvr>
                                    </p:animEffect>
                                  </p:childTnLst>
                                </p:cTn>
                              </p:par>
                              <p:par>
                                <p:cTn id="83" presetID="10" presetClass="exit" presetSubtype="0" fill="hold" grpId="1" nodeType="withEffect">
                                  <p:stCondLst>
                                    <p:cond delay="0"/>
                                  </p:stCondLst>
                                  <p:childTnLst>
                                    <p:animEffect transition="out" filter="fade">
                                      <p:cBhvr>
                                        <p:cTn id="84" dur="500"/>
                                        <p:tgtEl>
                                          <p:spTgt spid="79"/>
                                        </p:tgtEl>
                                      </p:cBhvr>
                                    </p:animEffect>
                                    <p:set>
                                      <p:cBhvr>
                                        <p:cTn id="85" dur="1" fill="hold">
                                          <p:stCondLst>
                                            <p:cond delay="499"/>
                                          </p:stCondLst>
                                        </p:cTn>
                                        <p:tgtEl>
                                          <p:spTgt spid="79"/>
                                        </p:tgtEl>
                                        <p:attrNameLst>
                                          <p:attrName>style.visibility</p:attrName>
                                        </p:attrNameLst>
                                      </p:cBhvr>
                                      <p:to>
                                        <p:strVal val="hidden"/>
                                      </p:to>
                                    </p:set>
                                  </p:childTnLst>
                                </p:cTn>
                              </p:par>
                              <p:par>
                                <p:cTn id="86" presetID="10" presetClass="exit" presetSubtype="0" fill="hold" grpId="1" nodeType="withEffect">
                                  <p:stCondLst>
                                    <p:cond delay="0"/>
                                  </p:stCondLst>
                                  <p:childTnLst>
                                    <p:animEffect transition="out" filter="fade">
                                      <p:cBhvr>
                                        <p:cTn id="87" dur="500"/>
                                        <p:tgtEl>
                                          <p:spTgt spid="81"/>
                                        </p:tgtEl>
                                      </p:cBhvr>
                                    </p:animEffect>
                                    <p:set>
                                      <p:cBhvr>
                                        <p:cTn id="88" dur="1" fill="hold">
                                          <p:stCondLst>
                                            <p:cond delay="499"/>
                                          </p:stCondLst>
                                        </p:cTn>
                                        <p:tgtEl>
                                          <p:spTgt spid="81"/>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82"/>
                                        </p:tgtEl>
                                      </p:cBhvr>
                                    </p:animEffect>
                                    <p:set>
                                      <p:cBhvr>
                                        <p:cTn id="91" dur="1" fill="hold">
                                          <p:stCondLst>
                                            <p:cond delay="499"/>
                                          </p:stCondLst>
                                        </p:cTn>
                                        <p:tgtEl>
                                          <p:spTgt spid="82"/>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500"/>
                                        <p:tgtEl>
                                          <p:spTgt spid="83"/>
                                        </p:tgtEl>
                                      </p:cBhvr>
                                    </p:animEffect>
                                    <p:set>
                                      <p:cBhvr>
                                        <p:cTn id="94" dur="1" fill="hold">
                                          <p:stCondLst>
                                            <p:cond delay="499"/>
                                          </p:stCondLst>
                                        </p:cTn>
                                        <p:tgtEl>
                                          <p:spTgt spid="83"/>
                                        </p:tgtEl>
                                        <p:attrNameLst>
                                          <p:attrName>style.visibility</p:attrName>
                                        </p:attrNameLst>
                                      </p:cBhvr>
                                      <p:to>
                                        <p:strVal val="hidden"/>
                                      </p:to>
                                    </p:set>
                                  </p:childTnLst>
                                </p:cTn>
                              </p:par>
                              <p:par>
                                <p:cTn id="95" presetID="10" presetClass="exit" presetSubtype="0" fill="hold" grpId="1" nodeType="withEffect">
                                  <p:stCondLst>
                                    <p:cond delay="0"/>
                                  </p:stCondLst>
                                  <p:childTnLst>
                                    <p:animEffect transition="out" filter="fade">
                                      <p:cBhvr>
                                        <p:cTn id="96" dur="500"/>
                                        <p:tgtEl>
                                          <p:spTgt spid="84"/>
                                        </p:tgtEl>
                                      </p:cBhvr>
                                    </p:animEffect>
                                    <p:set>
                                      <p:cBhvr>
                                        <p:cTn id="97" dur="1" fill="hold">
                                          <p:stCondLst>
                                            <p:cond delay="499"/>
                                          </p:stCondLst>
                                        </p:cTn>
                                        <p:tgtEl>
                                          <p:spTgt spid="84"/>
                                        </p:tgtEl>
                                        <p:attrNameLst>
                                          <p:attrName>style.visibility</p:attrName>
                                        </p:attrNameLst>
                                      </p:cBhvr>
                                      <p:to>
                                        <p:strVal val="hidden"/>
                                      </p:to>
                                    </p:set>
                                  </p:childTnLst>
                                </p:cTn>
                              </p:par>
                              <p:par>
                                <p:cTn id="98" presetID="10" presetClass="exit" presetSubtype="0" fill="hold" grpId="1" nodeType="withEffect">
                                  <p:stCondLst>
                                    <p:cond delay="0"/>
                                  </p:stCondLst>
                                  <p:childTnLst>
                                    <p:animEffect transition="out" filter="fade">
                                      <p:cBhvr>
                                        <p:cTn id="99" dur="500"/>
                                        <p:tgtEl>
                                          <p:spTgt spid="85"/>
                                        </p:tgtEl>
                                      </p:cBhvr>
                                    </p:animEffect>
                                    <p:set>
                                      <p:cBhvr>
                                        <p:cTn id="100" dur="1" fill="hold">
                                          <p:stCondLst>
                                            <p:cond delay="499"/>
                                          </p:stCondLst>
                                        </p:cTn>
                                        <p:tgtEl>
                                          <p:spTgt spid="85"/>
                                        </p:tgtEl>
                                        <p:attrNameLst>
                                          <p:attrName>style.visibility</p:attrName>
                                        </p:attrNameLst>
                                      </p:cBhvr>
                                      <p:to>
                                        <p:strVal val="hidden"/>
                                      </p:to>
                                    </p:set>
                                  </p:childTnLst>
                                </p:cTn>
                              </p:par>
                              <p:par>
                                <p:cTn id="101" presetID="10" presetClass="exit" presetSubtype="0" fill="hold" grpId="1" nodeType="withEffect">
                                  <p:stCondLst>
                                    <p:cond delay="0"/>
                                  </p:stCondLst>
                                  <p:childTnLst>
                                    <p:animEffect transition="out" filter="fade">
                                      <p:cBhvr>
                                        <p:cTn id="102" dur="500"/>
                                        <p:tgtEl>
                                          <p:spTgt spid="86"/>
                                        </p:tgtEl>
                                      </p:cBhvr>
                                    </p:animEffect>
                                    <p:set>
                                      <p:cBhvr>
                                        <p:cTn id="103" dur="1" fill="hold">
                                          <p:stCondLst>
                                            <p:cond delay="499"/>
                                          </p:stCondLst>
                                        </p:cTn>
                                        <p:tgtEl>
                                          <p:spTgt spid="86"/>
                                        </p:tgtEl>
                                        <p:attrNameLst>
                                          <p:attrName>style.visibility</p:attrName>
                                        </p:attrNameLst>
                                      </p:cBhvr>
                                      <p:to>
                                        <p:strVal val="hidden"/>
                                      </p:to>
                                    </p:set>
                                  </p:childTnLst>
                                </p:cTn>
                              </p:par>
                              <p:par>
                                <p:cTn id="104" presetID="10" presetClass="exit" presetSubtype="0" fill="hold" grpId="1" nodeType="withEffect">
                                  <p:stCondLst>
                                    <p:cond delay="0"/>
                                  </p:stCondLst>
                                  <p:childTnLst>
                                    <p:animEffect transition="out" filter="fade">
                                      <p:cBhvr>
                                        <p:cTn id="105" dur="500"/>
                                        <p:tgtEl>
                                          <p:spTgt spid="87"/>
                                        </p:tgtEl>
                                      </p:cBhvr>
                                    </p:animEffect>
                                    <p:set>
                                      <p:cBhvr>
                                        <p:cTn id="106" dur="1" fill="hold">
                                          <p:stCondLst>
                                            <p:cond delay="499"/>
                                          </p:stCondLst>
                                        </p:cTn>
                                        <p:tgtEl>
                                          <p:spTgt spid="87"/>
                                        </p:tgtEl>
                                        <p:attrNameLst>
                                          <p:attrName>style.visibility</p:attrName>
                                        </p:attrNameLst>
                                      </p:cBhvr>
                                      <p:to>
                                        <p:strVal val="hidden"/>
                                      </p:to>
                                    </p:set>
                                  </p:childTnLst>
                                </p:cTn>
                              </p:par>
                              <p:par>
                                <p:cTn id="107" presetID="10" presetClass="exit" presetSubtype="0" fill="hold" grpId="1" nodeType="withEffect">
                                  <p:stCondLst>
                                    <p:cond delay="0"/>
                                  </p:stCondLst>
                                  <p:childTnLst>
                                    <p:animEffect transition="out" filter="fade">
                                      <p:cBhvr>
                                        <p:cTn id="108" dur="500"/>
                                        <p:tgtEl>
                                          <p:spTgt spid="88"/>
                                        </p:tgtEl>
                                      </p:cBhvr>
                                    </p:animEffect>
                                    <p:set>
                                      <p:cBhvr>
                                        <p:cTn id="109" dur="1" fill="hold">
                                          <p:stCondLst>
                                            <p:cond delay="499"/>
                                          </p:stCondLst>
                                        </p:cTn>
                                        <p:tgtEl>
                                          <p:spTgt spid="88"/>
                                        </p:tgtEl>
                                        <p:attrNameLst>
                                          <p:attrName>style.visibility</p:attrName>
                                        </p:attrNameLst>
                                      </p:cBhvr>
                                      <p:to>
                                        <p:strVal val="hidden"/>
                                      </p:to>
                                    </p:set>
                                  </p:childTnLst>
                                </p:cTn>
                              </p:par>
                              <p:par>
                                <p:cTn id="110" presetID="10" presetClass="exit" presetSubtype="0" fill="hold" grpId="1" nodeType="withEffect">
                                  <p:stCondLst>
                                    <p:cond delay="0"/>
                                  </p:stCondLst>
                                  <p:childTnLst>
                                    <p:animEffect transition="out" filter="fade">
                                      <p:cBhvr>
                                        <p:cTn id="111" dur="500"/>
                                        <p:tgtEl>
                                          <p:spTgt spid="89"/>
                                        </p:tgtEl>
                                      </p:cBhvr>
                                    </p:animEffect>
                                    <p:set>
                                      <p:cBhvr>
                                        <p:cTn id="112" dur="1" fill="hold">
                                          <p:stCondLst>
                                            <p:cond delay="499"/>
                                          </p:stCondLst>
                                        </p:cTn>
                                        <p:tgtEl>
                                          <p:spTgt spid="89"/>
                                        </p:tgtEl>
                                        <p:attrNameLst>
                                          <p:attrName>style.visibility</p:attrName>
                                        </p:attrNameLst>
                                      </p:cBhvr>
                                      <p:to>
                                        <p:strVal val="hidden"/>
                                      </p:to>
                                    </p:set>
                                  </p:childTnLst>
                                </p:cTn>
                              </p:par>
                              <p:par>
                                <p:cTn id="113" presetID="10" presetClass="exit" presetSubtype="0" fill="hold" grpId="1" nodeType="withEffect">
                                  <p:stCondLst>
                                    <p:cond delay="0"/>
                                  </p:stCondLst>
                                  <p:childTnLst>
                                    <p:animEffect transition="out" filter="fade">
                                      <p:cBhvr>
                                        <p:cTn id="114" dur="500"/>
                                        <p:tgtEl>
                                          <p:spTgt spid="90"/>
                                        </p:tgtEl>
                                      </p:cBhvr>
                                    </p:animEffect>
                                    <p:set>
                                      <p:cBhvr>
                                        <p:cTn id="115" dur="1" fill="hold">
                                          <p:stCondLst>
                                            <p:cond delay="499"/>
                                          </p:stCondLst>
                                        </p:cTn>
                                        <p:tgtEl>
                                          <p:spTgt spid="9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91"/>
                                        </p:tgtEl>
                                      </p:cBhvr>
                                    </p:animEffect>
                                    <p:set>
                                      <p:cBhvr>
                                        <p:cTn id="118" dur="1" fill="hold">
                                          <p:stCondLst>
                                            <p:cond delay="499"/>
                                          </p:stCondLst>
                                        </p:cTn>
                                        <p:tgtEl>
                                          <p:spTgt spid="91"/>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500"/>
                                        <p:tgtEl>
                                          <p:spTgt spid="92"/>
                                        </p:tgtEl>
                                      </p:cBhvr>
                                    </p:animEffect>
                                    <p:set>
                                      <p:cBhvr>
                                        <p:cTn id="121" dur="1" fill="hold">
                                          <p:stCondLst>
                                            <p:cond delay="499"/>
                                          </p:stCondLst>
                                        </p:cTn>
                                        <p:tgtEl>
                                          <p:spTgt spid="92"/>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500"/>
                                        <p:tgtEl>
                                          <p:spTgt spid="93"/>
                                        </p:tgtEl>
                                      </p:cBhvr>
                                    </p:animEffect>
                                    <p:set>
                                      <p:cBhvr>
                                        <p:cTn id="124" dur="1" fill="hold">
                                          <p:stCondLst>
                                            <p:cond delay="499"/>
                                          </p:stCondLst>
                                        </p:cTn>
                                        <p:tgtEl>
                                          <p:spTgt spid="93"/>
                                        </p:tgtEl>
                                        <p:attrNameLst>
                                          <p:attrName>style.visibility</p:attrName>
                                        </p:attrNameLst>
                                      </p:cBhvr>
                                      <p:to>
                                        <p:strVal val="hidden"/>
                                      </p:to>
                                    </p:set>
                                  </p:childTnLst>
                                </p:cTn>
                              </p:par>
                              <p:par>
                                <p:cTn id="125" presetID="10" presetClass="exit" presetSubtype="0" fill="hold" grpId="1" nodeType="withEffect">
                                  <p:stCondLst>
                                    <p:cond delay="0"/>
                                  </p:stCondLst>
                                  <p:childTnLst>
                                    <p:animEffect transition="out" filter="fade">
                                      <p:cBhvr>
                                        <p:cTn id="126" dur="500"/>
                                        <p:tgtEl>
                                          <p:spTgt spid="100"/>
                                        </p:tgtEl>
                                      </p:cBhvr>
                                    </p:animEffect>
                                    <p:set>
                                      <p:cBhvr>
                                        <p:cTn id="127" dur="1" fill="hold">
                                          <p:stCondLst>
                                            <p:cond delay="499"/>
                                          </p:stCondLst>
                                        </p:cTn>
                                        <p:tgtEl>
                                          <p:spTgt spid="100"/>
                                        </p:tgtEl>
                                        <p:attrNameLst>
                                          <p:attrName>style.visibility</p:attrName>
                                        </p:attrNameLst>
                                      </p:cBhvr>
                                      <p:to>
                                        <p:strVal val="hidden"/>
                                      </p:to>
                                    </p:set>
                                  </p:childTnLst>
                                </p:cTn>
                              </p:par>
                              <p:par>
                                <p:cTn id="128" presetID="10" presetClass="entr" presetSubtype="0" fill="hold" grpId="2" nodeType="withEffect">
                                  <p:stCondLst>
                                    <p:cond delay="0"/>
                                  </p:stCondLst>
                                  <p:childTnLst>
                                    <p:set>
                                      <p:cBhvr>
                                        <p:cTn id="129" dur="1" fill="hold">
                                          <p:stCondLst>
                                            <p:cond delay="0"/>
                                          </p:stCondLst>
                                        </p:cTn>
                                        <p:tgtEl>
                                          <p:spTgt spid="99"/>
                                        </p:tgtEl>
                                        <p:attrNameLst>
                                          <p:attrName>style.visibility</p:attrName>
                                        </p:attrNameLst>
                                      </p:cBhvr>
                                      <p:to>
                                        <p:strVal val="visible"/>
                                      </p:to>
                                    </p:set>
                                    <p:animEffect transition="in" filter="fade">
                                      <p:cBhvr>
                                        <p:cTn id="130" dur="500"/>
                                        <p:tgtEl>
                                          <p:spTgt spid="99"/>
                                        </p:tgtEl>
                                      </p:cBhvr>
                                    </p:animEffect>
                                  </p:childTnLst>
                                </p:cTn>
                              </p:par>
                            </p:childTnLst>
                          </p:cTn>
                        </p:par>
                      </p:childTnLst>
                    </p:cTn>
                  </p:par>
                </p:childTnLst>
              </p:cTn>
              <p:nextCondLst>
                <p:cond evt="onClick" delay="0">
                  <p:tgtEl>
                    <p:spTgt spid="98"/>
                  </p:tgtEl>
                </p:cond>
              </p:nextCondLst>
            </p:seq>
          </p:childTnLst>
        </p:cTn>
      </p:par>
    </p:tnLst>
    <p:bldLst>
      <p:bldP spid="79" grpId="0" animBg="1"/>
      <p:bldP spid="79" grpId="1" animBg="1"/>
      <p:bldP spid="81" grpId="0"/>
      <p:bldP spid="81" grpId="1"/>
      <p:bldP spid="84" grpId="0" animBg="1"/>
      <p:bldP spid="84" grpId="1" animBg="1"/>
      <p:bldP spid="85" grpId="0" animBg="1"/>
      <p:bldP spid="85" grpId="1" animBg="1"/>
      <p:bldP spid="86" grpId="0" animBg="1"/>
      <p:bldP spid="86" grpId="1" animBg="1"/>
      <p:bldP spid="87" grpId="0" animBg="1"/>
      <p:bldP spid="87" grpId="1" animBg="1"/>
      <p:bldP spid="88" grpId="0" animBg="1"/>
      <p:bldP spid="88" grpId="1" animBg="1"/>
      <p:bldP spid="89" grpId="0" animBg="1"/>
      <p:bldP spid="89" grpId="1" animBg="1"/>
      <p:bldP spid="90" grpId="0" animBg="1"/>
      <p:bldP spid="90" grpId="1" animBg="1"/>
      <p:bldP spid="91" grpId="0" animBg="1"/>
      <p:bldP spid="91" grpId="1" animBg="1"/>
      <p:bldP spid="99" grpId="0"/>
      <p:bldP spid="99" grpId="1"/>
      <p:bldP spid="99" grpId="2"/>
      <p:bldP spid="100" grpId="0"/>
      <p:bldP spid="100" grpId="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3723F-DD9D-E0A5-2418-D42C64C1AA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942976-7F2D-3B91-44A6-78924571E699}"/>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p>
          <a:p>
            <a:r>
              <a:rPr lang="en-US" b="1" dirty="0"/>
              <a:t>HW/SW Co-design (HW Part)</a:t>
            </a:r>
          </a:p>
          <a:p>
            <a:r>
              <a:rPr lang="en-US" b="1" dirty="0">
                <a:solidFill>
                  <a:srgbClr val="000000">
                    <a:alpha val="20000"/>
                  </a:srgbClr>
                </a:solidFill>
              </a:rPr>
              <a:t>HW/SW Co-design (SW Part)</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76DCEA44-11EC-906F-9CF1-341F82928C8A}"/>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6320EA34-4CCB-07B8-1418-C2C5AD87E55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9D31C38-0EE3-B628-6C14-B6C5BD123867}"/>
              </a:ext>
            </a:extLst>
          </p:cNvPr>
          <p:cNvSpPr>
            <a:spLocks noGrp="1"/>
          </p:cNvSpPr>
          <p:nvPr>
            <p:ph type="sldNum" sz="quarter" idx="4"/>
          </p:nvPr>
        </p:nvSpPr>
        <p:spPr/>
        <p:txBody>
          <a:bodyPr/>
          <a:lstStyle/>
          <a:p>
            <a:pPr>
              <a:defRPr/>
            </a:pPr>
            <a:fld id="{A9CE67A1-BA7F-A74E-B5D7-615746DEEC2B}" type="slidenum">
              <a:rPr lang="en-US" smtClean="0"/>
              <a:pPr>
                <a:defRPr/>
              </a:pPr>
              <a:t>89</a:t>
            </a:fld>
            <a:endParaRPr lang="en-US" baseline="-11000" dirty="0"/>
          </a:p>
        </p:txBody>
      </p:sp>
      <p:sp>
        <p:nvSpPr>
          <p:cNvPr id="6" name="Date Placeholder 5">
            <a:extLst>
              <a:ext uri="{FF2B5EF4-FFF2-40B4-BE49-F238E27FC236}">
                <a16:creationId xmlns:a16="http://schemas.microsoft.com/office/drawing/2014/main" id="{09AC8DAB-83B5-D6E4-9C26-488EBEEDCDD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41700639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09003-4A69-BD2A-6A4C-EE53EC97D5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073F3C-6ACD-6B6B-4C19-DAC024FA055F}"/>
              </a:ext>
            </a:extLst>
          </p:cNvPr>
          <p:cNvSpPr>
            <a:spLocks noGrp="1"/>
          </p:cNvSpPr>
          <p:nvPr>
            <p:ph type="title"/>
          </p:nvPr>
        </p:nvSpPr>
        <p:spPr>
          <a:xfrm>
            <a:off x="347472" y="3827812"/>
            <a:ext cx="7755668" cy="664797"/>
          </a:xfrm>
        </p:spPr>
        <p:txBody>
          <a:bodyPr/>
          <a:lstStyle/>
          <a:p>
            <a:r>
              <a:rPr lang="en-US" dirty="0"/>
              <a:t>HW/SW Co-design (HW Part) </a:t>
            </a:r>
          </a:p>
        </p:txBody>
      </p:sp>
      <p:sp>
        <p:nvSpPr>
          <p:cNvPr id="4" name="Footer Placeholder 3">
            <a:extLst>
              <a:ext uri="{FF2B5EF4-FFF2-40B4-BE49-F238E27FC236}">
                <a16:creationId xmlns:a16="http://schemas.microsoft.com/office/drawing/2014/main" id="{8CF1F8BE-A2C0-72C2-210A-8CE470537AE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BA80BB4-4F85-9421-7A78-FA7BCBB40A8E}"/>
              </a:ext>
            </a:extLst>
          </p:cNvPr>
          <p:cNvSpPr>
            <a:spLocks noGrp="1"/>
          </p:cNvSpPr>
          <p:nvPr>
            <p:ph type="sldNum" sz="quarter" idx="4"/>
          </p:nvPr>
        </p:nvSpPr>
        <p:spPr/>
        <p:txBody>
          <a:bodyPr/>
          <a:lstStyle/>
          <a:p>
            <a:pPr>
              <a:defRPr/>
            </a:pPr>
            <a:fld id="{A9CE67A1-BA7F-A74E-B5D7-615746DEEC2B}" type="slidenum">
              <a:rPr lang="en-US" smtClean="0"/>
              <a:pPr>
                <a:defRPr/>
              </a:pPr>
              <a:t>90</a:t>
            </a:fld>
            <a:endParaRPr lang="en-US" baseline="-11000" dirty="0"/>
          </a:p>
        </p:txBody>
      </p:sp>
      <p:sp>
        <p:nvSpPr>
          <p:cNvPr id="6" name="Date Placeholder 5">
            <a:extLst>
              <a:ext uri="{FF2B5EF4-FFF2-40B4-BE49-F238E27FC236}">
                <a16:creationId xmlns:a16="http://schemas.microsoft.com/office/drawing/2014/main" id="{E1F25D22-67EC-E960-A1DC-DD7DFB3F3671}"/>
              </a:ext>
            </a:extLst>
          </p:cNvPr>
          <p:cNvSpPr>
            <a:spLocks noGrp="1"/>
          </p:cNvSpPr>
          <p:nvPr>
            <p:ph type="dt" sz="half" idx="2"/>
          </p:nvPr>
        </p:nvSpPr>
        <p:spPr/>
        <p:txBody>
          <a:body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25502401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6B27-4B6D-AD07-3970-691AEDC3BB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125087-C727-994A-82DF-18A6EFFE9CF2}"/>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t>RTL Design</a:t>
            </a:r>
          </a:p>
          <a:p>
            <a:pPr lvl="1"/>
            <a:r>
              <a:rPr lang="en-US" sz="2100" b="1" dirty="0"/>
              <a:t>Arithmetic Optimization</a:t>
            </a:r>
          </a:p>
          <a:p>
            <a:pPr lvl="1"/>
            <a:r>
              <a:rPr lang="en-US" sz="2100" b="1" dirty="0"/>
              <a:t>Pipeline Alignment</a:t>
            </a:r>
          </a:p>
          <a:p>
            <a:pPr lvl="1"/>
            <a:r>
              <a:rPr lang="en-US" sz="2100" b="1" dirty="0"/>
              <a:t>PULP Integration</a:t>
            </a:r>
          </a:p>
          <a:p>
            <a:pPr lvl="1"/>
            <a:r>
              <a:rPr lang="en-US" sz="2100" b="1" dirty="0"/>
              <a:t>Wrapper Architecture</a:t>
            </a:r>
          </a:p>
          <a:p>
            <a:pPr lvl="1"/>
            <a:r>
              <a:rPr lang="en-US" sz="2100" b="1" dirty="0"/>
              <a:t>SoC Modifications</a:t>
            </a:r>
          </a:p>
          <a:p>
            <a:pPr lvl="1"/>
            <a:r>
              <a:rPr lang="en-US" sz="2100" b="1" dirty="0"/>
              <a:t>Software &amp; Verification (1)</a:t>
            </a:r>
          </a:p>
          <a:p>
            <a:pPr lvl="1"/>
            <a:r>
              <a:rPr lang="en-US" sz="2100" b="1" dirty="0"/>
              <a:t>Optimizations </a:t>
            </a:r>
          </a:p>
          <a:p>
            <a:pPr lvl="1"/>
            <a:r>
              <a:rPr lang="en-US" sz="2100" b="1" dirty="0"/>
              <a:t>Software &amp; Verification (2)</a:t>
            </a:r>
          </a:p>
          <a:p>
            <a:pPr lvl="1"/>
            <a:endParaRPr lang="en-US" sz="2100" b="1" dirty="0"/>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462E86A7-9EB3-16DD-FF01-FF5814378968}"/>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CF4BC2D5-2E55-8402-83CA-EA145C58E86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278EE3A-94C6-1DCA-AA02-6D2DC83560C5}"/>
              </a:ext>
            </a:extLst>
          </p:cNvPr>
          <p:cNvSpPr>
            <a:spLocks noGrp="1"/>
          </p:cNvSpPr>
          <p:nvPr>
            <p:ph type="sldNum" sz="quarter" idx="4"/>
          </p:nvPr>
        </p:nvSpPr>
        <p:spPr/>
        <p:txBody>
          <a:bodyPr/>
          <a:lstStyle/>
          <a:p>
            <a:pPr>
              <a:defRPr/>
            </a:pPr>
            <a:fld id="{A9CE67A1-BA7F-A74E-B5D7-615746DEEC2B}" type="slidenum">
              <a:rPr lang="en-US" smtClean="0"/>
              <a:pPr>
                <a:defRPr/>
              </a:pPr>
              <a:t>91</a:t>
            </a:fld>
            <a:endParaRPr lang="en-US" baseline="-11000" dirty="0"/>
          </a:p>
        </p:txBody>
      </p:sp>
      <p:sp>
        <p:nvSpPr>
          <p:cNvPr id="6" name="Date Placeholder 5">
            <a:extLst>
              <a:ext uri="{FF2B5EF4-FFF2-40B4-BE49-F238E27FC236}">
                <a16:creationId xmlns:a16="http://schemas.microsoft.com/office/drawing/2014/main" id="{F76E6832-1B25-D2B4-A74C-19631F4CD7B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17094526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Problem Statement</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92</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118335" y="819081"/>
            <a:ext cx="11159266" cy="5793937"/>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Objective: </a:t>
            </a:r>
          </a:p>
          <a:p>
            <a:pPr marL="742950" lvl="1"/>
            <a:r>
              <a:rPr lang="en-US" sz="1800" dirty="0"/>
              <a:t>Integrate a custom-designed Radix-2 FFT Butterfly hardware accelerator into the PULP platform as an AXI peripheral  and drive it with a complete software FFT implementation.</a:t>
            </a:r>
          </a:p>
          <a:p>
            <a:pPr marL="457200"/>
            <a:r>
              <a:rPr lang="en-US" sz="2000" b="1" dirty="0">
                <a:latin typeface="Barlow (Body)"/>
              </a:rPr>
              <a:t>Goal: </a:t>
            </a:r>
          </a:p>
          <a:p>
            <a:pPr marL="742950" lvl="1"/>
            <a:r>
              <a:rPr lang="en-US" sz="1800" dirty="0"/>
              <a:t>Validate correct hardware/software interaction.</a:t>
            </a:r>
          </a:p>
          <a:p>
            <a:pPr marL="457200"/>
            <a:r>
              <a:rPr lang="en-US" sz="2000" b="1" dirty="0">
                <a:latin typeface="Barlow (Body)"/>
              </a:rPr>
              <a:t>Scope of current work: </a:t>
            </a:r>
          </a:p>
          <a:p>
            <a:pPr marL="742950" lvl="1"/>
            <a:r>
              <a:rPr lang="en-US" sz="1800" b="1" dirty="0"/>
              <a:t>Hardware Scope: </a:t>
            </a:r>
          </a:p>
          <a:p>
            <a:pPr marL="971550" lvl="2"/>
            <a:r>
              <a:rPr lang="en-US" sz="1600" dirty="0"/>
              <a:t>RTL of radix-2 Butterfly, Map the standalone butterfly accelerator to the AXI bus, design the protocol translation wrapper, and a simple </a:t>
            </a:r>
            <a:r>
              <a:rPr lang="en-US" sz="1600" dirty="0">
                <a:latin typeface="Barlow (Body)"/>
              </a:rPr>
              <a:t>Software validation using a simple C test.</a:t>
            </a:r>
          </a:p>
          <a:p>
            <a:pPr marL="742950" lvl="1"/>
            <a:endParaRPr lang="en-US" sz="1800" dirty="0">
              <a:latin typeface="Barlow (Body)"/>
            </a:endParaRPr>
          </a:p>
        </p:txBody>
      </p:sp>
      <p:sp>
        <p:nvSpPr>
          <p:cNvPr id="10" name="TextBox 9">
            <a:extLst>
              <a:ext uri="{FF2B5EF4-FFF2-40B4-BE49-F238E27FC236}">
                <a16:creationId xmlns:a16="http://schemas.microsoft.com/office/drawing/2014/main" id="{875A0DFB-34F2-3674-4213-BAF2BBBF7D09}"/>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11" name="TextBox 10">
            <a:extLst>
              <a:ext uri="{FF2B5EF4-FFF2-40B4-BE49-F238E27FC236}">
                <a16:creationId xmlns:a16="http://schemas.microsoft.com/office/drawing/2014/main" id="{E1CE5F72-FDA0-778A-6806-1077C461B21E}"/>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alpha val="20000"/>
                  </a:schemeClr>
                </a:solidFill>
              </a:rPr>
              <a:t>Butterfly Operation</a:t>
            </a:r>
          </a:p>
        </p:txBody>
      </p:sp>
      <p:sp>
        <p:nvSpPr>
          <p:cNvPr id="12" name="TextBox 11">
            <a:extLst>
              <a:ext uri="{FF2B5EF4-FFF2-40B4-BE49-F238E27FC236}">
                <a16:creationId xmlns:a16="http://schemas.microsoft.com/office/drawing/2014/main" id="{7CD609AF-BEDD-3346-53DD-653A8A4688F1}"/>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alpha val="20000"/>
                  </a:schemeClr>
                </a:solidFill>
              </a:rPr>
              <a:t>RTL Design</a:t>
            </a:r>
          </a:p>
        </p:txBody>
      </p:sp>
      <p:sp>
        <p:nvSpPr>
          <p:cNvPr id="14" name="TextBox 13">
            <a:extLst>
              <a:ext uri="{FF2B5EF4-FFF2-40B4-BE49-F238E27FC236}">
                <a16:creationId xmlns:a16="http://schemas.microsoft.com/office/drawing/2014/main" id="{6DC2485F-EAAE-654D-45D6-5C9177ACF5B5}"/>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5" name="TextBox 14">
            <a:extLst>
              <a:ext uri="{FF2B5EF4-FFF2-40B4-BE49-F238E27FC236}">
                <a16:creationId xmlns:a16="http://schemas.microsoft.com/office/drawing/2014/main" id="{74052889-3353-DDCE-EC1E-C3ADBFDEBB7E}"/>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6" name="TextBox 15">
            <a:extLst>
              <a:ext uri="{FF2B5EF4-FFF2-40B4-BE49-F238E27FC236}">
                <a16:creationId xmlns:a16="http://schemas.microsoft.com/office/drawing/2014/main" id="{67FA2076-50CE-928A-72B0-9715E5820D6B}"/>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7" name="TextBox 16">
            <a:extLst>
              <a:ext uri="{FF2B5EF4-FFF2-40B4-BE49-F238E27FC236}">
                <a16:creationId xmlns:a16="http://schemas.microsoft.com/office/drawing/2014/main" id="{BE43BC69-448D-7DC5-6415-C65895FE0F64}"/>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8" name="TextBox 17">
            <a:extLst>
              <a:ext uri="{FF2B5EF4-FFF2-40B4-BE49-F238E27FC236}">
                <a16:creationId xmlns:a16="http://schemas.microsoft.com/office/drawing/2014/main" id="{74555CF6-3EAE-0EAE-6339-0164E6A475E2}"/>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9" name="TextBox 18">
            <a:extLst>
              <a:ext uri="{FF2B5EF4-FFF2-40B4-BE49-F238E27FC236}">
                <a16:creationId xmlns:a16="http://schemas.microsoft.com/office/drawing/2014/main" id="{13D1196A-9C19-C748-3FF9-0EF836C2047F}"/>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spTree>
    <p:extLst>
      <p:ext uri="{BB962C8B-B14F-4D97-AF65-F5344CB8AC3E}">
        <p14:creationId xmlns:p14="http://schemas.microsoft.com/office/powerpoint/2010/main" val="38336042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31D9-D63A-F2F4-1AD0-5FBDEEEB3F3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F2BD41-1C28-C821-B9F8-A50D77FA59E2}"/>
              </a:ext>
            </a:extLst>
          </p:cNvPr>
          <p:cNvSpPr>
            <a:spLocks noGrp="1"/>
          </p:cNvSpPr>
          <p:nvPr>
            <p:ph type="title"/>
          </p:nvPr>
        </p:nvSpPr>
        <p:spPr>
          <a:xfrm>
            <a:off x="342901" y="219456"/>
            <a:ext cx="10287001" cy="470898"/>
          </a:xfrm>
        </p:spPr>
        <p:txBody>
          <a:bodyPr/>
          <a:lstStyle/>
          <a:p>
            <a:r>
              <a:rPr lang="en-US" dirty="0"/>
              <a:t>HW/SW Co-design : Butterfly Operation</a:t>
            </a:r>
          </a:p>
        </p:txBody>
      </p:sp>
      <p:sp>
        <p:nvSpPr>
          <p:cNvPr id="4" name="Footer Placeholder 3">
            <a:extLst>
              <a:ext uri="{FF2B5EF4-FFF2-40B4-BE49-F238E27FC236}">
                <a16:creationId xmlns:a16="http://schemas.microsoft.com/office/drawing/2014/main" id="{54B006C5-53F7-63A2-3001-CBD9FFC0A60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BB698A0-2B37-30C0-0AE6-9D7EB8583FF8}"/>
              </a:ext>
            </a:extLst>
          </p:cNvPr>
          <p:cNvSpPr>
            <a:spLocks noGrp="1"/>
          </p:cNvSpPr>
          <p:nvPr>
            <p:ph type="sldNum" sz="quarter" idx="4"/>
          </p:nvPr>
        </p:nvSpPr>
        <p:spPr/>
        <p:txBody>
          <a:bodyPr/>
          <a:lstStyle/>
          <a:p>
            <a:pPr>
              <a:defRPr/>
            </a:pPr>
            <a:fld id="{A9CE67A1-BA7F-A74E-B5D7-615746DEEC2B}" type="slidenum">
              <a:rPr lang="en-US" smtClean="0"/>
              <a:pPr>
                <a:defRPr/>
              </a:pPr>
              <a:t>93</a:t>
            </a:fld>
            <a:endParaRPr lang="en-US" baseline="-11000" dirty="0"/>
          </a:p>
        </p:txBody>
      </p:sp>
      <p:sp>
        <p:nvSpPr>
          <p:cNvPr id="6" name="Date Placeholder 5">
            <a:extLst>
              <a:ext uri="{FF2B5EF4-FFF2-40B4-BE49-F238E27FC236}">
                <a16:creationId xmlns:a16="http://schemas.microsoft.com/office/drawing/2014/main" id="{F082F3DF-261C-E927-DFF3-47D4276E1D5D}"/>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BAF64C95-4F2C-3B45-19D7-9E4267ADC399}"/>
                  </a:ext>
                </a:extLst>
              </p:cNvPr>
              <p:cNvSpPr txBox="1">
                <a:spLocks/>
              </p:cNvSpPr>
              <p:nvPr/>
            </p:nvSpPr>
            <p:spPr>
              <a:xfrm>
                <a:off x="161961" y="935336"/>
                <a:ext cx="11358000" cy="5919664"/>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Core Function:</a:t>
                </a:r>
                <a:r>
                  <a:rPr lang="en-US" sz="2000" dirty="0"/>
                  <a:t> </a:t>
                </a:r>
              </a:p>
              <a:p>
                <a:pPr lvl="1"/>
                <a:r>
                  <a:rPr lang="en-US" sz="1800" dirty="0"/>
                  <a:t>The accelerator executes the Radix-2 Decimation-in-Frequency (DIF) butterfly, the fundamental arithmetic building block of the FFT algorithm.</a:t>
                </a:r>
              </a:p>
              <a:p>
                <a:r>
                  <a:rPr lang="en-US" sz="2000" b="1" dirty="0">
                    <a:latin typeface="Barlow (Body)"/>
                  </a:rPr>
                  <a:t>Mathematical Formulation: </a:t>
                </a:r>
              </a:p>
              <a:p>
                <a:pPr marL="0" indent="0">
                  <a:buNone/>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rPr>
                        <m:t>𝑆𝑢𝑚</m:t>
                      </m:r>
                      <m:r>
                        <a:rPr lang="en-US" sz="2000" i="1">
                          <a:latin typeface="Cambria Math" panose="02040503050406030204" pitchFamily="18" charset="0"/>
                        </a:rPr>
                        <m:t>=</m:t>
                      </m:r>
                      <m:r>
                        <a:rPr lang="en-US" sz="2000" i="1">
                          <a:latin typeface="Cambria Math" panose="02040503050406030204" pitchFamily="18" charset="0"/>
                        </a:rPr>
                        <m:t>𝐿</m:t>
                      </m:r>
                      <m:r>
                        <a:rPr lang="en-US" sz="2000" i="1">
                          <a:latin typeface="Cambria Math" panose="02040503050406030204" pitchFamily="18" charset="0"/>
                        </a:rPr>
                        <m:t>+</m:t>
                      </m:r>
                      <m:r>
                        <a:rPr lang="en-US" sz="2000" i="1">
                          <a:latin typeface="Cambria Math" panose="02040503050406030204" pitchFamily="18" charset="0"/>
                        </a:rPr>
                        <m:t>𝑅</m:t>
                      </m:r>
                    </m:oMath>
                  </m:oMathPara>
                </a14:m>
                <a:endParaRPr lang="en-US" sz="2000" i="1" dirty="0">
                  <a:latin typeface="Barlow (Body)"/>
                </a:endParaRPr>
              </a:p>
              <a:p>
                <a:pPr marL="0" indent="0">
                  <a:buNone/>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rPr>
                        <m:t>𝐷𝑖𝑓𝑓</m:t>
                      </m:r>
                      <m:r>
                        <a:rPr lang="en-US" sz="2000" i="1">
                          <a:latin typeface="Cambria Math" panose="02040503050406030204" pitchFamily="18" charset="0"/>
                        </a:rPr>
                        <m:t>=</m:t>
                      </m:r>
                      <m:d>
                        <m:dPr>
                          <m:ctrlPr>
                            <a:rPr lang="ar-EG" sz="2000" i="1">
                              <a:latin typeface="Cambria Math" panose="02040503050406030204" pitchFamily="18" charset="0"/>
                            </a:rPr>
                          </m:ctrlPr>
                        </m:dPr>
                        <m:e>
                          <m:r>
                            <a:rPr lang="ar-EG" sz="2000" i="1">
                              <a:latin typeface="Cambria Math" panose="02040503050406030204" pitchFamily="18" charset="0"/>
                            </a:rPr>
                            <m:t>𝐿</m:t>
                          </m:r>
                          <m:r>
                            <a:rPr lang="ar-EG" sz="2000" i="1">
                              <a:latin typeface="Cambria Math" panose="02040503050406030204" pitchFamily="18" charset="0"/>
                            </a:rPr>
                            <m:t>−</m:t>
                          </m:r>
                          <m:r>
                            <a:rPr lang="ar-EG" sz="2000" i="1">
                              <a:latin typeface="Cambria Math" panose="02040503050406030204" pitchFamily="18" charset="0"/>
                            </a:rPr>
                            <m:t>𝑅</m:t>
                          </m:r>
                        </m:e>
                      </m:d>
                      <m:r>
                        <a:rPr lang="ar-EG" sz="2000" i="1">
                          <a:latin typeface="Cambria Math" panose="02040503050406030204" pitchFamily="18" charset="0"/>
                        </a:rPr>
                        <m:t>∗</m:t>
                      </m:r>
                      <m:r>
                        <a:rPr lang="ar-EG" sz="2000" i="1">
                          <a:latin typeface="Cambria Math" panose="02040503050406030204" pitchFamily="18" charset="0"/>
                        </a:rPr>
                        <m:t>𝑊</m:t>
                      </m:r>
                    </m:oMath>
                  </m:oMathPara>
                </a14:m>
                <a:endParaRPr lang="ar-EG" sz="2000" dirty="0">
                  <a:latin typeface="Barlow (Body)"/>
                </a:endParaRPr>
              </a:p>
              <a:p>
                <a:pPr marL="0" indent="0">
                  <a:buNone/>
                </a:pPr>
                <a:r>
                  <a:rPr lang="en-US" sz="1800" b="1" dirty="0">
                    <a:latin typeface="Barlow (Body)"/>
                  </a:rPr>
                  <a:t>Where</a:t>
                </a:r>
                <a:r>
                  <a:rPr lang="en-US" sz="1800" dirty="0">
                    <a:latin typeface="Barlow (Body)"/>
                  </a:rPr>
                  <a:t>: L,R : Complex input samples ,  W : Twiddle factor</a:t>
                </a:r>
              </a:p>
              <a:p>
                <a:r>
                  <a:rPr lang="en-US" sz="2000" b="1" dirty="0">
                    <a:latin typeface="Barlow (Body)"/>
                  </a:rPr>
                  <a:t>Functional Role in FFT:</a:t>
                </a:r>
              </a:p>
              <a:p>
                <a:pPr marL="742950" lvl="1"/>
                <a:r>
                  <a:rPr lang="en-US" sz="1800" dirty="0">
                    <a:latin typeface="Barlow (Body)"/>
                  </a:rPr>
                  <a:t>Combines input samples</a:t>
                </a:r>
              </a:p>
              <a:p>
                <a:pPr marL="742950" lvl="1"/>
                <a:r>
                  <a:rPr lang="en-US" sz="1800" dirty="0">
                    <a:latin typeface="Barlow (Body)"/>
                  </a:rPr>
                  <a:t>Applies twiddle rotation</a:t>
                </a:r>
              </a:p>
              <a:p>
                <a:pPr marL="742950" lvl="1"/>
                <a:r>
                  <a:rPr lang="en-US" sz="1800" dirty="0">
                    <a:latin typeface="Barlow (Body)"/>
                  </a:rPr>
                  <a:t>Produces intermediate FFT outputs</a:t>
                </a:r>
              </a:p>
              <a:p>
                <a:pPr marL="457200"/>
                <a:r>
                  <a:rPr lang="en-US" sz="2000" b="1" dirty="0"/>
                  <a:t>Hardware Role:</a:t>
                </a:r>
              </a:p>
              <a:p>
                <a:pPr marL="742950" lvl="1"/>
                <a:r>
                  <a:rPr lang="en-US" sz="1800" dirty="0"/>
                  <a:t> By offloading this highly repetitive equation to custom silicon, we relieve the processor from  complex arithmetic computations.</a:t>
                </a:r>
                <a:endParaRPr lang="en-US" sz="1800" dirty="0">
                  <a:latin typeface="Barlow (Body)"/>
                </a:endParaRPr>
              </a:p>
              <a:p>
                <a:pPr marL="0" indent="0">
                  <a:buNone/>
                </a:pPr>
                <a:endParaRPr lang="en-US" sz="1800" dirty="0">
                  <a:latin typeface="Barlow (Body)"/>
                </a:endParaRPr>
              </a:p>
              <a:p>
                <a:pPr marL="742950" lvl="1"/>
                <a:endParaRPr lang="en-US" sz="1800" dirty="0">
                  <a:latin typeface="Barlow (Body)"/>
                </a:endParaRPr>
              </a:p>
            </p:txBody>
          </p:sp>
        </mc:Choice>
        <mc:Fallback xmlns="">
          <p:sp>
            <p:nvSpPr>
              <p:cNvPr id="2" name="Content Placeholder 2">
                <a:extLst>
                  <a:ext uri="{FF2B5EF4-FFF2-40B4-BE49-F238E27FC236}">
                    <a16:creationId xmlns:a16="http://schemas.microsoft.com/office/drawing/2014/main" id="{BAF64C95-4F2C-3B45-19D7-9E4267ADC399}"/>
                  </a:ext>
                </a:extLst>
              </p:cNvPr>
              <p:cNvSpPr txBox="1">
                <a:spLocks noRot="1" noChangeAspect="1" noMove="1" noResize="1" noEditPoints="1" noAdjustHandles="1" noChangeArrowheads="1" noChangeShapeType="1" noTextEdit="1"/>
              </p:cNvSpPr>
              <p:nvPr/>
            </p:nvSpPr>
            <p:spPr>
              <a:xfrm>
                <a:off x="161961" y="935336"/>
                <a:ext cx="11358000" cy="5919664"/>
              </a:xfrm>
              <a:prstGeom prst="rect">
                <a:avLst/>
              </a:prstGeom>
              <a:blipFill>
                <a:blip r:embed="rId2"/>
                <a:stretch>
                  <a:fillRect l="-483" t="-102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5D9A9FF-8BC7-7161-3C06-8E501A224A56}"/>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96B62056-2E4E-CC28-0446-E50D56CAC7A0}"/>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A6B46DF3-622B-FE4B-295F-67B6D490A3B6}"/>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alpha val="20000"/>
                  </a:schemeClr>
                </a:solidFill>
              </a:rPr>
              <a:t>RTL Design</a:t>
            </a:r>
          </a:p>
        </p:txBody>
      </p:sp>
      <p:sp>
        <p:nvSpPr>
          <p:cNvPr id="11" name="TextBox 10">
            <a:extLst>
              <a:ext uri="{FF2B5EF4-FFF2-40B4-BE49-F238E27FC236}">
                <a16:creationId xmlns:a16="http://schemas.microsoft.com/office/drawing/2014/main" id="{46E2E024-7BB7-5928-1523-9BA12F5F52E8}"/>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2" name="TextBox 11">
            <a:extLst>
              <a:ext uri="{FF2B5EF4-FFF2-40B4-BE49-F238E27FC236}">
                <a16:creationId xmlns:a16="http://schemas.microsoft.com/office/drawing/2014/main" id="{C45AC26C-8C71-10B4-3DA7-5D1572346CCA}"/>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3" name="TextBox 12">
            <a:extLst>
              <a:ext uri="{FF2B5EF4-FFF2-40B4-BE49-F238E27FC236}">
                <a16:creationId xmlns:a16="http://schemas.microsoft.com/office/drawing/2014/main" id="{9695E096-70BF-5B44-7F0E-3332D6AFE977}"/>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4" name="TextBox 13">
            <a:extLst>
              <a:ext uri="{FF2B5EF4-FFF2-40B4-BE49-F238E27FC236}">
                <a16:creationId xmlns:a16="http://schemas.microsoft.com/office/drawing/2014/main" id="{34EA74C3-2B32-CD27-94BF-A0EAC2A75684}"/>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5" name="TextBox 14">
            <a:extLst>
              <a:ext uri="{FF2B5EF4-FFF2-40B4-BE49-F238E27FC236}">
                <a16:creationId xmlns:a16="http://schemas.microsoft.com/office/drawing/2014/main" id="{BBED9D8B-BE3F-6D65-680A-E081F6E6ABE8}"/>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6" name="TextBox 15">
            <a:extLst>
              <a:ext uri="{FF2B5EF4-FFF2-40B4-BE49-F238E27FC236}">
                <a16:creationId xmlns:a16="http://schemas.microsoft.com/office/drawing/2014/main" id="{5638BD1B-8ADE-E4F4-123D-89E548EE8C3D}"/>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spTree>
    <p:extLst>
      <p:ext uri="{BB962C8B-B14F-4D97-AF65-F5344CB8AC3E}">
        <p14:creationId xmlns:p14="http://schemas.microsoft.com/office/powerpoint/2010/main" val="12824229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fade">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fade">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fade">
                                      <p:cBhvr>
                                        <p:cTn id="62"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24D9D-3CD9-720F-EB4D-11BFD847CB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B672C4-4CF6-A816-D79F-363B70BB59EC}"/>
              </a:ext>
            </a:extLst>
          </p:cNvPr>
          <p:cNvSpPr>
            <a:spLocks noGrp="1"/>
          </p:cNvSpPr>
          <p:nvPr>
            <p:ph type="title"/>
          </p:nvPr>
        </p:nvSpPr>
        <p:spPr>
          <a:xfrm>
            <a:off x="342901" y="219456"/>
            <a:ext cx="10287001" cy="470898"/>
          </a:xfrm>
        </p:spPr>
        <p:txBody>
          <a:bodyPr/>
          <a:lstStyle/>
          <a:p>
            <a:r>
              <a:rPr lang="en-US" dirty="0"/>
              <a:t>HW/SW Co-design : RTL Design</a:t>
            </a:r>
          </a:p>
        </p:txBody>
      </p:sp>
      <p:sp>
        <p:nvSpPr>
          <p:cNvPr id="4" name="Footer Placeholder 3">
            <a:extLst>
              <a:ext uri="{FF2B5EF4-FFF2-40B4-BE49-F238E27FC236}">
                <a16:creationId xmlns:a16="http://schemas.microsoft.com/office/drawing/2014/main" id="{CEBB6B37-2709-BBAD-EDC1-811892CACC6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1547BDB-1129-A7C3-A45B-B366D3D6652F}"/>
              </a:ext>
            </a:extLst>
          </p:cNvPr>
          <p:cNvSpPr>
            <a:spLocks noGrp="1"/>
          </p:cNvSpPr>
          <p:nvPr>
            <p:ph type="sldNum" sz="quarter" idx="4"/>
          </p:nvPr>
        </p:nvSpPr>
        <p:spPr/>
        <p:txBody>
          <a:bodyPr/>
          <a:lstStyle/>
          <a:p>
            <a:pPr>
              <a:defRPr/>
            </a:pPr>
            <a:fld id="{A9CE67A1-BA7F-A74E-B5D7-615746DEEC2B}" type="slidenum">
              <a:rPr lang="en-US" smtClean="0"/>
              <a:pPr>
                <a:defRPr/>
              </a:pPr>
              <a:t>94</a:t>
            </a:fld>
            <a:endParaRPr lang="en-US" baseline="-11000" dirty="0"/>
          </a:p>
        </p:txBody>
      </p:sp>
      <p:sp>
        <p:nvSpPr>
          <p:cNvPr id="6" name="Date Placeholder 5">
            <a:extLst>
              <a:ext uri="{FF2B5EF4-FFF2-40B4-BE49-F238E27FC236}">
                <a16:creationId xmlns:a16="http://schemas.microsoft.com/office/drawing/2014/main" id="{EA76B5E5-F190-B468-62D0-E4049CF76B7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Content Placeholder 2">
            <a:extLst>
              <a:ext uri="{FF2B5EF4-FFF2-40B4-BE49-F238E27FC236}">
                <a16:creationId xmlns:a16="http://schemas.microsoft.com/office/drawing/2014/main" id="{B91B8598-7AA7-DB1B-A7A7-F9E5AA289737}"/>
              </a:ext>
            </a:extLst>
          </p:cNvPr>
          <p:cNvSpPr txBox="1">
            <a:spLocks/>
          </p:cNvSpPr>
          <p:nvPr/>
        </p:nvSpPr>
        <p:spPr>
          <a:xfrm>
            <a:off x="152129" y="882000"/>
            <a:ext cx="11358000" cy="572801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 Core blocks:</a:t>
            </a:r>
          </a:p>
          <a:p>
            <a:pPr marL="742950" lvl="1"/>
            <a:r>
              <a:rPr lang="en-US" sz="1800" dirty="0">
                <a:latin typeface="Barlow (Body)"/>
              </a:rPr>
              <a:t>Add/Subtract Units</a:t>
            </a:r>
          </a:p>
          <a:p>
            <a:pPr marL="742950" lvl="1"/>
            <a:r>
              <a:rPr lang="en-US" sz="1800" dirty="0">
                <a:latin typeface="Barlow (Body)"/>
              </a:rPr>
              <a:t>Karatsuba Multiplier</a:t>
            </a:r>
          </a:p>
          <a:p>
            <a:pPr marL="742950" lvl="1"/>
            <a:r>
              <a:rPr lang="en-US" sz="1800" dirty="0">
                <a:latin typeface="Barlow (Body)"/>
              </a:rPr>
              <a:t>Pipeline / Delay Alignment</a:t>
            </a:r>
          </a:p>
          <a:p>
            <a:r>
              <a:rPr lang="en-US" sz="2000" b="1" dirty="0">
                <a:latin typeface="Barlow (Body)"/>
              </a:rPr>
              <a:t>Supporting Modules Originally:</a:t>
            </a:r>
          </a:p>
          <a:p>
            <a:pPr marL="742950" lvl="1"/>
            <a:r>
              <a:rPr lang="en-US" sz="1800" dirty="0" err="1">
                <a:latin typeface="Barlow (Body)"/>
              </a:rPr>
              <a:t>bimpy</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rPr>
              <a:t>Base signed multiplier</a:t>
            </a:r>
          </a:p>
          <a:p>
            <a:pPr marL="742950" lvl="1"/>
            <a:r>
              <a:rPr lang="en-US" sz="1800" dirty="0" err="1">
                <a:latin typeface="Barlow (Body)"/>
              </a:rPr>
              <a:t>Longbimpy</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rPr>
              <a:t>Extended precision multiplier</a:t>
            </a:r>
          </a:p>
          <a:p>
            <a:pPr marL="1152525" lvl="2"/>
            <a:r>
              <a:rPr lang="en-US" dirty="0">
                <a:latin typeface="Barlow (Body)"/>
              </a:rPr>
              <a:t>Supports larger operand widths</a:t>
            </a:r>
          </a:p>
          <a:p>
            <a:pPr marL="742950" lvl="1"/>
            <a:r>
              <a:rPr lang="en-US" sz="1800" dirty="0" err="1">
                <a:latin typeface="Barlow (Body)"/>
              </a:rPr>
              <a:t>convround</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sym typeface="Wingdings" panose="05000000000000000000" pitchFamily="2" charset="2"/>
              </a:rPr>
              <a:t> </a:t>
            </a:r>
            <a:r>
              <a:rPr lang="en-US" dirty="0">
                <a:latin typeface="Barlow (Body)"/>
              </a:rPr>
              <a:t>Convergent rounding</a:t>
            </a:r>
          </a:p>
          <a:p>
            <a:pPr marL="638175"/>
            <a:r>
              <a:rPr lang="en-US" sz="2400" b="1" dirty="0">
                <a:latin typeface="Barlow (Body)"/>
              </a:rPr>
              <a:t> </a:t>
            </a:r>
            <a:r>
              <a:rPr lang="en-US" sz="2000" b="1" dirty="0">
                <a:latin typeface="Barlow (Body)"/>
              </a:rPr>
              <a:t>Currently Used</a:t>
            </a:r>
          </a:p>
          <a:p>
            <a:pPr marL="923925" lvl="1"/>
            <a:r>
              <a:rPr lang="en-US" sz="1800" dirty="0"/>
              <a:t>standard multiplication logic</a:t>
            </a:r>
            <a:endParaRPr lang="en-US" sz="1800" dirty="0">
              <a:latin typeface="Barlow (Body)"/>
            </a:endParaRPr>
          </a:p>
          <a:p>
            <a:pPr marL="742950" lvl="1"/>
            <a:endParaRPr lang="en-US" sz="1800" dirty="0">
              <a:latin typeface="Barlow (Body)"/>
            </a:endParaRPr>
          </a:p>
          <a:p>
            <a:endParaRPr lang="en-US" dirty="0"/>
          </a:p>
        </p:txBody>
      </p:sp>
      <p:sp>
        <p:nvSpPr>
          <p:cNvPr id="7" name="TextBox 6">
            <a:extLst>
              <a:ext uri="{FF2B5EF4-FFF2-40B4-BE49-F238E27FC236}">
                <a16:creationId xmlns:a16="http://schemas.microsoft.com/office/drawing/2014/main" id="{14A8D65F-ABFB-4174-3EE3-DDB01B8701C2}"/>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61ACE0AE-4BE9-A393-7161-BDB1DB35439B}"/>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0C4D4C48-E6D7-0448-A66E-42FB8826A169}"/>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2" name="TextBox 11">
            <a:extLst>
              <a:ext uri="{FF2B5EF4-FFF2-40B4-BE49-F238E27FC236}">
                <a16:creationId xmlns:a16="http://schemas.microsoft.com/office/drawing/2014/main" id="{1149015E-6F50-9EF4-B1CA-FDDAF3C2883F}"/>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3" name="TextBox 12">
            <a:extLst>
              <a:ext uri="{FF2B5EF4-FFF2-40B4-BE49-F238E27FC236}">
                <a16:creationId xmlns:a16="http://schemas.microsoft.com/office/drawing/2014/main" id="{82FC427A-774B-F7BE-D330-393036044B7D}"/>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4" name="TextBox 13">
            <a:extLst>
              <a:ext uri="{FF2B5EF4-FFF2-40B4-BE49-F238E27FC236}">
                <a16:creationId xmlns:a16="http://schemas.microsoft.com/office/drawing/2014/main" id="{7990C412-D29F-1B0C-AF51-2C13823D6F34}"/>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5" name="TextBox 14">
            <a:extLst>
              <a:ext uri="{FF2B5EF4-FFF2-40B4-BE49-F238E27FC236}">
                <a16:creationId xmlns:a16="http://schemas.microsoft.com/office/drawing/2014/main" id="{370BACF4-1CDC-7808-03C8-311357DB188C}"/>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6" name="TextBox 15">
            <a:extLst>
              <a:ext uri="{FF2B5EF4-FFF2-40B4-BE49-F238E27FC236}">
                <a16:creationId xmlns:a16="http://schemas.microsoft.com/office/drawing/2014/main" id="{4B7575F9-2705-598C-692D-EAF21148CF54}"/>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8" name="TextBox 17">
            <a:extLst>
              <a:ext uri="{FF2B5EF4-FFF2-40B4-BE49-F238E27FC236}">
                <a16:creationId xmlns:a16="http://schemas.microsoft.com/office/drawing/2014/main" id="{3891CFDE-D3AB-EA06-C940-5052E07AAFFA}"/>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pic>
        <p:nvPicPr>
          <p:cNvPr id="22" name="Picture 21">
            <a:extLst>
              <a:ext uri="{FF2B5EF4-FFF2-40B4-BE49-F238E27FC236}">
                <a16:creationId xmlns:a16="http://schemas.microsoft.com/office/drawing/2014/main" id="{92A0E095-1004-4CBC-B0B4-442F20C293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9716" y="1975803"/>
            <a:ext cx="6999384" cy="4510087"/>
          </a:xfrm>
          <a:prstGeom prst="rect">
            <a:avLst/>
          </a:prstGeom>
        </p:spPr>
      </p:pic>
    </p:spTree>
    <p:extLst>
      <p:ext uri="{BB962C8B-B14F-4D97-AF65-F5344CB8AC3E}">
        <p14:creationId xmlns:p14="http://schemas.microsoft.com/office/powerpoint/2010/main" val="3429229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fade">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fade">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fade">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fade">
                                      <p:cBhvr>
                                        <p:cTn id="47" dur="500"/>
                                        <p:tgtEl>
                                          <p:spTgt spid="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8" end="8"/>
                                            </p:txEl>
                                          </p:spTgt>
                                        </p:tgtEl>
                                        <p:attrNameLst>
                                          <p:attrName>style.visibility</p:attrName>
                                        </p:attrNameLst>
                                      </p:cBhvr>
                                      <p:to>
                                        <p:strVal val="visible"/>
                                      </p:to>
                                    </p:set>
                                    <p:animEffect transition="in" filter="fade">
                                      <p:cBhvr>
                                        <p:cTn id="52" dur="500"/>
                                        <p:tgtEl>
                                          <p:spTgt spid="2">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9" end="9"/>
                                            </p:txEl>
                                          </p:spTgt>
                                        </p:tgtEl>
                                        <p:attrNameLst>
                                          <p:attrName>style.visibility</p:attrName>
                                        </p:attrNameLst>
                                      </p:cBhvr>
                                      <p:to>
                                        <p:strVal val="visible"/>
                                      </p:to>
                                    </p:set>
                                    <p:animEffect transition="in" filter="fade">
                                      <p:cBhvr>
                                        <p:cTn id="57" dur="500"/>
                                        <p:tgtEl>
                                          <p:spTgt spid="2">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10" end="10"/>
                                            </p:txEl>
                                          </p:spTgt>
                                        </p:tgtEl>
                                        <p:attrNameLst>
                                          <p:attrName>style.visibility</p:attrName>
                                        </p:attrNameLst>
                                      </p:cBhvr>
                                      <p:to>
                                        <p:strVal val="visible"/>
                                      </p:to>
                                    </p:set>
                                    <p:animEffect transition="in" filter="fade">
                                      <p:cBhvr>
                                        <p:cTn id="62" dur="500"/>
                                        <p:tgtEl>
                                          <p:spTgt spid="2">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
                                            <p:txEl>
                                              <p:pRg st="11" end="11"/>
                                            </p:txEl>
                                          </p:spTgt>
                                        </p:tgtEl>
                                        <p:attrNameLst>
                                          <p:attrName>style.visibility</p:attrName>
                                        </p:attrNameLst>
                                      </p:cBhvr>
                                      <p:to>
                                        <p:strVal val="visible"/>
                                      </p:to>
                                    </p:set>
                                    <p:animEffect transition="in" filter="fade">
                                      <p:cBhvr>
                                        <p:cTn id="67" dur="500"/>
                                        <p:tgtEl>
                                          <p:spTgt spid="2">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
                                            <p:txEl>
                                              <p:pRg st="12" end="12"/>
                                            </p:txEl>
                                          </p:spTgt>
                                        </p:tgtEl>
                                        <p:attrNameLst>
                                          <p:attrName>style.visibility</p:attrName>
                                        </p:attrNameLst>
                                      </p:cBhvr>
                                      <p:to>
                                        <p:strVal val="visible"/>
                                      </p:to>
                                    </p:set>
                                    <p:animEffect transition="in" filter="fade">
                                      <p:cBhvr>
                                        <p:cTn id="72" dur="500"/>
                                        <p:tgtEl>
                                          <p:spTgt spid="2">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
                                            <p:txEl>
                                              <p:pRg st="13" end="13"/>
                                            </p:txEl>
                                          </p:spTgt>
                                        </p:tgtEl>
                                        <p:attrNameLst>
                                          <p:attrName>style.visibility</p:attrName>
                                        </p:attrNameLst>
                                      </p:cBhvr>
                                      <p:to>
                                        <p:strVal val="visible"/>
                                      </p:to>
                                    </p:set>
                                    <p:animEffect transition="in" filter="fade">
                                      <p:cBhvr>
                                        <p:cTn id="77"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21E58-EE89-4559-4EE5-F84000A380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638268-F2D4-E449-669B-BB834E9051FB}"/>
              </a:ext>
            </a:extLst>
          </p:cNvPr>
          <p:cNvSpPr>
            <a:spLocks noGrp="1"/>
          </p:cNvSpPr>
          <p:nvPr>
            <p:ph type="title"/>
          </p:nvPr>
        </p:nvSpPr>
        <p:spPr>
          <a:xfrm>
            <a:off x="342901" y="219456"/>
            <a:ext cx="10287001" cy="470898"/>
          </a:xfrm>
        </p:spPr>
        <p:txBody>
          <a:bodyPr/>
          <a:lstStyle/>
          <a:p>
            <a:r>
              <a:rPr lang="en-US" dirty="0"/>
              <a:t>HW/SW Co-design : Arithmetic Optimization</a:t>
            </a:r>
          </a:p>
        </p:txBody>
      </p:sp>
      <p:sp>
        <p:nvSpPr>
          <p:cNvPr id="4" name="Footer Placeholder 3">
            <a:extLst>
              <a:ext uri="{FF2B5EF4-FFF2-40B4-BE49-F238E27FC236}">
                <a16:creationId xmlns:a16="http://schemas.microsoft.com/office/drawing/2014/main" id="{A2E55BEB-AD60-AC68-1B23-84044BA798B0}"/>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5AE47D1-38D1-58C6-4B22-3D2A8B187594}"/>
              </a:ext>
            </a:extLst>
          </p:cNvPr>
          <p:cNvSpPr>
            <a:spLocks noGrp="1"/>
          </p:cNvSpPr>
          <p:nvPr>
            <p:ph type="sldNum" sz="quarter" idx="4"/>
          </p:nvPr>
        </p:nvSpPr>
        <p:spPr/>
        <p:txBody>
          <a:bodyPr/>
          <a:lstStyle/>
          <a:p>
            <a:pPr>
              <a:defRPr/>
            </a:pPr>
            <a:fld id="{A9CE67A1-BA7F-A74E-B5D7-615746DEEC2B}" type="slidenum">
              <a:rPr lang="en-US" smtClean="0"/>
              <a:pPr>
                <a:defRPr/>
              </a:pPr>
              <a:t>95</a:t>
            </a:fld>
            <a:endParaRPr lang="en-US" baseline="-11000" dirty="0"/>
          </a:p>
        </p:txBody>
      </p:sp>
      <p:sp>
        <p:nvSpPr>
          <p:cNvPr id="6" name="Date Placeholder 5">
            <a:extLst>
              <a:ext uri="{FF2B5EF4-FFF2-40B4-BE49-F238E27FC236}">
                <a16:creationId xmlns:a16="http://schemas.microsoft.com/office/drawing/2014/main" id="{6FB95E44-AB88-9F84-8B28-637FC8002DA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14C82CBA-511F-7493-4928-99B904F28F3B}"/>
              </a:ext>
            </a:extLst>
          </p:cNvPr>
          <p:cNvSpPr txBox="1">
            <a:spLocks/>
          </p:cNvSpPr>
          <p:nvPr/>
        </p:nvSpPr>
        <p:spPr>
          <a:xfrm>
            <a:off x="-15669" y="840065"/>
            <a:ext cx="5405188" cy="5695205"/>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The Hardware Challenge:</a:t>
            </a:r>
            <a:r>
              <a:rPr lang="en-US" sz="2000" dirty="0"/>
              <a:t> </a:t>
            </a:r>
          </a:p>
          <a:p>
            <a:pPr lvl="1"/>
            <a:r>
              <a:rPr lang="en-US" sz="1800" dirty="0"/>
              <a:t>Complex multiplication is the most expensive operation in our entire Datapath.</a:t>
            </a:r>
          </a:p>
          <a:p>
            <a:pPr lvl="1"/>
            <a:r>
              <a:rPr lang="en-US" sz="1800" dirty="0"/>
              <a:t> A standard complex multiply requires </a:t>
            </a:r>
            <a:r>
              <a:rPr lang="en-US" sz="1800" b="1" dirty="0"/>
              <a:t>4 real multipliers.</a:t>
            </a:r>
          </a:p>
          <a:p>
            <a:r>
              <a:rPr lang="en-US" sz="2000" b="1" dirty="0"/>
              <a:t>The Optimization : Karatsuba</a:t>
            </a:r>
            <a:r>
              <a:rPr lang="en-US" sz="2000" b="1" dirty="0">
                <a:latin typeface="Barlow (Body)"/>
              </a:rPr>
              <a:t> Algorithm</a:t>
            </a:r>
          </a:p>
          <a:p>
            <a:pPr marL="742950" lvl="1"/>
            <a:r>
              <a:rPr lang="en-US" sz="1800" dirty="0"/>
              <a:t>Reformulated the multiplication logic. we complete the math using only </a:t>
            </a:r>
            <a:r>
              <a:rPr lang="en-US" sz="1800" b="1" dirty="0"/>
              <a:t>3 real multipliers</a:t>
            </a:r>
            <a:r>
              <a:rPr lang="en-US" sz="1800" dirty="0"/>
              <a:t>.</a:t>
            </a:r>
            <a:endParaRPr lang="en-US" sz="1800" b="1" dirty="0">
              <a:latin typeface="Barlow (Body)"/>
            </a:endParaRPr>
          </a:p>
          <a:p>
            <a:r>
              <a:rPr lang="en-US" sz="2000" b="1" dirty="0">
                <a:latin typeface="Barlow (Body)"/>
              </a:rPr>
              <a:t>Benefits:</a:t>
            </a:r>
          </a:p>
          <a:p>
            <a:pPr marL="742950" lvl="1"/>
            <a:r>
              <a:rPr lang="en-US" sz="1800" dirty="0">
                <a:latin typeface="Barlow (Body)"/>
              </a:rPr>
              <a:t>Reduced multiplier count</a:t>
            </a:r>
          </a:p>
          <a:p>
            <a:pPr marL="742950" lvl="1"/>
            <a:r>
              <a:rPr lang="en-US" sz="1800" dirty="0">
                <a:latin typeface="Barlow (Body)"/>
              </a:rPr>
              <a:t>Lower hardware area and power</a:t>
            </a:r>
          </a:p>
          <a:p>
            <a:r>
              <a:rPr lang="en-US" sz="2000" b="1" dirty="0"/>
              <a:t>The Price:</a:t>
            </a:r>
            <a:r>
              <a:rPr lang="en-US" sz="2000" dirty="0"/>
              <a:t> </a:t>
            </a:r>
          </a:p>
          <a:p>
            <a:pPr lvl="1"/>
            <a:r>
              <a:rPr lang="en-US" sz="1800" dirty="0"/>
              <a:t>This approach requires adding extra Adders.</a:t>
            </a:r>
            <a:endParaRPr lang="en-US" sz="1800" b="1" dirty="0">
              <a:latin typeface="Barlow (Body)"/>
            </a:endParaRPr>
          </a:p>
        </p:txBody>
      </p:sp>
      <p:sp>
        <p:nvSpPr>
          <p:cNvPr id="2" name="TextBox 1">
            <a:extLst>
              <a:ext uri="{FF2B5EF4-FFF2-40B4-BE49-F238E27FC236}">
                <a16:creationId xmlns:a16="http://schemas.microsoft.com/office/drawing/2014/main" id="{2F5E0421-E361-D842-FBAB-35200FA22195}"/>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9" name="TextBox 8">
            <a:extLst>
              <a:ext uri="{FF2B5EF4-FFF2-40B4-BE49-F238E27FC236}">
                <a16:creationId xmlns:a16="http://schemas.microsoft.com/office/drawing/2014/main" id="{89C61F9B-D91B-E3E1-1C7C-9CCDD944F07F}"/>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10" name="TextBox 9">
            <a:extLst>
              <a:ext uri="{FF2B5EF4-FFF2-40B4-BE49-F238E27FC236}">
                <a16:creationId xmlns:a16="http://schemas.microsoft.com/office/drawing/2014/main" id="{F67ECE01-9AA9-8C65-7A20-F0DED75B3336}"/>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2" name="TextBox 11">
            <a:extLst>
              <a:ext uri="{FF2B5EF4-FFF2-40B4-BE49-F238E27FC236}">
                <a16:creationId xmlns:a16="http://schemas.microsoft.com/office/drawing/2014/main" id="{23351F9B-2C50-C2C7-F4AF-6F0FA2063FD1}"/>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3" name="TextBox 12">
            <a:extLst>
              <a:ext uri="{FF2B5EF4-FFF2-40B4-BE49-F238E27FC236}">
                <a16:creationId xmlns:a16="http://schemas.microsoft.com/office/drawing/2014/main" id="{1963BCD5-36B0-BEC9-0C9D-64C287B604AB}"/>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4" name="TextBox 13">
            <a:extLst>
              <a:ext uri="{FF2B5EF4-FFF2-40B4-BE49-F238E27FC236}">
                <a16:creationId xmlns:a16="http://schemas.microsoft.com/office/drawing/2014/main" id="{C3FFEA57-6B8A-253B-D4F8-12F5B40203A7}"/>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5" name="TextBox 14">
            <a:extLst>
              <a:ext uri="{FF2B5EF4-FFF2-40B4-BE49-F238E27FC236}">
                <a16:creationId xmlns:a16="http://schemas.microsoft.com/office/drawing/2014/main" id="{4459A1AA-2D7F-0365-5D57-1A89C8B940B2}"/>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6" name="TextBox 15">
            <a:extLst>
              <a:ext uri="{FF2B5EF4-FFF2-40B4-BE49-F238E27FC236}">
                <a16:creationId xmlns:a16="http://schemas.microsoft.com/office/drawing/2014/main" id="{5683D731-2FE7-1CAF-DD20-AEC1E756FE03}"/>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7" name="TextBox 16">
            <a:extLst>
              <a:ext uri="{FF2B5EF4-FFF2-40B4-BE49-F238E27FC236}">
                <a16:creationId xmlns:a16="http://schemas.microsoft.com/office/drawing/2014/main" id="{62A1B3B0-A7A4-8AE0-106E-A62316B593C4}"/>
              </a:ext>
            </a:extLst>
          </p:cNvPr>
          <p:cNvSpPr txBox="1"/>
          <p:nvPr/>
        </p:nvSpPr>
        <p:spPr>
          <a:xfrm>
            <a:off x="355266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pic>
        <p:nvPicPr>
          <p:cNvPr id="18" name="Picture 17">
            <a:extLst>
              <a:ext uri="{FF2B5EF4-FFF2-40B4-BE49-F238E27FC236}">
                <a16:creationId xmlns:a16="http://schemas.microsoft.com/office/drawing/2014/main" id="{E00BD0CE-A523-473A-B2DA-9C1A3686E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8034" y="1162444"/>
            <a:ext cx="6659154" cy="5324475"/>
          </a:xfrm>
          <a:prstGeom prst="rect">
            <a:avLst/>
          </a:prstGeom>
        </p:spPr>
      </p:pic>
    </p:spTree>
    <p:extLst>
      <p:ext uri="{BB962C8B-B14F-4D97-AF65-F5344CB8AC3E}">
        <p14:creationId xmlns:p14="http://schemas.microsoft.com/office/powerpoint/2010/main" val="25019697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Effect transition="in" filter="fade">
                                      <p:cBhvr>
                                        <p:cTn id="37" dur="500"/>
                                        <p:tgtEl>
                                          <p:spTgt spid="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6" end="6"/>
                                            </p:txEl>
                                          </p:spTgt>
                                        </p:tgtEl>
                                        <p:attrNameLst>
                                          <p:attrName>style.visibility</p:attrName>
                                        </p:attrNameLst>
                                      </p:cBhvr>
                                      <p:to>
                                        <p:strVal val="visible"/>
                                      </p:to>
                                    </p:set>
                                    <p:animEffect transition="in" filter="fade">
                                      <p:cBhvr>
                                        <p:cTn id="42" dur="500"/>
                                        <p:tgtEl>
                                          <p:spTgt spid="7">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7" end="7"/>
                                            </p:txEl>
                                          </p:spTgt>
                                        </p:tgtEl>
                                        <p:attrNameLst>
                                          <p:attrName>style.visibility</p:attrName>
                                        </p:attrNameLst>
                                      </p:cBhvr>
                                      <p:to>
                                        <p:strVal val="visible"/>
                                      </p:to>
                                    </p:set>
                                    <p:animEffect transition="in" filter="fade">
                                      <p:cBhvr>
                                        <p:cTn id="47" dur="500"/>
                                        <p:tgtEl>
                                          <p:spTgt spid="7">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8" end="8"/>
                                            </p:txEl>
                                          </p:spTgt>
                                        </p:tgtEl>
                                        <p:attrNameLst>
                                          <p:attrName>style.visibility</p:attrName>
                                        </p:attrNameLst>
                                      </p:cBhvr>
                                      <p:to>
                                        <p:strVal val="visible"/>
                                      </p:to>
                                    </p:set>
                                    <p:animEffect transition="in" filter="fade">
                                      <p:cBhvr>
                                        <p:cTn id="52" dur="500"/>
                                        <p:tgtEl>
                                          <p:spTgt spid="7">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xEl>
                                              <p:pRg st="9" end="9"/>
                                            </p:txEl>
                                          </p:spTgt>
                                        </p:tgtEl>
                                        <p:attrNameLst>
                                          <p:attrName>style.visibility</p:attrName>
                                        </p:attrNameLst>
                                      </p:cBhvr>
                                      <p:to>
                                        <p:strVal val="visible"/>
                                      </p:to>
                                    </p:set>
                                    <p:animEffect transition="in" filter="fade">
                                      <p:cBhvr>
                                        <p:cTn id="57"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Pipeline Alignment</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96</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211122" y="827207"/>
            <a:ext cx="5178396" cy="5725913"/>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Motivation:</a:t>
            </a:r>
          </a:p>
          <a:p>
            <a:pPr marL="742950" lvl="1"/>
            <a:r>
              <a:rPr lang="en-US" sz="1800" dirty="0">
                <a:latin typeface="Barlow (Body)"/>
              </a:rPr>
              <a:t>Multiplier introduces computation latency</a:t>
            </a:r>
          </a:p>
          <a:p>
            <a:pPr marL="742950" lvl="1"/>
            <a:r>
              <a:rPr lang="en-US" sz="1800" dirty="0">
                <a:latin typeface="Barlow (Body)"/>
              </a:rPr>
              <a:t>Addition path is faster</a:t>
            </a:r>
          </a:p>
          <a:p>
            <a:pPr marL="742950" lvl="1"/>
            <a:r>
              <a:rPr lang="en-US" sz="1800" dirty="0">
                <a:latin typeface="Barlow (Body)"/>
              </a:rPr>
              <a:t>Outputs must remain time-aligned</a:t>
            </a:r>
          </a:p>
          <a:p>
            <a:r>
              <a:rPr lang="en-US" sz="2000" b="1" dirty="0">
                <a:latin typeface="Barlow (Body)"/>
              </a:rPr>
              <a:t>Implemented Solution:</a:t>
            </a:r>
          </a:p>
          <a:p>
            <a:pPr marL="742950" lvl="1"/>
            <a:r>
              <a:rPr lang="en-US" sz="1800" dirty="0">
                <a:latin typeface="Barlow (Body)"/>
              </a:rPr>
              <a:t>Auxiliary Signal Propagation</a:t>
            </a:r>
          </a:p>
          <a:p>
            <a:r>
              <a:rPr lang="en-US" sz="2000" b="1" dirty="0">
                <a:latin typeface="Barlow (Body)"/>
              </a:rPr>
              <a:t>Result:</a:t>
            </a:r>
          </a:p>
          <a:p>
            <a:pPr marL="742950" lvl="1"/>
            <a:r>
              <a:rPr lang="en-US" sz="1800" dirty="0"/>
              <a:t>The faster mathematical path is  delayed to match the slower paths, ensuring the Sum and Difference outputs are aligned.</a:t>
            </a:r>
          </a:p>
          <a:p>
            <a:pPr marL="457200" lvl="1" indent="0">
              <a:buNone/>
            </a:pPr>
            <a:endParaRPr lang="en-US" sz="1800" dirty="0">
              <a:latin typeface="Barlow (Body)"/>
            </a:endParaRPr>
          </a:p>
        </p:txBody>
      </p:sp>
      <p:sp>
        <p:nvSpPr>
          <p:cNvPr id="7" name="TextBox 6">
            <a:extLst>
              <a:ext uri="{FF2B5EF4-FFF2-40B4-BE49-F238E27FC236}">
                <a16:creationId xmlns:a16="http://schemas.microsoft.com/office/drawing/2014/main" id="{7326F43F-7C5A-52BD-4824-1F6F8F16D2C2}"/>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B0F8D86E-2BFF-2D02-25B1-E5A10DC19A0B}"/>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34CEF4AB-BD0B-72C4-3633-5544D103DD71}"/>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0" name="TextBox 9">
            <a:extLst>
              <a:ext uri="{FF2B5EF4-FFF2-40B4-BE49-F238E27FC236}">
                <a16:creationId xmlns:a16="http://schemas.microsoft.com/office/drawing/2014/main" id="{D102FA44-520F-A21D-3362-3A2A01BFA5DE}"/>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11" name="TextBox 10">
            <a:extLst>
              <a:ext uri="{FF2B5EF4-FFF2-40B4-BE49-F238E27FC236}">
                <a16:creationId xmlns:a16="http://schemas.microsoft.com/office/drawing/2014/main" id="{0B59BBF2-EFB8-CF89-6273-0B4E595EC0D9}"/>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2" name="TextBox 11">
            <a:extLst>
              <a:ext uri="{FF2B5EF4-FFF2-40B4-BE49-F238E27FC236}">
                <a16:creationId xmlns:a16="http://schemas.microsoft.com/office/drawing/2014/main" id="{D5116BBB-1029-DAD5-A491-F415F53EEB60}"/>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3" name="TextBox 12">
            <a:extLst>
              <a:ext uri="{FF2B5EF4-FFF2-40B4-BE49-F238E27FC236}">
                <a16:creationId xmlns:a16="http://schemas.microsoft.com/office/drawing/2014/main" id="{1B3C812A-B261-7B85-B247-D312893EE85C}"/>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4" name="TextBox 13">
            <a:extLst>
              <a:ext uri="{FF2B5EF4-FFF2-40B4-BE49-F238E27FC236}">
                <a16:creationId xmlns:a16="http://schemas.microsoft.com/office/drawing/2014/main" id="{9AE2C567-10ED-E097-0D0D-2E21E8E08F24}"/>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5" name="TextBox 14">
            <a:extLst>
              <a:ext uri="{FF2B5EF4-FFF2-40B4-BE49-F238E27FC236}">
                <a16:creationId xmlns:a16="http://schemas.microsoft.com/office/drawing/2014/main" id="{FE6570E7-8C83-B285-A4CE-A20EB93F4260}"/>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pic>
        <p:nvPicPr>
          <p:cNvPr id="17" name="Picture 16">
            <a:extLst>
              <a:ext uri="{FF2B5EF4-FFF2-40B4-BE49-F238E27FC236}">
                <a16:creationId xmlns:a16="http://schemas.microsoft.com/office/drawing/2014/main" id="{F58C6877-44AF-40E7-8B30-1A699B57EF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8750" y="1285876"/>
            <a:ext cx="6413936" cy="5033962"/>
          </a:xfrm>
          <a:prstGeom prst="rect">
            <a:avLst/>
          </a:prstGeom>
          <a:solidFill>
            <a:srgbClr val="FFFFFF">
              <a:shade val="85000"/>
            </a:srgbClr>
          </a:solidFill>
          <a:ln w="88900" cap="sq">
            <a:solidFill>
              <a:srgbClr val="FFFFFF"/>
            </a:solidFill>
            <a:prstDash val="solid"/>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86581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25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fade">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fade">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fade">
                                      <p:cBhvr>
                                        <p:cTn id="4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a:t>
            </a:r>
            <a:r>
              <a:rPr lang="it-IT" dirty="0"/>
              <a:t>PULP Intergation</a:t>
            </a:r>
            <a:endParaRPr lang="en-US" dirty="0"/>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97</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213385" y="804863"/>
            <a:ext cx="6099086" cy="5808155"/>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Objective:</a:t>
            </a:r>
          </a:p>
          <a:p>
            <a:pPr marL="742950" lvl="1"/>
            <a:r>
              <a:rPr lang="en-US" sz="1800" dirty="0">
                <a:latin typeface="Barlow (Body)"/>
              </a:rPr>
              <a:t>Expose the butterfly accelerator as a </a:t>
            </a:r>
            <a:r>
              <a:rPr lang="en-US" sz="1800" b="1" dirty="0">
                <a:latin typeface="Barlow (Body)"/>
              </a:rPr>
              <a:t>memory-mapped AXI peripheral</a:t>
            </a:r>
            <a:r>
              <a:rPr lang="en-US" sz="1800" dirty="0">
                <a:latin typeface="Barlow (Body)"/>
              </a:rPr>
              <a:t> within the PULP </a:t>
            </a:r>
            <a:r>
              <a:rPr lang="en-US" sz="1800" dirty="0" err="1">
                <a:latin typeface="Barlow (Body)"/>
              </a:rPr>
              <a:t>SoC.</a:t>
            </a:r>
            <a:endParaRPr lang="en-US" sz="2000" b="1" dirty="0"/>
          </a:p>
          <a:p>
            <a:pPr marL="0" indent="0" algn="ctr">
              <a:buNone/>
            </a:pPr>
            <a:r>
              <a:rPr lang="en-US" sz="2000" b="1" dirty="0"/>
              <a:t>Pulp Architecture Overview</a:t>
            </a:r>
          </a:p>
          <a:p>
            <a:r>
              <a:rPr lang="en-US" sz="2000" b="1" dirty="0"/>
              <a:t>The TCDM:</a:t>
            </a:r>
          </a:p>
          <a:p>
            <a:pPr lvl="1"/>
            <a:r>
              <a:rPr lang="en-US" sz="1800" dirty="0"/>
              <a:t>Normal processors rely on invisible memory caches, which cause unpredictable delays.</a:t>
            </a:r>
          </a:p>
          <a:p>
            <a:pPr lvl="1"/>
            <a:r>
              <a:rPr lang="en-US" sz="1800" dirty="0"/>
              <a:t>PULP replaces caches with a </a:t>
            </a:r>
            <a:r>
              <a:rPr lang="en-US" sz="1800" b="1" dirty="0"/>
              <a:t>Tightly Coupled Data Memory (TCDM)</a:t>
            </a:r>
            <a:r>
              <a:rPr lang="en-US" sz="1800" dirty="0"/>
              <a:t>—a shared, ultra-fast scratchpad where Software must explicitly place data into the TCDM.</a:t>
            </a:r>
          </a:p>
          <a:p>
            <a:pPr lvl="2"/>
            <a:endParaRPr lang="en-US" sz="1600" dirty="0"/>
          </a:p>
          <a:p>
            <a:r>
              <a:rPr lang="en-US" sz="2000" b="1" dirty="0"/>
              <a:t>The System Actors:</a:t>
            </a:r>
            <a:endParaRPr lang="en-US" sz="2000" dirty="0"/>
          </a:p>
          <a:p>
            <a:pPr marL="800100" lvl="2" indent="-342900">
              <a:buFont typeface="+mj-lt"/>
              <a:buAutoNum type="arabicPeriod"/>
            </a:pPr>
            <a:r>
              <a:rPr lang="en-US" b="1" dirty="0"/>
              <a:t>Fabric Controller</a:t>
            </a:r>
          </a:p>
          <a:p>
            <a:pPr marL="800100" lvl="2" indent="-342900">
              <a:buFont typeface="+mj-lt"/>
              <a:buAutoNum type="arabicPeriod"/>
            </a:pPr>
            <a:r>
              <a:rPr lang="en-US" b="1" dirty="0"/>
              <a:t>Micro-DMA </a:t>
            </a:r>
          </a:p>
          <a:p>
            <a:pPr marL="800100" lvl="2" indent="-342900">
              <a:buFont typeface="+mj-lt"/>
              <a:buAutoNum type="arabicPeriod"/>
            </a:pPr>
            <a:r>
              <a:rPr lang="en-US" b="1" dirty="0"/>
              <a:t>Accelerators</a:t>
            </a:r>
            <a:endParaRPr lang="en-US" sz="2400" dirty="0"/>
          </a:p>
          <a:p>
            <a:endParaRPr lang="en-US" sz="2000" dirty="0"/>
          </a:p>
        </p:txBody>
      </p:sp>
      <p:pic>
        <p:nvPicPr>
          <p:cNvPr id="8" name="Picture 7">
            <a:extLst>
              <a:ext uri="{FF2B5EF4-FFF2-40B4-BE49-F238E27FC236}">
                <a16:creationId xmlns:a16="http://schemas.microsoft.com/office/drawing/2014/main" id="{62859778-EA1E-4FD4-B675-9BCED208FDB4}"/>
              </a:ext>
            </a:extLst>
          </p:cNvPr>
          <p:cNvPicPr>
            <a:picLocks noChangeAspect="1"/>
          </p:cNvPicPr>
          <p:nvPr/>
        </p:nvPicPr>
        <p:blipFill rotWithShape="1">
          <a:blip r:embed="rId3">
            <a:extLst>
              <a:ext uri="{28A0092B-C50C-407E-A947-70E740481C1C}">
                <a14:useLocalDpi xmlns:a14="http://schemas.microsoft.com/office/drawing/2010/main" val="0"/>
              </a:ext>
            </a:extLst>
          </a:blip>
          <a:srcRect r="56332"/>
          <a:stretch/>
        </p:blipFill>
        <p:spPr>
          <a:xfrm>
            <a:off x="6312471" y="1121204"/>
            <a:ext cx="5236722" cy="5405437"/>
          </a:xfrm>
          <a:prstGeom prst="rect">
            <a:avLst/>
          </a:prstGeom>
          <a:ln>
            <a:solidFill>
              <a:schemeClr val="tx1"/>
            </a:solidFill>
          </a:ln>
        </p:spPr>
      </p:pic>
      <p:sp>
        <p:nvSpPr>
          <p:cNvPr id="32" name="TextBox 31">
            <a:extLst>
              <a:ext uri="{FF2B5EF4-FFF2-40B4-BE49-F238E27FC236}">
                <a16:creationId xmlns:a16="http://schemas.microsoft.com/office/drawing/2014/main" id="{C145DB40-4237-4A2C-BECF-4853E2E2E038}"/>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33" name="TextBox 32">
            <a:extLst>
              <a:ext uri="{FF2B5EF4-FFF2-40B4-BE49-F238E27FC236}">
                <a16:creationId xmlns:a16="http://schemas.microsoft.com/office/drawing/2014/main" id="{6B27E7A8-2E2A-4878-8B49-AB6FA6B0B90D}"/>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34" name="TextBox 33">
            <a:extLst>
              <a:ext uri="{FF2B5EF4-FFF2-40B4-BE49-F238E27FC236}">
                <a16:creationId xmlns:a16="http://schemas.microsoft.com/office/drawing/2014/main" id="{9668C681-66B5-4FEF-88D1-B7D9CD14848D}"/>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35" name="TextBox 34">
            <a:extLst>
              <a:ext uri="{FF2B5EF4-FFF2-40B4-BE49-F238E27FC236}">
                <a16:creationId xmlns:a16="http://schemas.microsoft.com/office/drawing/2014/main" id="{2549EABD-BD19-4FEF-B997-7F43DC397E9F}"/>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36" name="TextBox 35">
            <a:extLst>
              <a:ext uri="{FF2B5EF4-FFF2-40B4-BE49-F238E27FC236}">
                <a16:creationId xmlns:a16="http://schemas.microsoft.com/office/drawing/2014/main" id="{802EC68D-8350-40A5-A13B-93B494893E93}"/>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37" name="TextBox 36">
            <a:extLst>
              <a:ext uri="{FF2B5EF4-FFF2-40B4-BE49-F238E27FC236}">
                <a16:creationId xmlns:a16="http://schemas.microsoft.com/office/drawing/2014/main" id="{4DCA1BA6-E625-4FB0-B9A6-B2F505789375}"/>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38" name="TextBox 37">
            <a:extLst>
              <a:ext uri="{FF2B5EF4-FFF2-40B4-BE49-F238E27FC236}">
                <a16:creationId xmlns:a16="http://schemas.microsoft.com/office/drawing/2014/main" id="{86E67116-88E8-4643-9D48-772E56B33DED}"/>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39" name="TextBox 38">
            <a:extLst>
              <a:ext uri="{FF2B5EF4-FFF2-40B4-BE49-F238E27FC236}">
                <a16:creationId xmlns:a16="http://schemas.microsoft.com/office/drawing/2014/main" id="{AB395587-E7BF-4BAC-BC4A-E4B636C7BF2E}"/>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40" name="TextBox 39">
            <a:extLst>
              <a:ext uri="{FF2B5EF4-FFF2-40B4-BE49-F238E27FC236}">
                <a16:creationId xmlns:a16="http://schemas.microsoft.com/office/drawing/2014/main" id="{2096C7EA-4DBA-4FA6-BAE2-13C8CDECAF00}"/>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1373481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fade">
                                      <p:cBhvr>
                                        <p:cTn id="27" dur="500"/>
                                        <p:tgtEl>
                                          <p:spTgt spid="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fade">
                                      <p:cBhvr>
                                        <p:cTn id="32" dur="500"/>
                                        <p:tgtEl>
                                          <p:spTgt spid="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Effect transition="in" filter="fade">
                                      <p:cBhvr>
                                        <p:cTn id="37" dur="500"/>
                                        <p:tgtEl>
                                          <p:spTgt spid="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fade">
                                      <p:cBhvr>
                                        <p:cTn id="47" dur="500"/>
                                        <p:tgtEl>
                                          <p:spTgt spid="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9" end="9"/>
                                            </p:txEl>
                                          </p:spTgt>
                                        </p:tgtEl>
                                        <p:attrNameLst>
                                          <p:attrName>style.visibility</p:attrName>
                                        </p:attrNameLst>
                                      </p:cBhvr>
                                      <p:to>
                                        <p:strVal val="visible"/>
                                      </p:to>
                                    </p:set>
                                    <p:animEffect transition="in" filter="fade">
                                      <p:cBhvr>
                                        <p:cTn id="52" dur="500"/>
                                        <p:tgtEl>
                                          <p:spTgt spid="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xEl>
                                              <p:pRg st="10" end="10"/>
                                            </p:txEl>
                                          </p:spTgt>
                                        </p:tgtEl>
                                        <p:attrNameLst>
                                          <p:attrName>style.visibility</p:attrName>
                                        </p:attrNameLst>
                                      </p:cBhvr>
                                      <p:to>
                                        <p:strVal val="visible"/>
                                      </p:to>
                                    </p:set>
                                    <p:animEffect transition="in" filter="fade">
                                      <p:cBhvr>
                                        <p:cTn id="57"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192561"/>
            <a:ext cx="10287001" cy="914096"/>
          </a:xfrm>
        </p:spPr>
        <p:txBody>
          <a:bodyPr/>
          <a:lstStyle/>
          <a:p>
            <a:r>
              <a:rPr lang="en-US" dirty="0"/>
              <a:t>HW/SW Co-design :Highway System – Interconnects and Arbitration</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98</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1" y="1231178"/>
            <a:ext cx="5427322" cy="556859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Two Separate Traffic Networks:</a:t>
            </a:r>
            <a:endParaRPr lang="en-US" sz="2000" dirty="0"/>
          </a:p>
          <a:p>
            <a:pPr lvl="1"/>
            <a:r>
              <a:rPr lang="en-US" sz="1800" b="1" dirty="0"/>
              <a:t>TCDM Interconnect:</a:t>
            </a:r>
            <a:r>
              <a:rPr lang="en-US" sz="1800" dirty="0"/>
              <a:t> reserved for fast operations, 1-cycle memory lookups.</a:t>
            </a:r>
          </a:p>
          <a:p>
            <a:pPr lvl="1"/>
            <a:r>
              <a:rPr lang="en-US" sz="1800" b="1" dirty="0"/>
              <a:t>AXI Crossbar:</a:t>
            </a:r>
            <a:r>
              <a:rPr lang="en-US" sz="1800" dirty="0"/>
              <a:t> Built for complex components that needs multiple cycles.</a:t>
            </a:r>
          </a:p>
          <a:p>
            <a:r>
              <a:rPr lang="en-US" sz="2000" b="1" dirty="0"/>
              <a:t>How Software Talks to Hardware:</a:t>
            </a:r>
            <a:endParaRPr lang="en-US" sz="2000" dirty="0"/>
          </a:p>
          <a:p>
            <a:pPr lvl="1"/>
            <a:r>
              <a:rPr lang="en-US" sz="1800" b="1" dirty="0"/>
              <a:t>Address-Based Routing: </a:t>
            </a:r>
            <a:r>
              <a:rPr lang="en-US" sz="1800" dirty="0"/>
              <a:t>Hardware doesn't have a name, only a memory address.</a:t>
            </a:r>
          </a:p>
          <a:p>
            <a:r>
              <a:rPr lang="en-US" sz="2000" b="1" dirty="0"/>
              <a:t>Two Paths of Communication: </a:t>
            </a:r>
          </a:p>
          <a:p>
            <a:pPr lvl="1"/>
            <a:r>
              <a:rPr lang="en-US" sz="1800" b="1" dirty="0"/>
              <a:t>The Control Path :</a:t>
            </a:r>
            <a:r>
              <a:rPr lang="en-US" sz="1800" dirty="0"/>
              <a:t>The FC configures the hardware by writing values  to these addresses.</a:t>
            </a:r>
          </a:p>
          <a:p>
            <a:pPr lvl="1"/>
            <a:r>
              <a:rPr lang="en-US" sz="1800" b="1" dirty="0"/>
              <a:t>The Data Path:</a:t>
            </a:r>
            <a:r>
              <a:rPr lang="en-US" sz="1800" dirty="0"/>
              <a:t> Pushing the heavy payloads to the hardware so it can begin computation.</a:t>
            </a:r>
            <a:endParaRPr lang="en-US" sz="1800" b="1" dirty="0"/>
          </a:p>
        </p:txBody>
      </p:sp>
      <p:pic>
        <p:nvPicPr>
          <p:cNvPr id="18" name="Picture 17">
            <a:extLst>
              <a:ext uri="{FF2B5EF4-FFF2-40B4-BE49-F238E27FC236}">
                <a16:creationId xmlns:a16="http://schemas.microsoft.com/office/drawing/2014/main" id="{F806F88B-6FAE-4A71-A686-252FB646BC9F}"/>
              </a:ext>
            </a:extLst>
          </p:cNvPr>
          <p:cNvPicPr>
            <a:picLocks noChangeAspect="1"/>
          </p:cNvPicPr>
          <p:nvPr/>
        </p:nvPicPr>
        <p:blipFill rotWithShape="1">
          <a:blip r:embed="rId3">
            <a:extLst>
              <a:ext uri="{28A0092B-C50C-407E-A947-70E740481C1C}">
                <a14:useLocalDpi xmlns:a14="http://schemas.microsoft.com/office/drawing/2010/main" val="0"/>
              </a:ext>
            </a:extLst>
          </a:blip>
          <a:srcRect l="5733"/>
          <a:stretch/>
        </p:blipFill>
        <p:spPr>
          <a:xfrm>
            <a:off x="5515429" y="1231178"/>
            <a:ext cx="5178665" cy="4264478"/>
          </a:xfrm>
          <a:prstGeom prst="rect">
            <a:avLst/>
          </a:prstGeom>
          <a:ln>
            <a:solidFill>
              <a:schemeClr val="tx1"/>
            </a:solidFill>
          </a:ln>
        </p:spPr>
      </p:pic>
      <p:cxnSp>
        <p:nvCxnSpPr>
          <p:cNvPr id="20" name="Connector: Elbow 19">
            <a:extLst>
              <a:ext uri="{FF2B5EF4-FFF2-40B4-BE49-F238E27FC236}">
                <a16:creationId xmlns:a16="http://schemas.microsoft.com/office/drawing/2014/main" id="{4FC0DB26-D053-4E6E-BC9E-AC3F28EA8CF2}"/>
              </a:ext>
            </a:extLst>
          </p:cNvPr>
          <p:cNvCxnSpPr>
            <a:cxnSpLocks/>
          </p:cNvCxnSpPr>
          <p:nvPr/>
        </p:nvCxnSpPr>
        <p:spPr>
          <a:xfrm>
            <a:off x="9121938" y="4948550"/>
            <a:ext cx="1188992" cy="315572"/>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sp>
        <p:nvSpPr>
          <p:cNvPr id="24" name="Rectangle 23">
            <a:extLst>
              <a:ext uri="{FF2B5EF4-FFF2-40B4-BE49-F238E27FC236}">
                <a16:creationId xmlns:a16="http://schemas.microsoft.com/office/drawing/2014/main" id="{A6BC945A-E576-482B-9B80-C72A58B21BA8}"/>
              </a:ext>
            </a:extLst>
          </p:cNvPr>
          <p:cNvSpPr/>
          <p:nvPr/>
        </p:nvSpPr>
        <p:spPr>
          <a:xfrm>
            <a:off x="10310930" y="4508645"/>
            <a:ext cx="1678972" cy="2031423"/>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7C47E55-5394-48B7-A926-39279E822BFC}"/>
              </a:ext>
            </a:extLst>
          </p:cNvPr>
          <p:cNvSpPr txBox="1"/>
          <p:nvPr/>
        </p:nvSpPr>
        <p:spPr>
          <a:xfrm>
            <a:off x="10542157" y="4657725"/>
            <a:ext cx="1285875" cy="324681"/>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2000" dirty="0">
                <a:solidFill>
                  <a:schemeClr val="bg1"/>
                </a:solidFill>
              </a:rPr>
              <a:t>Wrapper</a:t>
            </a:r>
          </a:p>
        </p:txBody>
      </p:sp>
      <p:sp>
        <p:nvSpPr>
          <p:cNvPr id="27" name="Rectangle 26">
            <a:extLst>
              <a:ext uri="{FF2B5EF4-FFF2-40B4-BE49-F238E27FC236}">
                <a16:creationId xmlns:a16="http://schemas.microsoft.com/office/drawing/2014/main" id="{F0CD9307-6146-48C2-9324-89C6FB33CF16}"/>
              </a:ext>
            </a:extLst>
          </p:cNvPr>
          <p:cNvSpPr/>
          <p:nvPr/>
        </p:nvSpPr>
        <p:spPr>
          <a:xfrm>
            <a:off x="10399036" y="5129178"/>
            <a:ext cx="1502760" cy="1233727"/>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7EF22F5F-6EF2-4BCB-B1A6-4CBA1A6CE528}"/>
              </a:ext>
            </a:extLst>
          </p:cNvPr>
          <p:cNvSpPr txBox="1"/>
          <p:nvPr/>
        </p:nvSpPr>
        <p:spPr>
          <a:xfrm>
            <a:off x="10596563" y="5498656"/>
            <a:ext cx="1285875" cy="66296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chemeClr val="bg1"/>
                </a:solidFill>
              </a:rPr>
              <a:t>Accelerator</a:t>
            </a:r>
          </a:p>
        </p:txBody>
      </p:sp>
      <p:sp>
        <p:nvSpPr>
          <p:cNvPr id="23" name="TextBox 22">
            <a:extLst>
              <a:ext uri="{FF2B5EF4-FFF2-40B4-BE49-F238E27FC236}">
                <a16:creationId xmlns:a16="http://schemas.microsoft.com/office/drawing/2014/main" id="{EAB947C0-8773-4B8C-A573-752BC34D1E14}"/>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25" name="TextBox 24">
            <a:extLst>
              <a:ext uri="{FF2B5EF4-FFF2-40B4-BE49-F238E27FC236}">
                <a16:creationId xmlns:a16="http://schemas.microsoft.com/office/drawing/2014/main" id="{3BC1ECDB-21A0-4F79-B38F-24576ED14E27}"/>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29" name="TextBox 28">
            <a:extLst>
              <a:ext uri="{FF2B5EF4-FFF2-40B4-BE49-F238E27FC236}">
                <a16:creationId xmlns:a16="http://schemas.microsoft.com/office/drawing/2014/main" id="{6FF0E94D-1078-459D-B593-DC2810194A11}"/>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30" name="TextBox 29">
            <a:extLst>
              <a:ext uri="{FF2B5EF4-FFF2-40B4-BE49-F238E27FC236}">
                <a16:creationId xmlns:a16="http://schemas.microsoft.com/office/drawing/2014/main" id="{03F90331-91AD-46CD-AF83-096BFC18DDDD}"/>
              </a:ext>
            </a:extLst>
          </p:cNvPr>
          <p:cNvSpPr txBox="1"/>
          <p:nvPr/>
        </p:nvSpPr>
        <p:spPr>
          <a:xfrm>
            <a:off x="4532372" y="6597981"/>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31" name="TextBox 30">
            <a:extLst>
              <a:ext uri="{FF2B5EF4-FFF2-40B4-BE49-F238E27FC236}">
                <a16:creationId xmlns:a16="http://schemas.microsoft.com/office/drawing/2014/main" id="{820F27F5-815A-48FA-A784-EAE450B65191}"/>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33" name="TextBox 32">
            <a:extLst>
              <a:ext uri="{FF2B5EF4-FFF2-40B4-BE49-F238E27FC236}">
                <a16:creationId xmlns:a16="http://schemas.microsoft.com/office/drawing/2014/main" id="{F3458713-1266-4556-884C-68555C90EB1F}"/>
              </a:ext>
            </a:extLst>
          </p:cNvPr>
          <p:cNvSpPr txBox="1"/>
          <p:nvPr/>
        </p:nvSpPr>
        <p:spPr>
          <a:xfrm>
            <a:off x="6983429" y="6616018"/>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34" name="TextBox 33">
            <a:extLst>
              <a:ext uri="{FF2B5EF4-FFF2-40B4-BE49-F238E27FC236}">
                <a16:creationId xmlns:a16="http://schemas.microsoft.com/office/drawing/2014/main" id="{AB9B73C9-20A7-4593-A849-4F744948C87E}"/>
              </a:ext>
            </a:extLst>
          </p:cNvPr>
          <p:cNvSpPr txBox="1"/>
          <p:nvPr/>
        </p:nvSpPr>
        <p:spPr>
          <a:xfrm>
            <a:off x="7999447" y="6608867"/>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35" name="TextBox 34">
            <a:extLst>
              <a:ext uri="{FF2B5EF4-FFF2-40B4-BE49-F238E27FC236}">
                <a16:creationId xmlns:a16="http://schemas.microsoft.com/office/drawing/2014/main" id="{CD6114AD-5195-48EC-AB25-88DA4A8769C7}"/>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
        <p:nvSpPr>
          <p:cNvPr id="36" name="TextBox 35">
            <a:extLst>
              <a:ext uri="{FF2B5EF4-FFF2-40B4-BE49-F238E27FC236}">
                <a16:creationId xmlns:a16="http://schemas.microsoft.com/office/drawing/2014/main" id="{07347420-E10E-4720-AB78-76F8454FDFB8}"/>
              </a:ext>
            </a:extLst>
          </p:cNvPr>
          <p:cNvSpPr txBox="1"/>
          <p:nvPr/>
        </p:nvSpPr>
        <p:spPr>
          <a:xfrm>
            <a:off x="6181699" y="6608035"/>
            <a:ext cx="1480035" cy="200055"/>
          </a:xfrm>
          <a:prstGeom prst="rect">
            <a:avLst/>
          </a:prstGeom>
          <a:noFill/>
        </p:spPr>
        <p:txBody>
          <a:bodyPr wrap="square">
            <a:spAutoFit/>
          </a:bodyPr>
          <a:lstStyle/>
          <a:p>
            <a:pPr lvl="1"/>
            <a:r>
              <a:rPr lang="en-US" sz="700" b="1" dirty="0">
                <a:solidFill>
                  <a:schemeClr val="bg1"/>
                </a:solidFill>
              </a:rPr>
              <a:t>SOC-Interconnect</a:t>
            </a:r>
          </a:p>
        </p:txBody>
      </p:sp>
    </p:spTree>
    <p:extLst>
      <p:ext uri="{BB962C8B-B14F-4D97-AF65-F5344CB8AC3E}">
        <p14:creationId xmlns:p14="http://schemas.microsoft.com/office/powerpoint/2010/main" val="31703127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5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7">
                                            <p:txEl>
                                              <p:pRg st="3" end="3"/>
                                            </p:txEl>
                                          </p:spTgt>
                                        </p:tgtEl>
                                        <p:attrNameLst>
                                          <p:attrName>style.visibility</p:attrName>
                                        </p:attrNameLst>
                                      </p:cBhvr>
                                      <p:to>
                                        <p:strVal val="visible"/>
                                      </p:to>
                                    </p:set>
                                    <p:animEffect transition="in" filter="fade">
                                      <p:cBhvr>
                                        <p:cTn id="50" dur="500"/>
                                        <p:tgtEl>
                                          <p:spTgt spid="7">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7">
                                            <p:txEl>
                                              <p:pRg st="4" end="4"/>
                                            </p:txEl>
                                          </p:spTgt>
                                        </p:tgtEl>
                                        <p:attrNameLst>
                                          <p:attrName>style.visibility</p:attrName>
                                        </p:attrNameLst>
                                      </p:cBhvr>
                                      <p:to>
                                        <p:strVal val="visible"/>
                                      </p:to>
                                    </p:set>
                                    <p:animEffect transition="in" filter="fade">
                                      <p:cBhvr>
                                        <p:cTn id="55" dur="500"/>
                                        <p:tgtEl>
                                          <p:spTgt spid="7">
                                            <p:txEl>
                                              <p:pRg st="4" end="4"/>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
                                            <p:txEl>
                                              <p:pRg st="5" end="5"/>
                                            </p:txEl>
                                          </p:spTgt>
                                        </p:tgtEl>
                                        <p:attrNameLst>
                                          <p:attrName>style.visibility</p:attrName>
                                        </p:attrNameLst>
                                      </p:cBhvr>
                                      <p:to>
                                        <p:strVal val="visible"/>
                                      </p:to>
                                    </p:set>
                                    <p:animEffect transition="in" filter="fade">
                                      <p:cBhvr>
                                        <p:cTn id="60" dur="500"/>
                                        <p:tgtEl>
                                          <p:spTgt spid="7">
                                            <p:txEl>
                                              <p:pRg st="5" end="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7">
                                            <p:txEl>
                                              <p:pRg st="6" end="6"/>
                                            </p:txEl>
                                          </p:spTgt>
                                        </p:tgtEl>
                                        <p:attrNameLst>
                                          <p:attrName>style.visibility</p:attrName>
                                        </p:attrNameLst>
                                      </p:cBhvr>
                                      <p:to>
                                        <p:strVal val="visible"/>
                                      </p:to>
                                    </p:set>
                                    <p:animEffect transition="in" filter="fade">
                                      <p:cBhvr>
                                        <p:cTn id="65" dur="500"/>
                                        <p:tgtEl>
                                          <p:spTgt spid="7">
                                            <p:txEl>
                                              <p:pRg st="6" end="6"/>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
                                            <p:txEl>
                                              <p:pRg st="7" end="7"/>
                                            </p:txEl>
                                          </p:spTgt>
                                        </p:tgtEl>
                                        <p:attrNameLst>
                                          <p:attrName>style.visibility</p:attrName>
                                        </p:attrNameLst>
                                      </p:cBhvr>
                                      <p:to>
                                        <p:strVal val="visible"/>
                                      </p:to>
                                    </p:set>
                                    <p:animEffect transition="in" filter="fade">
                                      <p:cBhvr>
                                        <p:cTn id="70"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p:bldP spid="27" grpId="0" animBg="1"/>
      <p:bldP spid="28"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The Translation Wrapper</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99</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1" y="901135"/>
            <a:ext cx="6869552" cy="5793937"/>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The Problem: AXI is Too Complex</a:t>
            </a:r>
            <a:endParaRPr lang="en-US" sz="2000" b="1" dirty="0">
              <a:latin typeface="Barlow (Body)"/>
            </a:endParaRPr>
          </a:p>
          <a:p>
            <a:pPr marL="742950" lvl="1"/>
            <a:r>
              <a:rPr lang="en-US" sz="1800" dirty="0"/>
              <a:t>Our custom accelerator doesn't know how to speak the complex AXI handshaking protocol.</a:t>
            </a:r>
          </a:p>
          <a:p>
            <a:pPr marL="457200"/>
            <a:r>
              <a:rPr lang="en-US" sz="2000" b="1" dirty="0"/>
              <a:t>Solution</a:t>
            </a:r>
          </a:p>
          <a:p>
            <a:pPr marL="742950" lvl="1"/>
            <a:r>
              <a:rPr lang="en-US" sz="1800" dirty="0"/>
              <a:t>Translate bus transactions into register-level control via wrapper</a:t>
            </a:r>
          </a:p>
          <a:p>
            <a:pPr marL="514350" indent="-342900"/>
            <a:r>
              <a:rPr lang="en-US" sz="2000" b="1" dirty="0"/>
              <a:t>The Blueprint (The .</a:t>
            </a:r>
            <a:r>
              <a:rPr lang="en-US" sz="2000" b="1" dirty="0" err="1"/>
              <a:t>hjson</a:t>
            </a:r>
            <a:r>
              <a:rPr lang="en-US" sz="2000" b="1" dirty="0"/>
              <a:t> file)</a:t>
            </a:r>
          </a:p>
          <a:p>
            <a:pPr marL="800100" lvl="1" indent="-342900"/>
            <a:r>
              <a:rPr lang="en-US" sz="1800" dirty="0"/>
              <a:t>A "contract" between software and hardware.</a:t>
            </a:r>
          </a:p>
          <a:p>
            <a:pPr marL="514350" indent="-342900"/>
            <a:r>
              <a:rPr lang="en-US" sz="2000" b="1" dirty="0"/>
              <a:t>The Protocol Downgrade :</a:t>
            </a:r>
          </a:p>
          <a:p>
            <a:pPr marL="800100" lvl="1" indent="-342900"/>
            <a:r>
              <a:rPr lang="en-US" sz="1800" dirty="0"/>
              <a:t>AXI </a:t>
            </a:r>
            <a:r>
              <a:rPr lang="en-US" sz="1800" dirty="0">
                <a:sym typeface="Wingdings" panose="05000000000000000000" pitchFamily="2" charset="2"/>
              </a:rPr>
              <a:t> Protocol Converter  REG_BUS</a:t>
            </a:r>
          </a:p>
          <a:p>
            <a:pPr marL="800100" lvl="1" indent="-342900"/>
            <a:r>
              <a:rPr lang="en-US" sz="1800" dirty="0"/>
              <a:t>REG_BUS </a:t>
            </a:r>
            <a:r>
              <a:rPr lang="en-US" sz="1800" dirty="0">
                <a:sym typeface="Wingdings" panose="05000000000000000000" pitchFamily="2" charset="2"/>
              </a:rPr>
              <a:t> Macros  Structs</a:t>
            </a:r>
          </a:p>
          <a:p>
            <a:pPr marL="514350" indent="-342900"/>
            <a:r>
              <a:rPr lang="en-US" sz="2000" b="1" dirty="0"/>
              <a:t>The Hardware Reality (.q , .</a:t>
            </a:r>
            <a:r>
              <a:rPr lang="en-US" sz="2000" b="1" dirty="0" err="1"/>
              <a:t>qe</a:t>
            </a:r>
            <a:r>
              <a:rPr lang="en-US" sz="2000" b="1" dirty="0"/>
              <a:t>, .d, .de) :</a:t>
            </a:r>
          </a:p>
          <a:p>
            <a:pPr marL="800100" lvl="1" indent="-342900"/>
            <a:r>
              <a:rPr lang="en-US" sz="1800" dirty="0"/>
              <a:t>The auto-generated register file unpacks those Structs into raw electrical wires:</a:t>
            </a:r>
          </a:p>
          <a:p>
            <a:pPr marL="1028700" lvl="2" indent="-342900"/>
            <a:r>
              <a:rPr lang="en-US" sz="1600" dirty="0"/>
              <a:t>.q : Stable Data,   .</a:t>
            </a:r>
            <a:r>
              <a:rPr lang="en-US" sz="1600" dirty="0" err="1"/>
              <a:t>qe</a:t>
            </a:r>
            <a:r>
              <a:rPr lang="en-US" sz="1600" dirty="0"/>
              <a:t>: The Spark (1-cycle trigger pulse)</a:t>
            </a:r>
          </a:p>
          <a:p>
            <a:pPr marL="1028700" lvl="2" indent="-342900"/>
            <a:r>
              <a:rPr lang="en-US" sz="1600" dirty="0"/>
              <a:t>.d : The Results from the hardware , .de : Data Enable.</a:t>
            </a:r>
          </a:p>
          <a:p>
            <a:pPr marL="457200" lvl="1" indent="0">
              <a:buNone/>
            </a:pPr>
            <a:endParaRPr lang="en-US" sz="1800" dirty="0">
              <a:latin typeface="Barlow (Body)"/>
            </a:endParaRPr>
          </a:p>
        </p:txBody>
      </p:sp>
      <p:pic>
        <p:nvPicPr>
          <p:cNvPr id="18" name="Picture 17">
            <a:extLst>
              <a:ext uri="{FF2B5EF4-FFF2-40B4-BE49-F238E27FC236}">
                <a16:creationId xmlns:a16="http://schemas.microsoft.com/office/drawing/2014/main" id="{AA0DB128-A10D-45E3-822F-8559C064F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4446" y="901135"/>
            <a:ext cx="4112772" cy="5692440"/>
          </a:xfrm>
          <a:prstGeom prst="rect">
            <a:avLst/>
          </a:prstGeom>
          <a:ln>
            <a:solidFill>
              <a:schemeClr val="tx1"/>
            </a:solidFill>
          </a:ln>
        </p:spPr>
      </p:pic>
      <p:sp>
        <p:nvSpPr>
          <p:cNvPr id="17" name="TextBox 16">
            <a:extLst>
              <a:ext uri="{FF2B5EF4-FFF2-40B4-BE49-F238E27FC236}">
                <a16:creationId xmlns:a16="http://schemas.microsoft.com/office/drawing/2014/main" id="{A2853CA5-69A9-4356-B22E-8B176F1C7838}"/>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19" name="TextBox 18">
            <a:extLst>
              <a:ext uri="{FF2B5EF4-FFF2-40B4-BE49-F238E27FC236}">
                <a16:creationId xmlns:a16="http://schemas.microsoft.com/office/drawing/2014/main" id="{6A54C459-2063-4D6A-BD8C-90EE5BAF0B0A}"/>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20" name="TextBox 19">
            <a:extLst>
              <a:ext uri="{FF2B5EF4-FFF2-40B4-BE49-F238E27FC236}">
                <a16:creationId xmlns:a16="http://schemas.microsoft.com/office/drawing/2014/main" id="{F8D59418-709E-4A91-9252-82E74B2D9BEC}"/>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21" name="TextBox 20">
            <a:extLst>
              <a:ext uri="{FF2B5EF4-FFF2-40B4-BE49-F238E27FC236}">
                <a16:creationId xmlns:a16="http://schemas.microsoft.com/office/drawing/2014/main" id="{1A9516CB-C5F0-4480-80FE-CF4A704CB213}"/>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22" name="TextBox 21">
            <a:extLst>
              <a:ext uri="{FF2B5EF4-FFF2-40B4-BE49-F238E27FC236}">
                <a16:creationId xmlns:a16="http://schemas.microsoft.com/office/drawing/2014/main" id="{B56D267E-C1E5-4716-9480-C398107008B0}"/>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23" name="TextBox 22">
            <a:extLst>
              <a:ext uri="{FF2B5EF4-FFF2-40B4-BE49-F238E27FC236}">
                <a16:creationId xmlns:a16="http://schemas.microsoft.com/office/drawing/2014/main" id="{06E210E1-ABDD-4B50-B36E-AF411517706B}"/>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solidFill>
              </a:rPr>
              <a:t>Wrapper Architecture</a:t>
            </a:r>
          </a:p>
        </p:txBody>
      </p:sp>
      <p:sp>
        <p:nvSpPr>
          <p:cNvPr id="24" name="TextBox 23">
            <a:extLst>
              <a:ext uri="{FF2B5EF4-FFF2-40B4-BE49-F238E27FC236}">
                <a16:creationId xmlns:a16="http://schemas.microsoft.com/office/drawing/2014/main" id="{DA8285FB-0E5E-4095-9ED5-39CD8CC596E7}"/>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25" name="TextBox 24">
            <a:extLst>
              <a:ext uri="{FF2B5EF4-FFF2-40B4-BE49-F238E27FC236}">
                <a16:creationId xmlns:a16="http://schemas.microsoft.com/office/drawing/2014/main" id="{0D2268AB-ACC2-4A4B-9AFB-739A7833A88A}"/>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26" name="TextBox 25">
            <a:extLst>
              <a:ext uri="{FF2B5EF4-FFF2-40B4-BE49-F238E27FC236}">
                <a16:creationId xmlns:a16="http://schemas.microsoft.com/office/drawing/2014/main" id="{2181D16B-8A2E-4598-8BCA-92675355FDF9}"/>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221465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7" end="7"/>
                                            </p:txEl>
                                          </p:spTgt>
                                        </p:tgtEl>
                                        <p:attrNameLst>
                                          <p:attrName>style.visibility</p:attrName>
                                        </p:attrNameLst>
                                      </p:cBhvr>
                                      <p:to>
                                        <p:strVal val="visible"/>
                                      </p:to>
                                    </p:set>
                                    <p:animEffect transition="in" filter="fade">
                                      <p:cBhvr>
                                        <p:cTn id="47" dur="500"/>
                                        <p:tgtEl>
                                          <p:spTgt spid="7">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8" end="8"/>
                                            </p:txEl>
                                          </p:spTgt>
                                        </p:tgtEl>
                                        <p:attrNameLst>
                                          <p:attrName>style.visibility</p:attrName>
                                        </p:attrNameLst>
                                      </p:cBhvr>
                                      <p:to>
                                        <p:strVal val="visible"/>
                                      </p:to>
                                    </p:set>
                                    <p:animEffect transition="in" filter="fade">
                                      <p:cBhvr>
                                        <p:cTn id="52" dur="500"/>
                                        <p:tgtEl>
                                          <p:spTgt spid="7">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xEl>
                                              <p:pRg st="9" end="9"/>
                                            </p:txEl>
                                          </p:spTgt>
                                        </p:tgtEl>
                                        <p:attrNameLst>
                                          <p:attrName>style.visibility</p:attrName>
                                        </p:attrNameLst>
                                      </p:cBhvr>
                                      <p:to>
                                        <p:strVal val="visible"/>
                                      </p:to>
                                    </p:set>
                                    <p:animEffect transition="in" filter="fade">
                                      <p:cBhvr>
                                        <p:cTn id="57" dur="500"/>
                                        <p:tgtEl>
                                          <p:spTgt spid="7">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7">
                                            <p:txEl>
                                              <p:pRg st="10" end="10"/>
                                            </p:txEl>
                                          </p:spTgt>
                                        </p:tgtEl>
                                        <p:attrNameLst>
                                          <p:attrName>style.visibility</p:attrName>
                                        </p:attrNameLst>
                                      </p:cBhvr>
                                      <p:to>
                                        <p:strVal val="visible"/>
                                      </p:to>
                                    </p:set>
                                    <p:animEffect transition="in" filter="fade">
                                      <p:cBhvr>
                                        <p:cTn id="62" dur="500"/>
                                        <p:tgtEl>
                                          <p:spTgt spid="7">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
                                            <p:txEl>
                                              <p:pRg st="11" end="11"/>
                                            </p:txEl>
                                          </p:spTgt>
                                        </p:tgtEl>
                                        <p:attrNameLst>
                                          <p:attrName>style.visibility</p:attrName>
                                        </p:attrNameLst>
                                      </p:cBhvr>
                                      <p:to>
                                        <p:strVal val="visible"/>
                                      </p:to>
                                    </p:set>
                                    <p:animEffect transition="in" filter="fade">
                                      <p:cBhvr>
                                        <p:cTn id="67" dur="500"/>
                                        <p:tgtEl>
                                          <p:spTgt spid="7">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7">
                                            <p:txEl>
                                              <p:pRg st="12" end="12"/>
                                            </p:txEl>
                                          </p:spTgt>
                                        </p:tgtEl>
                                        <p:attrNameLst>
                                          <p:attrName>style.visibility</p:attrName>
                                        </p:attrNameLst>
                                      </p:cBhvr>
                                      <p:to>
                                        <p:strVal val="visible"/>
                                      </p:to>
                                    </p:set>
                                    <p:animEffect transition="in" filter="fade">
                                      <p:cBhvr>
                                        <p:cTn id="72"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Soc Modifications</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100</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1" y="763376"/>
            <a:ext cx="10235807"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Key Modifications:</a:t>
            </a:r>
          </a:p>
          <a:p>
            <a:pPr lvl="1"/>
            <a:r>
              <a:rPr lang="en-US" sz="1800" dirty="0">
                <a:latin typeface="Barlow (Body)"/>
              </a:rPr>
              <a:t>Instantiated the top-level wrapper inside the pulp_soc.sv.</a:t>
            </a:r>
          </a:p>
          <a:p>
            <a:pPr lvl="1"/>
            <a:r>
              <a:rPr lang="en-US" sz="1800" dirty="0">
                <a:latin typeface="Barlow (Body)"/>
              </a:rPr>
              <a:t>Added a dedicated AXI slave port to the system crossbar.</a:t>
            </a:r>
          </a:p>
          <a:p>
            <a:pPr lvl="1"/>
            <a:r>
              <a:rPr lang="en-US" sz="1800" dirty="0">
                <a:latin typeface="Barlow (Body)"/>
              </a:rPr>
              <a:t>Extended the AXI interconnect routing logic to accommodate the new peripheral.</a:t>
            </a:r>
          </a:p>
          <a:p>
            <a:pPr lvl="1"/>
            <a:r>
              <a:rPr lang="en-US" sz="1800" dirty="0">
                <a:latin typeface="Barlow (Body)"/>
              </a:rPr>
              <a:t>Updated the global SoC address map to recognize the accelerator.</a:t>
            </a:r>
          </a:p>
          <a:p>
            <a:r>
              <a:rPr lang="en-US" sz="2000" b="1" dirty="0">
                <a:latin typeface="Barlow (Body)"/>
              </a:rPr>
              <a:t>Address Allocation:</a:t>
            </a:r>
          </a:p>
          <a:p>
            <a:pPr lvl="1"/>
            <a:r>
              <a:rPr lang="en-US" sz="1800" dirty="0">
                <a:latin typeface="Barlow (Body)"/>
              </a:rPr>
              <a:t>Assigned a dedicated memory-mapped region for the Butterfly IP.</a:t>
            </a:r>
          </a:p>
          <a:p>
            <a:r>
              <a:rPr lang="en-US" sz="2000" b="1" dirty="0">
                <a:latin typeface="Barlow (Body)"/>
              </a:rPr>
              <a:t>Result:</a:t>
            </a:r>
          </a:p>
          <a:p>
            <a:pPr lvl="1"/>
            <a:r>
              <a:rPr lang="en-US" sz="1800" dirty="0">
                <a:latin typeface="Barlow (Body)"/>
              </a:rPr>
              <a:t>The custom accelerator is now a fully visible, permanently integrated node on the system bus. It is accessible through standard AXI memory transactions.</a:t>
            </a:r>
          </a:p>
          <a:p>
            <a:pPr lvl="1"/>
            <a:endParaRPr lang="en-US" sz="1800" dirty="0"/>
          </a:p>
        </p:txBody>
      </p:sp>
      <p:sp>
        <p:nvSpPr>
          <p:cNvPr id="2" name="TextBox 1">
            <a:extLst>
              <a:ext uri="{FF2B5EF4-FFF2-40B4-BE49-F238E27FC236}">
                <a16:creationId xmlns:a16="http://schemas.microsoft.com/office/drawing/2014/main" id="{918E0A7F-E998-C5C2-79AA-27EDDFA4A68B}"/>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EFB2F98E-2457-B12E-47EE-43054CE3BE9E}"/>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02A3B361-3302-4F1A-C093-9748B170D294}"/>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0" name="TextBox 9">
            <a:extLst>
              <a:ext uri="{FF2B5EF4-FFF2-40B4-BE49-F238E27FC236}">
                <a16:creationId xmlns:a16="http://schemas.microsoft.com/office/drawing/2014/main" id="{8FEF3349-D89D-A755-014F-45B7D5E70A62}"/>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11" name="TextBox 10">
            <a:extLst>
              <a:ext uri="{FF2B5EF4-FFF2-40B4-BE49-F238E27FC236}">
                <a16:creationId xmlns:a16="http://schemas.microsoft.com/office/drawing/2014/main" id="{9E6328B5-E55C-D1AB-52E7-F7CEEE127FC1}"/>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12" name="TextBox 11">
            <a:extLst>
              <a:ext uri="{FF2B5EF4-FFF2-40B4-BE49-F238E27FC236}">
                <a16:creationId xmlns:a16="http://schemas.microsoft.com/office/drawing/2014/main" id="{77029267-BCAB-F3CE-D48E-62CCFF59725A}"/>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solidFill>
              </a:rPr>
              <a:t>Wrapper Architecture</a:t>
            </a:r>
          </a:p>
        </p:txBody>
      </p:sp>
      <p:sp>
        <p:nvSpPr>
          <p:cNvPr id="13" name="TextBox 12">
            <a:extLst>
              <a:ext uri="{FF2B5EF4-FFF2-40B4-BE49-F238E27FC236}">
                <a16:creationId xmlns:a16="http://schemas.microsoft.com/office/drawing/2014/main" id="{6332D480-D418-52D2-6E8C-A59CEEEED46A}"/>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solidFill>
              </a:rPr>
              <a:t>SoC Modifications</a:t>
            </a:r>
          </a:p>
        </p:txBody>
      </p:sp>
      <p:sp>
        <p:nvSpPr>
          <p:cNvPr id="14" name="TextBox 13">
            <a:extLst>
              <a:ext uri="{FF2B5EF4-FFF2-40B4-BE49-F238E27FC236}">
                <a16:creationId xmlns:a16="http://schemas.microsoft.com/office/drawing/2014/main" id="{00FA8278-0BE1-D11B-9673-0C88214B5AAB}"/>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5" name="TextBox 14">
            <a:extLst>
              <a:ext uri="{FF2B5EF4-FFF2-40B4-BE49-F238E27FC236}">
                <a16:creationId xmlns:a16="http://schemas.microsoft.com/office/drawing/2014/main" id="{58E7C8E2-DE2C-FAAB-007A-596131742E7E}"/>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2417753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fade">
                                      <p:cBhvr>
                                        <p:cTn id="4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90E41-051E-62EF-6972-DD82DE7FAA3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DD45B4-11E4-B167-F3BB-29E6B837B501}"/>
              </a:ext>
            </a:extLst>
          </p:cNvPr>
          <p:cNvSpPr>
            <a:spLocks noGrp="1"/>
          </p:cNvSpPr>
          <p:nvPr>
            <p:ph type="title"/>
          </p:nvPr>
        </p:nvSpPr>
        <p:spPr>
          <a:xfrm>
            <a:off x="342901" y="219456"/>
            <a:ext cx="10287001" cy="470898"/>
          </a:xfrm>
        </p:spPr>
        <p:txBody>
          <a:bodyPr/>
          <a:lstStyle/>
          <a:p>
            <a:r>
              <a:rPr lang="en-US" dirty="0"/>
              <a:t>HW/SW Co-design : Software &amp; Verification (1)</a:t>
            </a:r>
          </a:p>
        </p:txBody>
      </p:sp>
      <p:sp>
        <p:nvSpPr>
          <p:cNvPr id="4" name="Footer Placeholder 3">
            <a:extLst>
              <a:ext uri="{FF2B5EF4-FFF2-40B4-BE49-F238E27FC236}">
                <a16:creationId xmlns:a16="http://schemas.microsoft.com/office/drawing/2014/main" id="{7D300280-D695-9145-A1A0-169B3270439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E05778E-FD67-A879-012D-2F0CA89F8CB1}"/>
              </a:ext>
            </a:extLst>
          </p:cNvPr>
          <p:cNvSpPr>
            <a:spLocks noGrp="1"/>
          </p:cNvSpPr>
          <p:nvPr>
            <p:ph type="sldNum" sz="quarter" idx="4"/>
          </p:nvPr>
        </p:nvSpPr>
        <p:spPr/>
        <p:txBody>
          <a:bodyPr/>
          <a:lstStyle/>
          <a:p>
            <a:pPr>
              <a:defRPr/>
            </a:pPr>
            <a:fld id="{A9CE67A1-BA7F-A74E-B5D7-615746DEEC2B}" type="slidenum">
              <a:rPr lang="en-US" smtClean="0"/>
              <a:pPr>
                <a:defRPr/>
              </a:pPr>
              <a:t>101</a:t>
            </a:fld>
            <a:endParaRPr lang="en-US" baseline="-11000" dirty="0"/>
          </a:p>
        </p:txBody>
      </p:sp>
      <p:sp>
        <p:nvSpPr>
          <p:cNvPr id="6" name="Date Placeholder 5">
            <a:extLst>
              <a:ext uri="{FF2B5EF4-FFF2-40B4-BE49-F238E27FC236}">
                <a16:creationId xmlns:a16="http://schemas.microsoft.com/office/drawing/2014/main" id="{CBD6216F-82B8-7F0A-C2C5-D844C5AB3F99}"/>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44F2072C-DABD-0D61-CDC1-9B288D231EAF}"/>
              </a:ext>
            </a:extLst>
          </p:cNvPr>
          <p:cNvSpPr txBox="1"/>
          <p:nvPr/>
        </p:nvSpPr>
        <p:spPr>
          <a:xfrm>
            <a:off x="203051" y="828339"/>
            <a:ext cx="6283809" cy="5509200"/>
          </a:xfrm>
          <a:prstGeom prst="rect">
            <a:avLst/>
          </a:prstGeom>
          <a:noFill/>
        </p:spPr>
        <p:txBody>
          <a:bodyPr wrap="square">
            <a:spAutoFit/>
          </a:bodyPr>
          <a:lstStyle/>
          <a:p>
            <a:pPr marL="285750" indent="-285750">
              <a:buFont typeface="Wingdings" panose="05000000000000000000" pitchFamily="2" charset="2"/>
              <a:buChar char="Ø"/>
            </a:pPr>
            <a:r>
              <a:rPr lang="en-US" sz="2000" b="1" dirty="0"/>
              <a:t>Step 1: Verify Integration &amp;Mathematical Correctness</a:t>
            </a:r>
          </a:p>
          <a:p>
            <a:pPr lvl="1"/>
            <a:r>
              <a:rPr lang="en-US" dirty="0"/>
              <a:t>Results Match the results from the Written Testbench</a:t>
            </a:r>
          </a:p>
          <a:p>
            <a:pPr lvl="1"/>
            <a:endParaRPr lang="en-US" dirty="0"/>
          </a:p>
          <a:p>
            <a:pPr marL="285750" indent="-285750">
              <a:buFont typeface="Wingdings" panose="05000000000000000000" pitchFamily="2" charset="2"/>
              <a:buChar char="Ø"/>
            </a:pPr>
            <a:r>
              <a:rPr lang="en-US" sz="2000" b="1" dirty="0"/>
              <a:t>Software Control:</a:t>
            </a:r>
          </a:p>
          <a:p>
            <a:pPr marL="742950" lvl="1" indent="-285750">
              <a:buFont typeface="Arial" panose="020B0604020202020204" pitchFamily="34" charset="0"/>
              <a:buChar char="•"/>
            </a:pPr>
            <a:r>
              <a:rPr lang="en-US" dirty="0"/>
              <a:t>Simple Custom C test application developed</a:t>
            </a:r>
          </a:p>
          <a:p>
            <a:pPr marL="742950" lvl="1" indent="-285750">
              <a:buFont typeface="Arial" panose="020B0604020202020204" pitchFamily="34" charset="0"/>
              <a:buChar char="•"/>
            </a:pPr>
            <a:endParaRPr lang="en-US" dirty="0">
              <a:latin typeface="+mj-lt"/>
            </a:endParaRPr>
          </a:p>
          <a:p>
            <a:pPr marL="342900" indent="-342900">
              <a:buFont typeface="Wingdings" panose="05000000000000000000" pitchFamily="2" charset="2"/>
              <a:buChar char="Ø"/>
            </a:pPr>
            <a:r>
              <a:rPr lang="en-US" sz="2000" b="1" dirty="0"/>
              <a:t>Execution Flow:</a:t>
            </a:r>
          </a:p>
          <a:p>
            <a:pPr marL="742950" lvl="1" indent="-285750">
              <a:buFont typeface="Arial" panose="020B0604020202020204" pitchFamily="34" charset="0"/>
              <a:buChar char="•"/>
            </a:pPr>
            <a:r>
              <a:rPr lang="en-US" dirty="0"/>
              <a:t>Write inputs to registers</a:t>
            </a:r>
          </a:p>
          <a:p>
            <a:pPr marL="742950" lvl="1" indent="-285750">
              <a:buFont typeface="Arial" panose="020B0604020202020204" pitchFamily="34" charset="0"/>
              <a:buChar char="•"/>
            </a:pPr>
            <a:r>
              <a:rPr lang="en-US" dirty="0"/>
              <a:t>Trigger accelerator</a:t>
            </a:r>
          </a:p>
          <a:p>
            <a:pPr marL="742950" lvl="1" indent="-285750">
              <a:buFont typeface="Arial" panose="020B0604020202020204" pitchFamily="34" charset="0"/>
              <a:buChar char="•"/>
            </a:pPr>
            <a:r>
              <a:rPr lang="en-US" dirty="0"/>
              <a:t>Poll DONE status</a:t>
            </a:r>
          </a:p>
          <a:p>
            <a:pPr marL="742950" lvl="1" indent="-285750">
              <a:buFont typeface="Arial" panose="020B0604020202020204" pitchFamily="34" charset="0"/>
              <a:buChar char="•"/>
            </a:pPr>
            <a:r>
              <a:rPr lang="en-US" dirty="0"/>
              <a:t>Read computed outputs</a:t>
            </a:r>
          </a:p>
          <a:p>
            <a:pPr marL="742950" lvl="1" indent="-285750">
              <a:buFont typeface="Arial" panose="020B0604020202020204" pitchFamily="34" charset="0"/>
              <a:buChar char="•"/>
            </a:pPr>
            <a:endParaRPr lang="en-US" dirty="0"/>
          </a:p>
          <a:p>
            <a:pPr marL="285750" indent="-285750">
              <a:buFont typeface="Wingdings" panose="05000000000000000000" pitchFamily="2" charset="2"/>
              <a:buChar char="Ø"/>
            </a:pPr>
            <a:r>
              <a:rPr lang="en-US" sz="2000" b="1" dirty="0"/>
              <a:t>Observed Results:</a:t>
            </a:r>
          </a:p>
          <a:p>
            <a:pPr marL="742950" lvl="1" indent="-285750">
              <a:buFont typeface="Arial" panose="020B0604020202020204" pitchFamily="34" charset="0"/>
              <a:buChar char="•"/>
            </a:pPr>
            <a:r>
              <a:rPr lang="en-US" dirty="0"/>
              <a:t>Correct butterfly arithmetic</a:t>
            </a:r>
          </a:p>
          <a:p>
            <a:pPr marL="742950" lvl="1" indent="-285750">
              <a:buFont typeface="Arial" panose="020B0604020202020204" pitchFamily="34" charset="0"/>
              <a:buChar char="•"/>
            </a:pPr>
            <a:r>
              <a:rPr lang="en-US" dirty="0"/>
              <a:t>Successful HW/SW communication</a:t>
            </a:r>
          </a:p>
          <a:p>
            <a:pPr marL="742950" lvl="1" indent="-285750">
              <a:buFont typeface="Arial" panose="020B0604020202020204" pitchFamily="34" charset="0"/>
              <a:buChar char="•"/>
            </a:pPr>
            <a:endParaRPr lang="en-US" dirty="0"/>
          </a:p>
          <a:p>
            <a:r>
              <a:rPr lang="en-US" b="1" dirty="0">
                <a:solidFill>
                  <a:srgbClr val="FF0000"/>
                </a:solidFill>
              </a:rPr>
              <a:t>Measured Latency For Original butterfly was 442 cycle!!</a:t>
            </a:r>
          </a:p>
          <a:p>
            <a:pPr marL="742950" lvl="1" indent="-285750"/>
            <a:endParaRPr lang="en-US" dirty="0">
              <a:latin typeface="+mj-lt"/>
            </a:endParaRPr>
          </a:p>
        </p:txBody>
      </p:sp>
      <p:pic>
        <p:nvPicPr>
          <p:cNvPr id="8" name="Picture 7">
            <a:extLst>
              <a:ext uri="{FF2B5EF4-FFF2-40B4-BE49-F238E27FC236}">
                <a16:creationId xmlns:a16="http://schemas.microsoft.com/office/drawing/2014/main" id="{F3D64869-5512-6B79-AA85-37E1977CE5B6}"/>
              </a:ext>
            </a:extLst>
          </p:cNvPr>
          <p:cNvPicPr>
            <a:picLocks noChangeAspect="1"/>
          </p:cNvPicPr>
          <p:nvPr/>
        </p:nvPicPr>
        <p:blipFill>
          <a:blip r:embed="rId2"/>
          <a:stretch>
            <a:fillRect/>
          </a:stretch>
        </p:blipFill>
        <p:spPr>
          <a:xfrm>
            <a:off x="6091903" y="828339"/>
            <a:ext cx="5972401" cy="5733826"/>
          </a:xfrm>
          <a:prstGeom prst="rect">
            <a:avLst/>
          </a:prstGeom>
        </p:spPr>
      </p:pic>
      <p:sp>
        <p:nvSpPr>
          <p:cNvPr id="2" name="TextBox 1">
            <a:extLst>
              <a:ext uri="{FF2B5EF4-FFF2-40B4-BE49-F238E27FC236}">
                <a16:creationId xmlns:a16="http://schemas.microsoft.com/office/drawing/2014/main" id="{63C89A03-9EC4-A7A6-11C7-D9A3A9E5F559}"/>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9" name="TextBox 8">
            <a:extLst>
              <a:ext uri="{FF2B5EF4-FFF2-40B4-BE49-F238E27FC236}">
                <a16:creationId xmlns:a16="http://schemas.microsoft.com/office/drawing/2014/main" id="{05FC2320-45B1-E00B-9264-2292455ABFD8}"/>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10" name="TextBox 9">
            <a:extLst>
              <a:ext uri="{FF2B5EF4-FFF2-40B4-BE49-F238E27FC236}">
                <a16:creationId xmlns:a16="http://schemas.microsoft.com/office/drawing/2014/main" id="{17B48F7D-00D2-D891-253C-52FD847CBEF3}"/>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1" name="TextBox 10">
            <a:extLst>
              <a:ext uri="{FF2B5EF4-FFF2-40B4-BE49-F238E27FC236}">
                <a16:creationId xmlns:a16="http://schemas.microsoft.com/office/drawing/2014/main" id="{7632E096-E51E-34B0-E8A0-68A6009A7187}"/>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12" name="TextBox 11">
            <a:extLst>
              <a:ext uri="{FF2B5EF4-FFF2-40B4-BE49-F238E27FC236}">
                <a16:creationId xmlns:a16="http://schemas.microsoft.com/office/drawing/2014/main" id="{32513D43-2427-0411-ABEF-CCDF516F80FB}"/>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13" name="TextBox 12">
            <a:extLst>
              <a:ext uri="{FF2B5EF4-FFF2-40B4-BE49-F238E27FC236}">
                <a16:creationId xmlns:a16="http://schemas.microsoft.com/office/drawing/2014/main" id="{40B231C1-1C45-0902-9C1A-4709A9901E10}"/>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solidFill>
              </a:rPr>
              <a:t>Wrapper Architecture</a:t>
            </a:r>
          </a:p>
        </p:txBody>
      </p:sp>
      <p:sp>
        <p:nvSpPr>
          <p:cNvPr id="14" name="TextBox 13">
            <a:extLst>
              <a:ext uri="{FF2B5EF4-FFF2-40B4-BE49-F238E27FC236}">
                <a16:creationId xmlns:a16="http://schemas.microsoft.com/office/drawing/2014/main" id="{AA958E25-0D79-6A5B-5C40-D2DCFE731D28}"/>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solidFill>
              </a:rPr>
              <a:t>SoC Modifications</a:t>
            </a:r>
          </a:p>
        </p:txBody>
      </p:sp>
      <p:sp>
        <p:nvSpPr>
          <p:cNvPr id="15" name="TextBox 14">
            <a:extLst>
              <a:ext uri="{FF2B5EF4-FFF2-40B4-BE49-F238E27FC236}">
                <a16:creationId xmlns:a16="http://schemas.microsoft.com/office/drawing/2014/main" id="{305710A3-FB34-4B7B-28CB-5F54396C12D3}"/>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solidFill>
              </a:rPr>
              <a:t>Software &amp; Verification</a:t>
            </a:r>
          </a:p>
        </p:txBody>
      </p:sp>
      <p:sp>
        <p:nvSpPr>
          <p:cNvPr id="16" name="TextBox 15">
            <a:extLst>
              <a:ext uri="{FF2B5EF4-FFF2-40B4-BE49-F238E27FC236}">
                <a16:creationId xmlns:a16="http://schemas.microsoft.com/office/drawing/2014/main" id="{81A80925-D8DF-064D-4789-AA0C76B21BBC}"/>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1219316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500"/>
                                        <p:tgtEl>
                                          <p:spTgt spid="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500"/>
                                        <p:tgtEl>
                                          <p:spTgt spid="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Effect transition="in" filter="fade">
                                      <p:cBhvr>
                                        <p:cTn id="37" dur="500"/>
                                        <p:tgtEl>
                                          <p:spTgt spid="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9" end="9"/>
                                            </p:txEl>
                                          </p:spTgt>
                                        </p:tgtEl>
                                        <p:attrNameLst>
                                          <p:attrName>style.visibility</p:attrName>
                                        </p:attrNameLst>
                                      </p:cBhvr>
                                      <p:to>
                                        <p:strVal val="visible"/>
                                      </p:to>
                                    </p:set>
                                    <p:animEffect transition="in" filter="fade">
                                      <p:cBhvr>
                                        <p:cTn id="42" dur="500"/>
                                        <p:tgtEl>
                                          <p:spTgt spid="7">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animEffect transition="in" filter="fade">
                                      <p:cBhvr>
                                        <p:cTn id="47" dur="500"/>
                                        <p:tgtEl>
                                          <p:spTgt spid="7">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12" end="12"/>
                                            </p:txEl>
                                          </p:spTgt>
                                        </p:tgtEl>
                                        <p:attrNameLst>
                                          <p:attrName>style.visibility</p:attrName>
                                        </p:attrNameLst>
                                      </p:cBhvr>
                                      <p:to>
                                        <p:strVal val="visible"/>
                                      </p:to>
                                    </p:set>
                                    <p:animEffect transition="in" filter="fade">
                                      <p:cBhvr>
                                        <p:cTn id="52" dur="500"/>
                                        <p:tgtEl>
                                          <p:spTgt spid="7">
                                            <p:txEl>
                                              <p:pRg st="12" end="12"/>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
                                            <p:txEl>
                                              <p:pRg st="13" end="13"/>
                                            </p:txEl>
                                          </p:spTgt>
                                        </p:tgtEl>
                                        <p:attrNameLst>
                                          <p:attrName>style.visibility</p:attrName>
                                        </p:attrNameLst>
                                      </p:cBhvr>
                                      <p:to>
                                        <p:strVal val="visible"/>
                                      </p:to>
                                    </p:set>
                                    <p:animEffect transition="in" filter="fade">
                                      <p:cBhvr>
                                        <p:cTn id="60" dur="500"/>
                                        <p:tgtEl>
                                          <p:spTgt spid="7">
                                            <p:txEl>
                                              <p:pRg st="13" end="1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7">
                                            <p:txEl>
                                              <p:pRg st="14" end="14"/>
                                            </p:txEl>
                                          </p:spTgt>
                                        </p:tgtEl>
                                        <p:attrNameLst>
                                          <p:attrName>style.visibility</p:attrName>
                                        </p:attrNameLst>
                                      </p:cBhvr>
                                      <p:to>
                                        <p:strVal val="visible"/>
                                      </p:to>
                                    </p:set>
                                    <p:animEffect transition="in" filter="fade">
                                      <p:cBhvr>
                                        <p:cTn id="65" dur="500"/>
                                        <p:tgtEl>
                                          <p:spTgt spid="7">
                                            <p:txEl>
                                              <p:pRg st="14" end="14"/>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
                                            <p:txEl>
                                              <p:pRg st="16" end="16"/>
                                            </p:txEl>
                                          </p:spTgt>
                                        </p:tgtEl>
                                        <p:attrNameLst>
                                          <p:attrName>style.visibility</p:attrName>
                                        </p:attrNameLst>
                                      </p:cBhvr>
                                      <p:to>
                                        <p:strVal val="visible"/>
                                      </p:to>
                                    </p:set>
                                    <p:animEffect transition="in" filter="fade">
                                      <p:cBhvr>
                                        <p:cTn id="70" dur="500"/>
                                        <p:tgtEl>
                                          <p:spTgt spid="7">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Optimization 1 – The Auto-Trigger </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102</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211122" y="827207"/>
            <a:ext cx="6046803" cy="5725913"/>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mj-lt"/>
              </a:rPr>
              <a:t>The Traditional Approach (3 Bus Transactions):</a:t>
            </a:r>
          </a:p>
          <a:p>
            <a:pPr marL="742950" lvl="1"/>
            <a:r>
              <a:rPr lang="en-US" sz="1800" dirty="0"/>
              <a:t>Software writes the Left Operand.</a:t>
            </a:r>
          </a:p>
          <a:p>
            <a:pPr marL="742950" lvl="1"/>
            <a:r>
              <a:rPr lang="en-US" sz="1800" dirty="0"/>
              <a:t>Software writes the Right Operand.</a:t>
            </a:r>
          </a:p>
          <a:p>
            <a:pPr marL="742950" lvl="1"/>
            <a:r>
              <a:rPr lang="en-US" sz="1800" dirty="0"/>
              <a:t>Software writes a '1' to a CTRL register to wake up the hardware.</a:t>
            </a:r>
          </a:p>
          <a:p>
            <a:r>
              <a:rPr lang="en-US" sz="2000" b="1" dirty="0"/>
              <a:t>Optimized Solution (2 Bus Transactions):</a:t>
            </a:r>
          </a:p>
          <a:p>
            <a:pPr lvl="1"/>
            <a:r>
              <a:rPr lang="en-US" sz="1800" dirty="0"/>
              <a:t>Eliminated the dedicated "Start" register.</a:t>
            </a:r>
          </a:p>
          <a:p>
            <a:pPr lvl="1"/>
            <a:r>
              <a:rPr lang="en-US" sz="1800" dirty="0"/>
              <a:t>Flagged the Right Operand register to generate a Write-Enable pulse.</a:t>
            </a:r>
          </a:p>
          <a:p>
            <a:r>
              <a:rPr lang="en-US" sz="2000" b="1" dirty="0"/>
              <a:t>The Benefit:</a:t>
            </a:r>
            <a:r>
              <a:rPr lang="en-US" sz="2000" dirty="0"/>
              <a:t> </a:t>
            </a:r>
          </a:p>
          <a:p>
            <a:pPr lvl="1"/>
            <a:r>
              <a:rPr lang="en-US" sz="1800" dirty="0"/>
              <a:t>The hardware instantly fires up instantly.</a:t>
            </a:r>
          </a:p>
          <a:p>
            <a:pPr lvl="1"/>
            <a:r>
              <a:rPr lang="en-US" sz="1800" dirty="0"/>
              <a:t> Saves AXI transaction on every single butterfly </a:t>
            </a:r>
            <a:endParaRPr lang="en-US" sz="1800" b="1" dirty="0"/>
          </a:p>
          <a:p>
            <a:r>
              <a:rPr lang="en-US" sz="2000" b="1" dirty="0"/>
              <a:t>Result:</a:t>
            </a:r>
          </a:p>
          <a:p>
            <a:pPr lvl="1"/>
            <a:r>
              <a:rPr lang="en-US" sz="1800" dirty="0">
                <a:latin typeface="Barlow (Body)"/>
              </a:rPr>
              <a:t>Number of Cycles taken for the End-to-end Butterfly execution decreased.</a:t>
            </a:r>
          </a:p>
          <a:p>
            <a:pPr marL="742950" lvl="1"/>
            <a:endParaRPr lang="en-US" sz="1800" dirty="0">
              <a:latin typeface="Barlow (Body)"/>
            </a:endParaRPr>
          </a:p>
        </p:txBody>
      </p:sp>
      <p:pic>
        <p:nvPicPr>
          <p:cNvPr id="8" name="Picture 7">
            <a:extLst>
              <a:ext uri="{FF2B5EF4-FFF2-40B4-BE49-F238E27FC236}">
                <a16:creationId xmlns:a16="http://schemas.microsoft.com/office/drawing/2014/main" id="{09355D31-48D1-4A6E-9524-81F027BA9289}"/>
              </a:ext>
            </a:extLst>
          </p:cNvPr>
          <p:cNvPicPr>
            <a:picLocks noChangeAspect="1"/>
          </p:cNvPicPr>
          <p:nvPr/>
        </p:nvPicPr>
        <p:blipFill rotWithShape="1">
          <a:blip r:embed="rId3">
            <a:extLst>
              <a:ext uri="{28A0092B-C50C-407E-A947-70E740481C1C}">
                <a14:useLocalDpi xmlns:a14="http://schemas.microsoft.com/office/drawing/2010/main" val="0"/>
              </a:ext>
            </a:extLst>
          </a:blip>
          <a:srcRect r="52132"/>
          <a:stretch/>
        </p:blipFill>
        <p:spPr>
          <a:xfrm>
            <a:off x="6291263" y="1042988"/>
            <a:ext cx="2700337" cy="5424487"/>
          </a:xfrm>
          <a:prstGeom prst="rect">
            <a:avLst/>
          </a:prstGeom>
        </p:spPr>
      </p:pic>
      <p:pic>
        <p:nvPicPr>
          <p:cNvPr id="10" name="Picture 9">
            <a:extLst>
              <a:ext uri="{FF2B5EF4-FFF2-40B4-BE49-F238E27FC236}">
                <a16:creationId xmlns:a16="http://schemas.microsoft.com/office/drawing/2014/main" id="{CB46192E-D415-4153-9E49-AAF59A13675E}"/>
              </a:ext>
            </a:extLst>
          </p:cNvPr>
          <p:cNvPicPr>
            <a:picLocks noChangeAspect="1"/>
          </p:cNvPicPr>
          <p:nvPr/>
        </p:nvPicPr>
        <p:blipFill rotWithShape="1">
          <a:blip r:embed="rId3">
            <a:extLst>
              <a:ext uri="{28A0092B-C50C-407E-A947-70E740481C1C}">
                <a14:useLocalDpi xmlns:a14="http://schemas.microsoft.com/office/drawing/2010/main" val="0"/>
              </a:ext>
            </a:extLst>
          </a:blip>
          <a:srcRect l="48137" t="-1180" b="-1"/>
          <a:stretch/>
        </p:blipFill>
        <p:spPr>
          <a:xfrm>
            <a:off x="8933073" y="1426368"/>
            <a:ext cx="3108890" cy="4769644"/>
          </a:xfrm>
          <a:prstGeom prst="rect">
            <a:avLst/>
          </a:prstGeom>
        </p:spPr>
      </p:pic>
    </p:spTree>
    <p:extLst>
      <p:ext uri="{BB962C8B-B14F-4D97-AF65-F5344CB8AC3E}">
        <p14:creationId xmlns:p14="http://schemas.microsoft.com/office/powerpoint/2010/main" val="37132390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fad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fade">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500"/>
                                        <p:tgtEl>
                                          <p:spTgt spid="2">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6" end="6"/>
                                            </p:txEl>
                                          </p:spTgt>
                                        </p:tgtEl>
                                        <p:attrNameLst>
                                          <p:attrName>style.visibility</p:attrName>
                                        </p:attrNameLst>
                                      </p:cBhvr>
                                      <p:to>
                                        <p:strVal val="visible"/>
                                      </p:to>
                                    </p:set>
                                    <p:animEffect transition="in" filter="fade">
                                      <p:cBhvr>
                                        <p:cTn id="47" dur="500"/>
                                        <p:tgtEl>
                                          <p:spTgt spid="2">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7" end="7"/>
                                            </p:txEl>
                                          </p:spTgt>
                                        </p:tgtEl>
                                        <p:attrNameLst>
                                          <p:attrName>style.visibility</p:attrName>
                                        </p:attrNameLst>
                                      </p:cBhvr>
                                      <p:to>
                                        <p:strVal val="visible"/>
                                      </p:to>
                                    </p:set>
                                    <p:animEffect transition="in" filter="fade">
                                      <p:cBhvr>
                                        <p:cTn id="52" dur="500"/>
                                        <p:tgtEl>
                                          <p:spTgt spid="2">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8" end="8"/>
                                            </p:txEl>
                                          </p:spTgt>
                                        </p:tgtEl>
                                        <p:attrNameLst>
                                          <p:attrName>style.visibility</p:attrName>
                                        </p:attrNameLst>
                                      </p:cBhvr>
                                      <p:to>
                                        <p:strVal val="visible"/>
                                      </p:to>
                                    </p:set>
                                    <p:animEffect transition="in" filter="fade">
                                      <p:cBhvr>
                                        <p:cTn id="57" dur="500"/>
                                        <p:tgtEl>
                                          <p:spTgt spid="2">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9" end="9"/>
                                            </p:txEl>
                                          </p:spTgt>
                                        </p:tgtEl>
                                        <p:attrNameLst>
                                          <p:attrName>style.visibility</p:attrName>
                                        </p:attrNameLst>
                                      </p:cBhvr>
                                      <p:to>
                                        <p:strVal val="visible"/>
                                      </p:to>
                                    </p:set>
                                    <p:animEffect transition="in" filter="fade">
                                      <p:cBhvr>
                                        <p:cTn id="62" dur="500"/>
                                        <p:tgtEl>
                                          <p:spTgt spid="2">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
                                            <p:txEl>
                                              <p:pRg st="10" end="10"/>
                                            </p:txEl>
                                          </p:spTgt>
                                        </p:tgtEl>
                                        <p:attrNameLst>
                                          <p:attrName>style.visibility</p:attrName>
                                        </p:attrNameLst>
                                      </p:cBhvr>
                                      <p:to>
                                        <p:strVal val="visible"/>
                                      </p:to>
                                    </p:set>
                                    <p:animEffect transition="in" filter="fade">
                                      <p:cBhvr>
                                        <p:cTn id="67" dur="500"/>
                                        <p:tgtEl>
                                          <p:spTgt spid="2">
                                            <p:txEl>
                                              <p:pRg st="10" end="1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
                                            <p:txEl>
                                              <p:pRg st="11" end="11"/>
                                            </p:txEl>
                                          </p:spTgt>
                                        </p:tgtEl>
                                        <p:attrNameLst>
                                          <p:attrName>style.visibility</p:attrName>
                                        </p:attrNameLst>
                                      </p:cBhvr>
                                      <p:to>
                                        <p:strVal val="visible"/>
                                      </p:to>
                                    </p:set>
                                    <p:animEffect transition="in" filter="fade">
                                      <p:cBhvr>
                                        <p:cTn id="72"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Optimization 2 – Auto-Status </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103</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105561" y="690354"/>
            <a:ext cx="11980878" cy="583953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mj-lt"/>
              </a:rPr>
              <a:t>The Polling Problem:</a:t>
            </a:r>
          </a:p>
          <a:p>
            <a:pPr lvl="1"/>
            <a:r>
              <a:rPr lang="en-US" sz="1800" dirty="0">
                <a:latin typeface="+mj-lt"/>
              </a:rPr>
              <a:t>Software must manually clear this STATUS flag before new calculation, wasting an AXI transaction.</a:t>
            </a:r>
          </a:p>
          <a:p>
            <a:r>
              <a:rPr lang="en-US" sz="2000" b="1" dirty="0">
                <a:latin typeface="+mj-lt"/>
              </a:rPr>
              <a:t>Solution (The .de Wire):</a:t>
            </a:r>
            <a:endParaRPr lang="en-US" sz="1800" dirty="0">
              <a:latin typeface="+mj-lt"/>
            </a:endParaRPr>
          </a:p>
          <a:p>
            <a:pPr lvl="1"/>
            <a:r>
              <a:rPr lang="en-US" sz="1800" dirty="0">
                <a:latin typeface="+mj-lt"/>
              </a:rPr>
              <a:t> </a:t>
            </a:r>
            <a:r>
              <a:rPr lang="en-US" sz="1800" dirty="0" err="1">
                <a:latin typeface="+mj-lt"/>
              </a:rPr>
              <a:t>status.d</a:t>
            </a:r>
            <a:r>
              <a:rPr lang="en-US" sz="1800" dirty="0">
                <a:latin typeface="+mj-lt"/>
              </a:rPr>
              <a:t>  = </a:t>
            </a:r>
            <a:r>
              <a:rPr lang="en-US" sz="1800" dirty="0" err="1">
                <a:latin typeface="+mj-lt"/>
              </a:rPr>
              <a:t>w_o_aux</a:t>
            </a:r>
            <a:r>
              <a:rPr lang="en-US" sz="1800" dirty="0">
                <a:latin typeface="+mj-lt"/>
              </a:rPr>
              <a:t> ? 1'b1 : 1’b0,                                       status.de = </a:t>
            </a:r>
            <a:r>
              <a:rPr lang="en-US" sz="1800" dirty="0" err="1">
                <a:latin typeface="+mj-lt"/>
              </a:rPr>
              <a:t>w_o_aux</a:t>
            </a:r>
            <a:r>
              <a:rPr lang="en-US" sz="1800" dirty="0">
                <a:latin typeface="+mj-lt"/>
              </a:rPr>
              <a:t> | </a:t>
            </a:r>
            <a:r>
              <a:rPr lang="en-US" sz="1800" dirty="0" err="1">
                <a:latin typeface="+mj-lt"/>
              </a:rPr>
              <a:t>op_right.qe</a:t>
            </a:r>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r>
              <a:rPr lang="en-US" sz="2000" b="1" dirty="0">
                <a:latin typeface="+mj-lt"/>
              </a:rPr>
              <a:t>Result:</a:t>
            </a:r>
          </a:p>
          <a:p>
            <a:pPr lvl="1"/>
            <a:r>
              <a:rPr lang="en-US" sz="1800" dirty="0">
                <a:latin typeface="+mj-lt"/>
              </a:rPr>
              <a:t>Saved another AXI transaction. </a:t>
            </a:r>
            <a:r>
              <a:rPr lang="en-US" sz="1800" dirty="0" err="1">
                <a:latin typeface="+mj-lt"/>
              </a:rPr>
              <a:t>So,Number</a:t>
            </a:r>
            <a:r>
              <a:rPr lang="en-US" sz="1800" dirty="0">
                <a:latin typeface="+mj-lt"/>
              </a:rPr>
              <a:t> of Cycles taken for the End-to-end Butterfly execution decreased.</a:t>
            </a:r>
          </a:p>
          <a:p>
            <a:pPr lvl="1"/>
            <a:endParaRPr lang="en-US" sz="1800" dirty="0">
              <a:latin typeface="+mj-lt"/>
            </a:endParaRPr>
          </a:p>
        </p:txBody>
      </p:sp>
      <p:pic>
        <p:nvPicPr>
          <p:cNvPr id="9" name="Picture 8">
            <a:extLst>
              <a:ext uri="{FF2B5EF4-FFF2-40B4-BE49-F238E27FC236}">
                <a16:creationId xmlns:a16="http://schemas.microsoft.com/office/drawing/2014/main" id="{04F0E2E5-B216-4978-9347-D986F3AE91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4013" y="2224087"/>
            <a:ext cx="8588674" cy="4010026"/>
          </a:xfrm>
          <a:prstGeom prst="rect">
            <a:avLst/>
          </a:prstGeom>
        </p:spPr>
      </p:pic>
    </p:spTree>
    <p:extLst>
      <p:ext uri="{BB962C8B-B14F-4D97-AF65-F5344CB8AC3E}">
        <p14:creationId xmlns:p14="http://schemas.microsoft.com/office/powerpoint/2010/main" val="33512362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14" end="14"/>
                                            </p:txEl>
                                          </p:spTgt>
                                        </p:tgtEl>
                                        <p:attrNameLst>
                                          <p:attrName>style.visibility</p:attrName>
                                        </p:attrNameLst>
                                      </p:cBhvr>
                                      <p:to>
                                        <p:strVal val="visible"/>
                                      </p:to>
                                    </p:set>
                                    <p:animEffect transition="in" filter="fade">
                                      <p:cBhvr>
                                        <p:cTn id="32" dur="500"/>
                                        <p:tgtEl>
                                          <p:spTgt spid="2">
                                            <p:txEl>
                                              <p:pRg st="14" end="1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15" end="15"/>
                                            </p:txEl>
                                          </p:spTgt>
                                        </p:tgtEl>
                                        <p:attrNameLst>
                                          <p:attrName>style.visibility</p:attrName>
                                        </p:attrNameLst>
                                      </p:cBhvr>
                                      <p:to>
                                        <p:strVal val="visible"/>
                                      </p:to>
                                    </p:set>
                                    <p:animEffect transition="in" filter="fade">
                                      <p:cBhvr>
                                        <p:cTn id="37" dur="500"/>
                                        <p:tgtEl>
                                          <p:spTgt spid="2">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Software &amp; Verification (2)</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104</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2" y="763376"/>
            <a:ext cx="10710319"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Step 2:Latency Profiling</a:t>
            </a:r>
          </a:p>
          <a:p>
            <a:endParaRPr lang="en-US" sz="2000" b="1" dirty="0"/>
          </a:p>
          <a:p>
            <a:endParaRPr lang="en-US" sz="2000" b="1" dirty="0"/>
          </a:p>
        </p:txBody>
      </p:sp>
      <p:graphicFrame>
        <p:nvGraphicFramePr>
          <p:cNvPr id="8" name="Table 8">
            <a:extLst>
              <a:ext uri="{FF2B5EF4-FFF2-40B4-BE49-F238E27FC236}">
                <a16:creationId xmlns:a16="http://schemas.microsoft.com/office/drawing/2014/main" id="{E5CE0B1B-67CF-4625-A729-42F46B09C0FD}"/>
              </a:ext>
            </a:extLst>
          </p:cNvPr>
          <p:cNvGraphicFramePr>
            <a:graphicFrameLocks noGrp="1"/>
          </p:cNvGraphicFramePr>
          <p:nvPr/>
        </p:nvGraphicFramePr>
        <p:xfrm>
          <a:off x="1100138" y="1175937"/>
          <a:ext cx="9058275" cy="5303520"/>
        </p:xfrm>
        <a:graphic>
          <a:graphicData uri="http://schemas.openxmlformats.org/drawingml/2006/table">
            <a:tbl>
              <a:tblPr firstRow="1" bandRow="1">
                <a:tableStyleId>{72833802-FEF1-4C79-8D5D-14CF1EAF98D9}</a:tableStyleId>
              </a:tblPr>
              <a:tblGrid>
                <a:gridCol w="1811655">
                  <a:extLst>
                    <a:ext uri="{9D8B030D-6E8A-4147-A177-3AD203B41FA5}">
                      <a16:colId xmlns:a16="http://schemas.microsoft.com/office/drawing/2014/main" val="306670815"/>
                    </a:ext>
                  </a:extLst>
                </a:gridCol>
                <a:gridCol w="1811655">
                  <a:extLst>
                    <a:ext uri="{9D8B030D-6E8A-4147-A177-3AD203B41FA5}">
                      <a16:colId xmlns:a16="http://schemas.microsoft.com/office/drawing/2014/main" val="2610245645"/>
                    </a:ext>
                  </a:extLst>
                </a:gridCol>
                <a:gridCol w="1811655">
                  <a:extLst>
                    <a:ext uri="{9D8B030D-6E8A-4147-A177-3AD203B41FA5}">
                      <a16:colId xmlns:a16="http://schemas.microsoft.com/office/drawing/2014/main" val="3869219205"/>
                    </a:ext>
                  </a:extLst>
                </a:gridCol>
                <a:gridCol w="1811655">
                  <a:extLst>
                    <a:ext uri="{9D8B030D-6E8A-4147-A177-3AD203B41FA5}">
                      <a16:colId xmlns:a16="http://schemas.microsoft.com/office/drawing/2014/main" val="2588791516"/>
                    </a:ext>
                  </a:extLst>
                </a:gridCol>
                <a:gridCol w="1811655">
                  <a:extLst>
                    <a:ext uri="{9D8B030D-6E8A-4147-A177-3AD203B41FA5}">
                      <a16:colId xmlns:a16="http://schemas.microsoft.com/office/drawing/2014/main" val="1568960988"/>
                    </a:ext>
                  </a:extLst>
                </a:gridCol>
              </a:tblGrid>
              <a:tr h="910912">
                <a:tc>
                  <a:txBody>
                    <a:bodyPr/>
                    <a:lstStyle/>
                    <a:p>
                      <a:pPr algn="ctr"/>
                      <a:r>
                        <a:rPr lang="en-US" dirty="0"/>
                        <a:t>Design 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Phase 1</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(Pipelined)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Phase 2</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(Pipelined)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Phase 3</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(Pipelined)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Phase 4 </a:t>
                      </a:r>
                    </a:p>
                    <a:p>
                      <a:pPr algn="ctr"/>
                      <a:r>
                        <a:rPr lang="en-US" dirty="0"/>
                        <a:t>(Flattened)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8573726"/>
                  </a:ext>
                </a:extLst>
              </a:tr>
              <a:tr h="1184186">
                <a:tc>
                  <a:txBody>
                    <a:bodyPr/>
                    <a:lstStyle/>
                    <a:p>
                      <a:pPr algn="ctr"/>
                      <a:r>
                        <a:rPr lang="en-US" b="1" dirty="0"/>
                        <a:t>Operand Widths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dirty="0"/>
                        <a:t>Oversized:</a:t>
                      </a:r>
                      <a:br>
                        <a:rPr lang="en-US" dirty="0"/>
                      </a:br>
                      <a:r>
                        <a:rPr lang="en-US" dirty="0"/>
                        <a:t>34b In, 38b Out, 42b Twiddle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dirty="0"/>
                        <a:t>Corrected:</a:t>
                      </a:r>
                      <a:br>
                        <a:rPr lang="en-US" dirty="0"/>
                      </a:br>
                      <a:r>
                        <a:rPr lang="en-US" dirty="0"/>
                        <a:t>24b In, 24b Out, 32b Twiddle</a:t>
                      </a:r>
                      <a:br>
                        <a:rPr lang="en-US" dirty="0"/>
                      </a:b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dirty="0"/>
                        <a:t>Corrected:</a:t>
                      </a:r>
                      <a:br>
                        <a:rPr lang="en-US" dirty="0"/>
                      </a:br>
                      <a:r>
                        <a:rPr lang="en-US" dirty="0"/>
                        <a:t>24b In, 24b Out, 32b Twiddle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Corrected:</a:t>
                      </a:r>
                      <a:br>
                        <a:rPr lang="en-US" dirty="0"/>
                      </a:br>
                      <a:r>
                        <a:rPr lang="en-US" dirty="0"/>
                        <a:t>24b In, 24b Out, 32b Twiddle</a:t>
                      </a:r>
                    </a:p>
                    <a:p>
                      <a:pPr algn="l"/>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5190903"/>
                  </a:ext>
                </a:extLst>
              </a:tr>
              <a:tr h="910912">
                <a:tc>
                  <a:txBody>
                    <a:bodyPr/>
                    <a:lstStyle/>
                    <a:p>
                      <a:pPr algn="ctr"/>
                      <a:r>
                        <a:rPr lang="en-US" b="1" dirty="0"/>
                        <a:t>Twiddle Delivery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Full payload passed over AXI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Full payload passed over AXI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t>Twiddle Index </a:t>
                      </a:r>
                      <a:r>
                        <a:rPr lang="en-US" dirty="0"/>
                        <a:t>passed over AXI</a:t>
                      </a:r>
                      <a:br>
                        <a:rPr lang="en-US" dirty="0"/>
                      </a:b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t>Twiddle Index </a:t>
                      </a:r>
                      <a:r>
                        <a:rPr lang="en-US" dirty="0"/>
                        <a:t>passed over AXI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1444935"/>
                  </a:ext>
                </a:extLst>
              </a:tr>
              <a:tr h="637639">
                <a:tc>
                  <a:txBody>
                    <a:bodyPr/>
                    <a:lstStyle/>
                    <a:p>
                      <a:pPr algn="ctr"/>
                      <a:r>
                        <a:rPr lang="en-US" b="1" dirty="0"/>
                        <a:t>Wrapper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 optimizations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 optimizations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optimized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optimized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7037107"/>
                  </a:ext>
                </a:extLst>
              </a:tr>
              <a:tr h="637639">
                <a:tc>
                  <a:txBody>
                    <a:bodyPr/>
                    <a:lstStyle/>
                    <a:p>
                      <a:pPr algn="ctr"/>
                      <a:r>
                        <a:rPr lang="en-US" b="1" dirty="0"/>
                        <a:t>Multiplier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Pipelined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Pipelined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Standard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Standard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5589021"/>
                  </a:ext>
                </a:extLst>
              </a:tr>
              <a:tr h="637639">
                <a:tc>
                  <a:txBody>
                    <a:bodyPr/>
                    <a:lstStyle/>
                    <a:p>
                      <a:pPr algn="ctr"/>
                      <a:r>
                        <a:rPr lang="en-US" b="1" dirty="0"/>
                        <a:t>Software Driver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 Overhead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Optimized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Optimized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Optimized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2718967"/>
                  </a:ext>
                </a:extLst>
              </a:tr>
              <a:tr h="364365">
                <a:tc>
                  <a:txBody>
                    <a:bodyPr/>
                    <a:lstStyle/>
                    <a:p>
                      <a:pPr algn="ctr"/>
                      <a:r>
                        <a:rPr lang="en-US" b="1" dirty="0"/>
                        <a:t>Latency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rgbClr val="FF0000"/>
                          </a:solidFill>
                          <a:latin typeface="Barlow (Body)"/>
                        </a:rPr>
                        <a:t>442 cycles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rgbClr val="FF0000"/>
                          </a:solidFill>
                          <a:latin typeface="Barlow (Body)"/>
                        </a:rPr>
                        <a:t>59 cycles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rgbClr val="FF0000"/>
                          </a:solidFill>
                          <a:latin typeface="Barlow (Body)"/>
                        </a:rPr>
                        <a:t>24 cycles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24 cycles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5869303"/>
                  </a:ext>
                </a:extLst>
              </a:tr>
            </a:tbl>
          </a:graphicData>
        </a:graphic>
      </p:graphicFrame>
    </p:spTree>
    <p:extLst>
      <p:ext uri="{BB962C8B-B14F-4D97-AF65-F5344CB8AC3E}">
        <p14:creationId xmlns:p14="http://schemas.microsoft.com/office/powerpoint/2010/main" val="3762976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Software &amp; Verification (2)</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105</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3" y="763376"/>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Step 2:Latency Profiling</a:t>
            </a:r>
            <a:endParaRPr lang="en-US" sz="2000" dirty="0">
              <a:latin typeface="Barlow (Body)"/>
            </a:endParaRPr>
          </a:p>
          <a:p>
            <a:pPr marL="742950" lvl="1"/>
            <a:r>
              <a:rPr lang="en-US" sz="1800" dirty="0">
                <a:latin typeface="Barlow (Body)"/>
              </a:rPr>
              <a:t>Phase 2: Result</a:t>
            </a:r>
            <a:endParaRPr lang="en-US" sz="1600" dirty="0">
              <a:latin typeface="Barlow (Body)"/>
            </a:endParaRPr>
          </a:p>
        </p:txBody>
      </p:sp>
      <p:sp>
        <p:nvSpPr>
          <p:cNvPr id="8" name="Content Placeholder 2">
            <a:extLst>
              <a:ext uri="{FF2B5EF4-FFF2-40B4-BE49-F238E27FC236}">
                <a16:creationId xmlns:a16="http://schemas.microsoft.com/office/drawing/2014/main" id="{FC7A894F-D8D4-4D76-976E-3F7B3C9D71FC}"/>
              </a:ext>
            </a:extLst>
          </p:cNvPr>
          <p:cNvSpPr txBox="1">
            <a:spLocks/>
          </p:cNvSpPr>
          <p:nvPr/>
        </p:nvSpPr>
        <p:spPr>
          <a:xfrm>
            <a:off x="7331878" y="763375"/>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600" dirty="0">
              <a:latin typeface="Barlow (Body)"/>
            </a:endParaRPr>
          </a:p>
          <a:p>
            <a:pPr marL="742950" lvl="1"/>
            <a:r>
              <a:rPr lang="en-US" sz="1800" dirty="0">
                <a:latin typeface="Barlow (Body)"/>
              </a:rPr>
              <a:t>Phase 3: Result</a:t>
            </a:r>
            <a:endParaRPr lang="en-US" sz="1600" dirty="0">
              <a:latin typeface="Barlow (Body)"/>
            </a:endParaRPr>
          </a:p>
        </p:txBody>
      </p:sp>
      <p:pic>
        <p:nvPicPr>
          <p:cNvPr id="9" name="Picture 8">
            <a:extLst>
              <a:ext uri="{FF2B5EF4-FFF2-40B4-BE49-F238E27FC236}">
                <a16:creationId xmlns:a16="http://schemas.microsoft.com/office/drawing/2014/main" id="{F67DC54A-2CBF-4BAE-9B9F-207CCBAD4C32}"/>
              </a:ext>
            </a:extLst>
          </p:cNvPr>
          <p:cNvPicPr>
            <a:picLocks noChangeAspect="1"/>
          </p:cNvPicPr>
          <p:nvPr/>
        </p:nvPicPr>
        <p:blipFill rotWithShape="1">
          <a:blip r:embed="rId2">
            <a:extLst>
              <a:ext uri="{28A0092B-C50C-407E-A947-70E740481C1C}">
                <a14:useLocalDpi xmlns:a14="http://schemas.microsoft.com/office/drawing/2010/main" val="0"/>
              </a:ext>
            </a:extLst>
          </a:blip>
          <a:srcRect t="6931" r="1515" b="10019"/>
          <a:stretch/>
        </p:blipFill>
        <p:spPr>
          <a:xfrm>
            <a:off x="186917" y="1737778"/>
            <a:ext cx="5640738" cy="4356846"/>
          </a:xfrm>
          <a:prstGeom prst="rect">
            <a:avLst/>
          </a:prstGeom>
        </p:spPr>
      </p:pic>
      <p:pic>
        <p:nvPicPr>
          <p:cNvPr id="10" name="Picture 9">
            <a:extLst>
              <a:ext uri="{FF2B5EF4-FFF2-40B4-BE49-F238E27FC236}">
                <a16:creationId xmlns:a16="http://schemas.microsoft.com/office/drawing/2014/main" id="{0D41E064-4332-4306-93F8-337FF090C27A}"/>
              </a:ext>
            </a:extLst>
          </p:cNvPr>
          <p:cNvPicPr>
            <a:picLocks noChangeAspect="1"/>
          </p:cNvPicPr>
          <p:nvPr/>
        </p:nvPicPr>
        <p:blipFill>
          <a:blip r:embed="rId3"/>
          <a:stretch>
            <a:fillRect/>
          </a:stretch>
        </p:blipFill>
        <p:spPr>
          <a:xfrm>
            <a:off x="6096000" y="1789445"/>
            <a:ext cx="6030802" cy="4253512"/>
          </a:xfrm>
          <a:prstGeom prst="rect">
            <a:avLst/>
          </a:prstGeom>
        </p:spPr>
      </p:pic>
    </p:spTree>
    <p:extLst>
      <p:ext uri="{BB962C8B-B14F-4D97-AF65-F5344CB8AC3E}">
        <p14:creationId xmlns:p14="http://schemas.microsoft.com/office/powerpoint/2010/main" val="16875712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25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1" end="1"/>
                                            </p:txEl>
                                          </p:spTgt>
                                        </p:tgtEl>
                                        <p:attrNameLst>
                                          <p:attrName>style.visibility</p:attrName>
                                        </p:attrNameLst>
                                      </p:cBhvr>
                                      <p:to>
                                        <p:strVal val="visible"/>
                                      </p:to>
                                    </p:set>
                                    <p:animEffect transition="in" filter="fade">
                                      <p:cBhvr>
                                        <p:cTn id="20" dur="500"/>
                                        <p:tgtEl>
                                          <p:spTgt spid="8">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Software &amp; Verification (2)</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106</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3" y="763376"/>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Step 2:Latency Profiling</a:t>
            </a:r>
            <a:endParaRPr lang="en-US" sz="2000" dirty="0">
              <a:latin typeface="Barlow (Body)"/>
            </a:endParaRPr>
          </a:p>
          <a:p>
            <a:pPr marL="742950" lvl="1"/>
            <a:r>
              <a:rPr lang="en-US" sz="1800" dirty="0">
                <a:latin typeface="Barlow (Body)"/>
              </a:rPr>
              <a:t>Phase 4: Result</a:t>
            </a:r>
            <a:endParaRPr lang="en-US" sz="1600" dirty="0">
              <a:latin typeface="Barlow (Body)"/>
            </a:endParaRPr>
          </a:p>
        </p:txBody>
      </p:sp>
      <p:sp>
        <p:nvSpPr>
          <p:cNvPr id="8" name="Content Placeholder 2">
            <a:extLst>
              <a:ext uri="{FF2B5EF4-FFF2-40B4-BE49-F238E27FC236}">
                <a16:creationId xmlns:a16="http://schemas.microsoft.com/office/drawing/2014/main" id="{FC7A894F-D8D4-4D76-976E-3F7B3C9D71FC}"/>
              </a:ext>
            </a:extLst>
          </p:cNvPr>
          <p:cNvSpPr txBox="1">
            <a:spLocks/>
          </p:cNvSpPr>
          <p:nvPr/>
        </p:nvSpPr>
        <p:spPr>
          <a:xfrm>
            <a:off x="7331878" y="763375"/>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600" dirty="0">
              <a:latin typeface="Barlow (Body)"/>
            </a:endParaRPr>
          </a:p>
          <a:p>
            <a:pPr marL="742950" lvl="1"/>
            <a:r>
              <a:rPr lang="en-US" sz="1800" dirty="0">
                <a:latin typeface="Barlow (Body)"/>
              </a:rPr>
              <a:t>Testbench result</a:t>
            </a:r>
          </a:p>
        </p:txBody>
      </p:sp>
      <p:pic>
        <p:nvPicPr>
          <p:cNvPr id="12" name="Picture 11">
            <a:extLst>
              <a:ext uri="{FF2B5EF4-FFF2-40B4-BE49-F238E27FC236}">
                <a16:creationId xmlns:a16="http://schemas.microsoft.com/office/drawing/2014/main" id="{7D117E5F-AE31-4B46-A081-173C9B118037}"/>
              </a:ext>
            </a:extLst>
          </p:cNvPr>
          <p:cNvPicPr>
            <a:picLocks noChangeAspect="1"/>
          </p:cNvPicPr>
          <p:nvPr/>
        </p:nvPicPr>
        <p:blipFill>
          <a:blip r:embed="rId2"/>
          <a:stretch>
            <a:fillRect/>
          </a:stretch>
        </p:blipFill>
        <p:spPr>
          <a:xfrm>
            <a:off x="61913" y="1737779"/>
            <a:ext cx="5743575" cy="4318735"/>
          </a:xfrm>
          <a:prstGeom prst="rect">
            <a:avLst/>
          </a:prstGeom>
        </p:spPr>
      </p:pic>
      <p:pic>
        <p:nvPicPr>
          <p:cNvPr id="16" name="Picture 15">
            <a:extLst>
              <a:ext uri="{FF2B5EF4-FFF2-40B4-BE49-F238E27FC236}">
                <a16:creationId xmlns:a16="http://schemas.microsoft.com/office/drawing/2014/main" id="{E035B14C-E1D1-4FB8-9A55-24BB12EA16A9}"/>
              </a:ext>
            </a:extLst>
          </p:cNvPr>
          <p:cNvPicPr>
            <a:picLocks noChangeAspect="1"/>
          </p:cNvPicPr>
          <p:nvPr/>
        </p:nvPicPr>
        <p:blipFill>
          <a:blip r:embed="rId3"/>
          <a:stretch>
            <a:fillRect/>
          </a:stretch>
        </p:blipFill>
        <p:spPr>
          <a:xfrm>
            <a:off x="6270399" y="1737779"/>
            <a:ext cx="5798968" cy="4356846"/>
          </a:xfrm>
          <a:prstGeom prst="rect">
            <a:avLst/>
          </a:prstGeom>
        </p:spPr>
      </p:pic>
    </p:spTree>
    <p:extLst>
      <p:ext uri="{BB962C8B-B14F-4D97-AF65-F5344CB8AC3E}">
        <p14:creationId xmlns:p14="http://schemas.microsoft.com/office/powerpoint/2010/main" val="2534466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1" end="1"/>
                                            </p:txEl>
                                          </p:spTgt>
                                        </p:tgtEl>
                                        <p:attrNameLst>
                                          <p:attrName>style.visibility</p:attrName>
                                        </p:attrNameLst>
                                      </p:cBhvr>
                                      <p:to>
                                        <p:strVal val="visible"/>
                                      </p:to>
                                    </p:set>
                                    <p:animEffect transition="in" filter="fade">
                                      <p:cBhvr>
                                        <p:cTn id="20" dur="500"/>
                                        <p:tgtEl>
                                          <p:spTgt spid="8">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:Questions </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107</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2" y="763376"/>
            <a:ext cx="10710319"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latin typeface="Barlow (Body)"/>
            </a:endParaRPr>
          </a:p>
        </p:txBody>
      </p:sp>
      <p:sp>
        <p:nvSpPr>
          <p:cNvPr id="8" name="TextBox 7">
            <a:extLst>
              <a:ext uri="{FF2B5EF4-FFF2-40B4-BE49-F238E27FC236}">
                <a16:creationId xmlns:a16="http://schemas.microsoft.com/office/drawing/2014/main" id="{1F746DB1-875A-48A7-A334-8FCD9B452FC1}"/>
              </a:ext>
            </a:extLst>
          </p:cNvPr>
          <p:cNvSpPr txBox="1"/>
          <p:nvPr/>
        </p:nvSpPr>
        <p:spPr>
          <a:xfrm>
            <a:off x="122631" y="855834"/>
            <a:ext cx="11511763" cy="1323439"/>
          </a:xfrm>
          <a:prstGeom prst="rect">
            <a:avLst/>
          </a:prstGeom>
          <a:noFill/>
        </p:spPr>
        <p:txBody>
          <a:bodyPr wrap="square">
            <a:spAutoFit/>
          </a:bodyPr>
          <a:lstStyle/>
          <a:p>
            <a:r>
              <a:rPr lang="en-US" sz="2000" b="1" dirty="0">
                <a:latin typeface="+mj-lt"/>
              </a:rPr>
              <a:t>Overhead Sources ?</a:t>
            </a:r>
          </a:p>
          <a:p>
            <a:r>
              <a:rPr lang="en-US" sz="2000" b="1" dirty="0">
                <a:latin typeface="+mj-lt"/>
              </a:rPr>
              <a:t>Pulp-runtime vs SDK, Is there a difference for SW latency and total overhead ?</a:t>
            </a:r>
          </a:p>
          <a:p>
            <a:r>
              <a:rPr lang="en-US" sz="2000" b="1" dirty="0">
                <a:latin typeface="+mj-lt"/>
              </a:rPr>
              <a:t>Are the Results Valid and Logical ?</a:t>
            </a:r>
          </a:p>
          <a:p>
            <a:r>
              <a:rPr lang="en-US" sz="2000" b="1" dirty="0">
                <a:latin typeface="+mj-lt"/>
              </a:rPr>
              <a:t> </a:t>
            </a:r>
          </a:p>
        </p:txBody>
      </p:sp>
    </p:spTree>
    <p:extLst>
      <p:ext uri="{BB962C8B-B14F-4D97-AF65-F5344CB8AC3E}">
        <p14:creationId xmlns:p14="http://schemas.microsoft.com/office/powerpoint/2010/main" val="307464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60ABD-6DE1-98B3-76A7-F557C877D61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B0A7D4-7BD1-0435-BD9B-B4C41483A597}"/>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p>
          <a:p>
            <a:r>
              <a:rPr lang="en-US" b="1" dirty="0"/>
              <a:t>HW/SW Co-design (HW Part)</a:t>
            </a:r>
          </a:p>
          <a:p>
            <a:r>
              <a:rPr lang="en-US" b="1" dirty="0"/>
              <a:t>HW/SW Co-design (SW Part)</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E5CEAD2C-8816-8747-28E0-C7673449AA3F}"/>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6E9E864F-5322-3151-9611-133C8C065EF0}"/>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D3795F2-2F5E-8C3A-9932-B3FC8A44B79A}"/>
              </a:ext>
            </a:extLst>
          </p:cNvPr>
          <p:cNvSpPr>
            <a:spLocks noGrp="1"/>
          </p:cNvSpPr>
          <p:nvPr>
            <p:ph type="sldNum" sz="quarter" idx="4"/>
          </p:nvPr>
        </p:nvSpPr>
        <p:spPr/>
        <p:txBody>
          <a:bodyPr/>
          <a:lstStyle/>
          <a:p>
            <a:pPr>
              <a:defRPr/>
            </a:pPr>
            <a:fld id="{A9CE67A1-BA7F-A74E-B5D7-615746DEEC2B}" type="slidenum">
              <a:rPr lang="en-US" smtClean="0"/>
              <a:pPr>
                <a:defRPr/>
              </a:pPr>
              <a:t>108</a:t>
            </a:fld>
            <a:endParaRPr lang="en-US" baseline="-11000" dirty="0"/>
          </a:p>
        </p:txBody>
      </p:sp>
      <p:sp>
        <p:nvSpPr>
          <p:cNvPr id="6" name="Date Placeholder 5">
            <a:extLst>
              <a:ext uri="{FF2B5EF4-FFF2-40B4-BE49-F238E27FC236}">
                <a16:creationId xmlns:a16="http://schemas.microsoft.com/office/drawing/2014/main" id="{015CDCB6-EBA3-E0FA-BC39-3A0A75BA3216}"/>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36787542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09003-4A69-BD2A-6A4C-EE53EC97D5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073F3C-6ACD-6B6B-4C19-DAC024FA055F}"/>
              </a:ext>
            </a:extLst>
          </p:cNvPr>
          <p:cNvSpPr>
            <a:spLocks noGrp="1"/>
          </p:cNvSpPr>
          <p:nvPr>
            <p:ph type="title"/>
          </p:nvPr>
        </p:nvSpPr>
        <p:spPr>
          <a:xfrm>
            <a:off x="347472" y="3827812"/>
            <a:ext cx="7755668" cy="664797"/>
          </a:xfrm>
        </p:spPr>
        <p:txBody>
          <a:bodyPr/>
          <a:lstStyle/>
          <a:p>
            <a:r>
              <a:rPr lang="en-US" dirty="0"/>
              <a:t>HW/SW Co-design (SW Part) </a:t>
            </a:r>
          </a:p>
        </p:txBody>
      </p:sp>
      <p:sp>
        <p:nvSpPr>
          <p:cNvPr id="4" name="Footer Placeholder 3">
            <a:extLst>
              <a:ext uri="{FF2B5EF4-FFF2-40B4-BE49-F238E27FC236}">
                <a16:creationId xmlns:a16="http://schemas.microsoft.com/office/drawing/2014/main" id="{8CF1F8BE-A2C0-72C2-210A-8CE470537AE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BA80BB4-4F85-9421-7A78-FA7BCBB40A8E}"/>
              </a:ext>
            </a:extLst>
          </p:cNvPr>
          <p:cNvSpPr>
            <a:spLocks noGrp="1"/>
          </p:cNvSpPr>
          <p:nvPr>
            <p:ph type="sldNum" sz="quarter" idx="4"/>
          </p:nvPr>
        </p:nvSpPr>
        <p:spPr/>
        <p:txBody>
          <a:bodyPr/>
          <a:lstStyle/>
          <a:p>
            <a:pPr>
              <a:defRPr/>
            </a:pPr>
            <a:fld id="{A9CE67A1-BA7F-A74E-B5D7-615746DEEC2B}" type="slidenum">
              <a:rPr lang="en-US" smtClean="0"/>
              <a:pPr>
                <a:defRPr/>
              </a:pPr>
              <a:t>109</a:t>
            </a:fld>
            <a:endParaRPr lang="en-US" baseline="-11000" dirty="0"/>
          </a:p>
        </p:txBody>
      </p:sp>
      <p:sp>
        <p:nvSpPr>
          <p:cNvPr id="6" name="Date Placeholder 5">
            <a:extLst>
              <a:ext uri="{FF2B5EF4-FFF2-40B4-BE49-F238E27FC236}">
                <a16:creationId xmlns:a16="http://schemas.microsoft.com/office/drawing/2014/main" id="{E1F25D22-67EC-E960-A1DC-DD7DFB3F3671}"/>
              </a:ext>
            </a:extLst>
          </p:cNvPr>
          <p:cNvSpPr>
            <a:spLocks noGrp="1"/>
          </p:cNvSpPr>
          <p:nvPr>
            <p:ph type="dt" sz="half" idx="2"/>
          </p:nvPr>
        </p:nvSpPr>
        <p:spPr/>
        <p:txBody>
          <a:body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32207406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B66C33-004D-6EDC-97CE-54C9BCF4E2AB}"/>
              </a:ext>
            </a:extLst>
          </p:cNvPr>
          <p:cNvSpPr>
            <a:spLocks noGrp="1"/>
          </p:cNvSpPr>
          <p:nvPr>
            <p:ph idx="1"/>
          </p:nvPr>
        </p:nvSpPr>
        <p:spPr/>
        <p:txBody>
          <a:bodyPr/>
          <a:lstStyle/>
          <a:p>
            <a:r>
              <a:rPr lang="en-US" b="1" dirty="0"/>
              <a:t>HW/SW Co-design (SW Part) </a:t>
            </a:r>
          </a:p>
          <a:p>
            <a:pPr lvl="1"/>
            <a:r>
              <a:rPr lang="en-US" b="1" dirty="0"/>
              <a:t>Problem Statement</a:t>
            </a:r>
          </a:p>
          <a:p>
            <a:pPr lvl="1"/>
            <a:r>
              <a:rPr lang="en-US" b="1" dirty="0"/>
              <a:t>Architecture Challenges</a:t>
            </a:r>
            <a:endParaRPr lang="en-US" dirty="0"/>
          </a:p>
          <a:p>
            <a:pPr lvl="1"/>
            <a:r>
              <a:rPr lang="en-US" b="1" dirty="0"/>
              <a:t>SW vs. HW Data Flow </a:t>
            </a:r>
            <a:endParaRPr lang="en-US" dirty="0"/>
          </a:p>
          <a:p>
            <a:pPr lvl="1"/>
            <a:r>
              <a:rPr lang="en-US" b="1" dirty="0"/>
              <a:t>Benchmarking Results</a:t>
            </a:r>
          </a:p>
          <a:p>
            <a:pPr lvl="1"/>
            <a:r>
              <a:rPr lang="en-US" b="1" dirty="0"/>
              <a:t>Moving to</a:t>
            </a:r>
            <a:r>
              <a:rPr lang="en-US" dirty="0"/>
              <a:t> </a:t>
            </a:r>
            <a:r>
              <a:rPr lang="en-US" b="1" dirty="0"/>
              <a:t>High-Radix</a:t>
            </a:r>
          </a:p>
          <a:p>
            <a:pPr marL="228600" lvl="1" indent="0">
              <a:buNone/>
            </a:pPr>
            <a:endParaRPr lang="en-US" b="1" dirty="0"/>
          </a:p>
          <a:p>
            <a:pPr lvl="1"/>
            <a:endParaRPr lang="en-US" dirty="0"/>
          </a:p>
          <a:p>
            <a:pPr lvl="1"/>
            <a:endParaRPr lang="en-US" dirty="0"/>
          </a:p>
        </p:txBody>
      </p:sp>
      <p:sp>
        <p:nvSpPr>
          <p:cNvPr id="3" name="Title 2">
            <a:extLst>
              <a:ext uri="{FF2B5EF4-FFF2-40B4-BE49-F238E27FC236}">
                <a16:creationId xmlns:a16="http://schemas.microsoft.com/office/drawing/2014/main" id="{229E49DB-AE18-2044-15B2-5CFD5FFD905B}"/>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3B87D4A3-92C2-0BB7-5285-5C6E26FC3BD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80DAFB8D-15A9-3D26-8CA1-E5EDA4F7E824}"/>
              </a:ext>
            </a:extLst>
          </p:cNvPr>
          <p:cNvSpPr>
            <a:spLocks noGrp="1"/>
          </p:cNvSpPr>
          <p:nvPr>
            <p:ph type="sldNum" sz="quarter" idx="4"/>
          </p:nvPr>
        </p:nvSpPr>
        <p:spPr/>
        <p:txBody>
          <a:bodyPr/>
          <a:lstStyle/>
          <a:p>
            <a:pPr>
              <a:defRPr/>
            </a:pPr>
            <a:fld id="{A9CE67A1-BA7F-A74E-B5D7-615746DEEC2B}" type="slidenum">
              <a:rPr lang="en-US" smtClean="0"/>
              <a:pPr>
                <a:defRPr/>
              </a:pPr>
              <a:t>110</a:t>
            </a:fld>
            <a:endParaRPr lang="en-US" baseline="-11000" dirty="0"/>
          </a:p>
        </p:txBody>
      </p:sp>
      <p:sp>
        <p:nvSpPr>
          <p:cNvPr id="6" name="Date Placeholder 5">
            <a:extLst>
              <a:ext uri="{FF2B5EF4-FFF2-40B4-BE49-F238E27FC236}">
                <a16:creationId xmlns:a16="http://schemas.microsoft.com/office/drawing/2014/main" id="{0694740D-5144-2CEA-24B1-8A991E7E1C5B}"/>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14197489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045115-3F9F-E8B2-638B-19553999C878}"/>
              </a:ext>
            </a:extLst>
          </p:cNvPr>
          <p:cNvSpPr>
            <a:spLocks noGrp="1"/>
          </p:cNvSpPr>
          <p:nvPr>
            <p:ph idx="1"/>
          </p:nvPr>
        </p:nvSpPr>
        <p:spPr/>
        <p:txBody>
          <a:bodyPr/>
          <a:lstStyle/>
          <a:p>
            <a:pPr marL="0" indent="0">
              <a:buNone/>
            </a:pPr>
            <a:r>
              <a:rPr lang="en-US" b="1" dirty="0"/>
              <a:t> Objective:</a:t>
            </a:r>
          </a:p>
          <a:p>
            <a:pPr>
              <a:buFont typeface="Arial" panose="020B0604020202020204" pitchFamily="34" charset="0"/>
              <a:buChar char="•"/>
            </a:pPr>
            <a:r>
              <a:rPr lang="en-US" dirty="0"/>
              <a:t>Integrate a custom-designed Radix-2 FFT Butterfly hardware accelerator into the PULP platform.</a:t>
            </a:r>
          </a:p>
          <a:p>
            <a:pPr>
              <a:buFont typeface="Arial" panose="020B0604020202020204" pitchFamily="34" charset="0"/>
              <a:buChar char="•"/>
            </a:pPr>
            <a:r>
              <a:rPr lang="en-US" dirty="0"/>
              <a:t>Minimize processing latency</a:t>
            </a:r>
          </a:p>
          <a:p>
            <a:pPr marL="0" indent="0">
              <a:buNone/>
            </a:pPr>
            <a:r>
              <a:rPr lang="en-US" b="1" dirty="0"/>
              <a:t>Goal:</a:t>
            </a:r>
          </a:p>
          <a:p>
            <a:pPr>
              <a:buFont typeface="Arial" panose="020B0604020202020204" pitchFamily="34" charset="0"/>
              <a:buChar char="•"/>
            </a:pPr>
            <a:r>
              <a:rPr lang="en-US" dirty="0"/>
              <a:t>Identify and mitigate architectural bottlenecks to surpass the performance of optimized CPU SIMD.</a:t>
            </a:r>
            <a:endParaRPr lang="en-US" b="1" dirty="0"/>
          </a:p>
          <a:p>
            <a:pPr marL="0" indent="0">
              <a:buNone/>
            </a:pPr>
            <a:r>
              <a:rPr lang="en-US" b="1" dirty="0"/>
              <a:t>Current limitation:</a:t>
            </a:r>
            <a:endParaRPr lang="en-US" dirty="0"/>
          </a:p>
          <a:p>
            <a:pPr>
              <a:buFont typeface="Arial" panose="020B0604020202020204" pitchFamily="34" charset="0"/>
              <a:buChar char="•"/>
            </a:pPr>
            <a:r>
              <a:rPr lang="en-US" dirty="0"/>
              <a:t>Communication overhead (AXI bus latency) currently outweighs the speedup gained from hardware arithmetic.</a:t>
            </a:r>
            <a:endParaRPr lang="en-US" b="1" dirty="0"/>
          </a:p>
          <a:p>
            <a:pPr marL="0" indent="0">
              <a:buNone/>
            </a:pPr>
            <a:endParaRPr lang="en-US" b="1" dirty="0"/>
          </a:p>
        </p:txBody>
      </p:sp>
      <p:sp>
        <p:nvSpPr>
          <p:cNvPr id="3" name="Title 2">
            <a:extLst>
              <a:ext uri="{FF2B5EF4-FFF2-40B4-BE49-F238E27FC236}">
                <a16:creationId xmlns:a16="http://schemas.microsoft.com/office/drawing/2014/main" id="{EA1741E2-C345-79B6-2430-AC8E9A4964C4}"/>
              </a:ext>
            </a:extLst>
          </p:cNvPr>
          <p:cNvSpPr>
            <a:spLocks noGrp="1"/>
          </p:cNvSpPr>
          <p:nvPr>
            <p:ph type="title"/>
          </p:nvPr>
        </p:nvSpPr>
        <p:spPr>
          <a:xfrm>
            <a:off x="342901" y="219456"/>
            <a:ext cx="10287001" cy="470898"/>
          </a:xfrm>
        </p:spPr>
        <p:txBody>
          <a:bodyPr/>
          <a:lstStyle/>
          <a:p>
            <a:r>
              <a:rPr lang="en-US" dirty="0"/>
              <a:t>Problem Statement  </a:t>
            </a:r>
          </a:p>
        </p:txBody>
      </p:sp>
      <p:sp>
        <p:nvSpPr>
          <p:cNvPr id="4" name="Footer Placeholder 3">
            <a:extLst>
              <a:ext uri="{FF2B5EF4-FFF2-40B4-BE49-F238E27FC236}">
                <a16:creationId xmlns:a16="http://schemas.microsoft.com/office/drawing/2014/main" id="{9FCEF3D3-4ED3-FFE5-09A5-B36C148976F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885C0EA-6BAE-A463-4081-A16E49B07554}"/>
              </a:ext>
            </a:extLst>
          </p:cNvPr>
          <p:cNvSpPr>
            <a:spLocks noGrp="1"/>
          </p:cNvSpPr>
          <p:nvPr>
            <p:ph type="sldNum" sz="quarter" idx="4"/>
          </p:nvPr>
        </p:nvSpPr>
        <p:spPr/>
        <p:txBody>
          <a:bodyPr/>
          <a:lstStyle/>
          <a:p>
            <a:pPr>
              <a:defRPr/>
            </a:pPr>
            <a:fld id="{A9CE67A1-BA7F-A74E-B5D7-615746DEEC2B}" type="slidenum">
              <a:rPr lang="en-US" smtClean="0"/>
              <a:pPr>
                <a:defRPr/>
              </a:pPr>
              <a:t>111</a:t>
            </a:fld>
            <a:endParaRPr lang="en-US" baseline="-11000" dirty="0"/>
          </a:p>
        </p:txBody>
      </p:sp>
      <p:sp>
        <p:nvSpPr>
          <p:cNvPr id="6" name="Date Placeholder 5">
            <a:extLst>
              <a:ext uri="{FF2B5EF4-FFF2-40B4-BE49-F238E27FC236}">
                <a16:creationId xmlns:a16="http://schemas.microsoft.com/office/drawing/2014/main" id="{19DFE1E1-EA1E-D7BC-A6BD-4EB76DACF2B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34633224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F1A2B-D6F9-CF22-B461-7D06ABB807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B622CE-8D49-B78A-4DD1-4CEE483D88CF}"/>
              </a:ext>
            </a:extLst>
          </p:cNvPr>
          <p:cNvSpPr>
            <a:spLocks noGrp="1"/>
          </p:cNvSpPr>
          <p:nvPr>
            <p:ph type="title"/>
          </p:nvPr>
        </p:nvSpPr>
        <p:spPr>
          <a:xfrm>
            <a:off x="342901" y="219456"/>
            <a:ext cx="10287001" cy="470898"/>
          </a:xfrm>
        </p:spPr>
        <p:txBody>
          <a:bodyPr/>
          <a:lstStyle/>
          <a:p>
            <a:r>
              <a:rPr lang="en-US" dirty="0"/>
              <a:t>Architecture Challenges</a:t>
            </a:r>
          </a:p>
        </p:txBody>
      </p:sp>
      <p:sp>
        <p:nvSpPr>
          <p:cNvPr id="4" name="Footer Placeholder 3">
            <a:extLst>
              <a:ext uri="{FF2B5EF4-FFF2-40B4-BE49-F238E27FC236}">
                <a16:creationId xmlns:a16="http://schemas.microsoft.com/office/drawing/2014/main" id="{A7872A32-4C6C-A75C-1841-DA6FF17DE0B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4C48638-377B-782F-088F-E4C18D03F2FA}"/>
              </a:ext>
            </a:extLst>
          </p:cNvPr>
          <p:cNvSpPr>
            <a:spLocks noGrp="1"/>
          </p:cNvSpPr>
          <p:nvPr>
            <p:ph type="sldNum" sz="quarter" idx="4"/>
          </p:nvPr>
        </p:nvSpPr>
        <p:spPr/>
        <p:txBody>
          <a:bodyPr/>
          <a:lstStyle/>
          <a:p>
            <a:pPr>
              <a:defRPr/>
            </a:pPr>
            <a:fld id="{A9CE67A1-BA7F-A74E-B5D7-615746DEEC2B}" type="slidenum">
              <a:rPr lang="en-US" smtClean="0"/>
              <a:pPr>
                <a:defRPr/>
              </a:pPr>
              <a:t>112</a:t>
            </a:fld>
            <a:endParaRPr lang="en-US" baseline="-11000" dirty="0"/>
          </a:p>
        </p:txBody>
      </p:sp>
      <p:sp>
        <p:nvSpPr>
          <p:cNvPr id="6" name="Date Placeholder 5">
            <a:extLst>
              <a:ext uri="{FF2B5EF4-FFF2-40B4-BE49-F238E27FC236}">
                <a16:creationId xmlns:a16="http://schemas.microsoft.com/office/drawing/2014/main" id="{F7D1AAE4-52E0-162A-D18C-A6FDD295EDFE}"/>
              </a:ext>
            </a:extLst>
          </p:cNvPr>
          <p:cNvSpPr>
            <a:spLocks noGrp="1"/>
          </p:cNvSpPr>
          <p:nvPr>
            <p:ph type="dt" sz="half" idx="2"/>
          </p:nvPr>
        </p:nvSpPr>
        <p:spPr/>
        <p:txBody>
          <a:bodyPr/>
          <a:lstStyle/>
          <a:p>
            <a:fld id="{EAFD7BB1-AB7F-4336-A8B3-6627E5D36FE4}" type="datetime3">
              <a:rPr lang="en-US" smtClean="0"/>
              <a:t>19 March 2026</a:t>
            </a:fld>
            <a:endParaRPr lang="en-US" dirty="0"/>
          </a:p>
        </p:txBody>
      </p:sp>
      <p:pic>
        <p:nvPicPr>
          <p:cNvPr id="2" name="Content Placeholder 6">
            <a:extLst>
              <a:ext uri="{FF2B5EF4-FFF2-40B4-BE49-F238E27FC236}">
                <a16:creationId xmlns:a16="http://schemas.microsoft.com/office/drawing/2014/main" id="{DD3B2C93-098A-4525-BD7A-E39F21398D63}"/>
              </a:ext>
            </a:extLst>
          </p:cNvPr>
          <p:cNvPicPr>
            <a:picLocks noChangeAspect="1"/>
          </p:cNvPicPr>
          <p:nvPr/>
        </p:nvPicPr>
        <p:blipFill rotWithShape="1">
          <a:blip r:embed="rId2">
            <a:extLst>
              <a:ext uri="{28A0092B-C50C-407E-A947-70E740481C1C}">
                <a14:useLocalDpi xmlns:a14="http://schemas.microsoft.com/office/drawing/2010/main" val="0"/>
              </a:ext>
            </a:extLst>
          </a:blip>
          <a:srcRect r="3150"/>
          <a:stretch>
            <a:fillRect/>
          </a:stretch>
        </p:blipFill>
        <p:spPr>
          <a:xfrm>
            <a:off x="6228208" y="1075765"/>
            <a:ext cx="5963792" cy="4733363"/>
          </a:xfrm>
          <a:prstGeom prst="rect">
            <a:avLst/>
          </a:prstGeom>
        </p:spPr>
      </p:pic>
      <p:sp>
        <p:nvSpPr>
          <p:cNvPr id="7" name="TextBox 6">
            <a:extLst>
              <a:ext uri="{FF2B5EF4-FFF2-40B4-BE49-F238E27FC236}">
                <a16:creationId xmlns:a16="http://schemas.microsoft.com/office/drawing/2014/main" id="{E4093685-1AFA-23AB-1423-225AA90D4503}"/>
              </a:ext>
            </a:extLst>
          </p:cNvPr>
          <p:cNvSpPr txBox="1"/>
          <p:nvPr/>
        </p:nvSpPr>
        <p:spPr>
          <a:xfrm>
            <a:off x="216309" y="885731"/>
            <a:ext cx="6223819" cy="4247317"/>
          </a:xfrm>
          <a:prstGeom prst="rect">
            <a:avLst/>
          </a:prstGeom>
          <a:noFill/>
        </p:spPr>
        <p:txBody>
          <a:bodyPr wrap="square">
            <a:spAutoFit/>
          </a:bodyPr>
          <a:lstStyle/>
          <a:p>
            <a:pPr marL="285750" indent="-285750">
              <a:buFont typeface="Arial" panose="020B0604020202020204" pitchFamily="34" charset="0"/>
              <a:buChar char="•"/>
            </a:pPr>
            <a:r>
              <a:rPr lang="en-US" dirty="0"/>
              <a:t>Time saved by high-speed hardware arithmetic is currently outweighed by the latency of moving operands and results across the AXI.</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Cores residing in the Cluster must transition through the Cluster Bus and across the SoC’s Logarithmic Interconnect to reach the AXI bridge.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While the cluster provides eight parallel cores, the SoC AXI bridge acts as a bottleneck, allowing only one transaction to the accelerator at a time</a:t>
            </a:r>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764056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1D2DE5-0492-3824-5B17-B95BEBBD76C4}"/>
              </a:ext>
            </a:extLst>
          </p:cNvPr>
          <p:cNvSpPr>
            <a:spLocks noGrp="1"/>
          </p:cNvSpPr>
          <p:nvPr>
            <p:ph idx="1"/>
          </p:nvPr>
        </p:nvSpPr>
        <p:spPr>
          <a:xfrm>
            <a:off x="355600" y="1066800"/>
            <a:ext cx="9899132" cy="3047126"/>
          </a:xfrm>
        </p:spPr>
        <p:txBody>
          <a:bodyPr>
            <a:normAutofit lnSpcReduction="10000"/>
          </a:bodyPr>
          <a:lstStyle/>
          <a:p>
            <a:pPr marL="0" indent="0">
              <a:buNone/>
            </a:pPr>
            <a:r>
              <a:rPr lang="en-US" dirty="0"/>
              <a:t>Pure Software: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HW/SW:</a:t>
            </a:r>
          </a:p>
          <a:p>
            <a:pPr marL="0" indent="0">
              <a:buNone/>
            </a:pPr>
            <a:endParaRPr lang="en-US" dirty="0"/>
          </a:p>
        </p:txBody>
      </p:sp>
      <p:sp>
        <p:nvSpPr>
          <p:cNvPr id="3" name="Title 2">
            <a:extLst>
              <a:ext uri="{FF2B5EF4-FFF2-40B4-BE49-F238E27FC236}">
                <a16:creationId xmlns:a16="http://schemas.microsoft.com/office/drawing/2014/main" id="{EE9DFC03-7E97-4F54-8E1A-0125FF8EF7E7}"/>
              </a:ext>
            </a:extLst>
          </p:cNvPr>
          <p:cNvSpPr>
            <a:spLocks noGrp="1"/>
          </p:cNvSpPr>
          <p:nvPr>
            <p:ph type="title"/>
          </p:nvPr>
        </p:nvSpPr>
        <p:spPr>
          <a:xfrm>
            <a:off x="342901" y="219456"/>
            <a:ext cx="10287001" cy="470898"/>
          </a:xfrm>
        </p:spPr>
        <p:txBody>
          <a:bodyPr/>
          <a:lstStyle/>
          <a:p>
            <a:r>
              <a:rPr lang="en-US" dirty="0"/>
              <a:t>SW vs. HW Data Flow </a:t>
            </a:r>
          </a:p>
        </p:txBody>
      </p:sp>
      <p:sp>
        <p:nvSpPr>
          <p:cNvPr id="4" name="Footer Placeholder 3">
            <a:extLst>
              <a:ext uri="{FF2B5EF4-FFF2-40B4-BE49-F238E27FC236}">
                <a16:creationId xmlns:a16="http://schemas.microsoft.com/office/drawing/2014/main" id="{67F7664F-4E66-75F2-0EBD-413B0D26D43B}"/>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05A734B-59C8-9342-9A91-A0FB90B714CA}"/>
              </a:ext>
            </a:extLst>
          </p:cNvPr>
          <p:cNvSpPr>
            <a:spLocks noGrp="1"/>
          </p:cNvSpPr>
          <p:nvPr>
            <p:ph type="sldNum" sz="quarter" idx="4"/>
          </p:nvPr>
        </p:nvSpPr>
        <p:spPr/>
        <p:txBody>
          <a:bodyPr/>
          <a:lstStyle/>
          <a:p>
            <a:pPr>
              <a:defRPr/>
            </a:pPr>
            <a:fld id="{A9CE67A1-BA7F-A74E-B5D7-615746DEEC2B}" type="slidenum">
              <a:rPr lang="en-US" smtClean="0"/>
              <a:pPr>
                <a:defRPr/>
              </a:pPr>
              <a:t>113</a:t>
            </a:fld>
            <a:endParaRPr lang="en-US" baseline="-11000" dirty="0"/>
          </a:p>
        </p:txBody>
      </p:sp>
      <p:sp>
        <p:nvSpPr>
          <p:cNvPr id="6" name="Date Placeholder 5">
            <a:extLst>
              <a:ext uri="{FF2B5EF4-FFF2-40B4-BE49-F238E27FC236}">
                <a16:creationId xmlns:a16="http://schemas.microsoft.com/office/drawing/2014/main" id="{1ACC8C11-E5CF-B8D6-B6AA-A394F7D71AA6}"/>
              </a:ext>
            </a:extLst>
          </p:cNvPr>
          <p:cNvSpPr>
            <a:spLocks noGrp="1"/>
          </p:cNvSpPr>
          <p:nvPr>
            <p:ph type="dt" sz="half" idx="2"/>
          </p:nvPr>
        </p:nvSpPr>
        <p:spPr>
          <a:xfrm>
            <a:off x="8402542" y="6356368"/>
            <a:ext cx="2227358" cy="241982"/>
          </a:xfrm>
        </p:spPr>
        <p:txBody>
          <a:bodyPr/>
          <a:lstStyle/>
          <a:p>
            <a:fld id="{EAFD7BB1-AB7F-4336-A8B3-6627E5D36FE4}" type="datetime3">
              <a:rPr lang="en-US" smtClean="0"/>
              <a:t>19 March 2026</a:t>
            </a:fld>
            <a:endParaRPr lang="en-US" dirty="0"/>
          </a:p>
        </p:txBody>
      </p:sp>
      <p:sp>
        <p:nvSpPr>
          <p:cNvPr id="29" name="TextBox 28">
            <a:extLst>
              <a:ext uri="{FF2B5EF4-FFF2-40B4-BE49-F238E27FC236}">
                <a16:creationId xmlns:a16="http://schemas.microsoft.com/office/drawing/2014/main" id="{F0AF3358-EAC7-A28F-D425-C1BF4931EE61}"/>
              </a:ext>
            </a:extLst>
          </p:cNvPr>
          <p:cNvSpPr txBox="1"/>
          <p:nvPr/>
        </p:nvSpPr>
        <p:spPr>
          <a:xfrm>
            <a:off x="1747778" y="2306936"/>
            <a:ext cx="541712" cy="49210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Load data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34" name="Straight Arrow Connector 33">
            <a:extLst>
              <a:ext uri="{FF2B5EF4-FFF2-40B4-BE49-F238E27FC236}">
                <a16:creationId xmlns:a16="http://schemas.microsoft.com/office/drawing/2014/main" id="{EB1330C9-6C62-6F7E-ADC5-9C07A178B28E}"/>
              </a:ext>
            </a:extLst>
          </p:cNvPr>
          <p:cNvCxnSpPr>
            <a:cxnSpLocks/>
            <a:endCxn id="36" idx="2"/>
          </p:cNvCxnSpPr>
          <p:nvPr/>
        </p:nvCxnSpPr>
        <p:spPr>
          <a:xfrm flipV="1">
            <a:off x="2519835" y="2597980"/>
            <a:ext cx="612799"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B6742ED6-0170-2E3B-3A3E-F69FEF0AAD9E}"/>
              </a:ext>
            </a:extLst>
          </p:cNvPr>
          <p:cNvSpPr/>
          <p:nvPr/>
        </p:nvSpPr>
        <p:spPr>
          <a:xfrm>
            <a:off x="3132634" y="2096773"/>
            <a:ext cx="1005840"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37" name="TextBox 36">
            <a:extLst>
              <a:ext uri="{FF2B5EF4-FFF2-40B4-BE49-F238E27FC236}">
                <a16:creationId xmlns:a16="http://schemas.microsoft.com/office/drawing/2014/main" id="{6624FCF7-1488-0D29-2647-F0F1820878CC}"/>
              </a:ext>
            </a:extLst>
          </p:cNvPr>
          <p:cNvSpPr txBox="1"/>
          <p:nvPr/>
        </p:nvSpPr>
        <p:spPr>
          <a:xfrm>
            <a:off x="3132634" y="2233010"/>
            <a:ext cx="1022011" cy="63995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500" b="1" dirty="0">
                <a:solidFill>
                  <a:schemeClr val="bg1"/>
                </a:solidFill>
                <a:latin typeface="Barlow (Body)"/>
              </a:rPr>
              <a:t>Vector</a:t>
            </a:r>
          </a:p>
          <a:p>
            <a:pPr algn="ctr" defTabSz="457200">
              <a:spcBef>
                <a:spcPts val="1000"/>
              </a:spcBef>
              <a:buClr>
                <a:srgbClr val="1E4056"/>
              </a:buClr>
              <a:buSzPct val="75000"/>
            </a:pPr>
            <a:r>
              <a:rPr lang="en-US" sz="1500" b="1" dirty="0">
                <a:solidFill>
                  <a:schemeClr val="bg1"/>
                </a:solidFill>
                <a:latin typeface="Barlow (Body)"/>
              </a:rPr>
              <a:t>Operations     </a:t>
            </a:r>
          </a:p>
          <a:p>
            <a:pPr defTabSz="457200">
              <a:spcBef>
                <a:spcPts val="1000"/>
              </a:spcBef>
              <a:buClr>
                <a:srgbClr val="1E4056"/>
              </a:buClr>
              <a:buSzPct val="75000"/>
            </a:pPr>
            <a:endParaRPr lang="en-US" sz="1500" b="1" dirty="0">
              <a:solidFill>
                <a:schemeClr val="bg1"/>
              </a:solidFill>
              <a:latin typeface="Barlow (Body)"/>
            </a:endParaRPr>
          </a:p>
          <a:p>
            <a:pPr defTabSz="457200">
              <a:spcBef>
                <a:spcPts val="1000"/>
              </a:spcBef>
              <a:buClr>
                <a:srgbClr val="1E4056"/>
              </a:buClr>
              <a:buSzPct val="75000"/>
            </a:pPr>
            <a:endParaRPr lang="en-US" sz="1500" b="1" dirty="0">
              <a:solidFill>
                <a:schemeClr val="bg1"/>
              </a:solidFill>
              <a:latin typeface="Barlow (Body)"/>
            </a:endParaRPr>
          </a:p>
        </p:txBody>
      </p:sp>
      <p:cxnSp>
        <p:nvCxnSpPr>
          <p:cNvPr id="41" name="Straight Arrow Connector 40">
            <a:extLst>
              <a:ext uri="{FF2B5EF4-FFF2-40B4-BE49-F238E27FC236}">
                <a16:creationId xmlns:a16="http://schemas.microsoft.com/office/drawing/2014/main" id="{43DC570B-CB68-9F1A-C7D8-62F5A08DF813}"/>
              </a:ext>
            </a:extLst>
          </p:cNvPr>
          <p:cNvCxnSpPr>
            <a:cxnSpLocks/>
          </p:cNvCxnSpPr>
          <p:nvPr/>
        </p:nvCxnSpPr>
        <p:spPr>
          <a:xfrm flipV="1">
            <a:off x="4154645" y="2601844"/>
            <a:ext cx="612799"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7398A562-D9EC-FD36-E06F-E4E62D831E9A}"/>
              </a:ext>
            </a:extLst>
          </p:cNvPr>
          <p:cNvSpPr txBox="1"/>
          <p:nvPr/>
        </p:nvSpPr>
        <p:spPr>
          <a:xfrm>
            <a:off x="4883466" y="2306935"/>
            <a:ext cx="541712" cy="49210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Write data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sp>
        <p:nvSpPr>
          <p:cNvPr id="46" name="Oval 45">
            <a:extLst>
              <a:ext uri="{FF2B5EF4-FFF2-40B4-BE49-F238E27FC236}">
                <a16:creationId xmlns:a16="http://schemas.microsoft.com/office/drawing/2014/main" id="{CD6A23F0-7024-4056-AF91-638567B566EF}"/>
              </a:ext>
            </a:extLst>
          </p:cNvPr>
          <p:cNvSpPr/>
          <p:nvPr/>
        </p:nvSpPr>
        <p:spPr>
          <a:xfrm>
            <a:off x="1481177" y="4078717"/>
            <a:ext cx="1005840"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47" name="TextBox 46">
            <a:extLst>
              <a:ext uri="{FF2B5EF4-FFF2-40B4-BE49-F238E27FC236}">
                <a16:creationId xmlns:a16="http://schemas.microsoft.com/office/drawing/2014/main" id="{D25658A8-8F79-7EA1-18CD-2370D943F54D}"/>
              </a:ext>
            </a:extLst>
          </p:cNvPr>
          <p:cNvSpPr txBox="1"/>
          <p:nvPr/>
        </p:nvSpPr>
        <p:spPr>
          <a:xfrm>
            <a:off x="1702758" y="4333871"/>
            <a:ext cx="541712" cy="49210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Load data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48" name="Straight Arrow Connector 47">
            <a:extLst>
              <a:ext uri="{FF2B5EF4-FFF2-40B4-BE49-F238E27FC236}">
                <a16:creationId xmlns:a16="http://schemas.microsoft.com/office/drawing/2014/main" id="{5C4EC55C-E893-789B-B85F-B9C7202460E3}"/>
              </a:ext>
            </a:extLst>
          </p:cNvPr>
          <p:cNvCxnSpPr>
            <a:cxnSpLocks/>
          </p:cNvCxnSpPr>
          <p:nvPr/>
        </p:nvCxnSpPr>
        <p:spPr>
          <a:xfrm flipV="1">
            <a:off x="2497501" y="4598736"/>
            <a:ext cx="612799"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Oval 48">
            <a:extLst>
              <a:ext uri="{FF2B5EF4-FFF2-40B4-BE49-F238E27FC236}">
                <a16:creationId xmlns:a16="http://schemas.microsoft.com/office/drawing/2014/main" id="{AA608698-76A7-F00A-D6FE-92766B344743}"/>
              </a:ext>
            </a:extLst>
          </p:cNvPr>
          <p:cNvSpPr/>
          <p:nvPr/>
        </p:nvSpPr>
        <p:spPr>
          <a:xfrm>
            <a:off x="3132633" y="4097529"/>
            <a:ext cx="1005840"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50" name="TextBox 49">
            <a:extLst>
              <a:ext uri="{FF2B5EF4-FFF2-40B4-BE49-F238E27FC236}">
                <a16:creationId xmlns:a16="http://schemas.microsoft.com/office/drawing/2014/main" id="{DA593235-FE51-05B6-107B-C0B7C7C1D3FD}"/>
              </a:ext>
            </a:extLst>
          </p:cNvPr>
          <p:cNvSpPr txBox="1"/>
          <p:nvPr/>
        </p:nvSpPr>
        <p:spPr>
          <a:xfrm>
            <a:off x="3313566" y="4305713"/>
            <a:ext cx="660145" cy="552803"/>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pack 1</a:t>
            </a:r>
            <a:r>
              <a:rPr lang="en-US" sz="1600" b="1" baseline="30000" dirty="0">
                <a:solidFill>
                  <a:schemeClr val="bg1"/>
                </a:solidFill>
                <a:latin typeface="Barlow (Body)"/>
              </a:rPr>
              <a:t>st</a:t>
            </a:r>
            <a:r>
              <a:rPr lang="en-US" sz="1600" b="1" dirty="0">
                <a:solidFill>
                  <a:schemeClr val="bg1"/>
                </a:solidFill>
                <a:latin typeface="Barlow (Body)"/>
              </a:rPr>
              <a:t> op</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51" name="Straight Arrow Connector 50">
            <a:extLst>
              <a:ext uri="{FF2B5EF4-FFF2-40B4-BE49-F238E27FC236}">
                <a16:creationId xmlns:a16="http://schemas.microsoft.com/office/drawing/2014/main" id="{C0BC2792-BCFC-7C66-7C01-00F8D2669250}"/>
              </a:ext>
            </a:extLst>
          </p:cNvPr>
          <p:cNvCxnSpPr>
            <a:cxnSpLocks/>
            <a:stCxn id="49" idx="6"/>
          </p:cNvCxnSpPr>
          <p:nvPr/>
        </p:nvCxnSpPr>
        <p:spPr>
          <a:xfrm>
            <a:off x="4138473" y="4598736"/>
            <a:ext cx="56469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67228DE9-ED9F-BE64-85FF-A9F61F2A52A8}"/>
              </a:ext>
            </a:extLst>
          </p:cNvPr>
          <p:cNvSpPr/>
          <p:nvPr/>
        </p:nvSpPr>
        <p:spPr>
          <a:xfrm>
            <a:off x="4698744" y="4111689"/>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56" name="TextBox 55">
            <a:extLst>
              <a:ext uri="{FF2B5EF4-FFF2-40B4-BE49-F238E27FC236}">
                <a16:creationId xmlns:a16="http://schemas.microsoft.com/office/drawing/2014/main" id="{0BDDF3DC-C41C-CFBE-5F4B-500761CBBA6C}"/>
              </a:ext>
            </a:extLst>
          </p:cNvPr>
          <p:cNvSpPr txBox="1"/>
          <p:nvPr/>
        </p:nvSpPr>
        <p:spPr>
          <a:xfrm>
            <a:off x="4854175" y="4305713"/>
            <a:ext cx="660145" cy="519182"/>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pack 2</a:t>
            </a:r>
            <a:r>
              <a:rPr lang="en-US" sz="1600" b="1" baseline="30000" dirty="0">
                <a:solidFill>
                  <a:schemeClr val="bg1"/>
                </a:solidFill>
                <a:latin typeface="Barlow (Body)"/>
              </a:rPr>
              <a:t>nd</a:t>
            </a:r>
            <a:r>
              <a:rPr lang="en-US" sz="1600" b="1" dirty="0">
                <a:solidFill>
                  <a:schemeClr val="bg1"/>
                </a:solidFill>
                <a:latin typeface="Barlow (Body)"/>
              </a:rPr>
              <a:t>  op</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57" name="Straight Arrow Connector 56">
            <a:extLst>
              <a:ext uri="{FF2B5EF4-FFF2-40B4-BE49-F238E27FC236}">
                <a16:creationId xmlns:a16="http://schemas.microsoft.com/office/drawing/2014/main" id="{CDA81632-B079-0CDA-7804-BADC3A7EBCBA}"/>
              </a:ext>
            </a:extLst>
          </p:cNvPr>
          <p:cNvCxnSpPr>
            <a:cxnSpLocks/>
            <a:stCxn id="55" idx="6"/>
          </p:cNvCxnSpPr>
          <p:nvPr/>
        </p:nvCxnSpPr>
        <p:spPr>
          <a:xfrm>
            <a:off x="5656479" y="4612896"/>
            <a:ext cx="61279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1B6961D6-34D5-3DB7-3E1B-A2A2C37F6DEA}"/>
              </a:ext>
            </a:extLst>
          </p:cNvPr>
          <p:cNvSpPr/>
          <p:nvPr/>
        </p:nvSpPr>
        <p:spPr>
          <a:xfrm>
            <a:off x="6294168" y="4111689"/>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59" name="TextBox 58">
            <a:extLst>
              <a:ext uri="{FF2B5EF4-FFF2-40B4-BE49-F238E27FC236}">
                <a16:creationId xmlns:a16="http://schemas.microsoft.com/office/drawing/2014/main" id="{8519B8C7-BDBE-5D05-FE1C-F219280D71D3}"/>
              </a:ext>
            </a:extLst>
          </p:cNvPr>
          <p:cNvSpPr txBox="1"/>
          <p:nvPr/>
        </p:nvSpPr>
        <p:spPr>
          <a:xfrm>
            <a:off x="6442963" y="4233955"/>
            <a:ext cx="660145" cy="73989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Calc. Tw. IDX</a:t>
            </a:r>
          </a:p>
        </p:txBody>
      </p:sp>
      <p:cxnSp>
        <p:nvCxnSpPr>
          <p:cNvPr id="60" name="Straight Arrow Connector 59">
            <a:extLst>
              <a:ext uri="{FF2B5EF4-FFF2-40B4-BE49-F238E27FC236}">
                <a16:creationId xmlns:a16="http://schemas.microsoft.com/office/drawing/2014/main" id="{BD744FE9-A810-F18B-8B05-256B22FFF93E}"/>
              </a:ext>
            </a:extLst>
          </p:cNvPr>
          <p:cNvCxnSpPr>
            <a:cxnSpLocks/>
            <a:endCxn id="61" idx="2"/>
          </p:cNvCxnSpPr>
          <p:nvPr/>
        </p:nvCxnSpPr>
        <p:spPr>
          <a:xfrm>
            <a:off x="7251903" y="4612897"/>
            <a:ext cx="639212" cy="199"/>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DDD355C9-A82A-AE50-F8A4-EF93D6662442}"/>
              </a:ext>
            </a:extLst>
          </p:cNvPr>
          <p:cNvSpPr/>
          <p:nvPr/>
        </p:nvSpPr>
        <p:spPr>
          <a:xfrm>
            <a:off x="7891115" y="4111889"/>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62" name="TextBox 61">
            <a:extLst>
              <a:ext uri="{FF2B5EF4-FFF2-40B4-BE49-F238E27FC236}">
                <a16:creationId xmlns:a16="http://schemas.microsoft.com/office/drawing/2014/main" id="{F84A1F62-A8D2-E986-E239-A5105424676D}"/>
              </a:ext>
            </a:extLst>
          </p:cNvPr>
          <p:cNvSpPr txBox="1"/>
          <p:nvPr/>
        </p:nvSpPr>
        <p:spPr>
          <a:xfrm>
            <a:off x="8042122" y="4242948"/>
            <a:ext cx="660145" cy="73989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Push 1</a:t>
            </a:r>
            <a:r>
              <a:rPr lang="en-US" sz="1600" b="1" baseline="30000" dirty="0">
                <a:solidFill>
                  <a:schemeClr val="bg1"/>
                </a:solidFill>
                <a:latin typeface="Barlow (Body)"/>
              </a:rPr>
              <a:t>st</a:t>
            </a:r>
            <a:r>
              <a:rPr lang="en-US" sz="1600" b="1" dirty="0">
                <a:solidFill>
                  <a:schemeClr val="bg1"/>
                </a:solidFill>
                <a:latin typeface="Barlow (Body)"/>
              </a:rPr>
              <a:t> op to AXI</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63" name="Straight Arrow Connector 62">
            <a:extLst>
              <a:ext uri="{FF2B5EF4-FFF2-40B4-BE49-F238E27FC236}">
                <a16:creationId xmlns:a16="http://schemas.microsoft.com/office/drawing/2014/main" id="{FD29DCEB-9BB1-B58B-76D7-26629A5696E5}"/>
              </a:ext>
            </a:extLst>
          </p:cNvPr>
          <p:cNvCxnSpPr>
            <a:cxnSpLocks/>
            <a:endCxn id="64" idx="2"/>
          </p:cNvCxnSpPr>
          <p:nvPr/>
        </p:nvCxnSpPr>
        <p:spPr>
          <a:xfrm flipV="1">
            <a:off x="8808104" y="4612896"/>
            <a:ext cx="637689" cy="20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CDFFD902-FBC1-EDF3-48C3-002FA4A0DA6A}"/>
              </a:ext>
            </a:extLst>
          </p:cNvPr>
          <p:cNvSpPr/>
          <p:nvPr/>
        </p:nvSpPr>
        <p:spPr>
          <a:xfrm>
            <a:off x="9445793" y="4111689"/>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65" name="TextBox 64">
            <a:extLst>
              <a:ext uri="{FF2B5EF4-FFF2-40B4-BE49-F238E27FC236}">
                <a16:creationId xmlns:a16="http://schemas.microsoft.com/office/drawing/2014/main" id="{037A4B9B-6CE8-4CC8-12A2-4EF0105738C3}"/>
              </a:ext>
            </a:extLst>
          </p:cNvPr>
          <p:cNvSpPr txBox="1"/>
          <p:nvPr/>
        </p:nvSpPr>
        <p:spPr>
          <a:xfrm>
            <a:off x="9594587" y="4242748"/>
            <a:ext cx="660145" cy="73989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Push 2</a:t>
            </a:r>
            <a:r>
              <a:rPr lang="en-US" sz="1600" b="1" baseline="30000" dirty="0">
                <a:solidFill>
                  <a:schemeClr val="bg1"/>
                </a:solidFill>
                <a:latin typeface="Barlow (Body)"/>
              </a:rPr>
              <a:t>nd</a:t>
            </a:r>
            <a:r>
              <a:rPr lang="en-US" sz="1600" b="1" dirty="0">
                <a:solidFill>
                  <a:schemeClr val="bg1"/>
                </a:solidFill>
                <a:latin typeface="Barlow (Body)"/>
              </a:rPr>
              <a:t> op to AXI</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66" name="Straight Arrow Connector 65">
            <a:extLst>
              <a:ext uri="{FF2B5EF4-FFF2-40B4-BE49-F238E27FC236}">
                <a16:creationId xmlns:a16="http://schemas.microsoft.com/office/drawing/2014/main" id="{8EAFE584-6AB5-229E-4090-DF9CA33E4AF5}"/>
              </a:ext>
            </a:extLst>
          </p:cNvPr>
          <p:cNvCxnSpPr>
            <a:cxnSpLocks/>
            <a:endCxn id="71" idx="0"/>
          </p:cNvCxnSpPr>
          <p:nvPr/>
        </p:nvCxnSpPr>
        <p:spPr>
          <a:xfrm flipH="1">
            <a:off x="9917370" y="5113703"/>
            <a:ext cx="0" cy="209528"/>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F16A4AAA-A6AE-7705-726E-228639842B8E}"/>
              </a:ext>
            </a:extLst>
          </p:cNvPr>
          <p:cNvSpPr/>
          <p:nvPr/>
        </p:nvSpPr>
        <p:spPr>
          <a:xfrm>
            <a:off x="9414450" y="5323231"/>
            <a:ext cx="1005840" cy="100584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72" name="TextBox 71">
            <a:extLst>
              <a:ext uri="{FF2B5EF4-FFF2-40B4-BE49-F238E27FC236}">
                <a16:creationId xmlns:a16="http://schemas.microsoft.com/office/drawing/2014/main" id="{BA234E87-632E-E761-3437-A0AB0E37522A}"/>
              </a:ext>
            </a:extLst>
          </p:cNvPr>
          <p:cNvSpPr txBox="1"/>
          <p:nvPr/>
        </p:nvSpPr>
        <p:spPr>
          <a:xfrm>
            <a:off x="9390466" y="5546240"/>
            <a:ext cx="1029824" cy="585687"/>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500" b="1" dirty="0">
                <a:solidFill>
                  <a:schemeClr val="bg1"/>
                </a:solidFill>
                <a:latin typeface="Barlow (Body)"/>
              </a:rPr>
              <a:t>HW Operations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75" name="Straight Arrow Connector 74">
            <a:extLst>
              <a:ext uri="{FF2B5EF4-FFF2-40B4-BE49-F238E27FC236}">
                <a16:creationId xmlns:a16="http://schemas.microsoft.com/office/drawing/2014/main" id="{9EED1262-1443-8B8D-C5DE-137A724F0496}"/>
              </a:ext>
            </a:extLst>
          </p:cNvPr>
          <p:cNvCxnSpPr>
            <a:cxnSpLocks/>
            <a:stCxn id="71" idx="2"/>
            <a:endCxn id="90" idx="6"/>
          </p:cNvCxnSpPr>
          <p:nvPr/>
        </p:nvCxnSpPr>
        <p:spPr>
          <a:xfrm flipH="1">
            <a:off x="8991500" y="5826151"/>
            <a:ext cx="422950"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8" name="Oval 77">
            <a:extLst>
              <a:ext uri="{FF2B5EF4-FFF2-40B4-BE49-F238E27FC236}">
                <a16:creationId xmlns:a16="http://schemas.microsoft.com/office/drawing/2014/main" id="{686156AB-4FFE-DB78-D0E5-62F0B60BD7DB}"/>
              </a:ext>
            </a:extLst>
          </p:cNvPr>
          <p:cNvSpPr/>
          <p:nvPr/>
        </p:nvSpPr>
        <p:spPr>
          <a:xfrm>
            <a:off x="1562099" y="5323231"/>
            <a:ext cx="1005840" cy="100584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79" name="TextBox 78">
            <a:extLst>
              <a:ext uri="{FF2B5EF4-FFF2-40B4-BE49-F238E27FC236}">
                <a16:creationId xmlns:a16="http://schemas.microsoft.com/office/drawing/2014/main" id="{79F5A3CD-0B0B-760B-9A12-AFD18BBEA8BE}"/>
              </a:ext>
            </a:extLst>
          </p:cNvPr>
          <p:cNvSpPr txBox="1"/>
          <p:nvPr/>
        </p:nvSpPr>
        <p:spPr>
          <a:xfrm>
            <a:off x="1770401" y="5546240"/>
            <a:ext cx="541712" cy="526810"/>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Store data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sp>
        <p:nvSpPr>
          <p:cNvPr id="82" name="TextBox 81">
            <a:extLst>
              <a:ext uri="{FF2B5EF4-FFF2-40B4-BE49-F238E27FC236}">
                <a16:creationId xmlns:a16="http://schemas.microsoft.com/office/drawing/2014/main" id="{AE340CEE-AADC-24EF-2212-123E617F7630}"/>
              </a:ext>
            </a:extLst>
          </p:cNvPr>
          <p:cNvSpPr txBox="1"/>
          <p:nvPr/>
        </p:nvSpPr>
        <p:spPr>
          <a:xfrm>
            <a:off x="2653382" y="5331853"/>
            <a:ext cx="660145" cy="792074"/>
          </a:xfrm>
          <a:prstGeom prst="rect">
            <a:avLst/>
          </a:prstGeom>
          <a:noFill/>
        </p:spPr>
        <p:txBody>
          <a:bodyPr wrap="square" lIns="0" tIns="0" rIns="0" bIns="0" rtlCol="0">
            <a:noAutofit/>
          </a:bodyPr>
          <a:lstStyle/>
          <a:p>
            <a:pPr defTabSz="457200">
              <a:spcBef>
                <a:spcPts val="1000"/>
              </a:spcBef>
              <a:buClr>
                <a:srgbClr val="1E4056"/>
              </a:buClr>
              <a:buSzPct val="75000"/>
            </a:pPr>
            <a:endParaRPr lang="en-US" sz="1600" b="1" dirty="0">
              <a:solidFill>
                <a:schemeClr val="bg1"/>
              </a:solidFill>
              <a:latin typeface="Barlow (Body)"/>
            </a:endParaRPr>
          </a:p>
        </p:txBody>
      </p:sp>
      <p:sp>
        <p:nvSpPr>
          <p:cNvPr id="87" name="Oval 86">
            <a:extLst>
              <a:ext uri="{FF2B5EF4-FFF2-40B4-BE49-F238E27FC236}">
                <a16:creationId xmlns:a16="http://schemas.microsoft.com/office/drawing/2014/main" id="{4BF7F374-CCBF-D344-A361-D7776C489A25}"/>
              </a:ext>
            </a:extLst>
          </p:cNvPr>
          <p:cNvSpPr/>
          <p:nvPr/>
        </p:nvSpPr>
        <p:spPr>
          <a:xfrm>
            <a:off x="6620654" y="5323231"/>
            <a:ext cx="1005840" cy="100584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8" name="TextBox 87">
            <a:extLst>
              <a:ext uri="{FF2B5EF4-FFF2-40B4-BE49-F238E27FC236}">
                <a16:creationId xmlns:a16="http://schemas.microsoft.com/office/drawing/2014/main" id="{70FB4691-ED85-5D3A-C1B0-E4E9512CBBBB}"/>
              </a:ext>
            </a:extLst>
          </p:cNvPr>
          <p:cNvSpPr txBox="1"/>
          <p:nvPr/>
        </p:nvSpPr>
        <p:spPr>
          <a:xfrm flipH="1">
            <a:off x="6714456" y="5484453"/>
            <a:ext cx="812828" cy="792074"/>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Pull 2</a:t>
            </a:r>
            <a:r>
              <a:rPr lang="en-US" sz="1600" b="1" baseline="30000" dirty="0">
                <a:solidFill>
                  <a:schemeClr val="bg1"/>
                </a:solidFill>
                <a:latin typeface="Barlow (Body)"/>
              </a:rPr>
              <a:t>nd</a:t>
            </a:r>
            <a:r>
              <a:rPr lang="en-US" sz="1600" b="1" dirty="0">
                <a:solidFill>
                  <a:schemeClr val="bg1"/>
                </a:solidFill>
                <a:latin typeface="Barlow (Body)"/>
              </a:rPr>
              <a:t> </a:t>
            </a:r>
          </a:p>
          <a:p>
            <a:pPr algn="ctr" defTabSz="457200">
              <a:spcBef>
                <a:spcPts val="1000"/>
              </a:spcBef>
              <a:buClr>
                <a:srgbClr val="1E4056"/>
              </a:buClr>
              <a:buSzPct val="75000"/>
            </a:pPr>
            <a:r>
              <a:rPr lang="en-US" sz="1600" b="1" dirty="0">
                <a:solidFill>
                  <a:schemeClr val="bg1"/>
                </a:solidFill>
                <a:latin typeface="Barlow (Body)"/>
              </a:rPr>
              <a:t>result</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sp>
        <p:nvSpPr>
          <p:cNvPr id="90" name="Oval 89">
            <a:extLst>
              <a:ext uri="{FF2B5EF4-FFF2-40B4-BE49-F238E27FC236}">
                <a16:creationId xmlns:a16="http://schemas.microsoft.com/office/drawing/2014/main" id="{7DF23C62-FB8F-6028-82CA-CDBD8EDAD5FA}"/>
              </a:ext>
            </a:extLst>
          </p:cNvPr>
          <p:cNvSpPr/>
          <p:nvPr/>
        </p:nvSpPr>
        <p:spPr>
          <a:xfrm>
            <a:off x="7985660" y="5323231"/>
            <a:ext cx="1005840" cy="100584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1" name="TextBox 90">
            <a:extLst>
              <a:ext uri="{FF2B5EF4-FFF2-40B4-BE49-F238E27FC236}">
                <a16:creationId xmlns:a16="http://schemas.microsoft.com/office/drawing/2014/main" id="{66F9ABF9-2184-FFB3-7B87-ECFF2D823E6E}"/>
              </a:ext>
            </a:extLst>
          </p:cNvPr>
          <p:cNvSpPr txBox="1"/>
          <p:nvPr/>
        </p:nvSpPr>
        <p:spPr>
          <a:xfrm>
            <a:off x="8137916" y="5533764"/>
            <a:ext cx="660145" cy="564732"/>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Pull 1</a:t>
            </a:r>
            <a:r>
              <a:rPr lang="en-US" sz="1600" b="1" baseline="30000" dirty="0">
                <a:solidFill>
                  <a:schemeClr val="bg1"/>
                </a:solidFill>
                <a:latin typeface="Barlow (Body)"/>
              </a:rPr>
              <a:t>st</a:t>
            </a:r>
            <a:r>
              <a:rPr lang="en-US" sz="1600" b="1" dirty="0">
                <a:solidFill>
                  <a:schemeClr val="bg1"/>
                </a:solidFill>
                <a:latin typeface="Barlow (Body)"/>
              </a:rPr>
              <a:t> result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sp>
        <p:nvSpPr>
          <p:cNvPr id="93" name="TextBox 92">
            <a:extLst>
              <a:ext uri="{FF2B5EF4-FFF2-40B4-BE49-F238E27FC236}">
                <a16:creationId xmlns:a16="http://schemas.microsoft.com/office/drawing/2014/main" id="{23DA52C7-F6F6-7397-6D08-5CD24EA2F2BC}"/>
              </a:ext>
            </a:extLst>
          </p:cNvPr>
          <p:cNvSpPr txBox="1"/>
          <p:nvPr/>
        </p:nvSpPr>
        <p:spPr>
          <a:xfrm>
            <a:off x="8660364" y="1463107"/>
            <a:ext cx="660145" cy="792074"/>
          </a:xfrm>
          <a:prstGeom prst="rect">
            <a:avLst/>
          </a:prstGeom>
          <a:noFill/>
        </p:spPr>
        <p:txBody>
          <a:bodyPr wrap="square" lIns="0" tIns="0" rIns="0" bIns="0" rtlCol="0">
            <a:noAutofit/>
          </a:bodyPr>
          <a:lstStyle/>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101" name="Straight Arrow Connector 100">
            <a:extLst>
              <a:ext uri="{FF2B5EF4-FFF2-40B4-BE49-F238E27FC236}">
                <a16:creationId xmlns:a16="http://schemas.microsoft.com/office/drawing/2014/main" id="{247C9CC5-EDE1-900A-E1F4-A9C46BD93261}"/>
              </a:ext>
            </a:extLst>
          </p:cNvPr>
          <p:cNvCxnSpPr>
            <a:cxnSpLocks/>
            <a:stCxn id="90" idx="2"/>
            <a:endCxn id="87" idx="6"/>
          </p:cNvCxnSpPr>
          <p:nvPr/>
        </p:nvCxnSpPr>
        <p:spPr>
          <a:xfrm flipH="1">
            <a:off x="7626494" y="5826151"/>
            <a:ext cx="359166"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AC9826DC-BE20-32CD-C55B-1F5CCB33B7EF}"/>
              </a:ext>
            </a:extLst>
          </p:cNvPr>
          <p:cNvCxnSpPr>
            <a:cxnSpLocks/>
            <a:stCxn id="78" idx="6"/>
            <a:endCxn id="87" idx="2"/>
          </p:cNvCxnSpPr>
          <p:nvPr/>
        </p:nvCxnSpPr>
        <p:spPr>
          <a:xfrm>
            <a:off x="2567939" y="5826151"/>
            <a:ext cx="4052715"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Oval 7">
            <a:extLst>
              <a:ext uri="{FF2B5EF4-FFF2-40B4-BE49-F238E27FC236}">
                <a16:creationId xmlns:a16="http://schemas.microsoft.com/office/drawing/2014/main" id="{33F5336E-F6FF-C326-6154-0038BF7F48A7}"/>
              </a:ext>
            </a:extLst>
          </p:cNvPr>
          <p:cNvSpPr/>
          <p:nvPr/>
        </p:nvSpPr>
        <p:spPr>
          <a:xfrm>
            <a:off x="1481177" y="2065142"/>
            <a:ext cx="1005840"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 name="TextBox 8">
            <a:extLst>
              <a:ext uri="{FF2B5EF4-FFF2-40B4-BE49-F238E27FC236}">
                <a16:creationId xmlns:a16="http://schemas.microsoft.com/office/drawing/2014/main" id="{DFC5B8B0-FC1D-EF06-2C05-840E26A3AF37}"/>
              </a:ext>
            </a:extLst>
          </p:cNvPr>
          <p:cNvSpPr txBox="1"/>
          <p:nvPr/>
        </p:nvSpPr>
        <p:spPr>
          <a:xfrm>
            <a:off x="1702758" y="2320296"/>
            <a:ext cx="541712" cy="49210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Load data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sp>
        <p:nvSpPr>
          <p:cNvPr id="10" name="Oval 9">
            <a:extLst>
              <a:ext uri="{FF2B5EF4-FFF2-40B4-BE49-F238E27FC236}">
                <a16:creationId xmlns:a16="http://schemas.microsoft.com/office/drawing/2014/main" id="{6A9238D4-F2BA-2768-0BBF-AF348CD332DE}"/>
              </a:ext>
            </a:extLst>
          </p:cNvPr>
          <p:cNvSpPr/>
          <p:nvPr/>
        </p:nvSpPr>
        <p:spPr>
          <a:xfrm>
            <a:off x="4767444" y="2065142"/>
            <a:ext cx="1005840"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11" name="TextBox 10">
            <a:extLst>
              <a:ext uri="{FF2B5EF4-FFF2-40B4-BE49-F238E27FC236}">
                <a16:creationId xmlns:a16="http://schemas.microsoft.com/office/drawing/2014/main" id="{11032F28-6BF2-868B-EF46-EAE306CB8A6E}"/>
              </a:ext>
            </a:extLst>
          </p:cNvPr>
          <p:cNvSpPr txBox="1"/>
          <p:nvPr/>
        </p:nvSpPr>
        <p:spPr>
          <a:xfrm>
            <a:off x="4999508" y="2320296"/>
            <a:ext cx="541712" cy="49210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Write data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spTree>
    <p:extLst>
      <p:ext uri="{BB962C8B-B14F-4D97-AF65-F5344CB8AC3E}">
        <p14:creationId xmlns:p14="http://schemas.microsoft.com/office/powerpoint/2010/main" val="39929944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973E88-A929-69D2-704F-33EE81BEA28E}"/>
              </a:ext>
            </a:extLst>
          </p:cNvPr>
          <p:cNvSpPr>
            <a:spLocks noGrp="1"/>
          </p:cNvSpPr>
          <p:nvPr>
            <p:ph type="title"/>
          </p:nvPr>
        </p:nvSpPr>
        <p:spPr>
          <a:xfrm>
            <a:off x="342901" y="219456"/>
            <a:ext cx="10287001" cy="470898"/>
          </a:xfrm>
        </p:spPr>
        <p:txBody>
          <a:bodyPr/>
          <a:lstStyle/>
          <a:p>
            <a:r>
              <a:rPr lang="en-US" dirty="0"/>
              <a:t>Benchmarking Results</a:t>
            </a:r>
          </a:p>
        </p:txBody>
      </p:sp>
      <p:sp>
        <p:nvSpPr>
          <p:cNvPr id="4" name="Footer Placeholder 3">
            <a:extLst>
              <a:ext uri="{FF2B5EF4-FFF2-40B4-BE49-F238E27FC236}">
                <a16:creationId xmlns:a16="http://schemas.microsoft.com/office/drawing/2014/main" id="{1209F147-9BE8-DEEC-3B1C-F6C4C4128A6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60580E7-1A66-57F0-FE90-92FD6FA3612B}"/>
              </a:ext>
            </a:extLst>
          </p:cNvPr>
          <p:cNvSpPr>
            <a:spLocks noGrp="1"/>
          </p:cNvSpPr>
          <p:nvPr>
            <p:ph type="sldNum" sz="quarter" idx="4"/>
          </p:nvPr>
        </p:nvSpPr>
        <p:spPr/>
        <p:txBody>
          <a:bodyPr/>
          <a:lstStyle/>
          <a:p>
            <a:pPr>
              <a:defRPr/>
            </a:pPr>
            <a:fld id="{A9CE67A1-BA7F-A74E-B5D7-615746DEEC2B}" type="slidenum">
              <a:rPr lang="en-US" smtClean="0"/>
              <a:pPr>
                <a:defRPr/>
              </a:pPr>
              <a:t>114</a:t>
            </a:fld>
            <a:endParaRPr lang="en-US" baseline="-11000" dirty="0"/>
          </a:p>
        </p:txBody>
      </p:sp>
      <p:sp>
        <p:nvSpPr>
          <p:cNvPr id="6" name="Date Placeholder 5">
            <a:extLst>
              <a:ext uri="{FF2B5EF4-FFF2-40B4-BE49-F238E27FC236}">
                <a16:creationId xmlns:a16="http://schemas.microsoft.com/office/drawing/2014/main" id="{75B0E1DE-83DD-6E8D-26BF-F57FC461953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2" name="Content Placeholder 11">
            <a:extLst>
              <a:ext uri="{FF2B5EF4-FFF2-40B4-BE49-F238E27FC236}">
                <a16:creationId xmlns:a16="http://schemas.microsoft.com/office/drawing/2014/main" id="{2921A83D-6B2F-E9F6-1EFF-FA86DD2EDB09}"/>
              </a:ext>
            </a:extLst>
          </p:cNvPr>
          <p:cNvSpPr>
            <a:spLocks noGrp="1"/>
          </p:cNvSpPr>
          <p:nvPr>
            <p:ph idx="1"/>
          </p:nvPr>
        </p:nvSpPr>
        <p:spPr/>
        <p:txBody>
          <a:bodyPr>
            <a:normAutofit lnSpcReduction="10000"/>
          </a:bodyPr>
          <a:lstStyle/>
          <a:p>
            <a:r>
              <a:rPr lang="en-US" dirty="0"/>
              <a:t>HW/SW:</a:t>
            </a:r>
            <a:br>
              <a:rPr lang="en-US" dirty="0"/>
            </a:br>
            <a:endParaRPr lang="en-US" dirty="0"/>
          </a:p>
          <a:p>
            <a:endParaRPr lang="en-US" dirty="0"/>
          </a:p>
          <a:p>
            <a:pPr marL="0" indent="0">
              <a:buNone/>
            </a:pPr>
            <a:endParaRPr lang="en-US" dirty="0"/>
          </a:p>
          <a:p>
            <a:r>
              <a:rPr lang="en-US" dirty="0"/>
              <a:t>Pure SW (Single core):</a:t>
            </a:r>
            <a:br>
              <a:rPr lang="en-US" dirty="0"/>
            </a:br>
            <a:endParaRPr lang="en-US" dirty="0"/>
          </a:p>
          <a:p>
            <a:endParaRPr lang="en-US" dirty="0"/>
          </a:p>
          <a:p>
            <a:r>
              <a:rPr lang="en-US" dirty="0"/>
              <a:t>Pure SW (Multiple core):</a:t>
            </a:r>
          </a:p>
          <a:p>
            <a:endParaRPr lang="en-US" dirty="0"/>
          </a:p>
          <a:p>
            <a:r>
              <a:rPr lang="en-US" dirty="0"/>
              <a:t>Butterfly SW:</a:t>
            </a:r>
            <a:br>
              <a:rPr lang="en-US" dirty="0"/>
            </a:br>
            <a:r>
              <a:rPr lang="en-US" dirty="0"/>
              <a:t> </a:t>
            </a:r>
          </a:p>
          <a:p>
            <a:pPr marL="0" indent="0">
              <a:buNone/>
            </a:pPr>
            <a:endParaRPr lang="en-US" dirty="0"/>
          </a:p>
        </p:txBody>
      </p:sp>
      <p:pic>
        <p:nvPicPr>
          <p:cNvPr id="14" name="Picture 13">
            <a:extLst>
              <a:ext uri="{FF2B5EF4-FFF2-40B4-BE49-F238E27FC236}">
                <a16:creationId xmlns:a16="http://schemas.microsoft.com/office/drawing/2014/main" id="{9BC84540-AA9A-8D10-DD0A-D23B9A955DFE}"/>
              </a:ext>
            </a:extLst>
          </p:cNvPr>
          <p:cNvPicPr>
            <a:picLocks noChangeAspect="1"/>
          </p:cNvPicPr>
          <p:nvPr/>
        </p:nvPicPr>
        <p:blipFill>
          <a:blip r:embed="rId2"/>
          <a:stretch>
            <a:fillRect/>
          </a:stretch>
        </p:blipFill>
        <p:spPr>
          <a:xfrm>
            <a:off x="860188" y="1434469"/>
            <a:ext cx="4721462" cy="1344231"/>
          </a:xfrm>
          <a:prstGeom prst="rect">
            <a:avLst/>
          </a:prstGeom>
        </p:spPr>
      </p:pic>
      <p:pic>
        <p:nvPicPr>
          <p:cNvPr id="16" name="Picture 15">
            <a:extLst>
              <a:ext uri="{FF2B5EF4-FFF2-40B4-BE49-F238E27FC236}">
                <a16:creationId xmlns:a16="http://schemas.microsoft.com/office/drawing/2014/main" id="{46D2FCCA-4819-3B8C-3E5E-88F1D83E5A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459" y="3575481"/>
            <a:ext cx="8159991" cy="334531"/>
          </a:xfrm>
          <a:prstGeom prst="rect">
            <a:avLst/>
          </a:prstGeom>
        </p:spPr>
      </p:pic>
      <p:pic>
        <p:nvPicPr>
          <p:cNvPr id="2" name="Picture 1">
            <a:extLst>
              <a:ext uri="{FF2B5EF4-FFF2-40B4-BE49-F238E27FC236}">
                <a16:creationId xmlns:a16="http://schemas.microsoft.com/office/drawing/2014/main" id="{D0EA878B-F68D-7DE4-341E-5C4B6AB10755}"/>
              </a:ext>
            </a:extLst>
          </p:cNvPr>
          <p:cNvPicPr>
            <a:picLocks noChangeAspect="1"/>
          </p:cNvPicPr>
          <p:nvPr/>
        </p:nvPicPr>
        <p:blipFill>
          <a:blip r:embed="rId4" cstate="screen">
            <a:extLst>
              <a:ext uri="{28A0092B-C50C-407E-A947-70E740481C1C}">
                <a14:useLocalDpi xmlns:a14="http://schemas.microsoft.com/office/drawing/2010/main" val="0"/>
              </a:ext>
            </a:extLst>
          </a:blip>
          <a:srcRect r="30277" b="-8930"/>
          <a:stretch>
            <a:fillRect/>
          </a:stretch>
        </p:blipFill>
        <p:spPr>
          <a:xfrm>
            <a:off x="650514" y="4706792"/>
            <a:ext cx="4459938" cy="455503"/>
          </a:xfrm>
          <a:prstGeom prst="rect">
            <a:avLst/>
          </a:prstGeom>
        </p:spPr>
      </p:pic>
      <p:pic>
        <p:nvPicPr>
          <p:cNvPr id="10" name="Picture 9">
            <a:extLst>
              <a:ext uri="{FF2B5EF4-FFF2-40B4-BE49-F238E27FC236}">
                <a16:creationId xmlns:a16="http://schemas.microsoft.com/office/drawing/2014/main" id="{85B81FD6-E5E0-AA3F-0AEA-350821C8B514}"/>
              </a:ext>
            </a:extLst>
          </p:cNvPr>
          <p:cNvPicPr>
            <a:picLocks noChangeAspect="1"/>
          </p:cNvPicPr>
          <p:nvPr/>
        </p:nvPicPr>
        <p:blipFill>
          <a:blip r:embed="rId5"/>
          <a:stretch>
            <a:fillRect/>
          </a:stretch>
        </p:blipFill>
        <p:spPr>
          <a:xfrm>
            <a:off x="650514" y="5661414"/>
            <a:ext cx="5247197" cy="386961"/>
          </a:xfrm>
          <a:prstGeom prst="rect">
            <a:avLst/>
          </a:prstGeom>
        </p:spPr>
      </p:pic>
    </p:spTree>
    <p:extLst>
      <p:ext uri="{BB962C8B-B14F-4D97-AF65-F5344CB8AC3E}">
        <p14:creationId xmlns:p14="http://schemas.microsoft.com/office/powerpoint/2010/main" val="27628839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D0FD4C-53E3-E11F-E311-3A414583E577}"/>
              </a:ext>
            </a:extLst>
          </p:cNvPr>
          <p:cNvSpPr>
            <a:spLocks noGrp="1"/>
          </p:cNvSpPr>
          <p:nvPr>
            <p:ph idx="1"/>
          </p:nvPr>
        </p:nvSpPr>
        <p:spPr/>
        <p:txBody>
          <a:bodyPr/>
          <a:lstStyle/>
          <a:p>
            <a:r>
              <a:rPr lang="en-US" b="1" dirty="0"/>
              <a:t>Vector Extensions:</a:t>
            </a:r>
            <a:r>
              <a:rPr lang="en-US" dirty="0"/>
              <a:t> The software implementation is not standard C code; it heavily utilizes </a:t>
            </a:r>
            <a:r>
              <a:rPr lang="en-US" dirty="0" err="1"/>
              <a:t>OpenPULP's</a:t>
            </a:r>
            <a:r>
              <a:rPr lang="en-US" dirty="0"/>
              <a:t> vector instructions. </a:t>
            </a:r>
          </a:p>
          <a:p>
            <a:pPr marL="0" indent="0">
              <a:buNone/>
            </a:pPr>
            <a:endParaRPr lang="en-US" dirty="0"/>
          </a:p>
          <a:p>
            <a:r>
              <a:rPr lang="en-US" b="1" dirty="0"/>
              <a:t>AXI and Bit manipulation Overhead:</a:t>
            </a:r>
            <a:r>
              <a:rPr lang="en-US" dirty="0"/>
              <a:t> While the hardware executes the actual butterfly arithmetic in a few clock cycles, the CPU spend roughly 50 cycles per butterfly executing bit-shifting operations and waiting for AXI bus.</a:t>
            </a:r>
          </a:p>
          <a:p>
            <a:pPr marL="0" indent="0">
              <a:buNone/>
            </a:pPr>
            <a:endParaRPr lang="en-US" dirty="0"/>
          </a:p>
        </p:txBody>
      </p:sp>
      <p:sp>
        <p:nvSpPr>
          <p:cNvPr id="3" name="Title 2">
            <a:extLst>
              <a:ext uri="{FF2B5EF4-FFF2-40B4-BE49-F238E27FC236}">
                <a16:creationId xmlns:a16="http://schemas.microsoft.com/office/drawing/2014/main" id="{EA40E131-1B48-BE1F-1A05-9098717802C3}"/>
              </a:ext>
            </a:extLst>
          </p:cNvPr>
          <p:cNvSpPr>
            <a:spLocks noGrp="1"/>
          </p:cNvSpPr>
          <p:nvPr>
            <p:ph type="title"/>
          </p:nvPr>
        </p:nvSpPr>
        <p:spPr/>
        <p:txBody>
          <a:bodyPr/>
          <a:lstStyle/>
          <a:p>
            <a:r>
              <a:rPr lang="en-US" dirty="0"/>
              <a:t>Benchmarking Results</a:t>
            </a:r>
          </a:p>
        </p:txBody>
      </p:sp>
      <p:sp>
        <p:nvSpPr>
          <p:cNvPr id="4" name="Footer Placeholder 3">
            <a:extLst>
              <a:ext uri="{FF2B5EF4-FFF2-40B4-BE49-F238E27FC236}">
                <a16:creationId xmlns:a16="http://schemas.microsoft.com/office/drawing/2014/main" id="{B19898DB-BD90-F704-3DF0-0EABD69EEF31}"/>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F4A0E1B-EB63-7132-ECFF-52B2704F9B75}"/>
              </a:ext>
            </a:extLst>
          </p:cNvPr>
          <p:cNvSpPr>
            <a:spLocks noGrp="1"/>
          </p:cNvSpPr>
          <p:nvPr>
            <p:ph type="sldNum" sz="quarter" idx="4"/>
          </p:nvPr>
        </p:nvSpPr>
        <p:spPr/>
        <p:txBody>
          <a:bodyPr/>
          <a:lstStyle/>
          <a:p>
            <a:pPr>
              <a:defRPr/>
            </a:pPr>
            <a:fld id="{A9CE67A1-BA7F-A74E-B5D7-615746DEEC2B}" type="slidenum">
              <a:rPr lang="en-US" smtClean="0"/>
              <a:pPr>
                <a:defRPr/>
              </a:pPr>
              <a:t>115</a:t>
            </a:fld>
            <a:endParaRPr lang="en-US" baseline="-11000" dirty="0"/>
          </a:p>
        </p:txBody>
      </p:sp>
      <p:sp>
        <p:nvSpPr>
          <p:cNvPr id="6" name="Date Placeholder 5">
            <a:extLst>
              <a:ext uri="{FF2B5EF4-FFF2-40B4-BE49-F238E27FC236}">
                <a16:creationId xmlns:a16="http://schemas.microsoft.com/office/drawing/2014/main" id="{745231B6-BF52-FCB1-B72E-A1360398FB00}"/>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3858915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E636A95-99F4-AA9B-CCA8-E925CB40E0E8}"/>
                  </a:ext>
                </a:extLst>
              </p:cNvPr>
              <p:cNvSpPr>
                <a:spLocks noGrp="1"/>
              </p:cNvSpPr>
              <p:nvPr>
                <p:ph idx="1"/>
              </p:nvPr>
            </p:nvSpPr>
            <p:spPr/>
            <p:txBody>
              <a:bodyPr>
                <a:normAutofit fontScale="70000" lnSpcReduction="20000"/>
              </a:bodyPr>
              <a:lstStyle/>
              <a:p>
                <a:r>
                  <a:rPr lang="en-US" dirty="0"/>
                  <a:t>Number of butterfly operations:</a:t>
                </a:r>
                <a:br>
                  <a:rPr lang="en-US" dirty="0"/>
                </a:br>
                <a:endParaRPr lang="en-US"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𝐵</m:t>
                      </m:r>
                      <m:d>
                        <m:dPr>
                          <m:ctrlPr>
                            <a:rPr lang="en-US" b="0" i="1" dirty="0">
                              <a:latin typeface="Cambria Math" panose="02040503050406030204" pitchFamily="18" charset="0"/>
                            </a:rPr>
                          </m:ctrlPr>
                        </m:dPr>
                        <m:e>
                          <m:r>
                            <a:rPr lang="en-US" b="0" i="1" dirty="0">
                              <a:latin typeface="Cambria Math" panose="02040503050406030204" pitchFamily="18" charset="0"/>
                            </a:rPr>
                            <m:t>𝑅</m:t>
                          </m:r>
                        </m:e>
                      </m:d>
                      <m:r>
                        <a:rPr lang="en-US" b="0" i="1" dirty="0">
                          <a:latin typeface="Cambria Math" panose="02040503050406030204" pitchFamily="18" charset="0"/>
                        </a:rPr>
                        <m:t>=</m:t>
                      </m:r>
                      <m:f>
                        <m:fPr>
                          <m:ctrlPr>
                            <a:rPr lang="en-US" b="0" i="1" dirty="0">
                              <a:latin typeface="Cambria Math" panose="02040503050406030204" pitchFamily="18" charset="0"/>
                            </a:rPr>
                          </m:ctrlPr>
                        </m:fPr>
                        <m:num>
                          <m:r>
                            <a:rPr lang="en-US" b="0" i="1" dirty="0">
                              <a:latin typeface="Cambria Math" panose="02040503050406030204" pitchFamily="18" charset="0"/>
                            </a:rPr>
                            <m:t>𝑁</m:t>
                          </m:r>
                        </m:num>
                        <m:den>
                          <m:r>
                            <a:rPr lang="en-US" b="0" i="1" dirty="0">
                              <a:latin typeface="Cambria Math" panose="02040503050406030204" pitchFamily="18" charset="0"/>
                            </a:rPr>
                            <m:t>𝑅</m:t>
                          </m:r>
                        </m:den>
                      </m:f>
                      <m:sSub>
                        <m:sSubPr>
                          <m:ctrlPr>
                            <a:rPr lang="en-US" b="0" i="1" dirty="0">
                              <a:latin typeface="Cambria Math" panose="02040503050406030204" pitchFamily="18" charset="0"/>
                            </a:rPr>
                          </m:ctrlPr>
                        </m:sSubPr>
                        <m:e>
                          <m:func>
                            <m:funcPr>
                              <m:ctrlPr>
                                <a:rPr lang="en-US" b="0" i="1" dirty="0">
                                  <a:latin typeface="Cambria Math" panose="02040503050406030204" pitchFamily="18" charset="0"/>
                                </a:rPr>
                              </m:ctrlPr>
                            </m:funcPr>
                            <m:fName>
                              <m:r>
                                <m:rPr>
                                  <m:sty m:val="p"/>
                                </m:rPr>
                                <a:rPr lang="en-US" b="0" i="1" dirty="0">
                                  <a:latin typeface="Cambria Math" panose="02040503050406030204" pitchFamily="18" charset="0"/>
                                </a:rPr>
                                <m:t>log</m:t>
                              </m:r>
                            </m:fName>
                            <m:e>
                              <m:r>
                                <a:rPr lang="en-US" b="0" i="1" dirty="0" smtClean="0">
                                  <a:latin typeface="Cambria Math" panose="02040503050406030204" pitchFamily="18" charset="0"/>
                                </a:rPr>
                                <m:t> </m:t>
                              </m:r>
                            </m:e>
                          </m:func>
                        </m:e>
                        <m:sub>
                          <m:r>
                            <a:rPr lang="en-US" b="0" i="1" dirty="0">
                              <a:latin typeface="Cambria Math" panose="02040503050406030204" pitchFamily="18" charset="0"/>
                            </a:rPr>
                            <m:t>𝑅</m:t>
                          </m:r>
                        </m:sub>
                      </m:sSub>
                      <m:r>
                        <a:rPr lang="en-US" b="0" i="1" dirty="0">
                          <a:latin typeface="Cambria Math" panose="02040503050406030204" pitchFamily="18" charset="0"/>
                        </a:rPr>
                        <m:t>𝑁</m:t>
                      </m:r>
                    </m:oMath>
                  </m:oMathPara>
                </a14:m>
                <a:endParaRPr lang="en-US" b="0" i="1" dirty="0">
                  <a:latin typeface="Cambria Math" panose="02040503050406030204" pitchFamily="18" charset="0"/>
                </a:endParaRPr>
              </a:p>
              <a:p>
                <a:pPr marL="0" indent="0" algn="ctr">
                  <a:buNone/>
                </a:pPr>
                <a:r>
                  <a:rPr lang="en-US" b="0" dirty="0"/>
                  <a:t>  </a:t>
                </a:r>
                <a14:m>
                  <m:oMath xmlns:m="http://schemas.openxmlformats.org/officeDocument/2006/math">
                    <m:r>
                      <a:rPr lang="en-US" b="0" i="1" dirty="0" smtClean="0">
                        <a:latin typeface="Cambria Math" panose="02040503050406030204" pitchFamily="18" charset="0"/>
                      </a:rPr>
                      <m:t>𝐵</m:t>
                    </m:r>
                    <m:d>
                      <m:dPr>
                        <m:ctrlPr>
                          <a:rPr lang="en-US" b="0" i="1" dirty="0">
                            <a:latin typeface="Cambria Math" panose="02040503050406030204" pitchFamily="18" charset="0"/>
                          </a:rPr>
                        </m:ctrlPr>
                      </m:dPr>
                      <m:e>
                        <m:r>
                          <a:rPr lang="en-US" b="0" i="1" dirty="0">
                            <a:latin typeface="Cambria Math" panose="02040503050406030204" pitchFamily="18" charset="0"/>
                          </a:rPr>
                          <m:t>2</m:t>
                        </m:r>
                      </m:e>
                    </m:d>
                    <m:r>
                      <a:rPr lang="en-US" b="0" i="1" dirty="0">
                        <a:latin typeface="Cambria Math" panose="02040503050406030204" pitchFamily="18" charset="0"/>
                      </a:rPr>
                      <m:t>=</m:t>
                    </m:r>
                    <m:f>
                      <m:fPr>
                        <m:ctrlPr>
                          <a:rPr lang="en-US" b="0" i="1" dirty="0">
                            <a:latin typeface="Cambria Math" panose="02040503050406030204" pitchFamily="18" charset="0"/>
                          </a:rPr>
                        </m:ctrlPr>
                      </m:fPr>
                      <m:num>
                        <m:r>
                          <a:rPr lang="en-US" b="0" i="1" dirty="0">
                            <a:latin typeface="Cambria Math" panose="02040503050406030204" pitchFamily="18" charset="0"/>
                          </a:rPr>
                          <m:t>𝑁</m:t>
                        </m:r>
                      </m:num>
                      <m:den>
                        <m:r>
                          <a:rPr lang="en-US" b="0" i="1" dirty="0">
                            <a:latin typeface="Cambria Math" panose="02040503050406030204" pitchFamily="18" charset="0"/>
                          </a:rPr>
                          <m:t>2</m:t>
                        </m:r>
                      </m:den>
                    </m:f>
                    <m:sSub>
                      <m:sSubPr>
                        <m:ctrlPr>
                          <a:rPr lang="en-US" b="0" i="1" dirty="0">
                            <a:latin typeface="Cambria Math" panose="02040503050406030204" pitchFamily="18" charset="0"/>
                          </a:rPr>
                        </m:ctrlPr>
                      </m:sSubPr>
                      <m:e>
                        <m:func>
                          <m:funcPr>
                            <m:ctrlPr>
                              <a:rPr lang="en-US" b="0" i="1" dirty="0">
                                <a:latin typeface="Cambria Math" panose="02040503050406030204" pitchFamily="18" charset="0"/>
                              </a:rPr>
                            </m:ctrlPr>
                          </m:funcPr>
                          <m:fName>
                            <m:r>
                              <m:rPr>
                                <m:sty m:val="p"/>
                              </m:rPr>
                              <a:rPr lang="en-US" b="0" i="1" dirty="0">
                                <a:latin typeface="Cambria Math" panose="02040503050406030204" pitchFamily="18" charset="0"/>
                              </a:rPr>
                              <m:t>log</m:t>
                            </m:r>
                          </m:fName>
                          <m:e>
                            <m:r>
                              <a:rPr lang="en-US" b="0" i="1" dirty="0" smtClean="0">
                                <a:latin typeface="Cambria Math" panose="02040503050406030204" pitchFamily="18" charset="0"/>
                              </a:rPr>
                              <m:t> </m:t>
                            </m:r>
                          </m:e>
                        </m:func>
                      </m:e>
                      <m:sub>
                        <m:r>
                          <a:rPr lang="en-US" b="0" i="1" dirty="0">
                            <a:latin typeface="Cambria Math" panose="02040503050406030204" pitchFamily="18" charset="0"/>
                          </a:rPr>
                          <m:t>2</m:t>
                        </m:r>
                      </m:sub>
                    </m:sSub>
                    <m:r>
                      <a:rPr lang="en-US" b="0" i="1" dirty="0">
                        <a:latin typeface="Cambria Math" panose="02040503050406030204" pitchFamily="18" charset="0"/>
                      </a:rPr>
                      <m:t>𝑁</m:t>
                    </m:r>
                    <m:r>
                      <a:rPr lang="en-US" b="0" i="1" dirty="0" smtClean="0">
                        <a:latin typeface="Cambria Math" panose="02040503050406030204" pitchFamily="18" charset="0"/>
                      </a:rPr>
                      <m:t>  , </m:t>
                    </m:r>
                    <m:r>
                      <a:rPr lang="en-US" i="1" dirty="0">
                        <a:latin typeface="Cambria Math" panose="02040503050406030204" pitchFamily="18" charset="0"/>
                      </a:rPr>
                      <m:t>𝐵</m:t>
                    </m:r>
                    <m:d>
                      <m:dPr>
                        <m:ctrlPr>
                          <a:rPr lang="en-US" i="1" dirty="0">
                            <a:latin typeface="Cambria Math" panose="02040503050406030204" pitchFamily="18" charset="0"/>
                          </a:rPr>
                        </m:ctrlPr>
                      </m:dPr>
                      <m:e>
                        <m:r>
                          <a:rPr lang="en-US" i="1" dirty="0">
                            <a:latin typeface="Cambria Math" panose="02040503050406030204" pitchFamily="18" charset="0"/>
                          </a:rPr>
                          <m:t>8</m:t>
                        </m:r>
                      </m:e>
                    </m:d>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8</m:t>
                        </m:r>
                      </m:den>
                    </m:f>
                    <m:sSub>
                      <m:sSubPr>
                        <m:ctrlPr>
                          <a:rPr lang="en-US" i="1" dirty="0">
                            <a:latin typeface="Cambria Math" panose="02040503050406030204" pitchFamily="18" charset="0"/>
                          </a:rPr>
                        </m:ctrlPr>
                      </m:sSubPr>
                      <m:e>
                        <m:func>
                          <m:funcPr>
                            <m:ctrlPr>
                              <a:rPr lang="en-US" i="1" dirty="0">
                                <a:latin typeface="Cambria Math" panose="02040503050406030204" pitchFamily="18" charset="0"/>
                              </a:rPr>
                            </m:ctrlPr>
                          </m:funcPr>
                          <m:fName>
                            <m:r>
                              <m:rPr>
                                <m:sty m:val="p"/>
                              </m:rPr>
                              <a:rPr lang="en-US" i="1" dirty="0">
                                <a:latin typeface="Cambria Math" panose="02040503050406030204" pitchFamily="18" charset="0"/>
                              </a:rPr>
                              <m:t>log</m:t>
                            </m:r>
                          </m:fName>
                          <m:e>
                            <m:r>
                              <a:rPr lang="en-US" i="1" dirty="0">
                                <a:latin typeface="Cambria Math" panose="02040503050406030204" pitchFamily="18" charset="0"/>
                              </a:rPr>
                              <m:t> </m:t>
                            </m:r>
                          </m:e>
                        </m:func>
                      </m:e>
                      <m:sub>
                        <m:r>
                          <a:rPr lang="en-US" i="1" dirty="0">
                            <a:latin typeface="Cambria Math" panose="02040503050406030204" pitchFamily="18" charset="0"/>
                          </a:rPr>
                          <m:t>8</m:t>
                        </m:r>
                      </m:sub>
                    </m:sSub>
                    <m:r>
                      <a:rPr lang="en-US" i="1" dirty="0">
                        <a:latin typeface="Cambria Math" panose="02040503050406030204" pitchFamily="18" charset="0"/>
                      </a:rPr>
                      <m:t>𝑁</m:t>
                    </m:r>
                    <m:r>
                      <a:rPr lang="en-US" b="0" i="1" dirty="0" smtClean="0">
                        <a:latin typeface="Cambria Math" panose="02040503050406030204" pitchFamily="18" charset="0"/>
                      </a:rPr>
                      <m:t>=</m:t>
                    </m:r>
                  </m:oMath>
                </a14:m>
                <a:r>
                  <a:rPr lang="en-US" dirty="0"/>
                  <a:t>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24</m:t>
                        </m:r>
                      </m:den>
                    </m:f>
                    <m:sSub>
                      <m:sSubPr>
                        <m:ctrlPr>
                          <a:rPr lang="en-US" i="1" dirty="0">
                            <a:latin typeface="Cambria Math" panose="02040503050406030204" pitchFamily="18" charset="0"/>
                          </a:rPr>
                        </m:ctrlPr>
                      </m:sSubPr>
                      <m:e>
                        <m:func>
                          <m:funcPr>
                            <m:ctrlPr>
                              <a:rPr lang="en-US" i="1" dirty="0">
                                <a:latin typeface="Cambria Math" panose="02040503050406030204" pitchFamily="18" charset="0"/>
                              </a:rPr>
                            </m:ctrlPr>
                          </m:funcPr>
                          <m:fName>
                            <m:r>
                              <m:rPr>
                                <m:sty m:val="p"/>
                              </m:rPr>
                              <a:rPr lang="en-US" i="1" dirty="0">
                                <a:latin typeface="Cambria Math" panose="02040503050406030204" pitchFamily="18" charset="0"/>
                              </a:rPr>
                              <m:t>log</m:t>
                            </m:r>
                          </m:fName>
                          <m:e>
                            <m:r>
                              <a:rPr lang="en-US" i="1" dirty="0">
                                <a:latin typeface="Cambria Math" panose="02040503050406030204" pitchFamily="18" charset="0"/>
                              </a:rPr>
                              <m:t> </m:t>
                            </m:r>
                          </m:e>
                        </m:func>
                      </m:e>
                      <m:sub>
                        <m:r>
                          <a:rPr lang="en-US" i="1" dirty="0">
                            <a:latin typeface="Cambria Math" panose="02040503050406030204" pitchFamily="18" charset="0"/>
                          </a:rPr>
                          <m:t>2</m:t>
                        </m:r>
                      </m:sub>
                    </m:sSub>
                    <m:r>
                      <a:rPr lang="en-US" i="1" dirty="0">
                        <a:latin typeface="Cambria Math" panose="02040503050406030204" pitchFamily="18" charset="0"/>
                      </a:rPr>
                      <m:t>𝑁</m:t>
                    </m:r>
                  </m:oMath>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r>
                  <a:rPr lang="en-US" dirty="0"/>
                  <a:t>Overhead increases linearly:</a:t>
                </a: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m:t>
                      </m:r>
                      <m:r>
                        <a:rPr lang="en-US" i="1" dirty="0" smtClean="0">
                          <a:latin typeface="Cambria Math" panose="02040503050406030204" pitchFamily="18" charset="0"/>
                        </a:rPr>
                        <m:t>𝐵</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1</m:t>
                              </m:r>
                            </m:sub>
                          </m:sSub>
                        </m:e>
                      </m:d>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r>
                        <a:rPr lang="en-US" i="1" dirty="0" smtClean="0">
                          <a:latin typeface="Cambria Math" panose="02040503050406030204" pitchFamily="18" charset="0"/>
                        </a:rPr>
                        <m:t>3</m:t>
                      </m:r>
                      <m:r>
                        <a:rPr lang="en-US" i="1" dirty="0" smtClean="0">
                          <a:latin typeface="Cambria Math" panose="02040503050406030204" pitchFamily="18" charset="0"/>
                        </a:rPr>
                        <m:t>h</m:t>
                      </m:r>
                      <m:r>
                        <a:rPr lang="en-US" i="1" dirty="0" smtClean="0">
                          <a:latin typeface="Cambria Math" panose="02040503050406030204" pitchFamily="18" charset="0"/>
                        </a:rPr>
                        <m:t>⋅</m:t>
                      </m:r>
                      <m:r>
                        <a:rPr lang="en-US" i="1" dirty="0" smtClean="0">
                          <a:latin typeface="Cambria Math" panose="02040503050406030204" pitchFamily="18" charset="0"/>
                        </a:rPr>
                        <m:t>𝐵</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2</m:t>
                              </m:r>
                            </m:sub>
                          </m:sSub>
                        </m:e>
                      </m:d>
                    </m:oMath>
                  </m:oMathPara>
                </a14:m>
                <a:endParaRPr lang="en-US" i="1" dirty="0">
                  <a:latin typeface="Cambria Math" panose="02040503050406030204" pitchFamily="18" charset="0"/>
                </a:endParaRPr>
              </a:p>
              <a:p>
                <a:r>
                  <a:rPr lang="en-US" dirty="0"/>
                  <a:t>Speed-up:</a:t>
                </a:r>
              </a:p>
              <a:p>
                <a:pPr marL="0" indent="0" algn="ctr">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𝑆</m:t>
                      </m:r>
                      <m:r>
                        <a:rPr lang="en-US" i="0" dirty="0" smtClean="0">
                          <a:latin typeface="Cambria Math" panose="02040503050406030204" pitchFamily="18" charset="0"/>
                        </a:rPr>
                        <m:t>=</m:t>
                      </m:r>
                      <m:f>
                        <m:fPr>
                          <m:ctrlPr>
                            <a:rPr lang="en-US" i="1" dirty="0" smtClean="0">
                              <a:latin typeface="Cambria Math" panose="02040503050406030204" pitchFamily="18" charset="0"/>
                            </a:rPr>
                          </m:ctrlPr>
                        </m:fPr>
                        <m:num>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0" dirty="0" smtClean="0">
                                  <a:latin typeface="Cambria Math" panose="02040503050406030204" pitchFamily="18" charset="0"/>
                                </a:rPr>
                                <m:t>2</m:t>
                              </m:r>
                            </m:sub>
                          </m:sSub>
                        </m:num>
                        <m:den>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0" dirty="0" smtClean="0">
                                  <a:latin typeface="Cambria Math" panose="02040503050406030204" pitchFamily="18" charset="0"/>
                                </a:rPr>
                                <m:t>8</m:t>
                              </m:r>
                            </m:sub>
                          </m:sSub>
                        </m:den>
                      </m:f>
                      <m:r>
                        <a:rPr lang="en-US" i="0"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h</m:t>
                          </m:r>
                          <m:r>
                            <a:rPr lang="en-US" i="0"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𝑁</m:t>
                              </m:r>
                            </m:num>
                            <m:den>
                              <m:r>
                                <a:rPr lang="en-US" i="0" dirty="0" smtClean="0">
                                  <a:latin typeface="Cambria Math" panose="02040503050406030204" pitchFamily="18" charset="0"/>
                                </a:rPr>
                                <m:t>2</m:t>
                              </m:r>
                            </m:den>
                          </m:f>
                          <m:sSub>
                            <m:sSubPr>
                              <m:ctrlPr>
                                <a:rPr lang="en-US" i="1" dirty="0" smtClean="0">
                                  <a:latin typeface="Cambria Math" panose="02040503050406030204" pitchFamily="18" charset="0"/>
                                </a:rPr>
                              </m:ctrlPr>
                            </m:sSubPr>
                            <m:e>
                              <m:func>
                                <m:funcPr>
                                  <m:ctrlPr>
                                    <a:rPr lang="en-US" i="1" dirty="0" smtClean="0">
                                      <a:latin typeface="Cambria Math" panose="02040503050406030204" pitchFamily="18" charset="0"/>
                                    </a:rPr>
                                  </m:ctrlPr>
                                </m:funcPr>
                                <m:fName>
                                  <m:r>
                                    <m:rPr>
                                      <m:sty m:val="p"/>
                                    </m:rPr>
                                    <a:rPr lang="en-US" i="0" dirty="0" smtClean="0">
                                      <a:latin typeface="Cambria Math" panose="02040503050406030204" pitchFamily="18" charset="0"/>
                                    </a:rPr>
                                    <m:t>log</m:t>
                                  </m:r>
                                </m:fName>
                                <m:e>
                                  <m:r>
                                    <a:rPr lang="en-US" b="0" i="1" dirty="0" smtClean="0">
                                      <a:latin typeface="Cambria Math" panose="02040503050406030204" pitchFamily="18" charset="0"/>
                                    </a:rPr>
                                    <m:t> </m:t>
                                  </m:r>
                                </m:e>
                              </m:func>
                            </m:e>
                            <m:sub>
                              <m:r>
                                <a:rPr lang="en-US" i="0" dirty="0" smtClean="0">
                                  <a:latin typeface="Cambria Math" panose="02040503050406030204" pitchFamily="18" charset="0"/>
                                </a:rPr>
                                <m:t>2</m:t>
                              </m:r>
                            </m:sub>
                          </m:sSub>
                          <m:r>
                            <a:rPr lang="en-US" i="1" dirty="0" smtClean="0">
                              <a:latin typeface="Cambria Math" panose="02040503050406030204" pitchFamily="18" charset="0"/>
                            </a:rPr>
                            <m:t>𝑁</m:t>
                          </m:r>
                        </m:num>
                        <m:den>
                          <m:r>
                            <a:rPr lang="en-US" i="1" dirty="0" smtClean="0">
                              <a:latin typeface="Cambria Math" panose="02040503050406030204" pitchFamily="18" charset="0"/>
                            </a:rPr>
                            <m:t>h</m:t>
                          </m:r>
                          <m:r>
                            <a:rPr lang="en-US" i="0"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𝑁</m:t>
                              </m:r>
                            </m:num>
                            <m:den>
                              <m:r>
                                <a:rPr lang="en-US" i="0" dirty="0" smtClean="0">
                                  <a:latin typeface="Cambria Math" panose="02040503050406030204" pitchFamily="18" charset="0"/>
                                </a:rPr>
                                <m:t>8</m:t>
                              </m:r>
                            </m:den>
                          </m:f>
                          <m:sSub>
                            <m:sSubPr>
                              <m:ctrlPr>
                                <a:rPr lang="en-US" i="1" dirty="0" smtClean="0">
                                  <a:latin typeface="Cambria Math" panose="02040503050406030204" pitchFamily="18" charset="0"/>
                                </a:rPr>
                              </m:ctrlPr>
                            </m:sSubPr>
                            <m:e>
                              <m:func>
                                <m:funcPr>
                                  <m:ctrlPr>
                                    <a:rPr lang="en-US" i="1" dirty="0" smtClean="0">
                                      <a:latin typeface="Cambria Math" panose="02040503050406030204" pitchFamily="18" charset="0"/>
                                    </a:rPr>
                                  </m:ctrlPr>
                                </m:funcPr>
                                <m:fName>
                                  <m:r>
                                    <m:rPr>
                                      <m:sty m:val="p"/>
                                    </m:rPr>
                                    <a:rPr lang="en-US" i="0" dirty="0" smtClean="0">
                                      <a:latin typeface="Cambria Math" panose="02040503050406030204" pitchFamily="18" charset="0"/>
                                    </a:rPr>
                                    <m:t>log</m:t>
                                  </m:r>
                                </m:fName>
                                <m:e>
                                  <m:r>
                                    <a:rPr lang="en-US" b="0" i="1" dirty="0" smtClean="0">
                                      <a:latin typeface="Cambria Math" panose="02040503050406030204" pitchFamily="18" charset="0"/>
                                    </a:rPr>
                                    <m:t> </m:t>
                                  </m:r>
                                </m:e>
                              </m:func>
                            </m:e>
                            <m:sub>
                              <m:r>
                                <a:rPr lang="en-US" i="0" dirty="0" smtClean="0">
                                  <a:latin typeface="Cambria Math" panose="02040503050406030204" pitchFamily="18" charset="0"/>
                                </a:rPr>
                                <m:t>2</m:t>
                              </m:r>
                            </m:sub>
                          </m:sSub>
                          <m:r>
                            <a:rPr lang="en-US" i="1" dirty="0" smtClean="0">
                              <a:latin typeface="Cambria Math" panose="02040503050406030204" pitchFamily="18" charset="0"/>
                            </a:rPr>
                            <m:t>𝑁</m:t>
                          </m:r>
                        </m:den>
                      </m:f>
                      <m:r>
                        <a:rPr lang="en-US" dirty="0">
                          <a:latin typeface="Cambria Math" panose="02040503050406030204" pitchFamily="18" charset="0"/>
                        </a:rPr>
                        <m:t>=</m:t>
                      </m:r>
                      <m:r>
                        <a:rPr lang="en-US" dirty="0">
                          <a:latin typeface="Cambria Math" panose="02040503050406030204" pitchFamily="18" charset="0"/>
                        </a:rPr>
                        <m:t>4</m:t>
                      </m:r>
                    </m:oMath>
                  </m:oMathPara>
                </a14:m>
                <a:endParaRPr lang="en-US" dirty="0">
                  <a:latin typeface="Cambria Math" panose="02040503050406030204" pitchFamily="18" charset="0"/>
                </a:endParaRPr>
              </a:p>
              <a:p>
                <a:pPr marL="0" indent="0">
                  <a:buNone/>
                </a:pPr>
                <a:endParaRPr lang="en-US" i="1" dirty="0">
                  <a:latin typeface="Cambria Math" panose="02040503050406030204" pitchFamily="18" charset="0"/>
                </a:endParaRPr>
              </a:p>
              <a:p>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dirty="0">
                          <a:latin typeface="Cambria Math" panose="02040503050406030204" pitchFamily="18" charset="0"/>
                        </a:rPr>
                        <m:t> </m:t>
                      </m:r>
                    </m:oMath>
                  </m:oMathPara>
                </a14:m>
                <a:endParaRPr lang="en-US" dirty="0"/>
              </a:p>
              <a:p>
                <a:pPr marL="0" indent="0">
                  <a:buNone/>
                </a:pPr>
                <a:endParaRPr lang="en-US" dirty="0"/>
              </a:p>
            </p:txBody>
          </p:sp>
        </mc:Choice>
        <mc:Fallback xmlns="">
          <p:sp>
            <p:nvSpPr>
              <p:cNvPr id="2" name="Content Placeholder 1">
                <a:extLst>
                  <a:ext uri="{FF2B5EF4-FFF2-40B4-BE49-F238E27FC236}">
                    <a16:creationId xmlns:a16="http://schemas.microsoft.com/office/drawing/2014/main" id="{EE636A95-99F4-AA9B-CCA8-E925CB40E0E8}"/>
                  </a:ext>
                </a:extLst>
              </p:cNvPr>
              <p:cNvSpPr>
                <a:spLocks noGrp="1" noRot="1" noChangeAspect="1" noMove="1" noResize="1" noEditPoints="1" noAdjustHandles="1" noChangeArrowheads="1" noChangeShapeType="1" noTextEdit="1"/>
              </p:cNvSpPr>
              <p:nvPr>
                <p:ph idx="1"/>
              </p:nvPr>
            </p:nvSpPr>
            <p:spPr>
              <a:blipFill>
                <a:blip r:embed="rId2"/>
                <a:stretch>
                  <a:fillRect l="-830" t="-322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B121C5A-C134-9FEB-F6ED-C9CDB1049C29}"/>
              </a:ext>
            </a:extLst>
          </p:cNvPr>
          <p:cNvSpPr>
            <a:spLocks noGrp="1"/>
          </p:cNvSpPr>
          <p:nvPr>
            <p:ph type="title"/>
          </p:nvPr>
        </p:nvSpPr>
        <p:spPr>
          <a:xfrm>
            <a:off x="342901" y="219456"/>
            <a:ext cx="10287001" cy="470898"/>
          </a:xfrm>
        </p:spPr>
        <p:txBody>
          <a:bodyPr/>
          <a:lstStyle/>
          <a:p>
            <a:r>
              <a:rPr lang="en-US" dirty="0"/>
              <a:t>Moving to High-Radix</a:t>
            </a:r>
          </a:p>
        </p:txBody>
      </p:sp>
      <p:sp>
        <p:nvSpPr>
          <p:cNvPr id="4" name="Footer Placeholder 3">
            <a:extLst>
              <a:ext uri="{FF2B5EF4-FFF2-40B4-BE49-F238E27FC236}">
                <a16:creationId xmlns:a16="http://schemas.microsoft.com/office/drawing/2014/main" id="{72B9EE9E-2CEE-75DD-81D9-E9343825196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25BC984-9154-51C8-9FE7-E68A12B7CC62}"/>
              </a:ext>
            </a:extLst>
          </p:cNvPr>
          <p:cNvSpPr>
            <a:spLocks noGrp="1"/>
          </p:cNvSpPr>
          <p:nvPr>
            <p:ph type="sldNum" sz="quarter" idx="4"/>
          </p:nvPr>
        </p:nvSpPr>
        <p:spPr/>
        <p:txBody>
          <a:bodyPr/>
          <a:lstStyle/>
          <a:p>
            <a:pPr>
              <a:defRPr/>
            </a:pPr>
            <a:fld id="{A9CE67A1-BA7F-A74E-B5D7-615746DEEC2B}" type="slidenum">
              <a:rPr lang="en-US" smtClean="0"/>
              <a:pPr>
                <a:defRPr/>
              </a:pPr>
              <a:t>116</a:t>
            </a:fld>
            <a:endParaRPr lang="en-US" baseline="-11000" dirty="0"/>
          </a:p>
        </p:txBody>
      </p:sp>
      <p:sp>
        <p:nvSpPr>
          <p:cNvPr id="6" name="Date Placeholder 5">
            <a:extLst>
              <a:ext uri="{FF2B5EF4-FFF2-40B4-BE49-F238E27FC236}">
                <a16:creationId xmlns:a16="http://schemas.microsoft.com/office/drawing/2014/main" id="{69749D4B-CA5C-1079-4158-214325D9A011}"/>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14477765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1FC11-15ED-0A51-F604-10FD79BDC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8C3875-E10D-C0E5-8FA5-71750505F674}"/>
              </a:ext>
            </a:extLst>
          </p:cNvPr>
          <p:cNvSpPr>
            <a:spLocks noGrp="1"/>
          </p:cNvSpPr>
          <p:nvPr>
            <p:ph type="title"/>
          </p:nvPr>
        </p:nvSpPr>
        <p:spPr>
          <a:xfrm>
            <a:off x="342901" y="219456"/>
            <a:ext cx="10502080" cy="470898"/>
          </a:xfrm>
        </p:spPr>
        <p:txBody>
          <a:bodyPr/>
          <a:lstStyle/>
          <a:p>
            <a:r>
              <a:rPr lang="en-US" dirty="0"/>
              <a:t>GitHub Repositories </a:t>
            </a:r>
          </a:p>
        </p:txBody>
      </p:sp>
      <p:sp>
        <p:nvSpPr>
          <p:cNvPr id="4" name="Footer Placeholder 3">
            <a:extLst>
              <a:ext uri="{FF2B5EF4-FFF2-40B4-BE49-F238E27FC236}">
                <a16:creationId xmlns:a16="http://schemas.microsoft.com/office/drawing/2014/main" id="{B3890CAC-F55A-38BD-4E23-46C16BDAAAC9}"/>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E25D429-1A60-320F-AF38-E41A4B052AD7}"/>
              </a:ext>
            </a:extLst>
          </p:cNvPr>
          <p:cNvSpPr>
            <a:spLocks noGrp="1"/>
          </p:cNvSpPr>
          <p:nvPr>
            <p:ph type="sldNum" sz="quarter" idx="4"/>
          </p:nvPr>
        </p:nvSpPr>
        <p:spPr/>
        <p:txBody>
          <a:bodyPr/>
          <a:lstStyle/>
          <a:p>
            <a:pPr>
              <a:defRPr/>
            </a:pPr>
            <a:fld id="{A9CE67A1-BA7F-A74E-B5D7-615746DEEC2B}" type="slidenum">
              <a:rPr lang="en-US" smtClean="0"/>
              <a:pPr>
                <a:defRPr/>
              </a:pPr>
              <a:t>117</a:t>
            </a:fld>
            <a:endParaRPr lang="en-US" baseline="-11000" dirty="0"/>
          </a:p>
        </p:txBody>
      </p:sp>
      <p:sp>
        <p:nvSpPr>
          <p:cNvPr id="6" name="Date Placeholder 5">
            <a:extLst>
              <a:ext uri="{FF2B5EF4-FFF2-40B4-BE49-F238E27FC236}">
                <a16:creationId xmlns:a16="http://schemas.microsoft.com/office/drawing/2014/main" id="{D98A3AA9-A7A6-D167-2043-70EF8391BD1A}"/>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 name="Content Placeholder 2">
            <a:extLst>
              <a:ext uri="{FF2B5EF4-FFF2-40B4-BE49-F238E27FC236}">
                <a16:creationId xmlns:a16="http://schemas.microsoft.com/office/drawing/2014/main" id="{0F0F082A-89B3-D9A5-5E65-6999D0C87CDC}"/>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C6891167-FD25-23FC-91AE-2401BD2FE428}"/>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A68373D4-45B3-44DC-B980-A63ED515E465}"/>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2" name="TextBox 11">
            <a:extLst>
              <a:ext uri="{FF2B5EF4-FFF2-40B4-BE49-F238E27FC236}">
                <a16:creationId xmlns:a16="http://schemas.microsoft.com/office/drawing/2014/main" id="{8C5A98EC-694F-14B8-D79D-E2D670142282}"/>
              </a:ext>
            </a:extLst>
          </p:cNvPr>
          <p:cNvSpPr txBox="1"/>
          <p:nvPr/>
        </p:nvSpPr>
        <p:spPr>
          <a:xfrm>
            <a:off x="220610" y="727899"/>
            <a:ext cx="11750779" cy="3782061"/>
          </a:xfrm>
          <a:prstGeom prst="rect">
            <a:avLst/>
          </a:prstGeom>
          <a:noFill/>
        </p:spPr>
        <p:txBody>
          <a:bodyPr wrap="square">
            <a:spAutoFit/>
          </a:bodyPr>
          <a:lstStyle/>
          <a:p>
            <a:pPr>
              <a:lnSpc>
                <a:spcPct val="150000"/>
              </a:lnSpc>
            </a:pPr>
            <a:r>
              <a:rPr lang="en-US" dirty="0"/>
              <a:t>1- MATLAB modeling code for SDF DIF : (Modeling part by Mostafa Fathy)</a:t>
            </a:r>
          </a:p>
          <a:p>
            <a:pPr>
              <a:lnSpc>
                <a:spcPct val="150000"/>
              </a:lnSpc>
            </a:pPr>
            <a:r>
              <a:rPr lang="en-US" dirty="0">
                <a:hlinkClick r:id="rId2"/>
              </a:rPr>
              <a:t>https://github.com/Mostafa-Yossry/ADI-CU-GP-2025-2026/tree/main/System-Modelling/SDF-Radix2-FFT</a:t>
            </a:r>
            <a:endParaRPr lang="en-US" dirty="0"/>
          </a:p>
          <a:p>
            <a:pPr>
              <a:lnSpc>
                <a:spcPct val="150000"/>
              </a:lnSpc>
            </a:pPr>
            <a:r>
              <a:rPr lang="en-US" dirty="0"/>
              <a:t>2- SDF 4092-point code : (RTL part by Marwan Khaled and Mostafa Fathy)</a:t>
            </a:r>
          </a:p>
          <a:p>
            <a:pPr>
              <a:lnSpc>
                <a:spcPct val="150000"/>
              </a:lnSpc>
            </a:pPr>
            <a:r>
              <a:rPr lang="en-US" dirty="0">
                <a:hlinkClick r:id="rId3"/>
              </a:rPr>
              <a:t>https://github.com/Mostafa-Yossry/ADI-CU-GP-2025-2026/tree/main/RTL/FFT_SDF</a:t>
            </a:r>
            <a:endParaRPr lang="en-US" dirty="0"/>
          </a:p>
          <a:p>
            <a:pPr>
              <a:lnSpc>
                <a:spcPct val="150000"/>
              </a:lnSpc>
            </a:pPr>
            <a:r>
              <a:rPr lang="en-US" dirty="0"/>
              <a:t>3- Source code can be found here: (Firmware part by Mostafa </a:t>
            </a:r>
            <a:r>
              <a:rPr lang="en-US" dirty="0" err="1"/>
              <a:t>Yossry</a:t>
            </a:r>
            <a:r>
              <a:rPr lang="en-US" dirty="0"/>
              <a:t>)		                        </a:t>
            </a:r>
            <a:r>
              <a:rPr lang="en-US" dirty="0">
                <a:hlinkClick r:id="rId4"/>
              </a:rPr>
              <a:t>https://github.com/Mostafa-Yossry/ADI-CU-GP-2025-2026/tree/main/Firmware/Radix2-FFT</a:t>
            </a:r>
            <a:br>
              <a:rPr lang="en-US" dirty="0">
                <a:hlinkClick r:id="rId4"/>
              </a:rPr>
            </a:br>
            <a:r>
              <a:rPr lang="en-US" dirty="0"/>
              <a:t>4- RTL implementations and Wrapper codes can be found here: (AXI integration part by Mostafa Ahmed)</a:t>
            </a:r>
            <a:endParaRPr lang="en-GB" dirty="0"/>
          </a:p>
          <a:p>
            <a:pPr>
              <a:lnSpc>
                <a:spcPct val="150000"/>
              </a:lnSpc>
            </a:pPr>
            <a:r>
              <a:rPr lang="en-US" dirty="0">
                <a:hlinkClick r:id="rId5"/>
              </a:rPr>
              <a:t>https://github.com/Mostafa-Yossry/ADI-CU-GP-2025-2026/tree/main/RTL/simple_butterfly/simple_butterfly</a:t>
            </a:r>
            <a:r>
              <a:rPr lang="en-US" dirty="0"/>
              <a:t>					                     </a:t>
            </a:r>
          </a:p>
        </p:txBody>
      </p:sp>
    </p:spTree>
    <p:extLst>
      <p:ext uri="{BB962C8B-B14F-4D97-AF65-F5344CB8AC3E}">
        <p14:creationId xmlns:p14="http://schemas.microsoft.com/office/powerpoint/2010/main" val="2529391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65E3B-E14D-4FE5-22EC-BF29224B6F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4BED4C4-85FC-FAB2-2462-5C1C72D56ED9}"/>
              </a:ext>
            </a:extLst>
          </p:cNvPr>
          <p:cNvSpPr>
            <a:spLocks noGrp="1"/>
          </p:cNvSpPr>
          <p:nvPr>
            <p:ph type="title"/>
          </p:nvPr>
        </p:nvSpPr>
        <p:spPr>
          <a:xfrm>
            <a:off x="342901" y="219456"/>
            <a:ext cx="10502080" cy="470898"/>
          </a:xfrm>
        </p:spPr>
        <p:txBody>
          <a:bodyPr/>
          <a:lstStyle/>
          <a:p>
            <a:r>
              <a:rPr lang="en-US" dirty="0"/>
              <a:t>References </a:t>
            </a:r>
          </a:p>
        </p:txBody>
      </p:sp>
      <p:sp>
        <p:nvSpPr>
          <p:cNvPr id="4" name="Footer Placeholder 3">
            <a:extLst>
              <a:ext uri="{FF2B5EF4-FFF2-40B4-BE49-F238E27FC236}">
                <a16:creationId xmlns:a16="http://schemas.microsoft.com/office/drawing/2014/main" id="{3B920FFC-CFAF-8F2D-69E6-8A9B08036B5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279BA39-6BD9-96F2-05D4-384695461AAA}"/>
              </a:ext>
            </a:extLst>
          </p:cNvPr>
          <p:cNvSpPr>
            <a:spLocks noGrp="1"/>
          </p:cNvSpPr>
          <p:nvPr>
            <p:ph type="sldNum" sz="quarter" idx="4"/>
          </p:nvPr>
        </p:nvSpPr>
        <p:spPr/>
        <p:txBody>
          <a:bodyPr/>
          <a:lstStyle/>
          <a:p>
            <a:pPr>
              <a:defRPr/>
            </a:pPr>
            <a:fld id="{A9CE67A1-BA7F-A74E-B5D7-615746DEEC2B}" type="slidenum">
              <a:rPr lang="en-US" smtClean="0"/>
              <a:pPr>
                <a:defRPr/>
              </a:pPr>
              <a:t>118</a:t>
            </a:fld>
            <a:endParaRPr lang="en-US" baseline="-11000" dirty="0"/>
          </a:p>
        </p:txBody>
      </p:sp>
      <p:sp>
        <p:nvSpPr>
          <p:cNvPr id="6" name="Date Placeholder 5">
            <a:extLst>
              <a:ext uri="{FF2B5EF4-FFF2-40B4-BE49-F238E27FC236}">
                <a16:creationId xmlns:a16="http://schemas.microsoft.com/office/drawing/2014/main" id="{BB710D38-89A9-6745-8CEC-644F1E9956E0}"/>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 name="Content Placeholder 2">
            <a:extLst>
              <a:ext uri="{FF2B5EF4-FFF2-40B4-BE49-F238E27FC236}">
                <a16:creationId xmlns:a16="http://schemas.microsoft.com/office/drawing/2014/main" id="{77BA815D-F88F-460E-D57B-3237E24F14DC}"/>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4D7E3665-BF66-3B41-2538-44B2C9D7E694}"/>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9B1DD079-C40E-2D7D-DC5E-A248DBE48E44}"/>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2" name="TextBox 11">
            <a:extLst>
              <a:ext uri="{FF2B5EF4-FFF2-40B4-BE49-F238E27FC236}">
                <a16:creationId xmlns:a16="http://schemas.microsoft.com/office/drawing/2014/main" id="{0D142E78-CA40-5049-608D-F72081EEBCC4}"/>
              </a:ext>
            </a:extLst>
          </p:cNvPr>
          <p:cNvSpPr txBox="1"/>
          <p:nvPr/>
        </p:nvSpPr>
        <p:spPr>
          <a:xfrm>
            <a:off x="220610" y="727899"/>
            <a:ext cx="11750779" cy="4059060"/>
          </a:xfrm>
          <a:prstGeom prst="rect">
            <a:avLst/>
          </a:prstGeom>
          <a:noFill/>
        </p:spPr>
        <p:txBody>
          <a:bodyPr wrap="square">
            <a:spAutoFit/>
          </a:bodyPr>
          <a:lstStyle/>
          <a:p>
            <a:pPr marL="285750" indent="-285750" defTabSz="457200">
              <a:spcBef>
                <a:spcPts val="1000"/>
              </a:spcBef>
              <a:buClr>
                <a:srgbClr val="1E4056"/>
              </a:buClr>
              <a:buSzPct val="75000"/>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err="1"/>
              <a:t>Mr.Wolf</a:t>
            </a:r>
            <a:r>
              <a:rPr lang="en-US" dirty="0"/>
              <a:t>: An Energy-Precision Scalable Parallel Ultra Low Power SoC for IoT Edge Processing:</a:t>
            </a:r>
          </a:p>
          <a:p>
            <a:pPr>
              <a:lnSpc>
                <a:spcPct val="150000"/>
              </a:lnSpc>
            </a:pPr>
            <a:r>
              <a:rPr lang="en-US" dirty="0">
                <a:hlinkClick r:id="rId2"/>
              </a:rPr>
              <a:t>https://pulp-platform.org/docs/publications/08715500.pdf </a:t>
            </a:r>
            <a:r>
              <a:rPr lang="en-US" dirty="0">
                <a:hlinkClick r:id="rId3" action="ppaction://hlinksldjump"/>
              </a:rPr>
              <a:t>[1] </a:t>
            </a:r>
            <a:endParaRPr lang="en-US" dirty="0"/>
          </a:p>
          <a:p>
            <a:pPr marL="285750" indent="-285750">
              <a:lnSpc>
                <a:spcPct val="150000"/>
              </a:lnSpc>
              <a:buFont typeface="Arial" panose="020B0604020202020204" pitchFamily="34" charset="0"/>
              <a:buChar char="•"/>
            </a:pPr>
            <a:r>
              <a:rPr lang="en-US" dirty="0"/>
              <a:t>Fast Fourier Transform :Algorithms And Applications) </a:t>
            </a:r>
          </a:p>
          <a:p>
            <a:pPr>
              <a:lnSpc>
                <a:spcPct val="150000"/>
              </a:lnSpc>
            </a:pPr>
            <a:r>
              <a:rPr lang="en-US" dirty="0">
                <a:hlinkClick r:id="rId4"/>
              </a:rPr>
              <a:t>https://danylastchild07.wordpress.com/wp-content/uploads/2016/05/fft_algorithms-and-applications.pdf</a:t>
            </a:r>
            <a:endParaRPr lang="en-US" dirty="0"/>
          </a:p>
          <a:p>
            <a:pPr marL="285750" indent="-285750">
              <a:lnSpc>
                <a:spcPct val="150000"/>
              </a:lnSpc>
              <a:buFont typeface="Arial" panose="020B0604020202020204" pitchFamily="34" charset="0"/>
              <a:buChar char="•"/>
            </a:pPr>
            <a:r>
              <a:rPr lang="en-US" dirty="0"/>
              <a:t>VLSI Digital Signal Processing Systems: Design and Implementation</a:t>
            </a:r>
          </a:p>
          <a:p>
            <a:pPr>
              <a:lnSpc>
                <a:spcPct val="150000"/>
              </a:lnSpc>
            </a:pPr>
            <a:r>
              <a:rPr lang="en-US" dirty="0">
                <a:hlinkClick r:id="rId5"/>
              </a:rPr>
              <a:t>https://d1.amobbs.com/bbs_upload782111/files_18/ourdev_480582.pdf</a:t>
            </a:r>
            <a:endParaRPr lang="en-US" dirty="0"/>
          </a:p>
          <a:p>
            <a:pPr marL="285750" indent="-285750">
              <a:lnSpc>
                <a:spcPct val="150000"/>
              </a:lnSpc>
              <a:buFont typeface="Arial" panose="020B0604020202020204" pitchFamily="34" charset="0"/>
              <a:buChar char="•"/>
            </a:pPr>
            <a:r>
              <a:rPr lang="en-US" dirty="0"/>
              <a:t>PULP platform 		</a:t>
            </a:r>
          </a:p>
          <a:p>
            <a:pPr>
              <a:lnSpc>
                <a:spcPct val="150000"/>
              </a:lnSpc>
            </a:pPr>
            <a:r>
              <a:rPr lang="en-US" dirty="0">
                <a:hlinkClick r:id="rId6"/>
              </a:rPr>
              <a:t>https://pulp-platform.org/index.html</a:t>
            </a:r>
            <a:br>
              <a:rPr lang="en-US" dirty="0">
                <a:hlinkClick r:id="rId6"/>
              </a:rPr>
            </a:br>
            <a:r>
              <a:rPr lang="en-US" dirty="0"/>
              <a:t>					                     </a:t>
            </a:r>
          </a:p>
        </p:txBody>
      </p:sp>
    </p:spTree>
    <p:extLst>
      <p:ext uri="{BB962C8B-B14F-4D97-AF65-F5344CB8AC3E}">
        <p14:creationId xmlns:p14="http://schemas.microsoft.com/office/powerpoint/2010/main" val="2034923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FCDFE43-CA8C-447E-598A-E87FDEC68C19}"/>
              </a:ext>
            </a:extLst>
          </p:cNvPr>
          <p:cNvSpPr>
            <a:spLocks noGrp="1"/>
          </p:cNvSpPr>
          <p:nvPr>
            <p:ph type="body" sz="quarter" idx="12"/>
          </p:nvPr>
        </p:nvSpPr>
        <p:spPr/>
        <p:txBody>
          <a:bodyPr/>
          <a:lstStyle/>
          <a:p>
            <a:r>
              <a:rPr lang="en-US" dirty="0"/>
              <a:t>Thank You!</a:t>
            </a:r>
          </a:p>
        </p:txBody>
      </p:sp>
      <p:sp>
        <p:nvSpPr>
          <p:cNvPr id="4" name="Footer Placeholder 3">
            <a:extLst>
              <a:ext uri="{FF2B5EF4-FFF2-40B4-BE49-F238E27FC236}">
                <a16:creationId xmlns:a16="http://schemas.microsoft.com/office/drawing/2014/main" id="{0A094A8E-E16A-8609-240F-ADBCA7EF0FF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75A9E27-E81E-1EC6-89EC-B741C49E844B}"/>
              </a:ext>
            </a:extLst>
          </p:cNvPr>
          <p:cNvSpPr>
            <a:spLocks noGrp="1"/>
          </p:cNvSpPr>
          <p:nvPr>
            <p:ph type="sldNum" sz="quarter" idx="4"/>
          </p:nvPr>
        </p:nvSpPr>
        <p:spPr/>
        <p:txBody>
          <a:bodyPr/>
          <a:lstStyle/>
          <a:p>
            <a:pPr>
              <a:defRPr/>
            </a:pPr>
            <a:fld id="{A9CE67A1-BA7F-A74E-B5D7-615746DEEC2B}" type="slidenum">
              <a:rPr lang="en-US" smtClean="0"/>
              <a:pPr>
                <a:defRPr/>
              </a:pPr>
              <a:t>119</a:t>
            </a:fld>
            <a:endParaRPr lang="en-US" baseline="-11000" dirty="0"/>
          </a:p>
        </p:txBody>
      </p:sp>
      <p:sp>
        <p:nvSpPr>
          <p:cNvPr id="6" name="Date Placeholder 5">
            <a:extLst>
              <a:ext uri="{FF2B5EF4-FFF2-40B4-BE49-F238E27FC236}">
                <a16:creationId xmlns:a16="http://schemas.microsoft.com/office/drawing/2014/main" id="{FBE2C249-908D-9A36-F37C-B3A7C30C576A}"/>
              </a:ext>
            </a:extLst>
          </p:cNvPr>
          <p:cNvSpPr>
            <a:spLocks noGrp="1"/>
          </p:cNvSpPr>
          <p:nvPr>
            <p:ph type="dt" sz="half" idx="2"/>
          </p:nvPr>
        </p:nvSpPr>
        <p:spPr/>
        <p:txBody>
          <a:bodyPr/>
          <a:lstStyle/>
          <a:p>
            <a:fld id="{FE7A9806-8D44-470F-A42A-B0BB34D8E567}" type="datetime3">
              <a:rPr lang="en-US" smtClean="0"/>
              <a:t>19 March 2026</a:t>
            </a:fld>
            <a:endParaRPr lang="en-US" dirty="0"/>
          </a:p>
        </p:txBody>
      </p:sp>
    </p:spTree>
    <p:extLst>
      <p:ext uri="{BB962C8B-B14F-4D97-AF65-F5344CB8AC3E}">
        <p14:creationId xmlns:p14="http://schemas.microsoft.com/office/powerpoint/2010/main" val="754472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Custom 1">
      <a:majorFont>
        <a:latin typeface="Barlow"/>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2.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ADI Corporate Fonts">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27920</TotalTime>
  <Words>10179</Words>
  <Application>Microsoft Office PowerPoint</Application>
  <PresentationFormat>Widescreen</PresentationFormat>
  <Paragraphs>2809</Paragraphs>
  <Slides>119</Slides>
  <Notes>16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119</vt:i4>
      </vt:variant>
    </vt:vector>
  </HeadingPairs>
  <TitlesOfParts>
    <vt:vector size="132" baseType="lpstr">
      <vt:lpstr>MS PGothic</vt:lpstr>
      <vt:lpstr>Aptos</vt:lpstr>
      <vt:lpstr>Aptos SemiBold</vt:lpstr>
      <vt:lpstr>Arial</vt:lpstr>
      <vt:lpstr>Barlow</vt:lpstr>
      <vt:lpstr>Barlow (Body)</vt:lpstr>
      <vt:lpstr>Cambria Math</vt:lpstr>
      <vt:lpstr>Roboto</vt:lpstr>
      <vt:lpstr>Roboto Light</vt:lpstr>
      <vt:lpstr>Times New Roman</vt:lpstr>
      <vt:lpstr>Wingdings</vt:lpstr>
      <vt:lpstr>1_ADITemplate</vt:lpstr>
      <vt:lpstr>1_ADITemplate</vt:lpstr>
      <vt:lpstr>PowerPoint Presentation</vt:lpstr>
      <vt:lpstr>Meeting Timeline</vt:lpstr>
      <vt:lpstr>Agenda</vt:lpstr>
      <vt:lpstr>Introduction</vt:lpstr>
      <vt:lpstr>Agenda</vt:lpstr>
      <vt:lpstr>Introduction :DFT Definition </vt:lpstr>
      <vt:lpstr>Introduction :DFT calculation methods</vt:lpstr>
      <vt:lpstr>Introduction :DFT calculation methods</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:Direct computation vs FFT</vt:lpstr>
      <vt:lpstr>Introduction :Direct computation vs FFT</vt:lpstr>
      <vt:lpstr>Introduction :Direct computation vs FFT</vt:lpstr>
      <vt:lpstr>Introduction :Radix-2 vs Radix-4</vt:lpstr>
      <vt:lpstr>Introduction :Radix-2 vs Radix-4</vt:lpstr>
      <vt:lpstr>Agenda</vt:lpstr>
      <vt:lpstr>Modeling</vt:lpstr>
      <vt:lpstr>Agenda</vt:lpstr>
      <vt:lpstr>Modeling :System Modeling </vt:lpstr>
      <vt:lpstr>Modeling :Algorithm and Architecture </vt:lpstr>
      <vt:lpstr>Recall: Rx block diagram</vt:lpstr>
      <vt:lpstr>FFT Modeling :Algorithm and Architecture </vt:lpstr>
      <vt:lpstr>Recall: System Configuration</vt:lpstr>
      <vt:lpstr>FFT Modeling :Algorithm and Architecture </vt:lpstr>
      <vt:lpstr>Recall :Adflow Metrics Summary for 3 stages</vt:lpstr>
      <vt:lpstr>Modeling:SDF Block Diagram</vt:lpstr>
      <vt:lpstr>Modeling: Fixed point analysis </vt:lpstr>
      <vt:lpstr>Modeling: Fixed point analysis </vt:lpstr>
      <vt:lpstr>Modeling : SQNR analysis </vt:lpstr>
      <vt:lpstr>Modeling : SQNR analysis </vt:lpstr>
      <vt:lpstr>Modeling : Challenges </vt:lpstr>
      <vt:lpstr>Modeling : Challenges </vt:lpstr>
      <vt:lpstr>Modeling : Challenges </vt:lpstr>
      <vt:lpstr>Modeling : Challenges </vt:lpstr>
      <vt:lpstr>Modeling : Challenges </vt:lpstr>
      <vt:lpstr>Modeling : Challenges </vt:lpstr>
      <vt:lpstr>Modeling : Challenges </vt:lpstr>
      <vt:lpstr>Modeling : Challenges </vt:lpstr>
      <vt:lpstr>Agenda</vt:lpstr>
      <vt:lpstr>RTL</vt:lpstr>
      <vt:lpstr>Agenda</vt:lpstr>
      <vt:lpstr>RTL : stage block diagram </vt:lpstr>
      <vt:lpstr>RTL : stage block diagram </vt:lpstr>
      <vt:lpstr>RTL : stage main component </vt:lpstr>
      <vt:lpstr>RTL : stage main component </vt:lpstr>
      <vt:lpstr>RTL : stage main component </vt:lpstr>
      <vt:lpstr>RTL: FSM</vt:lpstr>
      <vt:lpstr>RTL: FSM</vt:lpstr>
      <vt:lpstr>RTL: FSM</vt:lpstr>
      <vt:lpstr>RTL: FSM</vt:lpstr>
      <vt:lpstr>RTL: FSM</vt:lpstr>
      <vt:lpstr>RTL: FSM</vt:lpstr>
      <vt:lpstr>RTL: FSM</vt:lpstr>
      <vt:lpstr>RTL: FSM</vt:lpstr>
      <vt:lpstr>RTL: Simulation results and latency calculation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Final Architecture</vt:lpstr>
      <vt:lpstr>RTL: Final Architecture</vt:lpstr>
      <vt:lpstr>Agenda</vt:lpstr>
      <vt:lpstr>HW/SW Co-design (HW Part) </vt:lpstr>
      <vt:lpstr>Agenda</vt:lpstr>
      <vt:lpstr>HW/SW Co-design : Problem Statement</vt:lpstr>
      <vt:lpstr>HW/SW Co-design : Butterfly Operation</vt:lpstr>
      <vt:lpstr>HW/SW Co-design : RTL Design</vt:lpstr>
      <vt:lpstr>HW/SW Co-design : Arithmetic Optimization</vt:lpstr>
      <vt:lpstr>HW/SW Co-design : Pipeline Alignment</vt:lpstr>
      <vt:lpstr>HW/SW Co-design : PULP Intergation</vt:lpstr>
      <vt:lpstr>HW/SW Co-design :Highway System – Interconnects and Arbitration</vt:lpstr>
      <vt:lpstr>HW/SW Co-design : The Translation Wrapper</vt:lpstr>
      <vt:lpstr>HW/SW Co-design : Soc Modifications</vt:lpstr>
      <vt:lpstr>HW/SW Co-design : Software &amp; Verification (1)</vt:lpstr>
      <vt:lpstr>HW/SW Co-design : Optimization 1 – The Auto-Trigger </vt:lpstr>
      <vt:lpstr>HW/SW Co-design : Optimization 2 – Auto-Status </vt:lpstr>
      <vt:lpstr>HW/SW Co-design : Software &amp; Verification (2)</vt:lpstr>
      <vt:lpstr>HW/SW Co-design : Software &amp; Verification (2)</vt:lpstr>
      <vt:lpstr>HW/SW Co-design : Software &amp; Verification (2)</vt:lpstr>
      <vt:lpstr>HW/SW Co-design :Questions </vt:lpstr>
      <vt:lpstr>Agenda</vt:lpstr>
      <vt:lpstr>HW/SW Co-design (SW Part) </vt:lpstr>
      <vt:lpstr>Agenda</vt:lpstr>
      <vt:lpstr>Problem Statement  </vt:lpstr>
      <vt:lpstr>Architecture Challenges</vt:lpstr>
      <vt:lpstr>SW vs. HW Data Flow </vt:lpstr>
      <vt:lpstr>Benchmarking Results</vt:lpstr>
      <vt:lpstr>Benchmarking Results</vt:lpstr>
      <vt:lpstr>Moving to High-Radix</vt:lpstr>
      <vt:lpstr>GitHub Repositories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ideapad GAMING</dc:creator>
  <cp:lastModifiedBy>مروان خالد محمد رياض</cp:lastModifiedBy>
  <cp:revision>207</cp:revision>
  <dcterms:created xsi:type="dcterms:W3CDTF">2025-07-10T06:48:00Z</dcterms:created>
  <dcterms:modified xsi:type="dcterms:W3CDTF">2026-03-19T19:02:22Z</dcterms:modified>
</cp:coreProperties>
</file>