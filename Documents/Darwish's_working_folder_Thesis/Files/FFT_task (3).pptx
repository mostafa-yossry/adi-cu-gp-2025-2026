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12" r:id="rId2"/>
  </p:sldMasterIdLst>
  <p:notesMasterIdLst>
    <p:notesMasterId r:id="rId25"/>
  </p:notesMasterIdLst>
  <p:sldIdLst>
    <p:sldId id="258" r:id="rId3"/>
    <p:sldId id="470" r:id="rId4"/>
    <p:sldId id="487" r:id="rId5"/>
    <p:sldId id="488" r:id="rId6"/>
    <p:sldId id="516" r:id="rId7"/>
    <p:sldId id="491" r:id="rId8"/>
    <p:sldId id="493" r:id="rId9"/>
    <p:sldId id="495" r:id="rId10"/>
    <p:sldId id="497" r:id="rId11"/>
    <p:sldId id="489" r:id="rId12"/>
    <p:sldId id="518" r:id="rId13"/>
    <p:sldId id="519" r:id="rId14"/>
    <p:sldId id="560" r:id="rId15"/>
    <p:sldId id="505" r:id="rId16"/>
    <p:sldId id="521" r:id="rId17"/>
    <p:sldId id="561" r:id="rId18"/>
    <p:sldId id="571" r:id="rId19"/>
    <p:sldId id="563" r:id="rId20"/>
    <p:sldId id="573" r:id="rId21"/>
    <p:sldId id="484" r:id="rId22"/>
    <p:sldId id="485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654"/>
    <a:srgbClr val="00C3E6"/>
    <a:srgbClr val="B7B6B6"/>
    <a:srgbClr val="3D8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43" autoAdjust="0"/>
    <p:restoredTop sz="92950" autoAdjust="0"/>
  </p:normalViewPr>
  <p:slideViewPr>
    <p:cSldViewPr snapToGrid="0">
      <p:cViewPr varScale="1">
        <p:scale>
          <a:sx n="80" d="100"/>
          <a:sy n="80" d="100"/>
        </p:scale>
        <p:origin x="60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DFEC-236B-4E00-A191-28A6917551AB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D3274-4BB5-47FF-AF7A-830095D639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1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47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62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689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0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3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5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6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801A5-8B97-4248-BC1F-30EED1BE8E2A}"/>
              </a:ext>
            </a:extLst>
          </p:cNvPr>
          <p:cNvSpPr txBox="1"/>
          <p:nvPr userDrawn="1"/>
        </p:nvSpPr>
        <p:spPr>
          <a:xfrm>
            <a:off x="2836333" y="-11006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C0A6AB0-9BB4-1E43-9F1F-3CEBCAC113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B97B1F-8B2D-7041-9104-AECAAA0D72FD}"/>
              </a:ext>
            </a:extLst>
          </p:cNvPr>
          <p:cNvSpPr/>
          <p:nvPr userDrawn="1"/>
        </p:nvSpPr>
        <p:spPr>
          <a:xfrm>
            <a:off x="0" y="-5204"/>
            <a:ext cx="6281680" cy="6863204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0"/>
                </a:schemeClr>
              </a:gs>
              <a:gs pos="100000">
                <a:schemeClr val="accent2">
                  <a:lumMod val="50000"/>
                  <a:alpha val="49901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16">
            <a:extLst>
              <a:ext uri="{FF2B5EF4-FFF2-40B4-BE49-F238E27FC236}">
                <a16:creationId xmlns:a16="http://schemas.microsoft.com/office/drawing/2014/main" id="{68BA96D0-D231-8543-9A40-53B148E3E2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AFA5AC-215B-3841-96C1-5949DA8341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4587041"/>
            <a:ext cx="5570538" cy="276999"/>
          </a:xfrm>
        </p:spPr>
        <p:txBody>
          <a:bodyPr wrap="square" t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i="0" kern="1200" cap="none" baseline="0" dirty="0">
                <a:solidFill>
                  <a:schemeClr val="accent1">
                    <a:lumMod val="20000"/>
                    <a:lumOff val="80000"/>
                  </a:schemeClr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Barlow"/>
              <a:buNone/>
            </a:pPr>
            <a:r>
              <a:rPr lang="en-US" dirty="0"/>
              <a:t>Click to Add Presenter/Subheading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7DA987C-20E5-6645-A0B0-F1687703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24707"/>
            <a:ext cx="5570538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90000"/>
              </a:lnSpc>
              <a:buNone/>
              <a:defRPr lang="en-US" sz="4800" b="0" i="0" kern="1200" baseline="0" dirty="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marL="0" lvl="0" indent="0" algn="l" defTabSz="457200" rtl="0" eaLnBrk="1" latinLnBrk="0" hangingPunct="1">
              <a:spcBef>
                <a:spcPts val="1000"/>
              </a:spcBef>
              <a:buClr>
                <a:schemeClr val="bg2"/>
              </a:buClr>
              <a:buSzPct val="75000"/>
              <a:buFont typeface="Barlow"/>
              <a:buNone/>
            </a:pPr>
            <a:r>
              <a:rPr lang="en-US" dirty="0"/>
              <a:t>Click to 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C654B-FE14-FB45-8249-7D9D92995BA2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084A994-876E-774C-A507-104A2FF00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FC1328E-D267-9B45-9570-96B12FEA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A1B3B0B-FCA0-194C-BBF9-5976E204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9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blipFill dpi="0" rotWithShape="1">
          <a:blip r:embed="rId2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EEBE8-797C-CF45-BCEA-46B6F8BDF2A6}"/>
              </a:ext>
            </a:extLst>
          </p:cNvPr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C56CD1-FBEE-0E42-B197-B760B74435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64CBD1-C300-DD47-9E62-DB8A672B2069}"/>
              </a:ext>
            </a:extLst>
          </p:cNvPr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C8680-FDB5-4F4B-8DFD-CE546990D5D4}"/>
              </a:ext>
            </a:extLst>
          </p:cNvPr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38DD1F27-AFE8-9E47-9C20-1F88A4CD77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46AB6BC-FF23-D64E-A9A3-50A9B1821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/>
              <a:t>Click To Add Presenter/Subheading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D37A55A4-1BD2-674A-9626-60AB1AEE3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/>
              <a:t>Click to 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C4FA3-E45E-424A-9BD3-1455471E946D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A06C9D6-1966-FF45-88E4-859637CF1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48A6DA5-3CBE-2540-889B-02D2E047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6272179-8E7E-FC4E-9269-CB6734C0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3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 dirty="0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 dirty="0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8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8" r:id="rId2"/>
    <p:sldLayoutId id="2147483809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 dirty="0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 dirty="0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9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1" y="6606770"/>
            <a:ext cx="10629900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stafa-Yossry/ADI-CU-GP-2025-2026/tree/main/RTL/FFT_SDF" TargetMode="External"/><Relationship Id="rId2" Type="http://schemas.openxmlformats.org/officeDocument/2006/relationships/hyperlink" Target="https://github.com/Mostafa-Yossry/ADI-CU-GP-2025-2026/tree/main/System-Modelling/SDF-Radix2-FF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ostafa-Yossry/ADI-CU-GP-2025-2026/tree/main/RTL/simple_butterfly/simple_butterfly" TargetMode="External"/><Relationship Id="rId4" Type="http://schemas.openxmlformats.org/officeDocument/2006/relationships/hyperlink" Target="https://github.com/Mostafa-Yossry/ADI-CU-GP-2025-2026/tree/main/Firmware/Radix2-FF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anylastchild07.wordpress.com/wp-content/uploads/2016/05/fft_algorithms-and-applications.pdf" TargetMode="External"/><Relationship Id="rId2" Type="http://schemas.openxmlformats.org/officeDocument/2006/relationships/hyperlink" Target="https://pulp-platform.org/docs/publications/08715500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ostafa-Yossry/ADI-CU-GP-2025-2026/tree/main/Firmware/Radix2-FFT" TargetMode="External"/><Relationship Id="rId4" Type="http://schemas.openxmlformats.org/officeDocument/2006/relationships/hyperlink" Target="https://d1.amobbs.com/bbs_upload782111/files_18/ourdev_480582.pdf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4CFE7F-71AB-C7B8-4F0D-C02B109BC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188930"/>
            <a:ext cx="2512706" cy="336799"/>
          </a:xfrm>
        </p:spPr>
        <p:txBody>
          <a:bodyPr/>
          <a:lstStyle/>
          <a:p>
            <a:pPr algn="ctr"/>
            <a:r>
              <a:rPr lang="en-US" dirty="0"/>
              <a:t>Front end team 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071B-E7CD-BA6C-9A1F-BA42E01BC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7469" y="2252268"/>
            <a:ext cx="8237343" cy="2353465"/>
          </a:xfrm>
        </p:spPr>
        <p:txBody>
          <a:bodyPr/>
          <a:lstStyle/>
          <a:p>
            <a:pPr algn="ctr"/>
            <a:r>
              <a:rPr lang="en-US" b="1" dirty="0"/>
              <a:t>ADI/CU GP 2025/2026</a:t>
            </a:r>
            <a:endParaRPr lang="en-GB" b="1" dirty="0"/>
          </a:p>
          <a:p>
            <a:pPr algn="ctr"/>
            <a:r>
              <a:rPr lang="en-US" b="1" dirty="0"/>
              <a:t>Progress Update Meeting</a:t>
            </a:r>
            <a:r>
              <a:rPr lang="ar-EG" b="1" dirty="0"/>
              <a:t> </a:t>
            </a:r>
            <a:r>
              <a:rPr lang="en-US" b="1" dirty="0"/>
              <a:t>(2)</a:t>
            </a:r>
          </a:p>
          <a:p>
            <a:pPr algn="ctr"/>
            <a:r>
              <a:rPr lang="en-US" b="1" dirty="0"/>
              <a:t>Part (1) : Accelerated FFT task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FE339-32F2-C276-B25D-9BBF398ED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0D9B2-B5E2-C39D-3836-3C61A8443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F2EBC2-3256-7DF7-ADE7-9F8E945500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723F-DD9D-E0A5-2418-D42C64C1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942976-7F2D-3B91-44A6-78924571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 (HW Part)</a:t>
            </a:r>
          </a:p>
          <a:p>
            <a:r>
              <a:rPr lang="en-US" b="1" dirty="0">
                <a:solidFill>
                  <a:srgbClr val="000000">
                    <a:alpha val="20000"/>
                  </a:srgbClr>
                </a:solidFill>
              </a:rPr>
              <a:t>HW/SW Co-design (SW Part)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DCEA44-11EC-906F-9CF1-341F8292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0EA34-4CCB-07B8-1418-C2C5AD87E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31C38-0EE3-B628-6C14-B6C5BD123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AC8DAB-83B5-D6E4-9C26-488EBEEDCD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9003-4A69-BD2A-6A4C-EE53EC97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073F3C-6ACD-6B6B-4C19-DAC024FA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HW/SW Co-design (HW Part)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1F8BE-A2C0-72C2-210A-8CE470537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80BB4-4F85-9421-7A78-FA7BCBB40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F25D22-67EC-E960-A1DC-DD7DFB3F36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6B27-4B6D-AD07-3970-691AEDC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25087-C727-994A-82DF-18A6EFFE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</a:t>
            </a:r>
          </a:p>
          <a:p>
            <a:pPr lvl="1"/>
            <a:r>
              <a:rPr lang="en-US" sz="2100" b="1" dirty="0"/>
              <a:t>Problem Statement</a:t>
            </a:r>
          </a:p>
          <a:p>
            <a:pPr lvl="1"/>
            <a:r>
              <a:rPr lang="en-US" sz="2100" b="1" dirty="0"/>
              <a:t>Butterfly Operation</a:t>
            </a:r>
          </a:p>
          <a:p>
            <a:pPr lvl="1"/>
            <a:r>
              <a:rPr lang="en-US" sz="2100" b="1" dirty="0"/>
              <a:t>RTL Design</a:t>
            </a:r>
          </a:p>
          <a:p>
            <a:pPr lvl="1"/>
            <a:r>
              <a:rPr lang="en-US" sz="2100" b="1" dirty="0"/>
              <a:t>Arithmetic Optimization</a:t>
            </a:r>
          </a:p>
          <a:p>
            <a:pPr lvl="1"/>
            <a:r>
              <a:rPr lang="en-US" sz="2100" b="1" dirty="0"/>
              <a:t>Pipeline Alignment</a:t>
            </a:r>
          </a:p>
          <a:p>
            <a:pPr lvl="1"/>
            <a:r>
              <a:rPr lang="en-US" sz="2100" b="1" dirty="0"/>
              <a:t>PULP Integration</a:t>
            </a:r>
          </a:p>
          <a:p>
            <a:pPr lvl="1"/>
            <a:r>
              <a:rPr lang="en-US" sz="2100" b="1" dirty="0"/>
              <a:t>Wrapper Architecture</a:t>
            </a:r>
          </a:p>
          <a:p>
            <a:pPr lvl="1"/>
            <a:r>
              <a:rPr lang="en-US" sz="2100" b="1" dirty="0"/>
              <a:t>SoC Modifications</a:t>
            </a:r>
          </a:p>
          <a:p>
            <a:pPr lvl="1"/>
            <a:r>
              <a:rPr lang="en-US" sz="2100" b="1" dirty="0"/>
              <a:t>Software &amp; Verification (1)</a:t>
            </a:r>
          </a:p>
          <a:p>
            <a:pPr lvl="1"/>
            <a:r>
              <a:rPr lang="en-US" sz="2100" b="1" dirty="0"/>
              <a:t>Optimizations </a:t>
            </a:r>
          </a:p>
          <a:p>
            <a:pPr lvl="1"/>
            <a:r>
              <a:rPr lang="en-US" sz="2100" b="1" dirty="0"/>
              <a:t>Software &amp; Verification (2)</a:t>
            </a:r>
          </a:p>
          <a:p>
            <a:pPr lvl="1"/>
            <a:endParaRPr lang="en-US" sz="2100" b="1" dirty="0"/>
          </a:p>
          <a:p>
            <a:pPr lvl="1"/>
            <a:endParaRPr lang="en-US" b="1" dirty="0">
              <a:solidFill>
                <a:srgbClr val="000000">
                  <a:alpha val="20000"/>
                </a:srgb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2E86A7-9EB3-16DD-FF01-FF581437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BC2D5-2E55-8402-83CA-EA145C58E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8EE3A-94C6-1DCA-AA02-6D2DC8356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E6832-1B25-D2B4-A74C-19631F4CD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Problem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18335" y="819081"/>
            <a:ext cx="11159266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 </a:t>
            </a:r>
          </a:p>
          <a:p>
            <a:pPr marL="742950" lvl="1"/>
            <a:r>
              <a:rPr lang="en-US" sz="1800" dirty="0"/>
              <a:t>Integrate a custom-designed Radix-2 FFT Butterfly hardware accelerator into the PULP platform as an AXI peripheral  and drive it with a complete software FFT implementation.</a:t>
            </a:r>
          </a:p>
          <a:p>
            <a:pPr marL="457200"/>
            <a:r>
              <a:rPr lang="en-US" sz="2000" b="1" dirty="0">
                <a:latin typeface="Barlow (Body)"/>
              </a:rPr>
              <a:t>Goal: </a:t>
            </a:r>
          </a:p>
          <a:p>
            <a:pPr marL="742950" lvl="1"/>
            <a:r>
              <a:rPr lang="en-US" sz="1800" dirty="0"/>
              <a:t>Validate correct hardware/software interaction.</a:t>
            </a:r>
          </a:p>
          <a:p>
            <a:pPr marL="457200"/>
            <a:r>
              <a:rPr lang="en-US" sz="2000" b="1" dirty="0">
                <a:latin typeface="Barlow (Body)"/>
              </a:rPr>
              <a:t>Scope of current work: </a:t>
            </a:r>
          </a:p>
          <a:p>
            <a:pPr marL="742950" lvl="1"/>
            <a:r>
              <a:rPr lang="en-US" sz="1800" b="1" dirty="0"/>
              <a:t>Hardware Scope: </a:t>
            </a:r>
          </a:p>
          <a:p>
            <a:pPr marL="971550" lvl="2"/>
            <a:r>
              <a:rPr lang="en-US" sz="1600" dirty="0"/>
              <a:t>RTL of radix-2 Butterfly, Map the standalone butterfly accelerator to the AXI bus, design the protocol translation wrapper, and a simple </a:t>
            </a:r>
            <a:r>
              <a:rPr lang="en-US" sz="1600" dirty="0">
                <a:latin typeface="Barlow (Body)"/>
              </a:rPr>
              <a:t>Software validation using a simple C test.</a:t>
            </a:r>
          </a:p>
          <a:p>
            <a:pPr marL="742950" lvl="1"/>
            <a:r>
              <a:rPr lang="en-US" sz="1800" b="1" dirty="0">
                <a:latin typeface="Barlow (Body)"/>
              </a:rPr>
              <a:t>Software Scope:</a:t>
            </a:r>
          </a:p>
          <a:p>
            <a:pPr marL="971550" lvl="2"/>
            <a:r>
              <a:rPr lang="en-US" sz="1600" dirty="0">
                <a:latin typeface="Barlow (Body)"/>
              </a:rPr>
              <a:t>Invoke butterfly by the SW FFT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A0DFB-34F2-3674-4213-BAF2BBBF7D09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E5F72-FDA0-778A-6806-1077C461B21E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Butterfly Operation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D609AF-BEDD-3346-53DD-653A8A4688F1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RTL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C2485F-EAAE-654D-45D6-5C9177ACF5B5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Pipeline Alignment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52889-3353-DDCE-EC1E-C3ADBFDEBB7E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FA2076-50CE-928A-72B0-9715E5820D6B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43BC69-448D-7DC5-6415-C65895FE0F64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55CF6-3EAE-0EAE-6339-0164E6A475E2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D1196A-9C19-C748-3FF9-0EF836C2047F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383360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31D9-D63A-F2F4-1AD0-5FBDEEEB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2BD41-1C28-C821-B9F8-A50D77FA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Butterfly Operation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006C5-53F7-63A2-3001-CBD9FFC0A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698A0-2B37-30C0-0AE6-9D7EB8583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82F3DF-261C-E927-DFF3-47D4276E1D5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AF64C95-4F2C-3B45-19D7-9E4267ADC3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961" y="935336"/>
                <a:ext cx="11358000" cy="59196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4572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40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►"/>
                  <a:defRPr lang="en-US" sz="2600" b="0" i="0" kern="1200" baseline="0" dirty="0" smtClean="0">
                    <a:solidFill>
                      <a:srgbClr val="000000"/>
                    </a:solidFill>
                    <a:latin typeface="Barlow" pitchFamily="2" charset="77"/>
                    <a:ea typeface="+mn-ea"/>
                    <a:cs typeface="+mn-cs"/>
                  </a:defRPr>
                </a:lvl1pPr>
                <a:lvl2pPr marL="514350" indent="-285750" algn="l" defTabSz="4572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400"/>
                  </a:spcAft>
                  <a:buClr>
                    <a:schemeClr val="bg2"/>
                  </a:buClr>
                  <a:buFont typeface="Arial"/>
                  <a:buChar char="–"/>
                  <a:defRPr lang="en-US" sz="2000" b="0" i="0" kern="1200" baseline="0" dirty="0" smtClean="0">
                    <a:solidFill>
                      <a:srgbClr val="000000"/>
                    </a:solidFill>
                    <a:latin typeface="Barlow" pitchFamily="2" charset="77"/>
                    <a:ea typeface="+mn-ea"/>
                    <a:cs typeface="+mn-cs"/>
                  </a:defRPr>
                </a:lvl2pPr>
                <a:lvl3pPr marL="742950" indent="-285750" algn="l" defTabSz="4572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400"/>
                  </a:spcAft>
                  <a:buClr>
                    <a:schemeClr val="bg2"/>
                  </a:buClr>
                  <a:buFont typeface="Arial"/>
                  <a:buChar char="•"/>
                  <a:defRPr lang="en-US" sz="1800" b="0" i="0" kern="1200" baseline="0" dirty="0" smtClean="0">
                    <a:solidFill>
                      <a:srgbClr val="000000"/>
                    </a:solidFill>
                    <a:latin typeface="Barlow" pitchFamily="2" charset="77"/>
                    <a:ea typeface="+mn-ea"/>
                    <a:cs typeface="+mn-cs"/>
                  </a:defRPr>
                </a:lvl3pPr>
                <a:lvl4pPr marL="971550" indent="-285750" algn="l" defTabSz="4572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400"/>
                  </a:spcAft>
                  <a:buClr>
                    <a:schemeClr val="bg2"/>
                  </a:buClr>
                  <a:buFont typeface="Arial"/>
                  <a:buChar char="–"/>
                  <a:defRPr lang="en-US" sz="1200" b="0" i="0" kern="1200" dirty="0" smtClean="0">
                    <a:solidFill>
                      <a:srgbClr val="000000"/>
                    </a:solidFill>
                    <a:latin typeface="Barlow" pitchFamily="2" charset="77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400"/>
                  </a:spcAft>
                  <a:buClr>
                    <a:schemeClr val="bg2"/>
                  </a:buClr>
                  <a:buFont typeface="Arial"/>
                  <a:buChar char="»"/>
                  <a:defRPr lang="en-US" sz="1200" b="0" i="0" kern="1200" baseline="0" dirty="0">
                    <a:solidFill>
                      <a:srgbClr val="000000"/>
                    </a:solidFill>
                    <a:latin typeface="Barlow" pitchFamily="2" charset="77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/>
                  <a:t>Core Function: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en-US" sz="1800" dirty="0"/>
                  <a:t>The accelerator executes the Radix-2 Decimation-in-Frequency (DIF) butterfly, the fundamental arithmetic building block of the FFT algorithm.</a:t>
                </a:r>
              </a:p>
              <a:p>
                <a:r>
                  <a:rPr lang="en-US" sz="2000" b="1" dirty="0">
                    <a:latin typeface="Barlow (Body)"/>
                  </a:rPr>
                  <a:t>Mathematical Formulation: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𝑆𝑢𝑚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000" i="1" dirty="0">
                  <a:latin typeface="Barlow (Body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𝐷𝑖𝑓𝑓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EG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EG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EG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EG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ar-EG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EG" sz="2000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ar-EG" sz="2000" dirty="0">
                  <a:latin typeface="Barlow (Body)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Barlow (Body)"/>
                  </a:rPr>
                  <a:t>Where</a:t>
                </a:r>
                <a:r>
                  <a:rPr lang="en-US" sz="1800" dirty="0">
                    <a:latin typeface="Barlow (Body)"/>
                  </a:rPr>
                  <a:t>: L,R : Complex input samples ,  W : Twiddle factor</a:t>
                </a:r>
              </a:p>
              <a:p>
                <a:r>
                  <a:rPr lang="en-US" sz="2000" b="1" dirty="0">
                    <a:latin typeface="Barlow (Body)"/>
                  </a:rPr>
                  <a:t>Functional Role in FFT:</a:t>
                </a:r>
              </a:p>
              <a:p>
                <a:pPr marL="742950" lvl="1"/>
                <a:r>
                  <a:rPr lang="en-US" sz="1800" dirty="0">
                    <a:latin typeface="Barlow (Body)"/>
                  </a:rPr>
                  <a:t>Combines input samples</a:t>
                </a:r>
              </a:p>
              <a:p>
                <a:pPr marL="742950" lvl="1"/>
                <a:r>
                  <a:rPr lang="en-US" sz="1800" dirty="0">
                    <a:latin typeface="Barlow (Body)"/>
                  </a:rPr>
                  <a:t>Applies twiddle rotation</a:t>
                </a:r>
              </a:p>
              <a:p>
                <a:pPr marL="742950" lvl="1"/>
                <a:r>
                  <a:rPr lang="en-US" sz="1800" dirty="0">
                    <a:latin typeface="Barlow (Body)"/>
                  </a:rPr>
                  <a:t>Produces intermediate FFT outputs</a:t>
                </a:r>
              </a:p>
              <a:p>
                <a:pPr marL="457200"/>
                <a:r>
                  <a:rPr lang="en-US" sz="2000" b="1" dirty="0"/>
                  <a:t>Hardware Role:</a:t>
                </a:r>
              </a:p>
              <a:p>
                <a:pPr marL="742950" lvl="1"/>
                <a:r>
                  <a:rPr lang="en-US" sz="1800" dirty="0"/>
                  <a:t> By offloading this highly repetitive equation to custom silicon, we relieve the processor from  complex arithmetic computations.</a:t>
                </a:r>
                <a:endParaRPr lang="en-US" sz="1800" dirty="0">
                  <a:latin typeface="Barlow (Body)"/>
                </a:endParaRPr>
              </a:p>
              <a:p>
                <a:pPr marL="0" indent="0">
                  <a:buNone/>
                </a:pPr>
                <a:endParaRPr lang="en-US" sz="1800" dirty="0">
                  <a:latin typeface="Barlow (Body)"/>
                </a:endParaRPr>
              </a:p>
              <a:p>
                <a:pPr marL="742950" lvl="1"/>
                <a:endParaRPr lang="en-US" sz="1800" dirty="0">
                  <a:latin typeface="Barlow (Body)"/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AF64C95-4F2C-3B45-19D7-9E4267ADC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1" y="935336"/>
                <a:ext cx="11358000" cy="5919664"/>
              </a:xfrm>
              <a:prstGeom prst="rect">
                <a:avLst/>
              </a:prstGeom>
              <a:blipFill>
                <a:blip r:embed="rId2"/>
                <a:stretch>
                  <a:fillRect l="-483" t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5D9A9FF-8BC7-7161-3C06-8E501A224A56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B62056-2E4E-CC28-0446-E50D56CAC7A0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B46DF3-622B-FE4B-295F-67B6D490A3B6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RTL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2E024-7BB7-5928-1523-9BA12F5F52E8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Pipeline Alignment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AC26C-8C71-10B4-3DA7-5D1572346CCA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5E096-70BF-5B44-7F0E-3332D6AFE977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A74C3-2B32-CD27-94BF-A0EAC2A75684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D9D8B-BE3F-6D65-680A-E081F6E6ABE8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38BD1B-8ADE-E4F4-123D-89E548EE8C3D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128242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4D9D-3CD9-720F-EB4D-11BFD847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672C4-4CF6-A816-D79F-363B70BB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RTL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B6B37-2709-BBAD-EDC1-811892CAC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47BDB-1129-A7C3-A45B-B366D3D6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76B5E5-F190-B468-62D0-E4049CF76B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1B8598-7AA7-DB1B-A7A7-F9E5AA289737}"/>
              </a:ext>
            </a:extLst>
          </p:cNvPr>
          <p:cNvSpPr txBox="1">
            <a:spLocks/>
          </p:cNvSpPr>
          <p:nvPr/>
        </p:nvSpPr>
        <p:spPr>
          <a:xfrm>
            <a:off x="152129" y="882000"/>
            <a:ext cx="11358000" cy="572801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 Core blocks:</a:t>
            </a:r>
          </a:p>
          <a:p>
            <a:pPr marL="742950" lvl="1"/>
            <a:r>
              <a:rPr lang="en-US" sz="1800" dirty="0">
                <a:latin typeface="Barlow (Body)"/>
              </a:rPr>
              <a:t>Add/Subtract Units</a:t>
            </a:r>
          </a:p>
          <a:p>
            <a:pPr marL="742950" lvl="1"/>
            <a:r>
              <a:rPr lang="en-US" sz="1800" dirty="0">
                <a:latin typeface="Barlow (Body)"/>
              </a:rPr>
              <a:t>Karatsuba Multiplier</a:t>
            </a:r>
          </a:p>
          <a:p>
            <a:pPr marL="742950" lvl="1"/>
            <a:r>
              <a:rPr lang="en-US" sz="1800" dirty="0">
                <a:latin typeface="Barlow (Body)"/>
              </a:rPr>
              <a:t>Pipeline / Delay Alignment</a:t>
            </a:r>
          </a:p>
          <a:p>
            <a:r>
              <a:rPr lang="en-US" sz="2000" b="1" dirty="0">
                <a:latin typeface="Barlow (Body)"/>
              </a:rPr>
              <a:t>Supporting Modules Originally:</a:t>
            </a:r>
          </a:p>
          <a:p>
            <a:pPr marL="742950" lvl="1"/>
            <a:r>
              <a:rPr lang="en-US" sz="1800" dirty="0" err="1">
                <a:latin typeface="Barlow (Body)"/>
              </a:rPr>
              <a:t>bimpy</a:t>
            </a:r>
            <a:r>
              <a:rPr lang="en-US" sz="1800" dirty="0">
                <a:latin typeface="Barlow (Body)"/>
              </a:rPr>
              <a:t> </a:t>
            </a:r>
            <a:endParaRPr lang="en-US" sz="1800" dirty="0">
              <a:latin typeface="Barlow (Body)"/>
              <a:sym typeface="Wingdings" panose="05000000000000000000" pitchFamily="2" charset="2"/>
            </a:endParaRPr>
          </a:p>
          <a:p>
            <a:pPr marL="1152525" lvl="2"/>
            <a:r>
              <a:rPr lang="en-US" dirty="0">
                <a:latin typeface="Barlow (Body)"/>
              </a:rPr>
              <a:t>Base signed multiplier</a:t>
            </a:r>
          </a:p>
          <a:p>
            <a:pPr marL="742950" lvl="1"/>
            <a:r>
              <a:rPr lang="en-US" sz="1800" dirty="0" err="1">
                <a:latin typeface="Barlow (Body)"/>
              </a:rPr>
              <a:t>Longbimpy</a:t>
            </a:r>
            <a:r>
              <a:rPr lang="en-US" sz="1800" dirty="0">
                <a:latin typeface="Barlow (Body)"/>
              </a:rPr>
              <a:t> </a:t>
            </a:r>
            <a:endParaRPr lang="en-US" sz="1800" dirty="0">
              <a:latin typeface="Barlow (Body)"/>
              <a:sym typeface="Wingdings" panose="05000000000000000000" pitchFamily="2" charset="2"/>
            </a:endParaRPr>
          </a:p>
          <a:p>
            <a:pPr marL="1152525" lvl="2"/>
            <a:r>
              <a:rPr lang="en-US" dirty="0">
                <a:latin typeface="Barlow (Body)"/>
              </a:rPr>
              <a:t>Supports larger operand widths</a:t>
            </a:r>
          </a:p>
          <a:p>
            <a:pPr marL="742950" lvl="1"/>
            <a:r>
              <a:rPr lang="en-US" sz="2000" b="1" dirty="0">
                <a:latin typeface="Barlow (Body)"/>
              </a:rPr>
              <a:t>Currently Used</a:t>
            </a:r>
          </a:p>
          <a:p>
            <a:pPr marL="923925" lvl="1"/>
            <a:r>
              <a:rPr lang="en-US" sz="1800" dirty="0"/>
              <a:t>standard multiplication logic</a:t>
            </a:r>
            <a:endParaRPr lang="en-US" sz="1800" dirty="0">
              <a:latin typeface="Barlow (Body)"/>
            </a:endParaRPr>
          </a:p>
          <a:p>
            <a:pPr marL="742950" lvl="1"/>
            <a:endParaRPr lang="en-US" sz="1800" dirty="0">
              <a:latin typeface="Barlow (Body)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8D65F-ABFB-4174-3EE3-DDB01B8701C2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CE0AE-4BE9-A393-7161-BDB1DB35439B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D4C48-E6D7-0448-A66E-42FB8826A169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9015E-6F50-9EF4-B1CA-FDDAF3C2883F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Pipeline Alignment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C427A-774B-F7BE-D330-393036044B7D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0C412-D29F-1B0C-AF51-2C13823D6F34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0BACF4-1CDC-7808-03C8-311357DB188C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7575F9-2705-598C-692D-EAF21148CF54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1CFDE-D3AB-EA06-C940-5052E07AAFFA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Arithmetic Optimization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A0E095-1004-4CBC-B0B4-442F20C29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716" y="1975803"/>
            <a:ext cx="6999384" cy="451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2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1E58-EE89-4559-4EE5-F84000A3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638268-F2D4-E449-669B-BB834E90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Arithmetic Optimization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55BEB-AD60-AC68-1B23-84044BA79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E47D1-38D1-58C6-4B22-3D2A8B18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B95E44-AB88-9F84-8B28-637FC8002D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C82CBA-511F-7493-4928-99B904F28F3B}"/>
              </a:ext>
            </a:extLst>
          </p:cNvPr>
          <p:cNvSpPr txBox="1">
            <a:spLocks/>
          </p:cNvSpPr>
          <p:nvPr/>
        </p:nvSpPr>
        <p:spPr>
          <a:xfrm>
            <a:off x="-15669" y="840065"/>
            <a:ext cx="5405188" cy="569520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The Hardware Challenge: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Complex multiplication is the most expensive operation in our entire Datapath.</a:t>
            </a:r>
          </a:p>
          <a:p>
            <a:pPr lvl="1"/>
            <a:r>
              <a:rPr lang="en-US" sz="1800" dirty="0"/>
              <a:t> A standard complex multiply requires </a:t>
            </a:r>
            <a:r>
              <a:rPr lang="en-US" sz="1800" b="1" dirty="0"/>
              <a:t>4 real multipliers.</a:t>
            </a:r>
          </a:p>
          <a:p>
            <a:r>
              <a:rPr lang="en-US" sz="2000" b="1" dirty="0"/>
              <a:t>The Optimization : Karatsuba</a:t>
            </a:r>
            <a:r>
              <a:rPr lang="en-US" sz="2000" b="1" dirty="0">
                <a:latin typeface="Barlow (Body)"/>
              </a:rPr>
              <a:t> Algorithm</a:t>
            </a:r>
          </a:p>
          <a:p>
            <a:pPr marL="742950" lvl="1"/>
            <a:r>
              <a:rPr lang="en-US" sz="1800" dirty="0"/>
              <a:t>Reformulated the multiplication logic. we complete the math using only </a:t>
            </a:r>
            <a:r>
              <a:rPr lang="en-US" sz="1800" b="1" dirty="0"/>
              <a:t>3 real multipliers</a:t>
            </a:r>
            <a:r>
              <a:rPr lang="en-US" sz="1800" dirty="0"/>
              <a:t>.</a:t>
            </a:r>
            <a:endParaRPr lang="en-US" sz="1800" b="1" dirty="0">
              <a:latin typeface="Barlow (Body)"/>
            </a:endParaRPr>
          </a:p>
          <a:p>
            <a:r>
              <a:rPr lang="en-US" sz="2000" b="1" dirty="0">
                <a:latin typeface="Barlow (Body)"/>
              </a:rPr>
              <a:t>Benefits:</a:t>
            </a:r>
          </a:p>
          <a:p>
            <a:pPr marL="742950" lvl="1"/>
            <a:r>
              <a:rPr lang="en-US" sz="1800" dirty="0">
                <a:latin typeface="Barlow (Body)"/>
              </a:rPr>
              <a:t>Reduced multiplier count</a:t>
            </a:r>
          </a:p>
          <a:p>
            <a:pPr marL="742950" lvl="1"/>
            <a:r>
              <a:rPr lang="en-US" sz="1800" dirty="0">
                <a:latin typeface="Barlow (Body)"/>
              </a:rPr>
              <a:t>Lower hardware area and power</a:t>
            </a:r>
          </a:p>
          <a:p>
            <a:r>
              <a:rPr lang="en-US" sz="2000" b="1" dirty="0"/>
              <a:t>The Price: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This approach requires adding extra Adders.</a:t>
            </a:r>
            <a:endParaRPr lang="en-US" sz="1800" b="1" dirty="0">
              <a:latin typeface="Barlow (Body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E0421-E361-D842-FBAB-35200FA22195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61F9B-D91B-E3E1-1C7C-9CCDD944F07F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ECE01-9AA9-8C65-7A20-F0DED75B3336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351F9B-2C50-C2C7-F4AF-6F0FA2063FD1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Pipeline Alignment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3BCD5-36B0-BEC9-0C9D-64C287B604AB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FEA57-6B8A-253B-D4F8-12F5B40203A7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59A1AA-2D7F-0365-5D57-1A89C8B940B2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3D731-2FE7-1CAF-DD20-AEC1E756FE03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1B3B0-A7A4-8AE0-106E-A62316B593C4}"/>
              </a:ext>
            </a:extLst>
          </p:cNvPr>
          <p:cNvSpPr txBox="1"/>
          <p:nvPr/>
        </p:nvSpPr>
        <p:spPr>
          <a:xfrm>
            <a:off x="355266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0BD0CE-A523-473A-B2DA-9C1A3686E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034" y="1162444"/>
            <a:ext cx="6659154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6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Pipeline Alignment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5178396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Motivation:</a:t>
            </a:r>
          </a:p>
          <a:p>
            <a:pPr marL="742950" lvl="1"/>
            <a:r>
              <a:rPr lang="en-US" sz="1800" dirty="0">
                <a:latin typeface="Barlow (Body)"/>
              </a:rPr>
              <a:t>Multiplier introduces computation latency</a:t>
            </a:r>
          </a:p>
          <a:p>
            <a:pPr marL="742950" lvl="1"/>
            <a:r>
              <a:rPr lang="en-US" sz="1800" dirty="0">
                <a:latin typeface="Barlow (Body)"/>
              </a:rPr>
              <a:t>Addition path is faster</a:t>
            </a:r>
          </a:p>
          <a:p>
            <a:pPr marL="742950" lvl="1"/>
            <a:r>
              <a:rPr lang="en-US" sz="1800" dirty="0">
                <a:latin typeface="Barlow (Body)"/>
              </a:rPr>
              <a:t>Outputs must remain time-aligned</a:t>
            </a:r>
          </a:p>
          <a:p>
            <a:r>
              <a:rPr lang="en-US" sz="2000" b="1" dirty="0">
                <a:latin typeface="Barlow (Body)"/>
              </a:rPr>
              <a:t>Implemented Solution:</a:t>
            </a:r>
          </a:p>
          <a:p>
            <a:pPr marL="742950" lvl="1"/>
            <a:r>
              <a:rPr lang="en-US" sz="1800" dirty="0">
                <a:latin typeface="Barlow (Body)"/>
              </a:rPr>
              <a:t>Auxiliary Signal Propagation</a:t>
            </a:r>
          </a:p>
          <a:p>
            <a:r>
              <a:rPr lang="en-US" sz="2000" b="1" dirty="0">
                <a:latin typeface="Barlow (Body)"/>
              </a:rPr>
              <a:t>Result:</a:t>
            </a:r>
          </a:p>
          <a:p>
            <a:pPr marL="742950" lvl="1"/>
            <a:r>
              <a:rPr lang="en-US" sz="1800" dirty="0"/>
              <a:t>The faster mathematical path is  delayed to match the slower paths, ensuring the Sum and Difference outputs are aligned.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6F43F-7C5A-52BD-4824-1F6F8F16D2C2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8D86E-2BFF-2D02-25B1-E5A10DC19A0B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EF4AB-BD0B-72C4-3633-5544D103DD71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2FA44-520F-A21D-3362-3A2A01BFA5DE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9BBF2-EFB8-CF89-6273-0B4E595EC0D9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PULP integration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16BBB-1029-DAD5-A491-F415F53EEB60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C812A-B261-7B85-B247-D312893EE85C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2C567-10ED-E097-0D0D-2E21E8E08F24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6570E7-8C83-B285-A4CE-A20EB93F4260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8C6877-44AF-40E7-8B30-1A699B57E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0" y="1285876"/>
            <a:ext cx="6413936" cy="50339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prstDash val="solid"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658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</a:t>
            </a:r>
            <a:r>
              <a:rPr lang="it-IT" dirty="0"/>
              <a:t>PULP Intergation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213385" y="804863"/>
            <a:ext cx="6099086" cy="58081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</a:t>
            </a:r>
          </a:p>
          <a:p>
            <a:pPr marL="742950" lvl="1"/>
            <a:r>
              <a:rPr lang="en-US" sz="1800" dirty="0">
                <a:latin typeface="Barlow (Body)"/>
              </a:rPr>
              <a:t>Expose the butterfly accelerator as a </a:t>
            </a:r>
            <a:r>
              <a:rPr lang="en-US" sz="1800" b="1" dirty="0">
                <a:latin typeface="Barlow (Body)"/>
              </a:rPr>
              <a:t>memory-mapped AXI peripheral</a:t>
            </a:r>
            <a:r>
              <a:rPr lang="en-US" sz="1800" dirty="0">
                <a:latin typeface="Barlow (Body)"/>
              </a:rPr>
              <a:t> within the PULP </a:t>
            </a:r>
            <a:r>
              <a:rPr lang="en-US" sz="1800" dirty="0" err="1">
                <a:latin typeface="Barlow (Body)"/>
              </a:rPr>
              <a:t>SoC.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Pulp Architecture Overview</a:t>
            </a:r>
          </a:p>
          <a:p>
            <a:r>
              <a:rPr lang="en-US" sz="2000" b="1" dirty="0"/>
              <a:t>The TCDM:</a:t>
            </a:r>
          </a:p>
          <a:p>
            <a:pPr lvl="1"/>
            <a:r>
              <a:rPr lang="en-US" sz="1800" dirty="0"/>
              <a:t>Normal processors rely on invisible memory caches, which cause unpredictable delays.</a:t>
            </a:r>
          </a:p>
          <a:p>
            <a:pPr lvl="1"/>
            <a:r>
              <a:rPr lang="en-US" sz="1800" dirty="0"/>
              <a:t>PULP replaces caches with a </a:t>
            </a:r>
            <a:r>
              <a:rPr lang="en-US" sz="1800" b="1" dirty="0"/>
              <a:t>Tightly Coupled Data Memory (TCDM)</a:t>
            </a:r>
            <a:r>
              <a:rPr lang="en-US" sz="1800" dirty="0"/>
              <a:t>—a shared, ultra-fast scratchpad where Software must explicitly place data into the TCDM.</a:t>
            </a:r>
          </a:p>
          <a:p>
            <a:pPr lvl="2"/>
            <a:endParaRPr lang="en-US" sz="1600" dirty="0"/>
          </a:p>
          <a:p>
            <a:r>
              <a:rPr lang="en-US" sz="2000" b="1" dirty="0"/>
              <a:t>The System Actors:</a:t>
            </a:r>
            <a:endParaRPr lang="en-US" sz="2000" dirty="0"/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Fabric Controller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Micro-DMA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Accelerators</a:t>
            </a:r>
            <a:endParaRPr lang="en-US" sz="24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59778-EA1E-4FD4-B675-9BCED208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32"/>
          <a:stretch/>
        </p:blipFill>
        <p:spPr>
          <a:xfrm>
            <a:off x="6312471" y="1121204"/>
            <a:ext cx="5236722" cy="5405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145DB40-4237-4A2C-BECF-4853E2E2E038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7E7A8-2E2A-4878-8B49-AB6FA6B0B90D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68C681-66B5-4FEF-88D1-B7D9CD14848D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49EABD-BD19-4FEF-B997-7F43DC397E9F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EC68D-8350-40A5-A13B-93B494893E93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CA1BA6-E625-4FB0-B9A6-B2F505789375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67116-88E8-4643-9D48-772E56B33DED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395587-E7BF-4BAC-BC4A-E4B636C7BF2E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96C7EA-4DBA-4FA6-BAE2-13C8CDECAF00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13734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92561"/>
            <a:ext cx="10287001" cy="914096"/>
          </a:xfrm>
        </p:spPr>
        <p:txBody>
          <a:bodyPr/>
          <a:lstStyle/>
          <a:p>
            <a:r>
              <a:rPr lang="en-US" dirty="0"/>
              <a:t>HW/SW Co-design :Highway System – Interconnects and Arbitration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1231178"/>
            <a:ext cx="5427322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Two Separate Traffic Networks:</a:t>
            </a:r>
            <a:endParaRPr lang="en-US" sz="2000" dirty="0"/>
          </a:p>
          <a:p>
            <a:pPr lvl="1"/>
            <a:r>
              <a:rPr lang="en-US" sz="1800" b="1" dirty="0"/>
              <a:t>TCDM Interconnect:</a:t>
            </a:r>
            <a:r>
              <a:rPr lang="en-US" sz="1800" dirty="0"/>
              <a:t> reserved for fast operations, 1-cycle memory lookups.</a:t>
            </a:r>
          </a:p>
          <a:p>
            <a:pPr lvl="1"/>
            <a:r>
              <a:rPr lang="en-US" sz="1800" b="1" dirty="0"/>
              <a:t>AXI Crossbar:</a:t>
            </a:r>
            <a:r>
              <a:rPr lang="en-US" sz="1800" dirty="0"/>
              <a:t> Built for complex components that needs multiple cycles.</a:t>
            </a:r>
          </a:p>
          <a:p>
            <a:r>
              <a:rPr lang="en-US" sz="2000" b="1" dirty="0"/>
              <a:t>How Software Talks to Hardware:</a:t>
            </a:r>
            <a:endParaRPr lang="en-US" sz="2000" dirty="0"/>
          </a:p>
          <a:p>
            <a:pPr lvl="1"/>
            <a:r>
              <a:rPr lang="en-US" sz="1800" b="1" dirty="0"/>
              <a:t>Address-Based Routing: </a:t>
            </a:r>
            <a:r>
              <a:rPr lang="en-US" sz="1800" dirty="0"/>
              <a:t>Hardware doesn't have a name, only a memory address.</a:t>
            </a:r>
          </a:p>
          <a:p>
            <a:r>
              <a:rPr lang="en-US" sz="2000" b="1" dirty="0"/>
              <a:t>Two Paths of Communication: </a:t>
            </a:r>
          </a:p>
          <a:p>
            <a:pPr lvl="1"/>
            <a:r>
              <a:rPr lang="en-US" sz="1800" b="1" dirty="0"/>
              <a:t>The Control Path :</a:t>
            </a:r>
            <a:r>
              <a:rPr lang="en-US" sz="1800" dirty="0"/>
              <a:t>The FC configures the hardware by writing values  to these addresses.</a:t>
            </a:r>
          </a:p>
          <a:p>
            <a:pPr lvl="1"/>
            <a:r>
              <a:rPr lang="en-US" sz="1800" b="1" dirty="0"/>
              <a:t>The Data Path:</a:t>
            </a:r>
            <a:r>
              <a:rPr lang="en-US" sz="1800" dirty="0"/>
              <a:t> Pushing the heavy payloads to the hardware so it can begin computation.</a:t>
            </a:r>
            <a:endParaRPr lang="en-US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6F88B-6FAE-4A71-A686-252FB646BC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/>
          <a:stretch/>
        </p:blipFill>
        <p:spPr>
          <a:xfrm>
            <a:off x="5515429" y="1231178"/>
            <a:ext cx="5178665" cy="42644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C0DB26-D053-4E6E-BC9E-AC3F28EA8CF2}"/>
              </a:ext>
            </a:extLst>
          </p:cNvPr>
          <p:cNvCxnSpPr>
            <a:cxnSpLocks/>
          </p:cNvCxnSpPr>
          <p:nvPr/>
        </p:nvCxnSpPr>
        <p:spPr>
          <a:xfrm>
            <a:off x="9121938" y="4948550"/>
            <a:ext cx="1188992" cy="31557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C945A-E576-482B-9B80-C72A58B21BA8}"/>
              </a:ext>
            </a:extLst>
          </p:cNvPr>
          <p:cNvSpPr/>
          <p:nvPr/>
        </p:nvSpPr>
        <p:spPr>
          <a:xfrm>
            <a:off x="10310930" y="4508645"/>
            <a:ext cx="1678972" cy="2031423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47E55-5394-48B7-A926-39279E822BFC}"/>
              </a:ext>
            </a:extLst>
          </p:cNvPr>
          <p:cNvSpPr txBox="1"/>
          <p:nvPr/>
        </p:nvSpPr>
        <p:spPr>
          <a:xfrm>
            <a:off x="10542157" y="4657725"/>
            <a:ext cx="1285875" cy="3246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Wrapper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CD9307-6146-48C2-9324-89C6FB33CF16}"/>
              </a:ext>
            </a:extLst>
          </p:cNvPr>
          <p:cNvSpPr/>
          <p:nvPr/>
        </p:nvSpPr>
        <p:spPr>
          <a:xfrm>
            <a:off x="10399036" y="5129178"/>
            <a:ext cx="1502760" cy="12337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F22F5F-6EF2-4BCB-B1A6-4CBA1A6CE528}"/>
              </a:ext>
            </a:extLst>
          </p:cNvPr>
          <p:cNvSpPr txBox="1"/>
          <p:nvPr/>
        </p:nvSpPr>
        <p:spPr>
          <a:xfrm>
            <a:off x="10596563" y="5498656"/>
            <a:ext cx="1285875" cy="6629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Accelerator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947C0-8773-4B8C-A573-752BC34D1E14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C1ECDB-21A0-4F79-B38F-24576ED14E27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F0E94D-1078-459D-B593-DC2810194A11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F90331-91AD-46CD-AF83-096BFC18DDDD}"/>
              </a:ext>
            </a:extLst>
          </p:cNvPr>
          <p:cNvSpPr txBox="1"/>
          <p:nvPr/>
        </p:nvSpPr>
        <p:spPr>
          <a:xfrm>
            <a:off x="4532372" y="6597981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0F27F5-815A-48FA-A784-EAE450B65191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458713-1266-4556-884C-68555C90EB1F}"/>
              </a:ext>
            </a:extLst>
          </p:cNvPr>
          <p:cNvSpPr txBox="1"/>
          <p:nvPr/>
        </p:nvSpPr>
        <p:spPr>
          <a:xfrm>
            <a:off x="6983429" y="6616018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Wrapper Architecture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9B73C9-20A7-4593-A849-4F744948C87E}"/>
              </a:ext>
            </a:extLst>
          </p:cNvPr>
          <p:cNvSpPr txBox="1"/>
          <p:nvPr/>
        </p:nvSpPr>
        <p:spPr>
          <a:xfrm>
            <a:off x="7999447" y="6608867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6114AD-5195-48EC-AB25-88DA4A8769C7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47420-E10E-4720-AB78-76F8454FDFB8}"/>
              </a:ext>
            </a:extLst>
          </p:cNvPr>
          <p:cNvSpPr txBox="1"/>
          <p:nvPr/>
        </p:nvSpPr>
        <p:spPr>
          <a:xfrm>
            <a:off x="6181699" y="6608035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SOC-Interconnect</a:t>
            </a:r>
          </a:p>
        </p:txBody>
      </p:sp>
    </p:spTree>
    <p:extLst>
      <p:ext uri="{BB962C8B-B14F-4D97-AF65-F5344CB8AC3E}">
        <p14:creationId xmlns:p14="http://schemas.microsoft.com/office/powerpoint/2010/main" val="317031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The Translation Wrapper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901135"/>
            <a:ext cx="6869552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The Problem: AXI is Too Complex</a:t>
            </a:r>
            <a:endParaRPr lang="en-US" sz="2000" b="1" dirty="0">
              <a:latin typeface="Barlow (Body)"/>
            </a:endParaRPr>
          </a:p>
          <a:p>
            <a:pPr marL="742950" lvl="1"/>
            <a:r>
              <a:rPr lang="en-US" sz="1800" dirty="0"/>
              <a:t>Our custom accelerator doesn't know how to speak the complex AXI handshaking protocol.</a:t>
            </a:r>
          </a:p>
          <a:p>
            <a:pPr marL="457200"/>
            <a:r>
              <a:rPr lang="en-US" sz="2000" b="1" dirty="0"/>
              <a:t>Solution</a:t>
            </a:r>
          </a:p>
          <a:p>
            <a:pPr marL="742950" lvl="1"/>
            <a:r>
              <a:rPr lang="en-US" sz="1800" dirty="0"/>
              <a:t>Translate bus transactions into register-level control via wrapper</a:t>
            </a:r>
          </a:p>
          <a:p>
            <a:pPr marL="514350" indent="-342900"/>
            <a:r>
              <a:rPr lang="en-US" sz="2000" b="1" dirty="0"/>
              <a:t>The Blueprint (The .</a:t>
            </a:r>
            <a:r>
              <a:rPr lang="en-US" sz="2000" b="1" dirty="0" err="1"/>
              <a:t>hjson</a:t>
            </a:r>
            <a:r>
              <a:rPr lang="en-US" sz="2000" b="1" dirty="0"/>
              <a:t> file)</a:t>
            </a:r>
          </a:p>
          <a:p>
            <a:pPr marL="800100" lvl="1" indent="-342900"/>
            <a:r>
              <a:rPr lang="en-US" sz="1800" dirty="0"/>
              <a:t>A "contract" between software and hardware.</a:t>
            </a:r>
          </a:p>
          <a:p>
            <a:pPr marL="514350" indent="-342900"/>
            <a:r>
              <a:rPr lang="en-US" sz="2000" b="1" dirty="0"/>
              <a:t>The Protocol Downgrade :</a:t>
            </a:r>
          </a:p>
          <a:p>
            <a:pPr marL="800100" lvl="1" indent="-342900"/>
            <a:r>
              <a:rPr lang="en-US" sz="1800" dirty="0"/>
              <a:t>AXI </a:t>
            </a:r>
            <a:r>
              <a:rPr lang="en-US" sz="1800" dirty="0">
                <a:sym typeface="Wingdings" panose="05000000000000000000" pitchFamily="2" charset="2"/>
              </a:rPr>
              <a:t> Protocol Converter  REG_BUS</a:t>
            </a:r>
          </a:p>
          <a:p>
            <a:pPr marL="800100" lvl="1" indent="-342900"/>
            <a:r>
              <a:rPr lang="en-US" sz="1800" dirty="0"/>
              <a:t>REG_BUS </a:t>
            </a:r>
            <a:r>
              <a:rPr lang="en-US" sz="1800" dirty="0">
                <a:sym typeface="Wingdings" panose="05000000000000000000" pitchFamily="2" charset="2"/>
              </a:rPr>
              <a:t> Macros  Structs</a:t>
            </a:r>
          </a:p>
          <a:p>
            <a:pPr marL="514350" indent="-342900"/>
            <a:r>
              <a:rPr lang="en-US" sz="2000" b="1" dirty="0"/>
              <a:t>The Hardware Reality (.q , .</a:t>
            </a:r>
            <a:r>
              <a:rPr lang="en-US" sz="2000" b="1" dirty="0" err="1"/>
              <a:t>qe</a:t>
            </a:r>
            <a:r>
              <a:rPr lang="en-US" sz="2000" b="1" dirty="0"/>
              <a:t>, .d, .de) :</a:t>
            </a:r>
          </a:p>
          <a:p>
            <a:pPr marL="800100" lvl="1" indent="-342900"/>
            <a:r>
              <a:rPr lang="en-US" sz="1800" dirty="0"/>
              <a:t>The auto-generated register file unpacks those Structs into raw electrical wires:</a:t>
            </a:r>
          </a:p>
          <a:p>
            <a:pPr marL="1028700" lvl="2" indent="-342900"/>
            <a:r>
              <a:rPr lang="en-US" sz="1600" dirty="0"/>
              <a:t>.q : Stable Data,   .</a:t>
            </a:r>
            <a:r>
              <a:rPr lang="en-US" sz="1600" dirty="0" err="1"/>
              <a:t>qe</a:t>
            </a:r>
            <a:r>
              <a:rPr lang="en-US" sz="1600" dirty="0"/>
              <a:t>: The Spark (1-cycle trigger pulse)</a:t>
            </a:r>
          </a:p>
          <a:p>
            <a:pPr marL="1028700" lvl="2" indent="-342900"/>
            <a:r>
              <a:rPr lang="en-US" sz="1600" dirty="0"/>
              <a:t>.d : The Results from the hardware , .de : Data Enable.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0DB128-A10D-45E3-822F-8559C064F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446" y="901135"/>
            <a:ext cx="4112772" cy="5692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853CA5-69A9-4356-B22E-8B176F1C7838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4C459-2063-4D6A-BD8C-90EE5BAF0B0A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59418-709E-4A91-9252-82E74B2D9BEC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516CB-C5F0-4480-80FE-CF4A704CB213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D267E-C1E5-4716-9480-C398107008B0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210E1-ABDD-4B50-B36E-AF411517706B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8285FB-0E5E-4095-9ED5-39CD8CC596E7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SoC Modifications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2268AB-ACC2-4A4B-9AFB-739A7833A88A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1D16B-8A2E-4598-8BCA-92675355FDF9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2214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Soc Modifications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1" y="763376"/>
            <a:ext cx="10235807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Key Modifications:</a:t>
            </a:r>
          </a:p>
          <a:p>
            <a:pPr lvl="1"/>
            <a:r>
              <a:rPr lang="en-US" sz="1800" dirty="0">
                <a:latin typeface="Barlow (Body)"/>
              </a:rPr>
              <a:t>Instantiated the top-level wrapper inside the pulp_soc.sv.</a:t>
            </a:r>
          </a:p>
          <a:p>
            <a:pPr lvl="1"/>
            <a:r>
              <a:rPr lang="en-US" sz="1800" dirty="0">
                <a:latin typeface="Barlow (Body)"/>
              </a:rPr>
              <a:t>Added a dedicated AXI slave port to the system crossbar.</a:t>
            </a:r>
          </a:p>
          <a:p>
            <a:pPr lvl="1"/>
            <a:r>
              <a:rPr lang="en-US" sz="1800" dirty="0">
                <a:latin typeface="Barlow (Body)"/>
              </a:rPr>
              <a:t>Extended the AXI interconnect routing logic to accommodate the new peripheral.</a:t>
            </a:r>
          </a:p>
          <a:p>
            <a:pPr lvl="1"/>
            <a:r>
              <a:rPr lang="en-US" sz="1800" dirty="0">
                <a:latin typeface="Barlow (Body)"/>
              </a:rPr>
              <a:t>Updated the global SoC address map to recognize the accelerator.</a:t>
            </a:r>
          </a:p>
          <a:p>
            <a:r>
              <a:rPr lang="en-US" sz="2000" b="1" dirty="0">
                <a:latin typeface="Barlow (Body)"/>
              </a:rPr>
              <a:t>Address Allocation:</a:t>
            </a:r>
          </a:p>
          <a:p>
            <a:pPr lvl="1"/>
            <a:r>
              <a:rPr lang="en-US" sz="1800" dirty="0">
                <a:latin typeface="Barlow (Body)"/>
              </a:rPr>
              <a:t>Assigned a dedicated memory-mapped region for the Butterfly IP.</a:t>
            </a:r>
          </a:p>
          <a:p>
            <a:r>
              <a:rPr lang="en-US" sz="2000" b="1" dirty="0">
                <a:latin typeface="Barlow (Body)"/>
              </a:rPr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The custom accelerator is now a fully visible, permanently integrated node on the system bus. It is accessible through standard AXI memory transactions.</a:t>
            </a:r>
          </a:p>
          <a:p>
            <a:pPr lvl="1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E0A7F-E998-C5C2-79AA-27EDDFA4A68B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2F98E-2457-B12E-47EE-43054CE3BE9E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3B361-3302-4F1A-C093-9748B170D294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F3349-D89D-A755-014F-45B7D5E70A62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328B5-E55C-D1AB-52E7-F7CEEE127FC1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29267-BCAB-F3CE-D48E-62CCFF59725A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32D480-D418-52D2-6E8C-A59CEEEED46A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 Modifications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A8278-0BE1-D11B-9673-0C88214B5AAB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>
                    <a:alpha val="20000"/>
                  </a:schemeClr>
                </a:solidFill>
              </a:rPr>
              <a:t>Software &amp; Verification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7C8E2-DE2C-FAAB-007A-596131742E7E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177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E41-051E-62EF-6972-DD82DE7F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DD45B4-11E4-B167-F3BB-29E6B837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0280-D695-9145-A1A0-169B32704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778E-FD67-A879-012D-2F0CA89F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D6216F-82B8-7F0A-C2C5-D844C5AB3F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2072C-DABD-0D61-CDC1-9B288D231EAF}"/>
              </a:ext>
            </a:extLst>
          </p:cNvPr>
          <p:cNvSpPr txBox="1"/>
          <p:nvPr/>
        </p:nvSpPr>
        <p:spPr>
          <a:xfrm>
            <a:off x="203051" y="828339"/>
            <a:ext cx="62838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Step 1: Verify Integration &amp;Mathematical Correctness</a:t>
            </a:r>
          </a:p>
          <a:p>
            <a:pPr lvl="1"/>
            <a:r>
              <a:rPr lang="en-US" dirty="0"/>
              <a:t>Results Match the results from the Written Testbench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Software Control: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Custom C test application developed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Execution 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inputs to registers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 accelerator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Poll DONE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computed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Observed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butterfly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 HW/SW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Measured Latency For Original butterfly was 442 cycle!!</a:t>
            </a:r>
          </a:p>
          <a:p>
            <a:pPr marL="742950" lvl="1" indent="-285750"/>
            <a:endParaRPr lang="en-US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D64869-5512-6B79-AA85-37E1977C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03" y="828339"/>
            <a:ext cx="5972401" cy="5733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C89A03-9EC4-A7A6-11C7-D9A3A9E5F559}"/>
              </a:ext>
            </a:extLst>
          </p:cNvPr>
          <p:cNvSpPr txBox="1"/>
          <p:nvPr/>
        </p:nvSpPr>
        <p:spPr>
          <a:xfrm>
            <a:off x="1319181" y="6603423"/>
            <a:ext cx="1699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C2320-45B1-E00B-9264-2292455ABFD8}"/>
              </a:ext>
            </a:extLst>
          </p:cNvPr>
          <p:cNvSpPr txBox="1"/>
          <p:nvPr/>
        </p:nvSpPr>
        <p:spPr>
          <a:xfrm>
            <a:off x="2141698" y="6603424"/>
            <a:ext cx="18883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Butterfly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48F7D-00D2-D891-253C-52FD847CBEF3}"/>
              </a:ext>
            </a:extLst>
          </p:cNvPr>
          <p:cNvSpPr txBox="1"/>
          <p:nvPr/>
        </p:nvSpPr>
        <p:spPr>
          <a:xfrm>
            <a:off x="3024924" y="6603424"/>
            <a:ext cx="13698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RTL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2E096-E51E-34B0-E8A0-68A6009A7187}"/>
              </a:ext>
            </a:extLst>
          </p:cNvPr>
          <p:cNvSpPr txBox="1"/>
          <p:nvPr/>
        </p:nvSpPr>
        <p:spPr>
          <a:xfrm>
            <a:off x="4532372" y="6603424"/>
            <a:ext cx="155953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Pipeline Alignment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13D43-2427-0411-ABEF-CCDF516F80FB}"/>
              </a:ext>
            </a:extLst>
          </p:cNvPr>
          <p:cNvSpPr txBox="1"/>
          <p:nvPr/>
        </p:nvSpPr>
        <p:spPr>
          <a:xfrm>
            <a:off x="5389518" y="6603424"/>
            <a:ext cx="148003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PULP integration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231C1-1C45-0902-9C1A-4709A9901E10}"/>
              </a:ext>
            </a:extLst>
          </p:cNvPr>
          <p:cNvSpPr txBox="1"/>
          <p:nvPr/>
        </p:nvSpPr>
        <p:spPr>
          <a:xfrm>
            <a:off x="6139406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Wrapper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58E25-0D79-6A5B-5C40-D2DCFE731D28}"/>
              </a:ext>
            </a:extLst>
          </p:cNvPr>
          <p:cNvSpPr txBox="1"/>
          <p:nvPr/>
        </p:nvSpPr>
        <p:spPr>
          <a:xfrm>
            <a:off x="7122894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SoC Modifications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710A3-FB34-4B7B-28CB-5F54396C12D3}"/>
              </a:ext>
            </a:extLst>
          </p:cNvPr>
          <p:cNvSpPr txBox="1"/>
          <p:nvPr/>
        </p:nvSpPr>
        <p:spPr>
          <a:xfrm>
            <a:off x="7999447" y="6603424"/>
            <a:ext cx="18079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Software &amp; Verification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80925-D8DF-064D-4789-AA0C76B21BBC}"/>
              </a:ext>
            </a:extLst>
          </p:cNvPr>
          <p:cNvSpPr txBox="1"/>
          <p:nvPr/>
        </p:nvSpPr>
        <p:spPr>
          <a:xfrm>
            <a:off x="3533616" y="6603423"/>
            <a:ext cx="15944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00" b="1" dirty="0">
                <a:solidFill>
                  <a:schemeClr val="bg1"/>
                </a:solidFill>
              </a:rPr>
              <a:t>Arithmetic Optimization</a:t>
            </a:r>
          </a:p>
        </p:txBody>
      </p:sp>
    </p:spTree>
    <p:extLst>
      <p:ext uri="{BB962C8B-B14F-4D97-AF65-F5344CB8AC3E}">
        <p14:creationId xmlns:p14="http://schemas.microsoft.com/office/powerpoint/2010/main" val="12193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1 – The Auto-Trigger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6046803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Traditional Approach (3 Bus Transactions):</a:t>
            </a:r>
          </a:p>
          <a:p>
            <a:pPr marL="742950" lvl="1"/>
            <a:r>
              <a:rPr lang="en-US" sz="1800" dirty="0"/>
              <a:t>Software writes the Left Operand.</a:t>
            </a:r>
          </a:p>
          <a:p>
            <a:pPr marL="742950" lvl="1"/>
            <a:r>
              <a:rPr lang="en-US" sz="1800" dirty="0"/>
              <a:t>Software writes the Right Operand.</a:t>
            </a:r>
          </a:p>
          <a:p>
            <a:pPr marL="742950" lvl="1"/>
            <a:r>
              <a:rPr lang="en-US" sz="1800" dirty="0"/>
              <a:t>Software writes a '1' to a CTRL register to wake up the hardware.</a:t>
            </a:r>
          </a:p>
          <a:p>
            <a:r>
              <a:rPr lang="en-US" sz="2000" b="1" dirty="0"/>
              <a:t>Optimized Solution (2 Bus Transactions):</a:t>
            </a:r>
          </a:p>
          <a:p>
            <a:pPr lvl="1"/>
            <a:r>
              <a:rPr lang="en-US" sz="1800" dirty="0"/>
              <a:t>Eliminated the dedicated "Start" register.</a:t>
            </a:r>
          </a:p>
          <a:p>
            <a:pPr lvl="1"/>
            <a:r>
              <a:rPr lang="en-US" sz="1800" dirty="0"/>
              <a:t>Flagged the Right Operand register to generate a Write-Enable pulse.</a:t>
            </a:r>
          </a:p>
          <a:p>
            <a:r>
              <a:rPr lang="en-US" sz="2000" b="1" dirty="0"/>
              <a:t>The Benefit: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The hardware instantly fires up instantly.</a:t>
            </a:r>
          </a:p>
          <a:p>
            <a:pPr lvl="1"/>
            <a:r>
              <a:rPr lang="en-US" sz="1800" dirty="0"/>
              <a:t> Saves AXI transaction on every single butterfly </a:t>
            </a:r>
            <a:endParaRPr lang="en-US" sz="1800" b="1" dirty="0"/>
          </a:p>
          <a:p>
            <a:r>
              <a:rPr lang="en-US" sz="2000" b="1" dirty="0"/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Number of Cycles taken for the End-to-end Butterfly execution decreased.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55D31-48D1-4A6E-9524-81F027BA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32"/>
          <a:stretch/>
        </p:blipFill>
        <p:spPr>
          <a:xfrm>
            <a:off x="6291263" y="1042988"/>
            <a:ext cx="2700337" cy="5424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6192E-D415-4153-9E49-AAF59A136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7" t="-1180" b="-1"/>
          <a:stretch/>
        </p:blipFill>
        <p:spPr>
          <a:xfrm>
            <a:off x="8933073" y="1426368"/>
            <a:ext cx="3108890" cy="47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3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2 – Auto-Status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105561" y="690354"/>
            <a:ext cx="11980878" cy="583953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Polling Problem:</a:t>
            </a:r>
          </a:p>
          <a:p>
            <a:pPr lvl="1"/>
            <a:r>
              <a:rPr lang="en-US" sz="1800" dirty="0">
                <a:latin typeface="+mj-lt"/>
              </a:rPr>
              <a:t>Software must manually clear this STATUS flag before new calculation, wasting an AXI transaction.</a:t>
            </a:r>
          </a:p>
          <a:p>
            <a:r>
              <a:rPr lang="en-US" sz="2000" b="1" dirty="0">
                <a:latin typeface="+mj-lt"/>
              </a:rPr>
              <a:t>Solution (The .de Wire):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status.d</a:t>
            </a:r>
            <a:r>
              <a:rPr lang="en-US" sz="1800" dirty="0">
                <a:latin typeface="+mj-lt"/>
              </a:rPr>
              <a:t>  = </a:t>
            </a:r>
            <a:r>
              <a:rPr lang="en-US" sz="1800" dirty="0" err="1">
                <a:latin typeface="+mj-lt"/>
              </a:rPr>
              <a:t>w_o_aux</a:t>
            </a:r>
            <a:r>
              <a:rPr lang="en-US" sz="1800" dirty="0">
                <a:latin typeface="+mj-lt"/>
              </a:rPr>
              <a:t> ? 1'b1 : 1’b0,                                       status.de = </a:t>
            </a:r>
            <a:r>
              <a:rPr lang="en-US" sz="1800" dirty="0" err="1">
                <a:latin typeface="+mj-lt"/>
              </a:rPr>
              <a:t>w_o_aux</a:t>
            </a:r>
            <a:r>
              <a:rPr lang="en-US" sz="1800" dirty="0">
                <a:latin typeface="+mj-lt"/>
              </a:rPr>
              <a:t> | </a:t>
            </a:r>
            <a:r>
              <a:rPr lang="en-US" sz="1800" dirty="0" err="1">
                <a:latin typeface="+mj-lt"/>
              </a:rPr>
              <a:t>op_right.qe</a:t>
            </a:r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pPr lvl="1"/>
            <a:endParaRPr lang="en-US" sz="18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Result:</a:t>
            </a:r>
          </a:p>
          <a:p>
            <a:pPr lvl="1"/>
            <a:r>
              <a:rPr lang="en-US" sz="1800" dirty="0">
                <a:latin typeface="+mj-lt"/>
              </a:rPr>
              <a:t>Saved another AXI transaction. </a:t>
            </a:r>
            <a:r>
              <a:rPr lang="en-US" sz="1800" dirty="0" err="1">
                <a:latin typeface="+mj-lt"/>
              </a:rPr>
              <a:t>So,Number</a:t>
            </a:r>
            <a:r>
              <a:rPr lang="en-US" sz="1800" dirty="0">
                <a:latin typeface="+mj-lt"/>
              </a:rPr>
              <a:t> of Cycles taken for the End-to-end Butterfly execution decreased.</a:t>
            </a:r>
          </a:p>
          <a:p>
            <a:pPr lvl="1"/>
            <a:endParaRPr lang="en-US" sz="18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F0E2E5-B216-4978-9347-D986F3AE9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3" y="2224087"/>
            <a:ext cx="8588674" cy="401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3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/>
        </p:nvGraphicFramePr>
        <p:xfrm>
          <a:off x="1100138" y="1175937"/>
          <a:ext cx="9058275" cy="5303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11655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1568960988"/>
                    </a:ext>
                  </a:extLst>
                </a:gridCol>
              </a:tblGrid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4 </a:t>
                      </a:r>
                    </a:p>
                    <a:p>
                      <a:pPr algn="ctr"/>
                      <a:r>
                        <a:rPr lang="en-US" dirty="0"/>
                        <a:t>(Flattened)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Oversized:</a:t>
                      </a:r>
                      <a:br>
                        <a:rPr lang="en-US" dirty="0"/>
                      </a:br>
                      <a:r>
                        <a:rPr lang="en-US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24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9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3" y="763376"/>
            <a:ext cx="4368686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</a:t>
            </a:r>
            <a:endParaRPr lang="en-US" sz="2000" dirty="0">
              <a:latin typeface="Barlow (Body)"/>
            </a:endParaRPr>
          </a:p>
          <a:p>
            <a:pPr marL="742950" lvl="1"/>
            <a:r>
              <a:rPr lang="en-US" sz="1800" dirty="0">
                <a:latin typeface="Barlow (Body)"/>
              </a:rPr>
              <a:t>Phase 2: Result</a:t>
            </a:r>
            <a:endParaRPr lang="en-US" sz="1600" dirty="0">
              <a:latin typeface="Barlow (Body)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7A894F-D8D4-4D76-976E-3F7B3C9D71FC}"/>
              </a:ext>
            </a:extLst>
          </p:cNvPr>
          <p:cNvSpPr txBox="1">
            <a:spLocks/>
          </p:cNvSpPr>
          <p:nvPr/>
        </p:nvSpPr>
        <p:spPr>
          <a:xfrm>
            <a:off x="7331878" y="763375"/>
            <a:ext cx="4368686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Barlow (Body)"/>
            </a:endParaRPr>
          </a:p>
          <a:p>
            <a:pPr marL="742950" lvl="1"/>
            <a:r>
              <a:rPr lang="en-US" sz="1800" dirty="0">
                <a:latin typeface="Barlow (Body)"/>
              </a:rPr>
              <a:t>Phase 3: Result</a:t>
            </a:r>
            <a:endParaRPr lang="en-US" sz="1600" dirty="0"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DC54A-2CBF-4BAE-9B9F-207CCBAD4C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1" r="1515" b="10019"/>
          <a:stretch/>
        </p:blipFill>
        <p:spPr>
          <a:xfrm>
            <a:off x="186917" y="1737778"/>
            <a:ext cx="5640738" cy="4356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41E064-4332-4306-93F8-337FF090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9445"/>
            <a:ext cx="6030802" cy="42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3" y="763376"/>
            <a:ext cx="4368686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</a:t>
            </a:r>
            <a:endParaRPr lang="en-US" sz="2000" dirty="0">
              <a:latin typeface="Barlow (Body)"/>
            </a:endParaRPr>
          </a:p>
          <a:p>
            <a:pPr marL="742950" lvl="1"/>
            <a:r>
              <a:rPr lang="en-US" sz="1800" dirty="0">
                <a:latin typeface="Barlow (Body)"/>
              </a:rPr>
              <a:t>Phase 4: Result</a:t>
            </a:r>
            <a:endParaRPr lang="en-US" sz="1600" dirty="0">
              <a:latin typeface="Barlow (Body)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7A894F-D8D4-4D76-976E-3F7B3C9D71FC}"/>
              </a:ext>
            </a:extLst>
          </p:cNvPr>
          <p:cNvSpPr txBox="1">
            <a:spLocks/>
          </p:cNvSpPr>
          <p:nvPr/>
        </p:nvSpPr>
        <p:spPr>
          <a:xfrm>
            <a:off x="7331878" y="763375"/>
            <a:ext cx="4368686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Barlow (Body)"/>
            </a:endParaRPr>
          </a:p>
          <a:p>
            <a:pPr marL="742950" lvl="1"/>
            <a:r>
              <a:rPr lang="en-US" sz="1800" dirty="0">
                <a:latin typeface="Barlow (Body)"/>
              </a:rPr>
              <a:t>Testbench 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117E5F-AE31-4B46-A081-173C9B11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3" y="1737779"/>
            <a:ext cx="5743575" cy="43187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35B14C-E1D1-4FB8-9A55-24BB12EA1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399" y="1737779"/>
            <a:ext cx="5798968" cy="435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6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FC11-15ED-0A51-F604-10FD79BD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8C3875-E10D-C0E5-8FA5-71750505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GitHub Repositories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0CAC-F55A-38BD-4E23-46C16BDAA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5D429-1A60-320F-AF38-E41A4B052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8A3AA9-A7A6-D167-2043-70EF8391BD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F082A-89B3-D9A5-5E65-6999D0C87C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6891167-FD25-23FC-91AE-2401BD2FE428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68373D4-45B3-44DC-B980-A63ED515E465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A98EC-694F-14B8-D79D-E2D670142282}"/>
              </a:ext>
            </a:extLst>
          </p:cNvPr>
          <p:cNvSpPr txBox="1"/>
          <p:nvPr/>
        </p:nvSpPr>
        <p:spPr>
          <a:xfrm>
            <a:off x="220610" y="727899"/>
            <a:ext cx="1175077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1- MATLAB modeling code for SDF DIF : (Modeling part by Mostafa Fathy)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https://github.com/Mostafa-Yossry/ADI-CU-GP-2025-2026/tree/main/System-Modelling/SDF-Radix2-FFT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2- SDF 4092-point code : (RTL part by Marwan Khaled and Mostafa Fathy)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https://github.com/Mostafa-Yossry/ADI-CU-GP-2025-2026/tree/main/RTL/FFT_SDF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3- Source code can be found here: (Firmware part by Mostafa </a:t>
            </a:r>
            <a:r>
              <a:rPr lang="en-US" dirty="0" err="1"/>
              <a:t>Yossry</a:t>
            </a:r>
            <a:r>
              <a:rPr lang="en-US" dirty="0"/>
              <a:t>)		                        </a:t>
            </a:r>
            <a:r>
              <a:rPr lang="en-US" dirty="0">
                <a:hlinkClick r:id="rId4"/>
              </a:rPr>
              <a:t>https://github.com/Mostafa-Yossry/ADI-CU-GP-2025-2026/tree/main/Firmware/Radix2-FFT</a:t>
            </a:r>
            <a:br>
              <a:rPr lang="en-US" dirty="0">
                <a:hlinkClick r:id="rId4"/>
              </a:rPr>
            </a:br>
            <a:r>
              <a:rPr lang="en-US" dirty="0"/>
              <a:t>4- RTL implementations and Wrapper codes can be found here: (AXI integration part by Mostafa Ahmed)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5"/>
              </a:rPr>
              <a:t>https://github.com/Mostafa-Yossry/ADI-CU-GP-2025-2026/tree/main/RTL/simple_butterfly/simple_butterfly</a:t>
            </a:r>
            <a:r>
              <a:rPr lang="en-US" dirty="0"/>
              <a:t>	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2939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5E3B-E14D-4FE5-22EC-BF29224B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BED4C4-85FC-FAB2-2462-5C1C72D5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20FFC-CFAF-8F2D-69E6-8A9B08036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9BA39-6BD9-96F2-05D4-384695461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710D38-89A9-6745-8CEC-644F1E9956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A815D-F88F-460E-D57B-3237E24F14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D7E3665-BF66-3B41-2538-44B2C9D7E694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B1DD079-C40E-2D7D-DC5E-A248DBE48E44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42E78-CA40-5049-608D-F72081EEBCC4}"/>
              </a:ext>
            </a:extLst>
          </p:cNvPr>
          <p:cNvSpPr txBox="1"/>
          <p:nvPr/>
        </p:nvSpPr>
        <p:spPr>
          <a:xfrm>
            <a:off x="220610" y="727899"/>
            <a:ext cx="11750779" cy="405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57200">
              <a:spcBef>
                <a:spcPts val="1000"/>
              </a:spcBef>
              <a:buClr>
                <a:srgbClr val="1E4056"/>
              </a:buClr>
              <a:buSzPct val="75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Mr.Wolf</a:t>
            </a:r>
            <a:r>
              <a:rPr lang="en-US" dirty="0"/>
              <a:t>: An Energy-Precision Scalable Parallel Ultra Low Power SoC for IoT Edge Processing: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https://pulp-platform.org/docs/publications/08715500.pdf </a:t>
            </a:r>
            <a:r>
              <a:rPr lang="en-US" dirty="0">
                <a:hlinkClick r:id="" action="ppaction://noaction"/>
              </a:rPr>
              <a:t>[1] 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 Fourier Transform :Algorithms And Applications) 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https://danylastchild07.wordpress.com/wp-content/uploads/2016/05/fft_algorithms-and-applications.pdf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VLSI Digital Signal Processing Systems: Design and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4"/>
              </a:rPr>
              <a:t>https://d1.amobbs.com/bbs_upload782111/files_18/ourdev_480582.pdf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PULP platform 		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5"/>
              </a:rPr>
              <a:t>https://pulp-platform.org/index.html</a:t>
            </a:r>
            <a:br>
              <a:rPr lang="en-US" dirty="0">
                <a:hlinkClick r:id="rId5"/>
              </a:rPr>
            </a:br>
            <a:r>
              <a:rPr lang="en-US" dirty="0"/>
              <a:t>	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349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DFE43-CA8C-447E-598A-E87FDEC6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94A8E-E16A-8609-240F-ADBCA7EF0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A9E27-E81E-1EC6-89EC-B741C49E8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E2C249-908D-9A36-F37C-B3A7C30C57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22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7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Custom 1">
      <a:majorFont>
        <a:latin typeface="Barl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2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ADI Corporate Font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27368</TotalTime>
  <Words>1942</Words>
  <Application>Microsoft Office PowerPoint</Application>
  <PresentationFormat>Widescreen</PresentationFormat>
  <Paragraphs>414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Barlow</vt:lpstr>
      <vt:lpstr>Barlow (Body)</vt:lpstr>
      <vt:lpstr>Cambria Math</vt:lpstr>
      <vt:lpstr>Times New Roman</vt:lpstr>
      <vt:lpstr>Wingdings</vt:lpstr>
      <vt:lpstr>1_ADITemplate</vt:lpstr>
      <vt:lpstr>1_ADITemplate</vt:lpstr>
      <vt:lpstr>PowerPoint Presentation</vt:lpstr>
      <vt:lpstr>Agenda</vt:lpstr>
      <vt:lpstr>HW/SW Co-design (HW Part) </vt:lpstr>
      <vt:lpstr>Agenda</vt:lpstr>
      <vt:lpstr>HW/SW Co-design : Problem Statement</vt:lpstr>
      <vt:lpstr>HW/SW Co-design : Butterfly Operation</vt:lpstr>
      <vt:lpstr>HW/SW Co-design : RTL Design</vt:lpstr>
      <vt:lpstr>HW/SW Co-design : Arithmetic Optimization</vt:lpstr>
      <vt:lpstr>HW/SW Co-design : Pipeline Alignment</vt:lpstr>
      <vt:lpstr>HW/SW Co-design : PULP Intergation</vt:lpstr>
      <vt:lpstr>HW/SW Co-design :Highway System – Interconnects and Arbitration</vt:lpstr>
      <vt:lpstr>HW/SW Co-design : The Translation Wrapper</vt:lpstr>
      <vt:lpstr>HW/SW Co-design : Soc Modifications</vt:lpstr>
      <vt:lpstr>HW/SW Co-design : Software &amp; Verification (1)</vt:lpstr>
      <vt:lpstr>HW/SW Co-design : Optimization 1 – The Auto-Trigger </vt:lpstr>
      <vt:lpstr>HW/SW Co-design : Optimization 2 – Auto-Status </vt:lpstr>
      <vt:lpstr>HW/SW Co-design : Software &amp; Verification (2)</vt:lpstr>
      <vt:lpstr>HW/SW Co-design : Software &amp; Verification (2)</vt:lpstr>
      <vt:lpstr>HW/SW Co-design : Software &amp; Verification (2)</vt:lpstr>
      <vt:lpstr>GitHub Repositories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ideapad GAMING</dc:creator>
  <cp:lastModifiedBy>Moustafa Darwish</cp:lastModifiedBy>
  <cp:revision>205</cp:revision>
  <dcterms:created xsi:type="dcterms:W3CDTF">2025-07-10T06:48:00Z</dcterms:created>
  <dcterms:modified xsi:type="dcterms:W3CDTF">2026-04-22T17:39:02Z</dcterms:modified>
</cp:coreProperties>
</file>