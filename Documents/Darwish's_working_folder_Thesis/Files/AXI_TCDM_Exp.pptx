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  <p:sldMasterId id="2147483712" r:id="rId2"/>
  </p:sldMasterIdLst>
  <p:notesMasterIdLst>
    <p:notesMasterId r:id="rId31"/>
  </p:notesMasterIdLst>
  <p:sldIdLst>
    <p:sldId id="258" r:id="rId3"/>
    <p:sldId id="587" r:id="rId4"/>
    <p:sldId id="487" r:id="rId5"/>
    <p:sldId id="488" r:id="rId6"/>
    <p:sldId id="588" r:id="rId7"/>
    <p:sldId id="561" r:id="rId8"/>
    <p:sldId id="571" r:id="rId9"/>
    <p:sldId id="585" r:id="rId10"/>
    <p:sldId id="574" r:id="rId11"/>
    <p:sldId id="575" r:id="rId12"/>
    <p:sldId id="576" r:id="rId13"/>
    <p:sldId id="577" r:id="rId14"/>
    <p:sldId id="578" r:id="rId15"/>
    <p:sldId id="579" r:id="rId16"/>
    <p:sldId id="580" r:id="rId17"/>
    <p:sldId id="516" r:id="rId18"/>
    <p:sldId id="489" r:id="rId19"/>
    <p:sldId id="518" r:id="rId20"/>
    <p:sldId id="519" r:id="rId21"/>
    <p:sldId id="560" r:id="rId22"/>
    <p:sldId id="505" r:id="rId23"/>
    <p:sldId id="521" r:id="rId24"/>
    <p:sldId id="584" r:id="rId25"/>
    <p:sldId id="563" r:id="rId26"/>
    <p:sldId id="581" r:id="rId27"/>
    <p:sldId id="582" r:id="rId28"/>
    <p:sldId id="5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7038F8-F69B-4D45-BD44-BCCD750A0102}">
          <p14:sldIdLst>
            <p14:sldId id="258"/>
            <p14:sldId id="587"/>
          </p14:sldIdLst>
        </p14:section>
        <p14:section name="Mostafa Darwish's part" id="{92785720-2F4A-4C7B-A8E4-2DD895860905}">
          <p14:sldIdLst>
            <p14:sldId id="487"/>
            <p14:sldId id="488"/>
            <p14:sldId id="588"/>
            <p14:sldId id="561"/>
            <p14:sldId id="571"/>
            <p14:sldId id="585"/>
            <p14:sldId id="574"/>
            <p14:sldId id="575"/>
            <p14:sldId id="576"/>
            <p14:sldId id="577"/>
            <p14:sldId id="578"/>
            <p14:sldId id="579"/>
            <p14:sldId id="580"/>
            <p14:sldId id="516"/>
            <p14:sldId id="489"/>
            <p14:sldId id="518"/>
            <p14:sldId id="519"/>
            <p14:sldId id="560"/>
            <p14:sldId id="505"/>
            <p14:sldId id="521"/>
            <p14:sldId id="584"/>
            <p14:sldId id="563"/>
            <p14:sldId id="581"/>
            <p14:sldId id="582"/>
            <p14:sldId id="583"/>
          </p14:sldIdLst>
        </p14:section>
        <p14:section name="Final" id="{4E2A8DD7-DF00-42E5-8589-947C9C8E97AE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66EBD"/>
    <a:srgbClr val="1709C9"/>
    <a:srgbClr val="FF3654"/>
    <a:srgbClr val="00C3E6"/>
    <a:srgbClr val="B7B6B6"/>
    <a:srgbClr val="3D8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0DFEC-236B-4E00-A191-28A6917551A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D3274-4BB5-47FF-AF7A-830095D63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1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679C6-894F-90BA-533C-8AAB400C2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A8D9F-2E0F-96C7-3A36-46D7321E1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E8B4A-8B0D-A6EC-21C2-964495604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36D3E-46D4-DC4F-F593-D98199C3D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40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47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35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465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63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606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586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591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946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00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3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35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24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1801A5-8B97-4248-BC1F-30EED1BE8E2A}"/>
              </a:ext>
            </a:extLst>
          </p:cNvPr>
          <p:cNvSpPr txBox="1"/>
          <p:nvPr userDrawn="1"/>
        </p:nvSpPr>
        <p:spPr>
          <a:xfrm>
            <a:off x="2836333" y="-11006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>
              <a:solidFill>
                <a:srgbClr val="000000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C0A6AB0-9BB4-1E43-9F1F-3CEBCAC113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3" t="31368" r="520" b="18339"/>
          <a:stretch/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1B97B1F-8B2D-7041-9104-AECAAA0D72FD}"/>
              </a:ext>
            </a:extLst>
          </p:cNvPr>
          <p:cNvSpPr/>
          <p:nvPr userDrawn="1"/>
        </p:nvSpPr>
        <p:spPr>
          <a:xfrm>
            <a:off x="0" y="-5204"/>
            <a:ext cx="6281680" cy="6863204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  <a:alpha val="0"/>
                </a:schemeClr>
              </a:gs>
              <a:gs pos="100000">
                <a:schemeClr val="accent2">
                  <a:lumMod val="50000"/>
                  <a:alpha val="49901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16">
            <a:extLst>
              <a:ext uri="{FF2B5EF4-FFF2-40B4-BE49-F238E27FC236}">
                <a16:creationId xmlns:a16="http://schemas.microsoft.com/office/drawing/2014/main" id="{68BA96D0-D231-8543-9A40-53B148E3E27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AFA5AC-215B-3841-96C1-5949DA8341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4587041"/>
            <a:ext cx="5570538" cy="276999"/>
          </a:xfrm>
        </p:spPr>
        <p:txBody>
          <a:bodyPr wrap="square" tIns="0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i="0" kern="1200" cap="none" baseline="0" dirty="0">
                <a:solidFill>
                  <a:schemeClr val="accent1">
                    <a:lumMod val="20000"/>
                    <a:lumOff val="80000"/>
                  </a:schemeClr>
                </a:solidFill>
                <a:latin typeface="Barlow" pitchFamily="2" charset="77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457200" rtl="0" eaLnBrk="1" latinLnBrk="0" hangingPunct="1">
              <a:spcBef>
                <a:spcPct val="20000"/>
              </a:spcBef>
              <a:buClr>
                <a:schemeClr val="bg2"/>
              </a:buClr>
              <a:buSzPct val="65000"/>
              <a:buFont typeface="Barlow"/>
              <a:buNone/>
            </a:pPr>
            <a:r>
              <a:rPr lang="en-US"/>
              <a:t>Click to Add Presenter/Subheading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7DA987C-20E5-6645-A0B0-F16877035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900" y="3824707"/>
            <a:ext cx="5570538" cy="6647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90000"/>
              </a:lnSpc>
              <a:buNone/>
              <a:defRPr lang="en-US" sz="4800" b="0" i="0" kern="1200" baseline="0" dirty="0">
                <a:solidFill>
                  <a:schemeClr val="bg1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marL="0" lvl="0" indent="0" algn="l" defTabSz="457200" rtl="0" eaLnBrk="1" latinLnBrk="0" hangingPunct="1">
              <a:spcBef>
                <a:spcPts val="1000"/>
              </a:spcBef>
              <a:buClr>
                <a:schemeClr val="bg2"/>
              </a:buClr>
              <a:buSzPct val="75000"/>
              <a:buFont typeface="Barlow"/>
              <a:buNone/>
            </a:pPr>
            <a:r>
              <a:rPr lang="en-US"/>
              <a:t>Click to Edit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1C654B-FE14-FB45-8249-7D9D92995BA2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7084A994-876E-774C-A507-104A2FF00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FC1328E-D267-9B45-9570-96B12FEA0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A1B3B0B-FCA0-194C-BBF9-5976E2040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FE7A9806-8D44-470F-A42A-B0BB34D8E567}" type="datetime3">
              <a:rPr lang="en-US" smtClean="0"/>
              <a:t>20 June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9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5600" y="1066800"/>
            <a:ext cx="10274300" cy="4914900"/>
          </a:xfrm>
        </p:spPr>
        <p:txBody>
          <a:bodyPr lIns="0" tIns="0" rIns="0" bIns="0" anchor="t" anchorCtr="0"/>
          <a:lstStyle>
            <a:lvl1pPr marL="228600" indent="-228600">
              <a:buFont typeface="Arial" panose="020B0604020202020204" pitchFamily="34" charset="0"/>
              <a:buChar char="►"/>
              <a:defRPr/>
            </a:lvl1pPr>
            <a:lvl2pPr marL="4572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  <a:defRPr/>
            </a:lvl2pPr>
            <a:lvl3pPr marL="6858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9144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11430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1C2DA-52B1-DD43-A3B6-C3CA586AC7A6}"/>
              </a:ext>
            </a:extLst>
          </p:cNvPr>
          <p:cNvSpPr txBox="1"/>
          <p:nvPr userDrawn="1"/>
        </p:nvSpPr>
        <p:spPr>
          <a:xfrm>
            <a:off x="12056533" y="15578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DFAA90AC-9B0A-AB4E-ABA9-347CBDC29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9456"/>
            <a:ext cx="10287001" cy="470898"/>
          </a:xfrm>
          <a:prstGeom prst="callout1">
            <a:avLst>
              <a:gd name="adj1" fmla="val 103511"/>
              <a:gd name="adj2" fmla="val 100069"/>
              <a:gd name="adj3" fmla="val 103502"/>
              <a:gd name="adj4" fmla="val -3408"/>
            </a:avLst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vert="horz" wrap="square" lIns="0" tIns="0" rIns="0" bIns="27432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accent2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6814554B-F7E7-D444-A874-1C7C087F2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DE1375A-B2FA-C741-B6ED-A8569C32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61257-280D-EC46-BB4D-FCABCCE2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EAFD7BB1-AB7F-4336-A8B3-6627E5D36FE4}" type="datetime3">
              <a:rPr lang="en-US" smtClean="0"/>
              <a:t>20 June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7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">
    <p:bg>
      <p:bgPr>
        <a:blipFill dpi="0" rotWithShape="1">
          <a:blip r:embed="rId2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EEBE8-797C-CF45-BCEA-46B6F8BDF2A6}"/>
              </a:ext>
            </a:extLst>
          </p:cNvPr>
          <p:cNvSpPr txBox="1"/>
          <p:nvPr userDrawn="1"/>
        </p:nvSpPr>
        <p:spPr>
          <a:xfrm>
            <a:off x="23045738" y="19288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AC56CD1-FBEE-0E42-B197-B760B74435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3" t="31368" r="520" b="18339"/>
          <a:stretch/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364CBD1-C300-DD47-9E62-DB8A672B2069}"/>
              </a:ext>
            </a:extLst>
          </p:cNvPr>
          <p:cNvSpPr/>
          <p:nvPr userDrawn="1"/>
        </p:nvSpPr>
        <p:spPr>
          <a:xfrm>
            <a:off x="0" y="-5204"/>
            <a:ext cx="6095999" cy="686320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BC8680-FDB5-4F4B-8DFD-CE546990D5D4}"/>
              </a:ext>
            </a:extLst>
          </p:cNvPr>
          <p:cNvSpPr txBox="1"/>
          <p:nvPr userDrawn="1"/>
        </p:nvSpPr>
        <p:spPr>
          <a:xfrm>
            <a:off x="9300117" y="4125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pic>
        <p:nvPicPr>
          <p:cNvPr id="24" name="Picture 16">
            <a:extLst>
              <a:ext uri="{FF2B5EF4-FFF2-40B4-BE49-F238E27FC236}">
                <a16:creationId xmlns:a16="http://schemas.microsoft.com/office/drawing/2014/main" id="{38DD1F27-AFE8-9E47-9C20-1F88A4CD77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846AB6BC-FF23-D64E-A9A3-50A9B1821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472" y="4590288"/>
            <a:ext cx="5565966" cy="246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>
              <a:spcBef>
                <a:spcPts val="0"/>
              </a:spcBef>
              <a:buNone/>
              <a:defRPr lang="en-US" sz="2000" b="0" i="0" kern="1200" cap="none" baseline="0" dirty="0" smtClean="0">
                <a:solidFill>
                  <a:schemeClr val="accent2"/>
                </a:solidFill>
                <a:latin typeface="Barlow" pitchFamily="2" charset="77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500" i="1" kern="1200" dirty="0" smtClean="0">
                <a:solidFill>
                  <a:schemeClr val="accent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marL="0" lvl="0" indent="0" algn="l" defTabSz="457200" rtl="0" eaLnBrk="1" latinLnBrk="0" hangingPunct="1">
              <a:spcBef>
                <a:spcPct val="20000"/>
              </a:spcBef>
            </a:pPr>
            <a:r>
              <a:rPr lang="en-US"/>
              <a:t>Click To Add Presenter/Subheading</a:t>
            </a:r>
          </a:p>
        </p:txBody>
      </p:sp>
      <p:sp>
        <p:nvSpPr>
          <p:cNvPr id="26" name="Title Placeholder 2">
            <a:extLst>
              <a:ext uri="{FF2B5EF4-FFF2-40B4-BE49-F238E27FC236}">
                <a16:creationId xmlns:a16="http://schemas.microsoft.com/office/drawing/2014/main" id="{D37A55A4-1BD2-674A-9626-60AB1AEE3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472" y="3827812"/>
            <a:ext cx="5565966" cy="664797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4800" i="0" dirty="0">
                <a:solidFill>
                  <a:schemeClr val="tx2"/>
                </a:solidFill>
              </a:defRPr>
            </a:lvl1pPr>
          </a:lstStyle>
          <a:p>
            <a:pPr lvl="0">
              <a:spcBef>
                <a:spcPts val="1000"/>
              </a:spcBef>
              <a:buClr>
                <a:schemeClr val="bg2"/>
              </a:buClr>
              <a:buSzPct val="75000"/>
              <a:buFont typeface="Barlow"/>
            </a:pPr>
            <a:r>
              <a:rPr lang="en-US"/>
              <a:t>Click to Edit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4C4FA3-E45E-424A-9BD3-1455471E946D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 dirty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7A06C9D6-1966-FF45-88E4-859637CF1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48A6DA5-3CBE-2540-889B-02D2E0478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6272179-8E7E-FC4E-9269-CB6734C0C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75E1FC71-41A5-4707-AA2A-6D924C0000AC}" type="datetime3">
              <a:rPr lang="en-US" smtClean="0"/>
              <a:t>20 June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6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5600" y="1066800"/>
            <a:ext cx="10274300" cy="4914900"/>
          </a:xfrm>
        </p:spPr>
        <p:txBody>
          <a:bodyPr lIns="0" tIns="0" rIns="0" bIns="0" anchor="t" anchorCtr="0"/>
          <a:lstStyle>
            <a:lvl1pPr marL="228600" indent="-228600">
              <a:buFont typeface="Arial" panose="020B0604020202020204" pitchFamily="34" charset="0"/>
              <a:buChar char="►"/>
              <a:defRPr/>
            </a:lvl1pPr>
            <a:lvl2pPr marL="4572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  <a:defRPr/>
            </a:lvl2pPr>
            <a:lvl3pPr marL="6858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9144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11430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1C2DA-52B1-DD43-A3B6-C3CA586AC7A6}"/>
              </a:ext>
            </a:extLst>
          </p:cNvPr>
          <p:cNvSpPr txBox="1"/>
          <p:nvPr userDrawn="1"/>
        </p:nvSpPr>
        <p:spPr>
          <a:xfrm>
            <a:off x="12056533" y="15578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DFAA90AC-9B0A-AB4E-ABA9-347CBDC29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9456"/>
            <a:ext cx="10287001" cy="470898"/>
          </a:xfrm>
          <a:prstGeom prst="callout1">
            <a:avLst>
              <a:gd name="adj1" fmla="val 103511"/>
              <a:gd name="adj2" fmla="val 100069"/>
              <a:gd name="adj3" fmla="val 103502"/>
              <a:gd name="adj4" fmla="val -3408"/>
            </a:avLst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vert="horz" wrap="square" lIns="0" tIns="0" rIns="0" bIns="27432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accent2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6814554B-F7E7-D444-A874-1C7C087F2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DE1375A-B2FA-C741-B6ED-A8569C32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61257-280D-EC46-BB4D-FCABCCE2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EAFD7BB1-AB7F-4336-A8B3-6627E5D36FE4}" type="datetime3">
              <a:rPr lang="en-US" smtClean="0"/>
              <a:t>20 June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3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42900" y="218135"/>
            <a:ext cx="10299699" cy="470898"/>
          </a:xfrm>
          <a:prstGeom prst="rect">
            <a:avLst/>
          </a:prstGeom>
          <a:noFill/>
        </p:spPr>
        <p:txBody>
          <a:bodyPr vert="horz" wrap="square" lIns="0" tIns="0" rIns="0" bIns="27432" rtlCol="0" anchor="t" anchorCtr="0">
            <a:spAutoFit/>
          </a:bodyPr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55600" y="1066800"/>
            <a:ext cx="10286999" cy="4914900"/>
          </a:xfrm>
          <a:prstGeom prst="rect">
            <a:avLst/>
          </a:prstGeom>
        </p:spPr>
        <p:txBody>
          <a:bodyPr vert="horz" lIns="0" tIns="228600" rIns="0" bIns="0" rtlCol="0" anchor="ctr" anchorCtr="0">
            <a:normAutofit/>
          </a:bodyPr>
          <a:lstStyle/>
          <a:p>
            <a:pPr lvl="0"/>
            <a:r>
              <a:rPr lang="en-US"/>
              <a:t>Click to edit</a:t>
            </a:r>
          </a:p>
          <a:p>
            <a:pPr marL="457200" lvl="1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</a:pPr>
            <a:r>
              <a:rPr lang="en-US"/>
              <a:t>Second level</a:t>
            </a:r>
          </a:p>
          <a:p>
            <a:pPr marL="685800" lvl="2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marL="914400" lvl="3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marL="1143000" lvl="4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9678" y="236303"/>
            <a:ext cx="991639" cy="398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82B608A-8973-E74F-9000-3CD5D7893E6F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A8D3E2-8096-4AF5-B142-B8C380533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5B83-C1F8-4E53-8C02-280E1ED42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CE817F5-DA59-4CF8-A065-2F8C60D2E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B7E9607F-8B9B-4283-A10B-E032341A492F}" type="datetime3">
              <a:rPr lang="en-US" smtClean="0"/>
              <a:t>20 June 2026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93659-4415-8C41-805C-01463B0FE599}"/>
              </a:ext>
            </a:extLst>
          </p:cNvPr>
          <p:cNvSpPr txBox="1"/>
          <p:nvPr userDrawn="1"/>
        </p:nvSpPr>
        <p:spPr>
          <a:xfrm>
            <a:off x="2193324" y="28605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8" r:id="rId2"/>
    <p:sldLayoutId id="2147483809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marL="0" indent="0" algn="l" defTabSz="457200" rtl="0" eaLnBrk="1" latinLnBrk="0" hangingPunct="1">
        <a:lnSpc>
          <a:spcPct val="80000"/>
        </a:lnSpc>
        <a:spcBef>
          <a:spcPct val="0"/>
        </a:spcBef>
        <a:buNone/>
        <a:defRPr sz="3600" b="0" i="0" kern="1200" spc="-100" baseline="0">
          <a:solidFill>
            <a:schemeClr val="accent2"/>
          </a:solidFill>
          <a:latin typeface="Barlow" pitchFamily="2" charset="77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bg2"/>
        </a:buClr>
        <a:buSzPct val="65000"/>
        <a:buFont typeface="Arial" panose="020B0604020202020204" pitchFamily="34" charset="0"/>
        <a:buChar char="►"/>
        <a:defRPr lang="en-US" sz="26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1pPr>
      <a:lvl2pPr marL="5143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20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2pPr>
      <a:lvl3pPr marL="7429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•"/>
        <a:defRPr lang="en-US" sz="18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3pPr>
      <a:lvl4pPr marL="9715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1200" b="0" i="0" kern="120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»"/>
        <a:defRPr lang="en-US" sz="1200" b="0" i="0" kern="1200" baseline="0" dirty="0">
          <a:solidFill>
            <a:srgbClr val="000000"/>
          </a:solidFill>
          <a:latin typeface="Barlow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949">
          <p15:clr>
            <a:srgbClr val="F26B43"/>
          </p15:clr>
        </p15:guide>
        <p15:guide id="1" orient="horz" pos="3768">
          <p15:clr>
            <a:srgbClr val="F26B43"/>
          </p15:clr>
        </p15:guide>
        <p15:guide id="2" pos="216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528">
          <p15:clr>
            <a:srgbClr val="F26B43"/>
          </p15:clr>
        </p15:guide>
        <p15:guide id="5" pos="3725">
          <p15:clr>
            <a:srgbClr val="F26B43"/>
          </p15:clr>
        </p15:guide>
        <p15:guide id="6" orient="horz" pos="672">
          <p15:clr>
            <a:srgbClr val="F26B43"/>
          </p15:clr>
        </p15:guide>
        <p15:guide id="7" pos="66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42900" y="218135"/>
            <a:ext cx="10299699" cy="470898"/>
          </a:xfrm>
          <a:prstGeom prst="rect">
            <a:avLst/>
          </a:prstGeom>
          <a:noFill/>
        </p:spPr>
        <p:txBody>
          <a:bodyPr vert="horz" wrap="square" lIns="0" tIns="0" rIns="0" bIns="27432" rtlCol="0" anchor="t" anchorCtr="0">
            <a:spAutoFit/>
          </a:bodyPr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55600" y="1066800"/>
            <a:ext cx="10286999" cy="4914900"/>
          </a:xfrm>
          <a:prstGeom prst="rect">
            <a:avLst/>
          </a:prstGeom>
        </p:spPr>
        <p:txBody>
          <a:bodyPr vert="horz" lIns="0" tIns="228600" rIns="0" bIns="0" rtlCol="0" anchor="ctr" anchorCtr="0">
            <a:normAutofit/>
          </a:bodyPr>
          <a:lstStyle/>
          <a:p>
            <a:pPr lvl="0"/>
            <a:r>
              <a:rPr lang="en-US"/>
              <a:t>Click to edit</a:t>
            </a:r>
          </a:p>
          <a:p>
            <a:pPr marL="457200" lvl="1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</a:pPr>
            <a:r>
              <a:rPr lang="en-US"/>
              <a:t>Second level</a:t>
            </a:r>
          </a:p>
          <a:p>
            <a:pPr marL="685800" lvl="2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marL="914400" lvl="3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marL="1143000" lvl="4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9679" y="236303"/>
            <a:ext cx="991639" cy="398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82B608A-8973-E74F-9000-3CD5D7893E6F}"/>
              </a:ext>
            </a:extLst>
          </p:cNvPr>
          <p:cNvSpPr/>
          <p:nvPr userDrawn="1"/>
        </p:nvSpPr>
        <p:spPr>
          <a:xfrm>
            <a:off x="1" y="6606770"/>
            <a:ext cx="10629900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A8D3E2-8096-4AF5-B142-B8C380533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5B83-C1F8-4E53-8C02-280E1ED42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CE817F5-DA59-4CF8-A065-2F8C60D2E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B7E9607F-8B9B-4283-A10B-E032341A492F}" type="datetime3">
              <a:rPr lang="en-US" smtClean="0"/>
              <a:t>20 June 2026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93659-4415-8C41-805C-01463B0FE599}"/>
              </a:ext>
            </a:extLst>
          </p:cNvPr>
          <p:cNvSpPr txBox="1"/>
          <p:nvPr userDrawn="1"/>
        </p:nvSpPr>
        <p:spPr>
          <a:xfrm>
            <a:off x="2193324" y="28605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marL="0" indent="0" algn="l" defTabSz="457200" rtl="0" eaLnBrk="1" latinLnBrk="0" hangingPunct="1">
        <a:lnSpc>
          <a:spcPct val="80000"/>
        </a:lnSpc>
        <a:spcBef>
          <a:spcPct val="0"/>
        </a:spcBef>
        <a:buNone/>
        <a:defRPr sz="3600" b="0" i="0" kern="1200" spc="-100" baseline="0">
          <a:solidFill>
            <a:schemeClr val="accent2"/>
          </a:solidFill>
          <a:latin typeface="Barlow" pitchFamily="2" charset="77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bg2"/>
        </a:buClr>
        <a:buSzPct val="65000"/>
        <a:buFont typeface="Arial" panose="020B0604020202020204" pitchFamily="34" charset="0"/>
        <a:buChar char="►"/>
        <a:defRPr lang="en-US" sz="26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1pPr>
      <a:lvl2pPr marL="5143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20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2pPr>
      <a:lvl3pPr marL="7429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•"/>
        <a:defRPr lang="en-US" sz="18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3pPr>
      <a:lvl4pPr marL="9715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1200" b="0" i="0" kern="120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»"/>
        <a:defRPr lang="en-US" sz="1200" b="0" i="0" kern="1200" baseline="0" dirty="0">
          <a:solidFill>
            <a:srgbClr val="000000"/>
          </a:solidFill>
          <a:latin typeface="Barlow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949">
          <p15:clr>
            <a:srgbClr val="F26B43"/>
          </p15:clr>
        </p15:guide>
        <p15:guide id="1" orient="horz" pos="3768">
          <p15:clr>
            <a:srgbClr val="F26B43"/>
          </p15:clr>
        </p15:guide>
        <p15:guide id="2" pos="216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528">
          <p15:clr>
            <a:srgbClr val="F26B43"/>
          </p15:clr>
        </p15:guide>
        <p15:guide id="5" pos="3725">
          <p15:clr>
            <a:srgbClr val="F26B43"/>
          </p15:clr>
        </p15:guide>
        <p15:guide id="6" orient="horz" pos="672">
          <p15:clr>
            <a:srgbClr val="F26B43"/>
          </p15:clr>
        </p15:guide>
        <p15:guide id="7" pos="6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4CFE7F-71AB-C7B8-4F0D-C02B109BC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188930"/>
            <a:ext cx="2512706" cy="336799"/>
          </a:xfrm>
        </p:spPr>
        <p:txBody>
          <a:bodyPr/>
          <a:lstStyle/>
          <a:p>
            <a:pPr algn="ctr"/>
            <a:r>
              <a:rPr lang="en-US"/>
              <a:t>Front end team …..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6071B-E7CD-BA6C-9A1F-BA42E01BC1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43746" y="2380089"/>
            <a:ext cx="8237343" cy="1509131"/>
          </a:xfrm>
        </p:spPr>
        <p:txBody>
          <a:bodyPr/>
          <a:lstStyle/>
          <a:p>
            <a:pPr algn="ctr"/>
            <a:r>
              <a:rPr lang="en-US" b="1"/>
              <a:t>ADI/CU GP 2025/2026</a:t>
            </a:r>
            <a:endParaRPr lang="en-GB" b="1"/>
          </a:p>
          <a:p>
            <a:pPr algn="ctr"/>
            <a:r>
              <a:rPr lang="en-US" b="1"/>
              <a:t>Progress Update Meeting</a:t>
            </a:r>
            <a:r>
              <a:rPr lang="ar-EG" b="1"/>
              <a:t> </a:t>
            </a:r>
            <a:r>
              <a:rPr lang="en-US" b="1"/>
              <a:t>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FE339-32F2-C276-B25D-9BBF398ED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0D9B2-B5E2-C39D-3836-3C61A8443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F2EBC2-3256-7DF7-ADE7-9F8E9455008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7A9806-8D44-470F-A42A-B0BB34D8E567}" type="datetime3">
              <a:rPr lang="en-US" smtClean="0"/>
              <a:t>20 June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8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5E18-D1E8-7C74-CAD0-55E813D79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354C61-2350-0559-DBE5-D05BEC19A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971550"/>
            <a:ext cx="10274300" cy="4914900"/>
          </a:xfrm>
        </p:spPr>
        <p:txBody>
          <a:bodyPr>
            <a:normAutofit/>
          </a:bodyPr>
          <a:lstStyle/>
          <a:p>
            <a:r>
              <a:rPr lang="en-US" b="1" dirty="0"/>
              <a:t>HW/SW Co-design (HW Part)</a:t>
            </a:r>
            <a:endParaRPr lang="ar-EG" b="1" dirty="0"/>
          </a:p>
          <a:p>
            <a:r>
              <a:rPr lang="en-US" b="1" dirty="0"/>
              <a:t>HW/SW Co-design (SW Part)</a:t>
            </a:r>
          </a:p>
          <a:p>
            <a:r>
              <a:rPr lang="en-US" b="1" dirty="0"/>
              <a:t>Multi clusters</a:t>
            </a:r>
            <a:endParaRPr lang="ar-EG" b="1" dirty="0"/>
          </a:p>
          <a:p>
            <a:r>
              <a:rPr lang="en-US" b="1" dirty="0"/>
              <a:t>HWPE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C6F47D-B19C-991C-C10F-CD9AF006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FF3CE-7AF9-AD19-58CC-5EABCB5D6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DB095-80DA-B9FF-340C-3BB80E178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9028C4-BFB2-02BB-54F0-0F3E48A4C18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7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9003-4A69-BD2A-6A4C-EE53EC97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073F3C-6ACD-6B6B-4C19-DAC024FA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827812"/>
            <a:ext cx="7755668" cy="664797"/>
          </a:xfrm>
        </p:spPr>
        <p:txBody>
          <a:bodyPr/>
          <a:lstStyle/>
          <a:p>
            <a:r>
              <a:rPr lang="en-US" dirty="0"/>
              <a:t>HW/SW Co-design (HW Part)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1F8BE-A2C0-72C2-210A-8CE470537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80BB4-4F85-9421-7A78-FA7BCBB40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F25D22-67EC-E960-A1DC-DD7DFB3F367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E1FC71-41A5-4707-AA2A-6D924C0000AC}" type="datetime3">
              <a:rPr lang="en-US" smtClean="0"/>
              <a:t>20 June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24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26B27-4B6D-AD07-3970-691AEDC3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25087-C727-994A-82DF-18A6EFFE9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971550"/>
            <a:ext cx="10274300" cy="4914900"/>
          </a:xfrm>
        </p:spPr>
        <p:txBody>
          <a:bodyPr>
            <a:normAutofit/>
          </a:bodyPr>
          <a:lstStyle/>
          <a:p>
            <a:r>
              <a:rPr lang="en-US" b="1" dirty="0"/>
              <a:t>HW/SW Co-design</a:t>
            </a:r>
          </a:p>
          <a:p>
            <a:pPr lvl="1"/>
            <a:r>
              <a:rPr lang="en-US" sz="2100" b="1" dirty="0"/>
              <a:t>Where we were?</a:t>
            </a:r>
          </a:p>
          <a:p>
            <a:pPr lvl="1"/>
            <a:r>
              <a:rPr lang="en-US" sz="2100" b="1" dirty="0"/>
              <a:t>AXI butterfly Latency analysis</a:t>
            </a:r>
          </a:p>
          <a:p>
            <a:pPr lvl="1"/>
            <a:r>
              <a:rPr lang="en-US" sz="2100" b="1" dirty="0"/>
              <a:t>Moving to TCDM</a:t>
            </a:r>
          </a:p>
          <a:p>
            <a:pPr lvl="1"/>
            <a:r>
              <a:rPr lang="en-US" sz="2100" b="1" dirty="0"/>
              <a:t>PULP Integration</a:t>
            </a:r>
          </a:p>
          <a:p>
            <a:pPr lvl="1"/>
            <a:r>
              <a:rPr lang="en-US" sz="2100" b="1" dirty="0"/>
              <a:t>Wrapper Architecture</a:t>
            </a:r>
          </a:p>
          <a:p>
            <a:pPr lvl="1"/>
            <a:r>
              <a:rPr lang="en-US" sz="2100" b="1" dirty="0"/>
              <a:t>SoC Modifications</a:t>
            </a:r>
          </a:p>
          <a:p>
            <a:pPr lvl="1"/>
            <a:r>
              <a:rPr lang="en-US" sz="2100" b="1" dirty="0"/>
              <a:t>Software &amp; Verification (1)</a:t>
            </a:r>
          </a:p>
          <a:p>
            <a:pPr lvl="1"/>
            <a:r>
              <a:rPr lang="en-US" sz="2100" b="1" dirty="0"/>
              <a:t>Optimizations </a:t>
            </a:r>
          </a:p>
          <a:p>
            <a:pPr lvl="1"/>
            <a:r>
              <a:rPr lang="en-US" sz="2100" b="1" dirty="0"/>
              <a:t>Software &amp; Verification (2)</a:t>
            </a:r>
          </a:p>
          <a:p>
            <a:pPr lvl="1"/>
            <a:endParaRPr lang="en-US" sz="2100" b="1" dirty="0"/>
          </a:p>
          <a:p>
            <a:pPr lvl="1"/>
            <a:endParaRPr lang="en-US" b="1" dirty="0">
              <a:solidFill>
                <a:srgbClr val="000000">
                  <a:alpha val="20000"/>
                </a:srgb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00">
                  <a:alpha val="20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2E86A7-9EB3-16DD-FF01-FF581437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BC2D5-2E55-8402-83CA-EA145C58E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8EE3A-94C6-1DCA-AA02-6D2DC8356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6E6832-1B25-D2B4-A74C-19631F4CD7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45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9E75-DC22-2B3E-1EED-A8AC0B69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098AD2-E38C-E9AA-723E-8F27B687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Optimization 1 – The Auto-Trigger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C350-0F92-8E7E-2DCB-E7A6D1593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2B162-2B24-5C14-6EB0-A55199366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158869-E0E3-52B1-1949-8A549E80A3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74B375-1D30-5259-D666-EF6D20DB893D}"/>
              </a:ext>
            </a:extLst>
          </p:cNvPr>
          <p:cNvSpPr txBox="1">
            <a:spLocks/>
          </p:cNvSpPr>
          <p:nvPr/>
        </p:nvSpPr>
        <p:spPr>
          <a:xfrm>
            <a:off x="211122" y="827207"/>
            <a:ext cx="6046803" cy="5725913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j-lt"/>
              </a:rPr>
              <a:t>The Traditional Approach (3 Bus Transactions):</a:t>
            </a:r>
          </a:p>
          <a:p>
            <a:pPr marL="742950" lvl="1"/>
            <a:r>
              <a:rPr lang="en-US" sz="1800" dirty="0"/>
              <a:t>Software writes the Left Operand.</a:t>
            </a:r>
          </a:p>
          <a:p>
            <a:pPr marL="742950" lvl="1"/>
            <a:r>
              <a:rPr lang="en-US" sz="1800" dirty="0"/>
              <a:t>Software writes the Right Operand.</a:t>
            </a:r>
          </a:p>
          <a:p>
            <a:pPr marL="742950" lvl="1"/>
            <a:r>
              <a:rPr lang="en-US" sz="1800" dirty="0"/>
              <a:t>Software writes a '1' to a CTRL register to wake up the hardware.</a:t>
            </a:r>
          </a:p>
          <a:p>
            <a:r>
              <a:rPr lang="en-US" sz="2000" b="1" dirty="0"/>
              <a:t>Optimized Solution (2 Bus Transactions):</a:t>
            </a:r>
          </a:p>
          <a:p>
            <a:pPr lvl="1"/>
            <a:r>
              <a:rPr lang="en-US" sz="1800" dirty="0"/>
              <a:t>Eliminated the dedicated "Start" register.</a:t>
            </a:r>
          </a:p>
          <a:p>
            <a:pPr lvl="1"/>
            <a:r>
              <a:rPr lang="en-US" sz="1800" dirty="0"/>
              <a:t>Flagged the Right Operand register to generate a Write-Enable pulse.</a:t>
            </a:r>
          </a:p>
          <a:p>
            <a:r>
              <a:rPr lang="en-US" sz="2000" b="1" dirty="0"/>
              <a:t>The Benefit:</a:t>
            </a:r>
            <a:r>
              <a:rPr lang="en-US" sz="2000" dirty="0"/>
              <a:t> </a:t>
            </a:r>
          </a:p>
          <a:p>
            <a:pPr lvl="1"/>
            <a:r>
              <a:rPr lang="en-US" sz="1800" dirty="0"/>
              <a:t>The hardware instantly fires up instantly.</a:t>
            </a:r>
          </a:p>
          <a:p>
            <a:pPr lvl="1"/>
            <a:r>
              <a:rPr lang="en-US" sz="1800" dirty="0"/>
              <a:t> Saves AXI transaction on every single butterfly </a:t>
            </a:r>
            <a:endParaRPr lang="en-US" sz="1800" b="1" dirty="0"/>
          </a:p>
          <a:p>
            <a:r>
              <a:rPr lang="en-US" sz="2000" b="1" dirty="0"/>
              <a:t>Result:</a:t>
            </a:r>
          </a:p>
          <a:p>
            <a:pPr lvl="1"/>
            <a:r>
              <a:rPr lang="en-US" sz="1800" dirty="0">
                <a:latin typeface="Barlow (Body)"/>
              </a:rPr>
              <a:t>Number of Cycles taken for the End-to-end Butterfly execution decreased.</a:t>
            </a:r>
          </a:p>
          <a:p>
            <a:pPr marL="742950" lvl="1"/>
            <a:endParaRPr lang="en-US" sz="1800" dirty="0"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355D31-48D1-4A6E-9524-81F027BA92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32"/>
          <a:stretch/>
        </p:blipFill>
        <p:spPr>
          <a:xfrm>
            <a:off x="6291263" y="1042988"/>
            <a:ext cx="2700337" cy="54244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46192E-D415-4153-9E49-AAF59A1367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7" t="-1180" b="-1"/>
          <a:stretch/>
        </p:blipFill>
        <p:spPr>
          <a:xfrm>
            <a:off x="8933073" y="1426368"/>
            <a:ext cx="3108890" cy="476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5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9E75-DC22-2B3E-1EED-A8AC0B69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098AD2-E38C-E9AA-723E-8F27B687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Optimization 2 – Auto-Status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C350-0F92-8E7E-2DCB-E7A6D1593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2B162-2B24-5C14-6EB0-A55199366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158869-E0E3-52B1-1949-8A549E80A3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74B375-1D30-5259-D666-EF6D20DB893D}"/>
              </a:ext>
            </a:extLst>
          </p:cNvPr>
          <p:cNvSpPr txBox="1">
            <a:spLocks/>
          </p:cNvSpPr>
          <p:nvPr/>
        </p:nvSpPr>
        <p:spPr>
          <a:xfrm>
            <a:off x="105561" y="690354"/>
            <a:ext cx="11980878" cy="5839538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j-lt"/>
              </a:rPr>
              <a:t>The Polling Problem:</a:t>
            </a:r>
          </a:p>
          <a:p>
            <a:pPr lvl="1"/>
            <a:r>
              <a:rPr lang="en-US" sz="1800" dirty="0">
                <a:latin typeface="+mj-lt"/>
              </a:rPr>
              <a:t>Software must manually clear this STATUS flag before new calculation, wasting an AXI transaction.</a:t>
            </a:r>
          </a:p>
          <a:p>
            <a:r>
              <a:rPr lang="en-US" sz="2000" b="1" dirty="0">
                <a:latin typeface="+mj-lt"/>
              </a:rPr>
              <a:t>Solution (The .de Wire):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status.d</a:t>
            </a:r>
            <a:r>
              <a:rPr lang="en-US" sz="1800" dirty="0">
                <a:latin typeface="+mj-lt"/>
              </a:rPr>
              <a:t>  = </a:t>
            </a:r>
            <a:r>
              <a:rPr lang="en-US" sz="1800" dirty="0" err="1">
                <a:latin typeface="+mj-lt"/>
              </a:rPr>
              <a:t>w_o_aux</a:t>
            </a:r>
            <a:r>
              <a:rPr lang="en-US" sz="1800" dirty="0">
                <a:latin typeface="+mj-lt"/>
              </a:rPr>
              <a:t> ? 1'b1 : 1’b0,                                       status.de = </a:t>
            </a:r>
            <a:r>
              <a:rPr lang="en-US" sz="1800" dirty="0" err="1">
                <a:latin typeface="+mj-lt"/>
              </a:rPr>
              <a:t>w_o_aux</a:t>
            </a:r>
            <a:r>
              <a:rPr lang="en-US" sz="1800" dirty="0">
                <a:latin typeface="+mj-lt"/>
              </a:rPr>
              <a:t> | </a:t>
            </a:r>
            <a:r>
              <a:rPr lang="en-US" sz="1800" dirty="0" err="1">
                <a:latin typeface="+mj-lt"/>
              </a:rPr>
              <a:t>op_right.qe</a:t>
            </a:r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Result:</a:t>
            </a:r>
          </a:p>
          <a:p>
            <a:pPr lvl="1"/>
            <a:r>
              <a:rPr lang="en-US" sz="1800" dirty="0">
                <a:latin typeface="+mj-lt"/>
              </a:rPr>
              <a:t>Saved another AXI transaction. </a:t>
            </a:r>
            <a:r>
              <a:rPr lang="en-US" sz="1800" dirty="0" err="1">
                <a:latin typeface="+mj-lt"/>
              </a:rPr>
              <a:t>So,Number</a:t>
            </a:r>
            <a:r>
              <a:rPr lang="en-US" sz="1800" dirty="0">
                <a:latin typeface="+mj-lt"/>
              </a:rPr>
              <a:t> of Cycles taken for the End-to-end Butterfly execution decreased.</a:t>
            </a:r>
          </a:p>
          <a:p>
            <a:pPr lvl="1"/>
            <a:endParaRPr lang="en-US" sz="18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F0E2E5-B216-4978-9347-D986F3AE9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13" y="2224087"/>
            <a:ext cx="8588674" cy="401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3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Where were we?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CE0B1B-67CF-4625-A729-42F46B09C0FD}"/>
              </a:ext>
            </a:extLst>
          </p:cNvPr>
          <p:cNvGraphicFramePr>
            <a:graphicFrameLocks noGrp="1"/>
          </p:cNvGraphicFramePr>
          <p:nvPr/>
        </p:nvGraphicFramePr>
        <p:xfrm>
          <a:off x="342901" y="1183260"/>
          <a:ext cx="7210425" cy="502187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11655">
                  <a:extLst>
                    <a:ext uri="{9D8B030D-6E8A-4147-A177-3AD203B41FA5}">
                      <a16:colId xmlns:a16="http://schemas.microsoft.com/office/drawing/2014/main" val="306670815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2610245645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3869219205"/>
                    </a:ext>
                  </a:extLst>
                </a:gridCol>
                <a:gridCol w="1775460">
                  <a:extLst>
                    <a:ext uri="{9D8B030D-6E8A-4147-A177-3AD203B41FA5}">
                      <a16:colId xmlns:a16="http://schemas.microsoft.com/office/drawing/2014/main" val="2588791516"/>
                    </a:ext>
                  </a:extLst>
                </a:gridCol>
              </a:tblGrid>
              <a:tr h="6354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573726"/>
                  </a:ext>
                </a:extLst>
              </a:tr>
              <a:tr h="11841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Operand Widths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Oversized:</a:t>
                      </a:r>
                      <a:br>
                        <a:rPr lang="en-US" dirty="0"/>
                      </a:br>
                      <a:r>
                        <a:rPr lang="en-US" dirty="0"/>
                        <a:t>34b In, 38b Out, 42b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90903"/>
                  </a:ext>
                </a:extLst>
              </a:tr>
              <a:tr h="910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Twiddle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Twiddle Index </a:t>
                      </a:r>
                      <a:r>
                        <a:rPr lang="en-US" dirty="0"/>
                        <a:t>passed over AXI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444935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Wrapper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37107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Multiplier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589021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Software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18967"/>
                  </a:ext>
                </a:extLst>
              </a:tr>
              <a:tr h="3643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442 cycles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59 cycles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24 cycles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86930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EE3CDC-02B5-4DEF-9520-35CDEAE6A222}"/>
              </a:ext>
            </a:extLst>
          </p:cNvPr>
          <p:cNvGraphicFramePr>
            <a:graphicFrameLocks noGrp="1"/>
          </p:cNvGraphicFramePr>
          <p:nvPr/>
        </p:nvGraphicFramePr>
        <p:xfrm>
          <a:off x="7553326" y="1183260"/>
          <a:ext cx="1847850" cy="502571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4131409749"/>
                    </a:ext>
                  </a:extLst>
                </a:gridCol>
              </a:tblGrid>
              <a:tr h="5651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4 </a:t>
                      </a:r>
                    </a:p>
                    <a:p>
                      <a:pPr algn="ctr"/>
                      <a:r>
                        <a:rPr lang="en-US" dirty="0"/>
                        <a:t>(Flattened)</a:t>
                      </a:r>
                      <a:endParaRPr lang="ar-E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168719"/>
                  </a:ext>
                </a:extLst>
              </a:tr>
              <a:tr h="118418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</a:p>
                    <a:p>
                      <a:pPr algn="l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692592"/>
                  </a:ext>
                </a:extLst>
              </a:tr>
              <a:tr h="91091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Twiddle Index </a:t>
                      </a:r>
                      <a:r>
                        <a:rPr lang="en-US" dirty="0"/>
                        <a:t>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618650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optimized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326918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Standard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965396"/>
                  </a:ext>
                </a:extLst>
              </a:tr>
              <a:tr h="36432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Optimized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85662"/>
                  </a:ext>
                </a:extLst>
              </a:tr>
              <a:tr h="36436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18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811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97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8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584664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 Latency  = 7  Write + 2 butterfly +  7 Read = 16 cycles</a:t>
            </a:r>
          </a:p>
          <a:p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72380C-EECA-4A8A-BE58-33B54F10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2" y="1195677"/>
            <a:ext cx="11168063" cy="498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5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9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Write Phase : </a:t>
            </a:r>
            <a:r>
              <a:rPr lang="en-US" sz="2000" b="1" dirty="0">
                <a:solidFill>
                  <a:srgbClr val="FF0000"/>
                </a:solidFill>
              </a:rPr>
              <a:t>7 cycles = 1 twiddle index + 3 left operand + 3 right operand 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90FE6F-78CE-4589-93C6-73D124BA2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1285656"/>
            <a:ext cx="8714225" cy="50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2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10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710319" cy="390050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</a:t>
            </a:r>
            <a:r>
              <a:rPr lang="en-US" sz="2000" b="1" dirty="0">
                <a:solidFill>
                  <a:srgbClr val="FF0000"/>
                </a:solidFill>
              </a:rPr>
              <a:t>3 cycles between writes on bus 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724215-19C7-4FC3-89D0-66F5B77C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56426"/>
            <a:ext cx="7725967" cy="5323031"/>
          </a:xfrm>
          <a:prstGeom prst="rect">
            <a:avLst/>
          </a:prstGeom>
        </p:spPr>
      </p:pic>
      <p:sp>
        <p:nvSpPr>
          <p:cNvPr id="31" name="Rectangle 21">
            <a:extLst>
              <a:ext uri="{FF2B5EF4-FFF2-40B4-BE49-F238E27FC236}">
                <a16:creationId xmlns:a16="http://schemas.microsoft.com/office/drawing/2014/main" id="{11577B64-E10D-4457-B04C-316B3AC1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32" y="1226450"/>
            <a:ext cx="404931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Cycle 1:  Capture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aw_valid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w_valid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aw_ready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, and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w_ready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hardware captures both the destination address and the operand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Cycle 2: The Confirmation Response</a:t>
            </a:r>
            <a:endParaRPr lang="en-US" altLang="en-US" dirty="0">
              <a:latin typeface="+mj-lt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Wrapper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b_valid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and the CPU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b_ready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acknowledge that the data was safely written.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Cycle 3: The State Machine Reset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b_valid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signal drops. The AXI slave requires a clock cycle to reset its internal state machine before it can accept new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0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</a:t>
            </a:r>
            <a:r>
              <a:rPr lang="en-US" sz="2000" b="1" dirty="0">
                <a:solidFill>
                  <a:srgbClr val="FF0000"/>
                </a:solidFill>
              </a:rPr>
              <a:t>2 cycles for butterfly operation = 1 intermediate values + 1 final results 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F4299E-0887-488F-AE5E-F29B6B13F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79" y="1137374"/>
            <a:ext cx="7520421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10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39448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Read Phase : </a:t>
            </a:r>
            <a:r>
              <a:rPr lang="en-US" sz="2000" b="1" dirty="0">
                <a:solidFill>
                  <a:srgbClr val="FF0000"/>
                </a:solidFill>
              </a:rPr>
              <a:t>7 cycles = 3 left result + 3 right result  + 1 cycle gap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DF2A90-BED2-4784-A6C6-D109261E0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92" y="1390428"/>
            <a:ext cx="10905165" cy="51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0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39448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read takes 3 cycles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24D733-CDDC-468A-86E8-54EC5FD98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1230885"/>
            <a:ext cx="7068743" cy="5274690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4F7674E-7647-44CA-9AAD-85DC88BDF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7" y="1020562"/>
            <a:ext cx="513040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Cycle 1: The Address Handshake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CPU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ar_valid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request a specific memory address.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Wrapper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ar_ready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accept the request.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+mj-lt"/>
                <a:cs typeface="Arial" panose="020B0604020202020204" pitchFamily="34" charset="0"/>
              </a:rPr>
              <a:t>Cycle 2: Preparing Data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  <a:cs typeface="Arial" panose="020B0604020202020204" pitchFamily="34" charset="0"/>
              </a:rPr>
              <a:t>HW fetches the requested result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Cycle 3: The Data Handshake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Wrapper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r_valid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and pushes the computed math onto the bus.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CPU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r_ready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capture the returned data.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Gap cycle (The </a:t>
            </a:r>
            <a:r>
              <a:rPr lang="en-US" altLang="en-US" b="1" dirty="0">
                <a:latin typeface="+mj-lt"/>
              </a:rPr>
              <a:t>storage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Cycle)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CPU de-asserts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ar_valid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and the bus goes completely silent. In order for the CPU to store result in one of its internal registers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78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584664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 Latency  = 7  Write + 2 butterfly +  7 Read = 16 cycles</a:t>
            </a:r>
          </a:p>
          <a:p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72380C-EECA-4A8A-BE58-33B54F10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2" y="1195677"/>
            <a:ext cx="11168063" cy="498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1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7179033" cy="584664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 Latency  = 7  Write + 2 butterfly +  7 Read = 16 cycles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APIs used to calculate latency </a:t>
            </a:r>
            <a:r>
              <a:rPr lang="en-US" sz="2000" b="1" dirty="0" err="1">
                <a:solidFill>
                  <a:schemeClr val="tx1"/>
                </a:solidFill>
              </a:rPr>
              <a:t>perf_start</a:t>
            </a:r>
            <a:r>
              <a:rPr lang="en-US" sz="2000" b="1" dirty="0">
                <a:solidFill>
                  <a:schemeClr val="tx1"/>
                </a:solidFill>
              </a:rPr>
              <a:t> and </a:t>
            </a:r>
            <a:r>
              <a:rPr lang="en-US" sz="2000" b="1" dirty="0" err="1">
                <a:solidFill>
                  <a:schemeClr val="tx1"/>
                </a:solidFill>
              </a:rPr>
              <a:t>perf_stop</a:t>
            </a:r>
            <a:r>
              <a:rPr lang="en-US" sz="2000" b="1" dirty="0">
                <a:solidFill>
                  <a:schemeClr val="tx1"/>
                </a:solidFill>
              </a:rPr>
              <a:t>, each takes a cycle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Therefore 16 cycles + 2 cycles = </a:t>
            </a:r>
            <a:r>
              <a:rPr lang="en-US" sz="2000" b="1" dirty="0">
                <a:solidFill>
                  <a:srgbClr val="FF0000"/>
                </a:solidFill>
              </a:rPr>
              <a:t>18 cycles</a:t>
            </a:r>
          </a:p>
          <a:p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D14A9-5301-4564-898D-E9073EDB6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925" y="1376364"/>
            <a:ext cx="4829175" cy="40719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024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Moving to TCDM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18335" y="819081"/>
            <a:ext cx="11159266" cy="5793937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Objective: </a:t>
            </a:r>
          </a:p>
          <a:p>
            <a:pPr marL="742950" lvl="1"/>
            <a:r>
              <a:rPr lang="en-US" sz="1800" dirty="0"/>
              <a:t>Re-integrate the custom-designed Radix-2 FFT Butterfly hardware accelerator directly into the PULP platform's TCDM (Tightly Coupled Data Memory) interconnect to eliminate AXI bus overhead.</a:t>
            </a:r>
          </a:p>
          <a:p>
            <a:pPr marL="457200"/>
            <a:r>
              <a:rPr lang="en-US" sz="2000" b="1" dirty="0">
                <a:latin typeface="Barlow (Body)"/>
              </a:rPr>
              <a:t>Goal: </a:t>
            </a:r>
          </a:p>
          <a:p>
            <a:pPr marL="742950" lvl="1"/>
            <a:r>
              <a:rPr lang="en-US" dirty="0"/>
              <a:t>Achieve physical-limit execution latency </a:t>
            </a:r>
          </a:p>
          <a:p>
            <a:pPr marL="457200"/>
            <a:r>
              <a:rPr lang="en-US" sz="2000" b="1" dirty="0">
                <a:latin typeface="Barlow (Body)"/>
              </a:rPr>
              <a:t>Scope of current work: </a:t>
            </a:r>
          </a:p>
          <a:p>
            <a:pPr marL="742950" lvl="1"/>
            <a:r>
              <a:rPr lang="en-US" sz="1800" b="1" dirty="0"/>
              <a:t>Hardware Scope: </a:t>
            </a:r>
          </a:p>
          <a:p>
            <a:pPr marL="971550" lvl="2"/>
            <a:r>
              <a:rPr lang="en-US" sz="1600" dirty="0"/>
              <a:t>Map the butterfly accelerator to the TCDM </a:t>
            </a:r>
            <a:r>
              <a:rPr lang="en-US" sz="1600" dirty="0" err="1"/>
              <a:t>busand</a:t>
            </a:r>
            <a:r>
              <a:rPr lang="en-US" sz="1600" dirty="0"/>
              <a:t>  design a low-latency protocol translation wrapper</a:t>
            </a:r>
          </a:p>
          <a:p>
            <a:pPr marL="457200" lvl="1" indent="0">
              <a:buNone/>
            </a:pPr>
            <a:endParaRPr lang="en-US" sz="1800" dirty="0">
              <a:latin typeface="Barlow (Body)"/>
            </a:endParaRPr>
          </a:p>
        </p:txBody>
      </p:sp>
    </p:spTree>
    <p:extLst>
      <p:ext uri="{BB962C8B-B14F-4D97-AF65-F5344CB8AC3E}">
        <p14:creationId xmlns:p14="http://schemas.microsoft.com/office/powerpoint/2010/main" val="383360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</a:t>
            </a:r>
            <a:r>
              <a:rPr lang="it-IT" dirty="0"/>
              <a:t>PULP Intergation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213385" y="804863"/>
            <a:ext cx="6099086" cy="580815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Objective:</a:t>
            </a:r>
          </a:p>
          <a:p>
            <a:pPr marL="742950" lvl="1"/>
            <a:r>
              <a:rPr lang="en-US" sz="1800" dirty="0">
                <a:latin typeface="Barlow (Body)"/>
              </a:rPr>
              <a:t>Expose the butterfly accelerator as a </a:t>
            </a:r>
            <a:r>
              <a:rPr lang="en-US" sz="1800" b="1" dirty="0">
                <a:latin typeface="Barlow (Body)"/>
              </a:rPr>
              <a:t>memory-mapped AXI peripheral</a:t>
            </a:r>
            <a:r>
              <a:rPr lang="en-US" sz="1800" dirty="0">
                <a:latin typeface="Barlow (Body)"/>
              </a:rPr>
              <a:t> within the PULP </a:t>
            </a:r>
            <a:r>
              <a:rPr lang="en-US" sz="1800" dirty="0" err="1">
                <a:latin typeface="Barlow (Body)"/>
              </a:rPr>
              <a:t>SoC.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Pulp Architecture Overview</a:t>
            </a:r>
          </a:p>
          <a:p>
            <a:r>
              <a:rPr lang="en-US" sz="2000" b="1" dirty="0"/>
              <a:t>The TCDM:</a:t>
            </a:r>
          </a:p>
          <a:p>
            <a:pPr lvl="1"/>
            <a:r>
              <a:rPr lang="en-US" sz="1800" dirty="0"/>
              <a:t>Normal processors rely on invisible memory caches, which cause unpredictable delays.</a:t>
            </a:r>
          </a:p>
          <a:p>
            <a:pPr lvl="1"/>
            <a:r>
              <a:rPr lang="en-US" sz="1800" dirty="0"/>
              <a:t>PULP replaces caches with a </a:t>
            </a:r>
            <a:r>
              <a:rPr lang="en-US" sz="1800" b="1" dirty="0"/>
              <a:t>Tightly Coupled Data Memory (TCDM)</a:t>
            </a:r>
            <a:r>
              <a:rPr lang="en-US" sz="1800" dirty="0"/>
              <a:t>—a shared, ultra-fast scratchpad where Software must explicitly place data into the TCDM.</a:t>
            </a:r>
          </a:p>
          <a:p>
            <a:pPr lvl="2"/>
            <a:endParaRPr lang="en-US" sz="1600" dirty="0"/>
          </a:p>
          <a:p>
            <a:r>
              <a:rPr lang="en-US" sz="2000" b="1" dirty="0"/>
              <a:t>The System Actors:</a:t>
            </a:r>
            <a:endParaRPr lang="en-US" sz="2000" dirty="0"/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Fabric Controller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Micro-DMA 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Accelerators</a:t>
            </a:r>
            <a:endParaRPr lang="en-US" sz="2400" dirty="0"/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859778-EA1E-4FD4-B675-9BCED208FD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32"/>
          <a:stretch/>
        </p:blipFill>
        <p:spPr>
          <a:xfrm>
            <a:off x="6312471" y="1121204"/>
            <a:ext cx="5236722" cy="54054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348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92561"/>
            <a:ext cx="10287001" cy="914096"/>
          </a:xfrm>
        </p:spPr>
        <p:txBody>
          <a:bodyPr/>
          <a:lstStyle/>
          <a:p>
            <a:r>
              <a:rPr lang="en-US" dirty="0"/>
              <a:t>HW/SW Co-design :Highway System – Interconnects and Arbitration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18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" y="1231178"/>
            <a:ext cx="5427322" cy="5568598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Two Separate Traffic Networks:</a:t>
            </a:r>
            <a:endParaRPr lang="en-US" sz="2000" dirty="0"/>
          </a:p>
          <a:p>
            <a:pPr lvl="1"/>
            <a:r>
              <a:rPr lang="en-US" sz="1800" b="1" dirty="0"/>
              <a:t>TCDM Interconnect:</a:t>
            </a:r>
            <a:r>
              <a:rPr lang="en-US" sz="1800" dirty="0"/>
              <a:t> reserved for fast operations, 1-cycle memory lookups.</a:t>
            </a:r>
          </a:p>
          <a:p>
            <a:pPr lvl="1"/>
            <a:r>
              <a:rPr lang="en-US" sz="1800" b="1" dirty="0"/>
              <a:t>AXI Crossbar:</a:t>
            </a:r>
            <a:r>
              <a:rPr lang="en-US" sz="1800" dirty="0"/>
              <a:t> Built for complex components that needs multiple cycles.</a:t>
            </a:r>
          </a:p>
          <a:p>
            <a:r>
              <a:rPr lang="en-US" sz="2000" b="1" dirty="0"/>
              <a:t>How Software Talks to Hardware:</a:t>
            </a:r>
            <a:endParaRPr lang="en-US" sz="2000" dirty="0"/>
          </a:p>
          <a:p>
            <a:pPr lvl="1"/>
            <a:r>
              <a:rPr lang="en-US" sz="1800" b="1" dirty="0"/>
              <a:t>Address-Based Routing: </a:t>
            </a:r>
            <a:r>
              <a:rPr lang="en-US" sz="1800" dirty="0"/>
              <a:t>Hardware doesn't have a name, only a memory address.</a:t>
            </a:r>
          </a:p>
          <a:p>
            <a:r>
              <a:rPr lang="en-US" sz="2000" b="1" dirty="0"/>
              <a:t>Two Paths of Communication: </a:t>
            </a:r>
          </a:p>
          <a:p>
            <a:pPr lvl="1"/>
            <a:r>
              <a:rPr lang="en-US" sz="1800" b="1" dirty="0"/>
              <a:t>The Control Path :</a:t>
            </a:r>
            <a:r>
              <a:rPr lang="en-US" sz="1800" dirty="0"/>
              <a:t>The FC configures the hardware by writing values  to these addresses.</a:t>
            </a:r>
          </a:p>
          <a:p>
            <a:pPr lvl="1"/>
            <a:r>
              <a:rPr lang="en-US" sz="1800" b="1" dirty="0"/>
              <a:t>The Data Path:</a:t>
            </a:r>
            <a:r>
              <a:rPr lang="en-US" sz="1800" dirty="0"/>
              <a:t> Pushing the heavy payloads to the hardware so it can begin computation.</a:t>
            </a:r>
            <a:endParaRPr lang="en-US" sz="18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06F88B-6FAE-4A71-A686-252FB646BC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"/>
          <a:stretch/>
        </p:blipFill>
        <p:spPr>
          <a:xfrm>
            <a:off x="5334363" y="1253864"/>
            <a:ext cx="5178665" cy="426447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FC0DB26-D053-4E6E-BC9E-AC3F28EA8CF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7661734" y="3462338"/>
            <a:ext cx="2851294" cy="31894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C945A-E576-482B-9B80-C72A58B21BA8}"/>
              </a:ext>
            </a:extLst>
          </p:cNvPr>
          <p:cNvSpPr/>
          <p:nvPr/>
        </p:nvSpPr>
        <p:spPr>
          <a:xfrm>
            <a:off x="10513028" y="2765570"/>
            <a:ext cx="1678972" cy="2031423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C47E55-5394-48B7-A926-39279E822BFC}"/>
              </a:ext>
            </a:extLst>
          </p:cNvPr>
          <p:cNvSpPr txBox="1"/>
          <p:nvPr/>
        </p:nvSpPr>
        <p:spPr>
          <a:xfrm>
            <a:off x="10744255" y="2914650"/>
            <a:ext cx="1285875" cy="3246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2000" dirty="0">
                <a:solidFill>
                  <a:schemeClr val="bg1"/>
                </a:solidFill>
              </a:rPr>
              <a:t>Wrapper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CD9307-6146-48C2-9324-89C6FB33CF16}"/>
              </a:ext>
            </a:extLst>
          </p:cNvPr>
          <p:cNvSpPr/>
          <p:nvPr/>
        </p:nvSpPr>
        <p:spPr>
          <a:xfrm>
            <a:off x="10601134" y="3386103"/>
            <a:ext cx="1502760" cy="123372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F22F5F-6EF2-4BCB-B1A6-4CBA1A6CE528}"/>
              </a:ext>
            </a:extLst>
          </p:cNvPr>
          <p:cNvSpPr txBox="1"/>
          <p:nvPr/>
        </p:nvSpPr>
        <p:spPr>
          <a:xfrm>
            <a:off x="10798661" y="3755581"/>
            <a:ext cx="1285875" cy="6629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2000" dirty="0">
                <a:solidFill>
                  <a:schemeClr val="bg1"/>
                </a:solidFill>
              </a:rPr>
              <a:t>Accelerator</a:t>
            </a:r>
          </a:p>
        </p:txBody>
      </p:sp>
    </p:spTree>
    <p:extLst>
      <p:ext uri="{BB962C8B-B14F-4D97-AF65-F5344CB8AC3E}">
        <p14:creationId xmlns:p14="http://schemas.microsoft.com/office/powerpoint/2010/main" val="317031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  <p:bldP spid="27" grpId="0" animBg="1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The Translation Wrapper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19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" y="901135"/>
            <a:ext cx="6869552" cy="5793937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The Problem: AXI Overhead</a:t>
            </a:r>
            <a:endParaRPr lang="en-US" sz="2000" b="1" dirty="0">
              <a:latin typeface="Barlow (Body)"/>
            </a:endParaRPr>
          </a:p>
          <a:p>
            <a:pPr marL="742950" lvl="1"/>
            <a:r>
              <a:rPr lang="en-US" sz="1800" dirty="0"/>
              <a:t>The multi-channel AXI handshake crippled our math core, turning a 2-cycle computation into a 18-cycle bottleneck.</a:t>
            </a:r>
          </a:p>
          <a:p>
            <a:pPr marL="457200"/>
            <a:r>
              <a:rPr lang="en-US" sz="2000" b="1" dirty="0"/>
              <a:t>Solution</a:t>
            </a:r>
            <a:r>
              <a:rPr lang="en-US" sz="2400" b="1" dirty="0"/>
              <a:t>: </a:t>
            </a:r>
            <a:r>
              <a:rPr lang="en-US" sz="1800" b="1" dirty="0"/>
              <a:t>TCDM Integration</a:t>
            </a:r>
          </a:p>
          <a:p>
            <a:pPr marL="742950" lvl="1"/>
            <a:r>
              <a:rPr lang="en-US" sz="2000" b="1" dirty="0"/>
              <a:t>The Blueprint (The .</a:t>
            </a:r>
            <a:r>
              <a:rPr lang="en-US" sz="2000" b="1" dirty="0" err="1"/>
              <a:t>hjson</a:t>
            </a:r>
            <a:r>
              <a:rPr lang="en-US" sz="2000" b="1" dirty="0"/>
              <a:t> file)</a:t>
            </a:r>
          </a:p>
          <a:p>
            <a:pPr marL="800100" lvl="1" indent="-342900"/>
            <a:r>
              <a:rPr lang="en-US" sz="1800" dirty="0"/>
              <a:t>A "contract" between software and hardware.</a:t>
            </a:r>
          </a:p>
          <a:p>
            <a:pPr marL="514350" indent="-342900"/>
            <a:r>
              <a:rPr lang="en-US" sz="2000" b="1" dirty="0"/>
              <a:t>The Protocol Downgrade :</a:t>
            </a:r>
          </a:p>
          <a:p>
            <a:pPr marL="800100" lvl="1" indent="-342900"/>
            <a:r>
              <a:rPr lang="en-US" sz="1800" dirty="0"/>
              <a:t>TCDM </a:t>
            </a:r>
            <a:r>
              <a:rPr lang="en-US" sz="1800" dirty="0">
                <a:sym typeface="Wingdings" panose="05000000000000000000" pitchFamily="2" charset="2"/>
              </a:rPr>
              <a:t> Direct Protocol Converter  REG_BUS</a:t>
            </a:r>
          </a:p>
          <a:p>
            <a:pPr marL="800100" lvl="1" indent="-342900"/>
            <a:r>
              <a:rPr lang="en-US" sz="1800" dirty="0"/>
              <a:t>REG_BUS </a:t>
            </a:r>
            <a:r>
              <a:rPr lang="en-US" sz="1800" dirty="0">
                <a:sym typeface="Wingdings" panose="05000000000000000000" pitchFamily="2" charset="2"/>
              </a:rPr>
              <a:t> Macros  Structs</a:t>
            </a:r>
          </a:p>
          <a:p>
            <a:pPr marL="514350" indent="-342900"/>
            <a:r>
              <a:rPr lang="en-US" sz="2000" b="1" dirty="0"/>
              <a:t>The Hardware Reality (.q , .</a:t>
            </a:r>
            <a:r>
              <a:rPr lang="en-US" sz="2000" b="1" dirty="0" err="1"/>
              <a:t>qe</a:t>
            </a:r>
            <a:r>
              <a:rPr lang="en-US" sz="2000" b="1" dirty="0"/>
              <a:t>, .d, .de) :</a:t>
            </a:r>
          </a:p>
          <a:p>
            <a:pPr marL="742950" lvl="1"/>
            <a:r>
              <a:rPr lang="en-US" sz="1800" b="1" dirty="0"/>
              <a:t>.q &amp; .</a:t>
            </a:r>
            <a:r>
              <a:rPr lang="en-US" sz="1800" b="1" dirty="0" err="1"/>
              <a:t>qe</a:t>
            </a:r>
            <a:r>
              <a:rPr lang="en-US" sz="1800" b="1" dirty="0"/>
              <a:t>:</a:t>
            </a:r>
            <a:r>
              <a:rPr lang="en-US" sz="1800" dirty="0"/>
              <a:t> Stable inputs and the 1-cycle Auto-Trigger spark.</a:t>
            </a:r>
          </a:p>
          <a:p>
            <a:pPr marL="742950" lvl="1"/>
            <a:r>
              <a:rPr lang="en-US" sz="1800" b="1" dirty="0"/>
              <a:t>Safety Latches to .d: </a:t>
            </a:r>
            <a:r>
              <a:rPr lang="en-US" sz="1800" dirty="0"/>
              <a:t>TCDM has one cycle delay to read so we latch results steady for an extra cycle</a:t>
            </a:r>
            <a:endParaRPr lang="en-US" sz="1800" dirty="0"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55A9D2-83BD-4AC2-806C-3D2EC4C1F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59" y="901135"/>
            <a:ext cx="3242291" cy="56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81"/>
            <a:ext cx="10287001" cy="470898"/>
          </a:xfrm>
        </p:spPr>
        <p:txBody>
          <a:bodyPr/>
          <a:lstStyle/>
          <a:p>
            <a:r>
              <a:rPr lang="en-US" dirty="0"/>
              <a:t>HW/SW Co-design : Soc Modifications (TCDM 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20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B7FE1EFB-D05B-4BEE-9811-FB8F0EF81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5" y="861191"/>
            <a:ext cx="9851881" cy="5319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Key Modifications: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Instantiated the top-level TCDM wrapper  inside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pulp_soc.sv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top module.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Declared a dedicated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XBAR_TCDM_BUS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interface to physically wire the accelerator into the system.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Updated L2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Demux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Routing: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Expanded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NR_RULES_L2_DEMUX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and added an addressing rule to funnel the Butterfly's memory space from the main cluster into the Contiguous Crossbar.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Updated Crossbar Routing: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Expanded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NR_RULES_CONTIG_CROSSBAR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and mapped the incoming traffic directly to </a:t>
            </a:r>
            <a:r>
              <a:rPr lang="en-US" altLang="en-US" dirty="0">
                <a:solidFill>
                  <a:srgbClr val="1F1F1F"/>
                </a:solidFill>
                <a:latin typeface="+mj-lt"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newly instantiated TCDM slave port.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Address Allocation: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Assigned a dedicated memory-mapped region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0x1C01_0000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0x1C09_0000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) inside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soc_mem_map.svh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Result: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The custom accelerator is now a fully visible, permanently integrated node directly on the Tightly Coupled Data Memory (TCDM) highway. It is accessible through ultra-fast, 1-cycle memory transactions, completely bypassing the AXI crossbar.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75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0E41-051E-62EF-6972-DD82DE7FA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DD45B4-11E4-B167-F3BB-29E6B837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(1)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00280-D695-9145-A1A0-169B32704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5778E-FD67-A879-012D-2F0CA89F8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BD6216F-82B8-7F0A-C2C5-D844C5AB3F9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2072C-DABD-0D61-CDC1-9B288D231EAF}"/>
              </a:ext>
            </a:extLst>
          </p:cNvPr>
          <p:cNvSpPr txBox="1"/>
          <p:nvPr/>
        </p:nvSpPr>
        <p:spPr>
          <a:xfrm>
            <a:off x="203051" y="828339"/>
            <a:ext cx="5854849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Step 1: Verify Integration &amp;Mathematical Correctness</a:t>
            </a:r>
          </a:p>
          <a:p>
            <a:pPr lvl="1"/>
            <a:r>
              <a:rPr lang="en-US" dirty="0"/>
              <a:t>Results Match the results from the Written Testbench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Software Control: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Simple Custom C test application developed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Execution Flow: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Write inputs to registers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Trigger accelerator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Poll DONE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computed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Observed 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Correct butterfly arithmetic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Successful HW/SW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Measured Latency At first was 48 cycles, But we reached 18 cycles with AXI</a:t>
            </a:r>
          </a:p>
          <a:p>
            <a:pPr marL="742950" lvl="1" indent="-285750"/>
            <a:endParaRPr lang="en-US" dirty="0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FA248B-5D85-4657-B9CD-C0AFB8365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03" y="825339"/>
            <a:ext cx="5952460" cy="567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1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9E75-DC22-2B3E-1EED-A8AC0B69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098AD2-E38C-E9AA-723E-8F27B687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Optimization 1 – The Auto-Trigger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C350-0F92-8E7E-2DCB-E7A6D1593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2B162-2B24-5C14-6EB0-A55199366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158869-E0E3-52B1-1949-8A549E80A3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74B375-1D30-5259-D666-EF6D20DB893D}"/>
              </a:ext>
            </a:extLst>
          </p:cNvPr>
          <p:cNvSpPr txBox="1">
            <a:spLocks/>
          </p:cNvSpPr>
          <p:nvPr/>
        </p:nvSpPr>
        <p:spPr>
          <a:xfrm>
            <a:off x="211122" y="827207"/>
            <a:ext cx="6046803" cy="5725913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j-lt"/>
              </a:rPr>
              <a:t>The Traditional Approach (3 Bus Transactions):</a:t>
            </a:r>
          </a:p>
          <a:p>
            <a:pPr marL="742950" lvl="1"/>
            <a:r>
              <a:rPr lang="en-US" sz="1800" dirty="0"/>
              <a:t>Software writes the Left Operand.</a:t>
            </a:r>
          </a:p>
          <a:p>
            <a:pPr marL="742950" lvl="1"/>
            <a:r>
              <a:rPr lang="en-US" sz="1800" dirty="0"/>
              <a:t>Software writes the Right Operand.</a:t>
            </a:r>
          </a:p>
          <a:p>
            <a:pPr marL="742950" lvl="1"/>
            <a:r>
              <a:rPr lang="en-US" sz="1800" dirty="0"/>
              <a:t>Software writes a '1' to a CTRL register to wake up the hardware.</a:t>
            </a:r>
          </a:p>
          <a:p>
            <a:r>
              <a:rPr lang="en-US" sz="2000" b="1" dirty="0"/>
              <a:t>Optimized Solution (2 Bus Transactions):</a:t>
            </a:r>
          </a:p>
          <a:p>
            <a:pPr lvl="1"/>
            <a:r>
              <a:rPr lang="en-US" sz="1800" dirty="0"/>
              <a:t>Eliminated the dedicated "Start" register.</a:t>
            </a:r>
          </a:p>
          <a:p>
            <a:pPr lvl="1"/>
            <a:r>
              <a:rPr lang="en-US" sz="1800" dirty="0"/>
              <a:t>Flagged the Right Operand register to generate a Write-Enable pulse.</a:t>
            </a:r>
          </a:p>
          <a:p>
            <a:r>
              <a:rPr lang="en-US" sz="2000" b="1" dirty="0"/>
              <a:t>The Benefit:</a:t>
            </a:r>
            <a:r>
              <a:rPr lang="en-US" sz="2000" dirty="0"/>
              <a:t> </a:t>
            </a:r>
          </a:p>
          <a:p>
            <a:pPr lvl="1"/>
            <a:r>
              <a:rPr lang="en-US" sz="1800" dirty="0"/>
              <a:t>The hardware instantly fires up instantly.</a:t>
            </a:r>
          </a:p>
          <a:p>
            <a:pPr lvl="1"/>
            <a:r>
              <a:rPr lang="en-US" sz="1800" dirty="0"/>
              <a:t> Saves a transaction on every single butterfly </a:t>
            </a:r>
            <a:endParaRPr lang="en-US" sz="1800" b="1" dirty="0"/>
          </a:p>
          <a:p>
            <a:r>
              <a:rPr lang="en-US" sz="2000" b="1" dirty="0"/>
              <a:t>Result:</a:t>
            </a:r>
          </a:p>
          <a:p>
            <a:pPr lvl="1"/>
            <a:r>
              <a:rPr lang="en-US" sz="1800" dirty="0">
                <a:latin typeface="Barlow (Body)"/>
              </a:rPr>
              <a:t>Number of Cycles taken for the End-to-end Butterfly execution decreased.</a:t>
            </a:r>
          </a:p>
          <a:p>
            <a:pPr marL="742950" lvl="1"/>
            <a:endParaRPr lang="en-US" sz="1800" dirty="0"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355D31-48D1-4A6E-9524-81F027BA92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32"/>
          <a:stretch/>
        </p:blipFill>
        <p:spPr>
          <a:xfrm>
            <a:off x="6291263" y="1042988"/>
            <a:ext cx="2700337" cy="54244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46192E-D415-4153-9E49-AAF59A1367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7" t="-1180" b="-1"/>
          <a:stretch/>
        </p:blipFill>
        <p:spPr>
          <a:xfrm>
            <a:off x="8933073" y="1426368"/>
            <a:ext cx="3108890" cy="476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3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Where we were?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CE0B1B-67CF-4625-A729-42F46B09C0FD}"/>
              </a:ext>
            </a:extLst>
          </p:cNvPr>
          <p:cNvGraphicFramePr>
            <a:graphicFrameLocks noGrp="1"/>
          </p:cNvGraphicFramePr>
          <p:nvPr/>
        </p:nvGraphicFramePr>
        <p:xfrm>
          <a:off x="72952" y="1086885"/>
          <a:ext cx="7104135" cy="5516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32273">
                  <a:extLst>
                    <a:ext uri="{9D8B030D-6E8A-4147-A177-3AD203B41FA5}">
                      <a16:colId xmlns:a16="http://schemas.microsoft.com/office/drawing/2014/main" val="306670815"/>
                    </a:ext>
                  </a:extLst>
                </a:gridCol>
                <a:gridCol w="1432273">
                  <a:extLst>
                    <a:ext uri="{9D8B030D-6E8A-4147-A177-3AD203B41FA5}">
                      <a16:colId xmlns:a16="http://schemas.microsoft.com/office/drawing/2014/main" val="2610245645"/>
                    </a:ext>
                  </a:extLst>
                </a:gridCol>
                <a:gridCol w="1432273">
                  <a:extLst>
                    <a:ext uri="{9D8B030D-6E8A-4147-A177-3AD203B41FA5}">
                      <a16:colId xmlns:a16="http://schemas.microsoft.com/office/drawing/2014/main" val="3869219205"/>
                    </a:ext>
                  </a:extLst>
                </a:gridCol>
                <a:gridCol w="1403658">
                  <a:extLst>
                    <a:ext uri="{9D8B030D-6E8A-4147-A177-3AD203B41FA5}">
                      <a16:colId xmlns:a16="http://schemas.microsoft.com/office/drawing/2014/main" val="2588791516"/>
                    </a:ext>
                  </a:extLst>
                </a:gridCol>
                <a:gridCol w="1403658">
                  <a:extLst>
                    <a:ext uri="{9D8B030D-6E8A-4147-A177-3AD203B41FA5}">
                      <a16:colId xmlns:a16="http://schemas.microsoft.com/office/drawing/2014/main" val="1965367905"/>
                    </a:ext>
                  </a:extLst>
                </a:gridCol>
              </a:tblGrid>
              <a:tr h="7827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Design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(AXI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Pipelined)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(AXI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Pipelined)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(AXI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Pipelined)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4 </a:t>
                      </a:r>
                    </a:p>
                    <a:p>
                      <a:pPr algn="ctr"/>
                      <a:r>
                        <a:rPr lang="en-US" sz="1600" dirty="0"/>
                        <a:t>(AXI</a:t>
                      </a:r>
                    </a:p>
                    <a:p>
                      <a:pPr algn="ctr"/>
                      <a:r>
                        <a:rPr lang="en-US" sz="1600" dirty="0"/>
                        <a:t>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573726"/>
                  </a:ext>
                </a:extLst>
              </a:tr>
              <a:tr h="129094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Operand Widths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Oversized: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34b In, 38b Out, 42b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  <a:br>
                        <a:rPr lang="en-US" sz="1600" dirty="0"/>
                      </a:b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90903"/>
                  </a:ext>
                </a:extLst>
              </a:tr>
              <a:tr h="105076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Twiddle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over AXI</a:t>
                      </a:r>
                      <a:br>
                        <a:rPr lang="en-US" sz="1600" dirty="0"/>
                      </a:b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444935"/>
                  </a:ext>
                </a:extLst>
              </a:tr>
              <a:tr h="5704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Wrapper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37107"/>
                  </a:ext>
                </a:extLst>
              </a:tr>
              <a:tr h="5704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Multiplier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589021"/>
                  </a:ext>
                </a:extLst>
              </a:tr>
              <a:tr h="5704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Software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High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First 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Fully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18967"/>
                  </a:ext>
                </a:extLst>
              </a:tr>
              <a:tr h="33024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Barlow (Body)"/>
                        </a:rPr>
                        <a:t>442 cycles 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Barlow (Body)"/>
                        </a:rPr>
                        <a:t>59 cycles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Barlow (Body)"/>
                        </a:rPr>
                        <a:t>24 cycles 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18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8693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F0E8116-CE63-4503-8FB3-AD2B1AD68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644912"/>
              </p:ext>
            </p:extLst>
          </p:nvPr>
        </p:nvGraphicFramePr>
        <p:xfrm>
          <a:off x="7672388" y="1086885"/>
          <a:ext cx="1847850" cy="544659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637899975"/>
                    </a:ext>
                  </a:extLst>
                </a:gridCol>
              </a:tblGrid>
              <a:tr h="11660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5</a:t>
                      </a:r>
                    </a:p>
                    <a:p>
                      <a:pPr algn="ctr"/>
                      <a:r>
                        <a:rPr lang="en-US" sz="1600" dirty="0"/>
                        <a:t>(TCDM</a:t>
                      </a:r>
                    </a:p>
                    <a:p>
                      <a:pPr algn="ctr"/>
                      <a:r>
                        <a:rPr lang="en-US" sz="1600" dirty="0"/>
                        <a:t>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330208"/>
                  </a:ext>
                </a:extLst>
              </a:tr>
              <a:tr h="116023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  <a:p>
                      <a:pPr algn="l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674732"/>
                  </a:ext>
                </a:extLst>
              </a:tr>
              <a:tr h="88908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258991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 optimizations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37685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Standard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926982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High Overhead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2150357"/>
                  </a:ext>
                </a:extLst>
              </a:tr>
              <a:tr h="3569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48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68316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7A9DFC-D7D4-4C14-9D22-91F2E8FDD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598515"/>
              </p:ext>
            </p:extLst>
          </p:nvPr>
        </p:nvGraphicFramePr>
        <p:xfrm>
          <a:off x="9520238" y="1086885"/>
          <a:ext cx="1847850" cy="544659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1734969982"/>
                    </a:ext>
                  </a:extLst>
                </a:gridCol>
              </a:tblGrid>
              <a:tr h="11660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6</a:t>
                      </a:r>
                    </a:p>
                    <a:p>
                      <a:pPr algn="ctr"/>
                      <a:r>
                        <a:rPr lang="en-US" sz="1600" dirty="0"/>
                        <a:t>(TCDM</a:t>
                      </a:r>
                    </a:p>
                    <a:p>
                      <a:pPr algn="ctr"/>
                      <a:r>
                        <a:rPr lang="en-US" sz="1600" dirty="0"/>
                        <a:t>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804049"/>
                  </a:ext>
                </a:extLst>
              </a:tr>
              <a:tr h="116023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  <a:p>
                      <a:pPr algn="l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049657"/>
                  </a:ext>
                </a:extLst>
              </a:tr>
              <a:tr h="88908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016331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915994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Standard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110636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946487"/>
                  </a:ext>
                </a:extLst>
              </a:tr>
              <a:tr h="3569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11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833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53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9 cycles + 2 APIs = 11 cycles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198E94-17F2-4823-B423-82B406F92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959" y="1319298"/>
            <a:ext cx="3995737" cy="43055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CEE9AF-ED10-49DC-8339-8F952E968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2" y="1252620"/>
            <a:ext cx="7914056" cy="437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7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Writing 3 times takes 3 cycles 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538A00-D401-47D1-B631-F777A3036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40" y="1239282"/>
            <a:ext cx="7125298" cy="485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9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2 cycles butterfly + 1 delay to match TCDM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 Question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B2E3FD-9F05-41D8-A143-FD42C736A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2" y="1771506"/>
            <a:ext cx="8897121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8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20 June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3 cycles read results and addresses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3F06F1-ACE8-4165-845B-6C911CBEA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66" y="1214220"/>
            <a:ext cx="8352244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1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DFE43-CA8C-447E-598A-E87FDEC6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94A8E-E16A-8609-240F-ADBCA7EF0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A9E27-E81E-1EC6-89EC-B741C49E8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28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E2C249-908D-9A36-F37C-B3A7C30C576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7A9806-8D44-470F-A42A-B0BB34D8E567}" type="datetime3">
              <a:rPr lang="en-US" smtClean="0"/>
              <a:t>20 June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7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ADITemplate">
  <a:themeElements>
    <a:clrScheme name="ADI Corporate Palette 1">
      <a:dk1>
        <a:srgbClr val="000000"/>
      </a:dk1>
      <a:lt1>
        <a:srgbClr val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Custom 1">
      <a:majorFont>
        <a:latin typeface="Barlow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  <a:miter lim="800000"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 defTabSz="457200">
          <a:spcBef>
            <a:spcPts val="1000"/>
          </a:spcBef>
          <a:buClr>
            <a:srgbClr val="1E4056"/>
          </a:buClr>
          <a:buSzPct val="75000"/>
          <a:buFont typeface="Barlow"/>
          <a:buChar char="►"/>
          <a:defRPr sz="2000" dirty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I Corporate PowerPoint Template" id="{9AB9AA7E-1902-F64D-879D-6E535C6B277F}" vid="{87C4F2EC-017C-2A4C-889E-1FC8D2DA438E}"/>
    </a:ext>
  </a:extLst>
</a:theme>
</file>

<file path=ppt/theme/theme2.xml><?xml version="1.0" encoding="utf-8"?>
<a:theme xmlns:a="http://schemas.openxmlformats.org/drawingml/2006/main" name="1_ADITemplate">
  <a:themeElements>
    <a:clrScheme name="ADI Corporate Palette 1">
      <a:dk1>
        <a:srgbClr val="000000"/>
      </a:dk1>
      <a:lt1>
        <a:srgbClr val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ADI Corporate Fonts">
      <a:majorFont>
        <a:latin typeface="Barlow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  <a:miter lim="800000"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 defTabSz="457200">
          <a:spcBef>
            <a:spcPts val="1000"/>
          </a:spcBef>
          <a:buClr>
            <a:srgbClr val="1E4056"/>
          </a:buClr>
          <a:buSzPct val="75000"/>
          <a:buFont typeface="Barlow"/>
          <a:buChar char="►"/>
          <a:defRPr sz="2000" dirty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I Corporate PowerPoint Template" id="{9AB9AA7E-1902-F64D-879D-6E535C6B277F}" vid="{87C4F2EC-017C-2A4C-889E-1FC8D2DA438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2088</Words>
  <Application>Microsoft Office PowerPoint</Application>
  <PresentationFormat>Widescreen</PresentationFormat>
  <Paragraphs>385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Arial</vt:lpstr>
      <vt:lpstr>Barlow</vt:lpstr>
      <vt:lpstr>Barlow (Body)</vt:lpstr>
      <vt:lpstr>Times New Roman</vt:lpstr>
      <vt:lpstr>Wingdings</vt:lpstr>
      <vt:lpstr>1_ADITemplate</vt:lpstr>
      <vt:lpstr>1_ADITemplate</vt:lpstr>
      <vt:lpstr>PowerPoint Presentation</vt:lpstr>
      <vt:lpstr>Agenda</vt:lpstr>
      <vt:lpstr>HW/SW Co-design (HW Part) </vt:lpstr>
      <vt:lpstr>Agenda</vt:lpstr>
      <vt:lpstr>HW/SW Co-design : Optimization 1 – The Auto-Trigger </vt:lpstr>
      <vt:lpstr>HW/SW Co-design : Optimization 2 – Auto-Status </vt:lpstr>
      <vt:lpstr>HW/SW Co-design : Where were we?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Moving to TCDM </vt:lpstr>
      <vt:lpstr>HW/SW Co-design : PULP Intergation</vt:lpstr>
      <vt:lpstr>HW/SW Co-design :Highway System – Interconnects and Arbitration</vt:lpstr>
      <vt:lpstr>HW/SW Co-design : The Translation Wrapper</vt:lpstr>
      <vt:lpstr>HW/SW Co-design : Soc Modifications (TCDM )</vt:lpstr>
      <vt:lpstr>HW/SW Co-design : Software &amp; Verification (1)</vt:lpstr>
      <vt:lpstr>HW/SW Co-design : Optimization 1 – The Auto-Trigger </vt:lpstr>
      <vt:lpstr>HW/SW Co-design : Where we were?</vt:lpstr>
      <vt:lpstr>HW/SW Co-design : Software &amp; Verification (2)</vt:lpstr>
      <vt:lpstr>HW/SW Co-design : Software &amp; Verification (2)</vt:lpstr>
      <vt:lpstr>HW/SW Co-design : Software &amp; Verification (2)</vt:lpstr>
      <vt:lpstr>HW/SW Co-design : Software &amp; Verification (2)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ideapad GAMING</dc:creator>
  <cp:lastModifiedBy>Moustafa Darwish</cp:lastModifiedBy>
  <cp:revision>15</cp:revision>
  <dcterms:created xsi:type="dcterms:W3CDTF">2025-07-10T06:48:00Z</dcterms:created>
  <dcterms:modified xsi:type="dcterms:W3CDTF">2026-06-20T16:01:01Z</dcterms:modified>
</cp:coreProperties>
</file>